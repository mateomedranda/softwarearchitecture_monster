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330" r:id="rId16"/>
    <p:sldId id="270" r:id="rId17"/>
    <p:sldId id="271" r:id="rId18"/>
    <p:sldId id="273" r:id="rId19"/>
    <p:sldId id="274" r:id="rId20"/>
    <p:sldId id="275" r:id="rId21"/>
    <p:sldId id="276" r:id="rId22"/>
    <p:sldId id="277" r:id="rId23"/>
    <p:sldId id="280" r:id="rId24"/>
    <p:sldId id="281" r:id="rId25"/>
    <p:sldId id="282" r:id="rId26"/>
    <p:sldId id="283" r:id="rId27"/>
    <p:sldId id="284" r:id="rId28"/>
    <p:sldId id="285" r:id="rId29"/>
    <p:sldId id="286" r:id="rId30"/>
    <p:sldId id="287" r:id="rId31"/>
    <p:sldId id="288" r:id="rId32"/>
    <p:sldId id="289" r:id="rId33"/>
    <p:sldId id="309" r:id="rId34"/>
    <p:sldId id="310" r:id="rId35"/>
    <p:sldId id="311" r:id="rId36"/>
    <p:sldId id="312" r:id="rId37"/>
    <p:sldId id="313" r:id="rId38"/>
    <p:sldId id="314" r:id="rId39"/>
    <p:sldId id="315" r:id="rId40"/>
    <p:sldId id="316" r:id="rId41"/>
    <p:sldId id="317" r:id="rId42"/>
    <p:sldId id="318" r:id="rId43"/>
    <p:sldId id="319" r:id="rId44"/>
    <p:sldId id="320" r:id="rId45"/>
    <p:sldId id="321" r:id="rId46"/>
    <p:sldId id="322" r:id="rId47"/>
    <p:sldId id="323" r:id="rId48"/>
    <p:sldId id="324" r:id="rId49"/>
    <p:sldId id="325" r:id="rId50"/>
    <p:sldId id="326" r:id="rId51"/>
    <p:sldId id="327" r:id="rId52"/>
    <p:sldId id="328" r:id="rId53"/>
    <p:sldId id="329" r:id="rId54"/>
  </p:sldIdLst>
  <p:sldSz cx="12192000" cy="6858000"/>
  <p:notesSz cx="6858000" cy="9144000"/>
  <p:embeddedFontLst>
    <p:embeddedFont>
      <p:font typeface="Cambria" panose="02040503050406030204" pitchFamily="18" charset="0"/>
      <p:regular r:id="rId56"/>
      <p:bold r:id="rId57"/>
      <p:italic r:id="rId58"/>
      <p:boldItalic r:id="rId59"/>
    </p:embeddedFont>
    <p:embeddedFont>
      <p:font typeface="Gill Sans" panose="020B0604020202020204" charset="0"/>
      <p:regular r:id="rId60"/>
      <p:bold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F136021-7255-42B7-A7E7-87A8D8FFE9CA}">
  <a:tblStyle styleId="{BF136021-7255-42B7-A7E7-87A8D8FFE9CA}"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27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5" Type="http://schemas.openxmlformats.org/officeDocument/2006/relationships/slide" Target="slides/slide4.xml"/><Relationship Id="rId61"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a8526227be_0_4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g3a8526227be_0_4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8526227be_0_4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g3a8526227be_0_4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a8526227be_0_4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 name="Google Shape;127;g3a8526227be_0_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a8526227be_0_4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g3a8526227be_0_4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a8526227be_0_4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g3a8526227be_0_4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a8526227be_0_4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g3a8526227be_0_4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a8526227be_0_4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g3a8526227be_0_4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a8526227be_0_4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g3a8526227be_0_4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a8526227be_0_4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7" name="Google Shape;177;g3a8526227be_0_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a8526227be_0_4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5" name="Google Shape;185;g3a8526227be_0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a8526227be_0_4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4" name="Google Shape;194;g3a8526227be_0_4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a8526227be_0_5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g3a8526227be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a:extLst>
            <a:ext uri="{FF2B5EF4-FFF2-40B4-BE49-F238E27FC236}">
              <a16:creationId xmlns:a16="http://schemas.microsoft.com/office/drawing/2014/main" id="{A46F4767-3E52-FE11-8FDB-A76C52CD3EA2}"/>
            </a:ext>
          </a:extLst>
        </p:cNvPr>
        <p:cNvGrpSpPr/>
        <p:nvPr/>
      </p:nvGrpSpPr>
      <p:grpSpPr>
        <a:xfrm>
          <a:off x="0" y="0"/>
          <a:ext cx="0" cy="0"/>
          <a:chOff x="0" y="0"/>
          <a:chExt cx="0" cy="0"/>
        </a:xfrm>
      </p:grpSpPr>
      <p:sp>
        <p:nvSpPr>
          <p:cNvPr id="201" name="Google Shape;201;g3a8526227be_0_504:notes">
            <a:extLst>
              <a:ext uri="{FF2B5EF4-FFF2-40B4-BE49-F238E27FC236}">
                <a16:creationId xmlns:a16="http://schemas.microsoft.com/office/drawing/2014/main" id="{849837E9-9F91-3E0C-9792-4D34537E34F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g3a8526227be_0_504:notes">
            <a:extLst>
              <a:ext uri="{FF2B5EF4-FFF2-40B4-BE49-F238E27FC236}">
                <a16:creationId xmlns:a16="http://schemas.microsoft.com/office/drawing/2014/main" id="{A03AD4A7-5A74-07A2-AF0D-AF9888C742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909538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a8526227be_0_5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0" name="Google Shape;210;g3a8526227be_0_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a8526227be_0_5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8" name="Google Shape;218;g3a8526227be_0_5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a8526227be_0_5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g3a8526227be_0_5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a8526227be_0_5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3" name="Google Shape;243;g3a8526227be_0_5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a8526227be_0_5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1" name="Google Shape;251;g3a8526227be_0_5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a8526227be_0_5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g3a8526227be_0_5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a8526227be_0_5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7" name="Google Shape;267;g3a8526227be_0_5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a8526227be_0_5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1" name="Google Shape;291;g3a8526227be_0_5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a8526227be_0_5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9" name="Google Shape;299;g3a8526227be_0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a854632a9a_2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8" name="Google Shape;308;g3a854632a9a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a854632a9a_2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6" name="Google Shape;316;g3a854632a9a_2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a854632a9a_2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4" name="Google Shape;324;g3a854632a9a_2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a854632a9a_2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2" name="Google Shape;332;g3a854632a9a_2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a854632a9a_2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a854632a9a_2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a854632a9a_2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3a854632a9a_2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a854632a9a_2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8" name="Google Shape;358;g3a854632a9a_2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a854632a9a_2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7" name="Google Shape;367;g3a854632a9a_2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a854632a9a_2_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2" name="Google Shape;532;g3a854632a9a_2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a854632a9a_2_2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2" name="Google Shape;542;g3a854632a9a_2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3a854632a9a_2_2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0" name="Google Shape;550;g3a854632a9a_2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a854632a9a_2_2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8" name="Google Shape;558;g3a854632a9a_2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a854632a9a_2_2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6" name="Google Shape;566;g3a854632a9a_2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3a854632a9a_2_2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4" name="Google Shape;574;g3a854632a9a_2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3a854632a9a_2_2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2" name="Google Shape;582;g3a854632a9a_2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3a854632a9a_2_2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0" name="Google Shape;590;g3a854632a9a_2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3a854632a9a_2_2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9" name="Google Shape;599;g3a854632a9a_2_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3a854632a9a_2_2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7" name="Google Shape;607;g3a854632a9a_2_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3a854632a9a_2_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5" name="Google Shape;615;g3a854632a9a_2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3a854632a9a_2_2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3" name="Google Shape;623;g3a854632a9a_2_2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3a854632a9a_2_2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1" name="Google Shape;631;g3a854632a9a_2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3a8526227be_0_6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9" name="Google Shape;639;g3a8526227be_0_6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3a854632a9a_2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9" name="Google Shape;649;g3a854632a9a_2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3a854632a9a_2_3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7" name="Google Shape;657;g3a854632a9a_2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3a854632a9a_2_3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5" name="Google Shape;665;g3a854632a9a_2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3a854632a9a_2_3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3" name="Google Shape;673;g3a854632a9a_2_3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3a854632a9a_2_3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1" name="Google Shape;681;g3a854632a9a_2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3a8526227be_0_6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9" name="Google Shape;689;g3a8526227be_0_6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3a8526227be_0_6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6" name="Google Shape;696;g3a8526227be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4"/>
        <p:cNvGrpSpPr/>
        <p:nvPr/>
      </p:nvGrpSpPr>
      <p:grpSpPr>
        <a:xfrm>
          <a:off x="0" y="0"/>
          <a:ext cx="0" cy="0"/>
          <a:chOff x="0" y="0"/>
          <a:chExt cx="0" cy="0"/>
        </a:xfrm>
      </p:grpSpPr>
      <p:sp>
        <p:nvSpPr>
          <p:cNvPr id="15" name="Google Shape;15;p2"/>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18" name="Google Shape;18;p2"/>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5" name="Google Shape;25;p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8"/>
        <p:cNvGrpSpPr/>
        <p:nvPr/>
      </p:nvGrpSpPr>
      <p:grpSpPr>
        <a:xfrm>
          <a:off x="0" y="0"/>
          <a:ext cx="0" cy="0"/>
          <a:chOff x="0" y="0"/>
          <a:chExt cx="0" cy="0"/>
        </a:xfrm>
      </p:grpSpPr>
      <p:sp>
        <p:nvSpPr>
          <p:cNvPr id="29" name="Google Shape;29;p4"/>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2" name="Google Shape;32;p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5"/>
        <p:cNvGrpSpPr/>
        <p:nvPr/>
      </p:nvGrpSpPr>
      <p:grpSpPr>
        <a:xfrm>
          <a:off x="0" y="0"/>
          <a:ext cx="0" cy="0"/>
          <a:chOff x="0" y="0"/>
          <a:chExt cx="0" cy="0"/>
        </a:xfrm>
      </p:grpSpPr>
      <p:sp>
        <p:nvSpPr>
          <p:cNvPr id="36" name="Google Shape;36;p5"/>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5"/>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39" name="Google Shape;39;p5"/>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0" name="Google Shape;40;p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3"/>
        <p:cNvGrpSpPr/>
        <p:nvPr/>
      </p:nvGrpSpPr>
      <p:grpSpPr>
        <a:xfrm>
          <a:off x="0" y="0"/>
          <a:ext cx="0" cy="0"/>
          <a:chOff x="0" y="0"/>
          <a:chExt cx="0" cy="0"/>
        </a:xfrm>
      </p:grpSpPr>
      <p:sp>
        <p:nvSpPr>
          <p:cNvPr id="44" name="Google Shape;44;p6"/>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6"/>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7" name="Google Shape;47;p6"/>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8" name="Google Shape;48;p6"/>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9" name="Google Shape;49;p6"/>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0" name="Google Shape;50;p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
        <p:nvSpPr>
          <p:cNvPr id="57" name="Google Shape;57;p7"/>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7"/>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9"/>
        <p:cNvGrpSpPr/>
        <p:nvPr/>
      </p:nvGrpSpPr>
      <p:grpSpPr>
        <a:xfrm>
          <a:off x="0" y="0"/>
          <a:ext cx="0" cy="0"/>
          <a:chOff x="0" y="0"/>
          <a:chExt cx="0" cy="0"/>
        </a:xfrm>
      </p:grpSpPr>
      <p:sp>
        <p:nvSpPr>
          <p:cNvPr id="60" name="Google Shape;60;p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3"/>
        <p:cNvGrpSpPr/>
        <p:nvPr/>
      </p:nvGrpSpPr>
      <p:grpSpPr>
        <a:xfrm>
          <a:off x="0" y="0"/>
          <a:ext cx="0" cy="0"/>
          <a:chOff x="0" y="0"/>
          <a:chExt cx="0" cy="0"/>
        </a:xfrm>
      </p:grpSpPr>
      <p:sp>
        <p:nvSpPr>
          <p:cNvPr id="64" name="Google Shape;64;p9"/>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9"/>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9"/>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67" name="Google Shape;67;p9"/>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68" name="Google Shape;68;p9"/>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0"/>
          <p:cNvSpPr>
            <a:spLocks noGrp="1"/>
          </p:cNvSpPr>
          <p:nvPr>
            <p:ph type="pic" idx="2"/>
          </p:nvPr>
        </p:nvSpPr>
        <p:spPr>
          <a:xfrm>
            <a:off x="447817" y="599725"/>
            <a:ext cx="11290859" cy="3557252"/>
          </a:xfrm>
          <a:prstGeom prst="rect">
            <a:avLst/>
          </a:prstGeom>
          <a:noFill/>
          <a:ln>
            <a:noFill/>
          </a:ln>
        </p:spPr>
      </p:sp>
      <p:sp>
        <p:nvSpPr>
          <p:cNvPr id="74" name="Google Shape;74;p10"/>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5" name="Google Shape;75;p1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8"/>
        <p:cNvGrpSpPr/>
        <p:nvPr/>
      </p:nvGrpSpPr>
      <p:grpSpPr>
        <a:xfrm>
          <a:off x="0" y="0"/>
          <a:ext cx="0" cy="0"/>
          <a:chOff x="0" y="0"/>
          <a:chExt cx="0" cy="0"/>
        </a:xfrm>
      </p:grpSpPr>
      <p:sp>
        <p:nvSpPr>
          <p:cNvPr id="79" name="Google Shape;79;p11"/>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1"/>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1"/>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4"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2" name="Google Shape;82;p1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5"/>
        <p:cNvGrpSpPr/>
        <p:nvPr/>
      </p:nvGrpSpPr>
      <p:grpSpPr>
        <a:xfrm>
          <a:off x="0" y="0"/>
          <a:ext cx="0" cy="0"/>
          <a:chOff x="0" y="0"/>
          <a:chExt cx="0" cy="0"/>
        </a:xfrm>
      </p:grpSpPr>
      <p:sp>
        <p:nvSpPr>
          <p:cNvPr id="86" name="Google Shape;86;p12"/>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2"/>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2"/>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9" name="Google Shape;89;p12"/>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2"/>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2"/>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4"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8" name="Google Shape;8;p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
        <p:nvSpPr>
          <p:cNvPr id="11" name="Google Shape;11;p1"/>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ec.edu"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3"/>
          <p:cNvSpPr txBox="1">
            <a:spLocks noGrp="1"/>
          </p:cNvSpPr>
          <p:nvPr>
            <p:ph type="ctrTitle"/>
          </p:nvPr>
        </p:nvSpPr>
        <p:spPr>
          <a:xfrm>
            <a:off x="599226" y="3158569"/>
            <a:ext cx="10993549" cy="1578409"/>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lt1"/>
              </a:buClr>
              <a:buSzPts val="3600"/>
              <a:buFont typeface="Gill Sans"/>
              <a:buNone/>
            </a:pPr>
            <a:r>
              <a:rPr lang="es-ES" dirty="0">
                <a:solidFill>
                  <a:schemeClr val="lt1"/>
                </a:solidFill>
              </a:rPr>
              <a:t>MANUAL</a:t>
            </a:r>
            <a:br>
              <a:rPr lang="es-ES" dirty="0">
                <a:solidFill>
                  <a:schemeClr val="lt1"/>
                </a:solidFill>
              </a:rPr>
            </a:br>
            <a:r>
              <a:rPr lang="es-ES" dirty="0">
                <a:solidFill>
                  <a:schemeClr val="lt1"/>
                </a:solidFill>
              </a:rPr>
              <a:t>CONVERSIÓN UNIDADES RESTFUL JAVA</a:t>
            </a:r>
            <a:endParaRPr dirty="0"/>
          </a:p>
        </p:txBody>
      </p:sp>
      <p:sp>
        <p:nvSpPr>
          <p:cNvPr id="97" name="Google Shape;97;p13"/>
          <p:cNvSpPr txBox="1">
            <a:spLocks noGrp="1"/>
          </p:cNvSpPr>
          <p:nvPr>
            <p:ph type="subTitle" idx="1"/>
          </p:nvPr>
        </p:nvSpPr>
        <p:spPr>
          <a:xfrm>
            <a:off x="599225" y="4530055"/>
            <a:ext cx="4261531" cy="18127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endParaRPr b="1" dirty="0">
              <a:solidFill>
                <a:schemeClr val="lt1"/>
              </a:solidFill>
            </a:endParaRPr>
          </a:p>
          <a:p>
            <a:pPr marL="0" lvl="0" indent="0" algn="l" rtl="0">
              <a:lnSpc>
                <a:spcPct val="100000"/>
              </a:lnSpc>
              <a:spcBef>
                <a:spcPts val="920"/>
              </a:spcBef>
              <a:spcAft>
                <a:spcPts val="0"/>
              </a:spcAft>
              <a:buSzPts val="1472"/>
              <a:buNone/>
            </a:pPr>
            <a:r>
              <a:rPr lang="es-ES" b="1" dirty="0">
                <a:solidFill>
                  <a:schemeClr val="lt1"/>
                </a:solidFill>
              </a:rPr>
              <a:t>INTEGRANTES:</a:t>
            </a:r>
            <a:r>
              <a:rPr lang="es-ES" dirty="0">
                <a:solidFill>
                  <a:schemeClr val="lt1"/>
                </a:solidFill>
              </a:rPr>
              <a:t> 	</a:t>
            </a:r>
          </a:p>
          <a:p>
            <a:pPr marL="0" lvl="0" indent="0" algn="l" rtl="0">
              <a:lnSpc>
                <a:spcPct val="100000"/>
              </a:lnSpc>
              <a:spcBef>
                <a:spcPts val="920"/>
              </a:spcBef>
              <a:spcAft>
                <a:spcPts val="0"/>
              </a:spcAft>
              <a:buSzPts val="1472"/>
              <a:buNone/>
            </a:pPr>
            <a:r>
              <a:rPr lang="es-ES" dirty="0">
                <a:solidFill>
                  <a:schemeClr val="lt1"/>
                </a:solidFill>
              </a:rPr>
              <a:t>	López Gabriel</a:t>
            </a:r>
          </a:p>
          <a:p>
            <a:pPr marL="0" lvl="0" indent="0" algn="l" rtl="0">
              <a:lnSpc>
                <a:spcPct val="100000"/>
              </a:lnSpc>
              <a:spcBef>
                <a:spcPts val="920"/>
              </a:spcBef>
              <a:spcAft>
                <a:spcPts val="0"/>
              </a:spcAft>
              <a:buSzPts val="1472"/>
              <a:buNone/>
            </a:pPr>
            <a:r>
              <a:rPr lang="es-ES" dirty="0">
                <a:solidFill>
                  <a:schemeClr val="lt1"/>
                </a:solidFill>
              </a:rPr>
              <a:t>	Medranda Mateo</a:t>
            </a:r>
          </a:p>
          <a:p>
            <a:pPr marL="0" lvl="0" indent="0" algn="l" rtl="0">
              <a:lnSpc>
                <a:spcPct val="100000"/>
              </a:lnSpc>
              <a:spcBef>
                <a:spcPts val="920"/>
              </a:spcBef>
              <a:spcAft>
                <a:spcPts val="0"/>
              </a:spcAft>
              <a:buSzPts val="1472"/>
              <a:buNone/>
            </a:pPr>
            <a:r>
              <a:rPr lang="es-MX" dirty="0">
                <a:solidFill>
                  <a:schemeClr val="lt1"/>
                </a:solidFill>
              </a:rPr>
              <a:t>	Pareja Marcelo</a:t>
            </a:r>
            <a:endParaRPr dirty="0">
              <a:solidFill>
                <a:schemeClr val="lt1"/>
              </a:solidFill>
            </a:endParaRPr>
          </a:p>
        </p:txBody>
      </p:sp>
      <p:pic>
        <p:nvPicPr>
          <p:cNvPr id="98" name="Google Shape;98;p13"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99" name="Google Shape;99;p13"/>
          <p:cNvSpPr txBox="1"/>
          <p:nvPr/>
        </p:nvSpPr>
        <p:spPr>
          <a:xfrm>
            <a:off x="9037063" y="5301801"/>
            <a:ext cx="4261531" cy="1235358"/>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4590B8"/>
              </a:buClr>
              <a:buSzPts val="1472"/>
              <a:buFont typeface="Noto Sans Symbols"/>
              <a:buNone/>
            </a:pPr>
            <a:r>
              <a:rPr lang="es-ES" sz="1600" b="1" i="0" u="none" strike="noStrike" cap="none" dirty="0">
                <a:solidFill>
                  <a:srgbClr val="FFFFFF"/>
                </a:solidFill>
                <a:latin typeface="Gill Sans"/>
                <a:ea typeface="Gill Sans"/>
                <a:cs typeface="Gill Sans"/>
                <a:sym typeface="Gill Sans"/>
              </a:rPr>
              <a:t>FECHA:  21</a:t>
            </a:r>
            <a:r>
              <a:rPr lang="es-ES" sz="1600" b="1" dirty="0">
                <a:solidFill>
                  <a:srgbClr val="FFFFFF"/>
                </a:solidFill>
                <a:latin typeface="Gill Sans"/>
                <a:ea typeface="Gill Sans"/>
                <a:cs typeface="Gill Sans"/>
                <a:sym typeface="Gill Sans"/>
              </a:rPr>
              <a:t>/10/2026</a:t>
            </a:r>
            <a:endParaRPr sz="1600" b="0" i="0" u="none" strike="noStrike" cap="none" dirty="0">
              <a:solidFill>
                <a:srgbClr val="FFFFFF"/>
              </a:solidFill>
              <a:latin typeface="Gill Sans"/>
              <a:ea typeface="Gill Sans"/>
              <a:cs typeface="Gill Sans"/>
              <a:sym typeface="Gill Sans"/>
            </a:endParaRPr>
          </a:p>
          <a:p>
            <a:pPr marL="0" marR="0" lvl="0" indent="0" algn="l" rtl="0">
              <a:lnSpc>
                <a:spcPct val="100000"/>
              </a:lnSpc>
              <a:spcBef>
                <a:spcPts val="920"/>
              </a:spcBef>
              <a:spcAft>
                <a:spcPts val="0"/>
              </a:spcAft>
              <a:buClr>
                <a:srgbClr val="4590B8"/>
              </a:buClr>
              <a:buSzPts val="1472"/>
              <a:buFont typeface="Noto Sans Symbols"/>
              <a:buNone/>
            </a:pPr>
            <a:r>
              <a:rPr lang="es-ES" sz="1600" b="1" i="0" u="none" strike="noStrike" cap="none" dirty="0">
                <a:solidFill>
                  <a:srgbClr val="FFFFFF"/>
                </a:solidFill>
                <a:latin typeface="Gill Sans"/>
                <a:ea typeface="Gill Sans"/>
                <a:cs typeface="Gill Sans"/>
                <a:sym typeface="Gill Sans"/>
              </a:rPr>
              <a:t>ING: </a:t>
            </a:r>
            <a:r>
              <a:rPr lang="es-ES" sz="1600" b="0" i="0" u="none" strike="noStrike" cap="none" dirty="0">
                <a:solidFill>
                  <a:srgbClr val="FFFFFF"/>
                </a:solidFill>
                <a:latin typeface="Gill Sans"/>
                <a:ea typeface="Gill Sans"/>
                <a:cs typeface="Gill Sans"/>
                <a:sym typeface="Gill Sans"/>
              </a:rPr>
              <a:t>CAMPAÑA MAURICIO</a:t>
            </a:r>
            <a:endParaRPr sz="1600" b="1" i="0" u="none" strike="noStrike" cap="none" dirty="0">
              <a:solidFill>
                <a:srgbClr val="FFFFFF"/>
              </a:solidFill>
              <a:latin typeface="Gill Sans"/>
              <a:ea typeface="Gill Sans"/>
              <a:cs typeface="Gill Sans"/>
              <a:sym typeface="Gill Sans"/>
            </a:endParaRPr>
          </a:p>
        </p:txBody>
      </p:sp>
      <p:sp>
        <p:nvSpPr>
          <p:cNvPr id="100" name="Google Shape;100;p13"/>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
        <p:cNvGrpSpPr/>
        <p:nvPr/>
      </p:nvGrpSpPr>
      <p:grpSpPr>
        <a:xfrm>
          <a:off x="0" y="0"/>
          <a:ext cx="0" cy="0"/>
          <a:chOff x="0" y="0"/>
          <a:chExt cx="0" cy="0"/>
        </a:xfrm>
      </p:grpSpPr>
      <p:sp>
        <p:nvSpPr>
          <p:cNvPr id="105" name="Google Shape;105;p14"/>
          <p:cNvSpPr/>
          <p:nvPr/>
        </p:nvSpPr>
        <p:spPr>
          <a:xfrm>
            <a:off x="0" y="614406"/>
            <a:ext cx="12192000" cy="62435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Gill Sans"/>
              <a:buNone/>
            </a:pPr>
            <a:endParaRPr sz="1800" b="0" i="0" u="none" strike="noStrike" cap="none">
              <a:solidFill>
                <a:srgbClr val="FFFFFF"/>
              </a:solidFill>
              <a:latin typeface="Gill Sans"/>
              <a:ea typeface="Gill Sans"/>
              <a:cs typeface="Gill Sans"/>
              <a:sym typeface="Gill Sans"/>
            </a:endParaRPr>
          </a:p>
        </p:txBody>
      </p:sp>
      <p:sp>
        <p:nvSpPr>
          <p:cNvPr id="106" name="Google Shape;106;p14"/>
          <p:cNvSpPr/>
          <p:nvPr/>
        </p:nvSpPr>
        <p:spPr>
          <a:xfrm>
            <a:off x="442377" y="614407"/>
            <a:ext cx="3707477" cy="561177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07" name="Google Shape;107;p14"/>
          <p:cNvSpPr txBox="1">
            <a:spLocks noGrp="1"/>
          </p:cNvSpPr>
          <p:nvPr>
            <p:ph type="body" idx="1"/>
          </p:nvPr>
        </p:nvSpPr>
        <p:spPr>
          <a:xfrm>
            <a:off x="596348" y="701336"/>
            <a:ext cx="3389726" cy="5424255"/>
          </a:xfrm>
          <a:prstGeom prst="rect">
            <a:avLst/>
          </a:prstGeom>
          <a:noFill/>
          <a:ln>
            <a:noFill/>
          </a:ln>
        </p:spPr>
        <p:txBody>
          <a:bodyPr spcFirstLastPara="1" wrap="square" lIns="91425" tIns="45700" rIns="91425" bIns="45700" anchor="ctr" anchorCtr="0">
            <a:normAutofit lnSpcReduction="10000"/>
          </a:bodyPr>
          <a:lstStyle/>
          <a:p>
            <a:pPr marL="306000" lvl="0" indent="-306000" algn="l" rtl="0">
              <a:lnSpc>
                <a:spcPct val="100000"/>
              </a:lnSpc>
              <a:spcBef>
                <a:spcPts val="0"/>
              </a:spcBef>
              <a:spcAft>
                <a:spcPts val="0"/>
              </a:spcAft>
              <a:buSzPts val="1656"/>
              <a:buChar char="◼"/>
            </a:pPr>
            <a:r>
              <a:rPr lang="es-ES" dirty="0">
                <a:solidFill>
                  <a:schemeClr val="lt1"/>
                </a:solidFill>
              </a:rPr>
              <a:t>DESARROLLO</a:t>
            </a:r>
            <a:endParaRPr dirty="0"/>
          </a:p>
          <a:p>
            <a:pPr marL="630000" lvl="1" indent="-320020" algn="l" rtl="0">
              <a:lnSpc>
                <a:spcPct val="100000"/>
              </a:lnSpc>
              <a:spcBef>
                <a:spcPts val="872"/>
              </a:spcBef>
              <a:spcAft>
                <a:spcPts val="0"/>
              </a:spcAft>
              <a:buSzPts val="1472"/>
              <a:buChar char="◼"/>
            </a:pPr>
            <a:r>
              <a:rPr lang="es-ES" dirty="0">
                <a:solidFill>
                  <a:schemeClr val="lt1"/>
                </a:solidFill>
              </a:rPr>
              <a:t>OBJETIVO</a:t>
            </a:r>
            <a:endParaRPr dirty="0"/>
          </a:p>
          <a:p>
            <a:pPr marL="630000" lvl="1" indent="-320020" algn="l" rtl="0">
              <a:lnSpc>
                <a:spcPct val="100000"/>
              </a:lnSpc>
              <a:spcBef>
                <a:spcPts val="872"/>
              </a:spcBef>
              <a:spcAft>
                <a:spcPts val="0"/>
              </a:spcAft>
              <a:buSzPts val="1472"/>
              <a:buChar char="◼"/>
            </a:pPr>
            <a:r>
              <a:rPr lang="es-ES" dirty="0">
                <a:solidFill>
                  <a:schemeClr val="lt1"/>
                </a:solidFill>
              </a:rPr>
              <a:t>CREACIÓN DEL SERVIDOR RESTFUL EN JAVA</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CONSOLA</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ESCRITORIO</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WEB</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MÓVIL</a:t>
            </a:r>
            <a:endParaRPr dirty="0"/>
          </a:p>
          <a:p>
            <a:pPr marL="306000" marR="0" lvl="0" indent="-306000" algn="l" rtl="0">
              <a:lnSpc>
                <a:spcPct val="100000"/>
              </a:lnSpc>
              <a:spcBef>
                <a:spcPts val="906"/>
              </a:spcBef>
              <a:spcAft>
                <a:spcPts val="0"/>
              </a:spcAft>
              <a:buSzPts val="1656"/>
              <a:buChar char="◼"/>
            </a:pPr>
            <a:r>
              <a:rPr lang="es-ES" dirty="0">
                <a:solidFill>
                  <a:schemeClr val="lt1"/>
                </a:solidFill>
              </a:rPr>
              <a:t>CONCLUSIONES</a:t>
            </a:r>
            <a:endParaRPr dirty="0"/>
          </a:p>
          <a:p>
            <a:pPr marL="306000" marR="0" lvl="0" indent="-306000" algn="l" rtl="0">
              <a:lnSpc>
                <a:spcPct val="100000"/>
              </a:lnSpc>
              <a:spcBef>
                <a:spcPts val="906"/>
              </a:spcBef>
              <a:spcAft>
                <a:spcPts val="0"/>
              </a:spcAft>
              <a:buSzPts val="1656"/>
              <a:buChar char="◼"/>
            </a:pPr>
            <a:r>
              <a:rPr lang="es-ES" dirty="0">
                <a:solidFill>
                  <a:schemeClr val="lt1"/>
                </a:solidFill>
              </a:rPr>
              <a:t>RECOMENDACIONES</a:t>
            </a:r>
            <a:endParaRPr dirty="0"/>
          </a:p>
        </p:txBody>
      </p:sp>
      <p:pic>
        <p:nvPicPr>
          <p:cNvPr id="108" name="Google Shape;108;p14" descr="Resultado de imagen para AGENDA PNG"/>
          <p:cNvPicPr preferRelativeResize="0"/>
          <p:nvPr/>
        </p:nvPicPr>
        <p:blipFill rotWithShape="1">
          <a:blip r:embed="rId3">
            <a:alphaModFix/>
          </a:blip>
          <a:srcRect/>
          <a:stretch/>
        </p:blipFill>
        <p:spPr>
          <a:xfrm>
            <a:off x="4791522" y="1935576"/>
            <a:ext cx="6489819" cy="3007477"/>
          </a:xfrm>
          <a:prstGeom prst="rect">
            <a:avLst/>
          </a:prstGeom>
          <a:noFill/>
          <a:ln>
            <a:noFill/>
          </a:ln>
        </p:spPr>
      </p:pic>
      <p:sp>
        <p:nvSpPr>
          <p:cNvPr id="109" name="Google Shape;109;p14"/>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2</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15" name="Google Shape;115;p15"/>
          <p:cNvSpPr txBox="1">
            <a:spLocks noGrp="1"/>
          </p:cNvSpPr>
          <p:nvPr>
            <p:ph type="body" idx="1"/>
          </p:nvPr>
        </p:nvSpPr>
        <p:spPr>
          <a:xfrm>
            <a:off x="581192" y="2180496"/>
            <a:ext cx="8589300" cy="36783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Char char="∙"/>
            </a:pPr>
            <a:r>
              <a:rPr lang="es-ES" b="1" dirty="0">
                <a:latin typeface="Cambria"/>
                <a:ea typeface="Cambria"/>
                <a:cs typeface="Cambria"/>
                <a:sym typeface="Cambria"/>
              </a:rPr>
              <a:t>1</a:t>
            </a:r>
            <a:r>
              <a:rPr lang="es-ES" sz="1800" b="1" dirty="0">
                <a:latin typeface="Cambria"/>
                <a:ea typeface="Cambria"/>
                <a:cs typeface="Cambria"/>
                <a:sym typeface="Cambria"/>
              </a:rPr>
              <a:t>.1	OBJETIVO</a:t>
            </a:r>
            <a:endParaRPr b="1" dirty="0"/>
          </a:p>
          <a:p>
            <a:pPr marL="342900" marR="0" lvl="0" indent="-237744"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a:p>
            <a:pPr marL="457200" lvl="0" indent="-333756" algn="just" rtl="0">
              <a:lnSpc>
                <a:spcPct val="107000"/>
              </a:lnSpc>
              <a:spcBef>
                <a:spcPts val="0"/>
              </a:spcBef>
              <a:spcAft>
                <a:spcPts val="0"/>
              </a:spcAft>
              <a:buSzPts val="1656"/>
              <a:buChar char="∙"/>
            </a:pPr>
            <a:r>
              <a:rPr lang="es-ES" dirty="0">
                <a:latin typeface="Cambria"/>
                <a:ea typeface="Cambria"/>
                <a:cs typeface="Cambria"/>
                <a:sym typeface="Cambria"/>
              </a:rPr>
              <a:t>Desarrollar e implementar un Web </a:t>
            </a:r>
            <a:r>
              <a:rPr lang="es-ES" dirty="0" err="1">
                <a:latin typeface="Cambria"/>
                <a:ea typeface="Cambria"/>
                <a:cs typeface="Cambria"/>
                <a:sym typeface="Cambria"/>
              </a:rPr>
              <a:t>Service</a:t>
            </a:r>
            <a:r>
              <a:rPr lang="es-ES" dirty="0">
                <a:latin typeface="Cambria"/>
                <a:ea typeface="Cambria"/>
                <a:cs typeface="Cambria"/>
                <a:sym typeface="Cambria"/>
              </a:rPr>
              <a:t> utilizando RESTFUL mediante JAVA para realizar conversiones de unidades y 4 clientes: consola, escritorio, web y móvil</a:t>
            </a:r>
            <a:endParaRPr dirty="0">
              <a:latin typeface="Cambria"/>
              <a:ea typeface="Cambria"/>
              <a:cs typeface="Cambria"/>
              <a:sym typeface="Cambria"/>
            </a:endParaRPr>
          </a:p>
        </p:txBody>
      </p:sp>
      <p:sp>
        <p:nvSpPr>
          <p:cNvPr id="116" name="Google Shape;116;p1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OBJETIVO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SERVIDOR RESTFUL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200" b="1" i="0" u="none" strike="noStrike" cap="none" dirty="0">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2037887"/>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b="1" dirty="0">
                <a:latin typeface="Cambria"/>
                <a:ea typeface="Cambria"/>
                <a:cs typeface="Cambria"/>
                <a:sym typeface="Cambria"/>
              </a:rPr>
              <a:t>1.2.1 	Servidor Payara</a:t>
            </a:r>
            <a:endParaRPr b="1" dirty="0">
              <a:latin typeface="Cambria"/>
              <a:ea typeface="Cambria"/>
              <a:cs typeface="Cambria"/>
              <a:sym typeface="Cambria"/>
            </a:endParaRPr>
          </a:p>
          <a:p>
            <a:pPr marL="0" marR="0" lvl="0" indent="0" algn="just" rtl="0">
              <a:lnSpc>
                <a:spcPct val="107000"/>
              </a:lnSpc>
              <a:spcBef>
                <a:spcPts val="0"/>
              </a:spcBef>
              <a:spcAft>
                <a:spcPts val="0"/>
              </a:spcAft>
              <a:buSzPts val="1948"/>
              <a:buNone/>
            </a:pPr>
            <a:endParaRPr dirty="0">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dirty="0">
                <a:latin typeface="Cambria"/>
                <a:ea typeface="Cambria"/>
                <a:cs typeface="Cambria"/>
                <a:sym typeface="Cambria"/>
              </a:rPr>
              <a:t>En primer lugar, en NetBeans 31, en la sección de Servicios se crea un servidor, específicamente Payara.</a:t>
            </a:r>
            <a:endParaRPr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99B9A032-6EC0-388B-DD21-3A8CA9C69F34}"/>
              </a:ext>
            </a:extLst>
          </p:cNvPr>
          <p:cNvPicPr>
            <a:picLocks noChangeAspect="1"/>
          </p:cNvPicPr>
          <p:nvPr/>
        </p:nvPicPr>
        <p:blipFill>
          <a:blip r:embed="rId3"/>
          <a:stretch>
            <a:fillRect/>
          </a:stretch>
        </p:blipFill>
        <p:spPr>
          <a:xfrm>
            <a:off x="2581373" y="3429000"/>
            <a:ext cx="4890346" cy="329500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30" name="Google Shape;130;p17"/>
          <p:cNvSpPr txBox="1">
            <a:spLocks noGrp="1"/>
          </p:cNvSpPr>
          <p:nvPr>
            <p:ph type="body" idx="1"/>
          </p:nvPr>
        </p:nvSpPr>
        <p:spPr>
          <a:xfrm>
            <a:off x="581200" y="1781575"/>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pPr>
            <a:r>
              <a:rPr lang="es-ES" dirty="0">
                <a:latin typeface="Cambria"/>
                <a:ea typeface="Cambria"/>
                <a:cs typeface="Cambria"/>
                <a:sym typeface="Cambria"/>
              </a:rPr>
              <a:t>Se selecciona la versión 7.2026.9, se aceptan los términos de condiciones y se selecciona un directorio donde instalar el servidor.</a:t>
            </a:r>
            <a:endParaRPr dirty="0">
              <a:latin typeface="Cambria"/>
              <a:ea typeface="Cambria"/>
              <a:cs typeface="Cambria"/>
              <a:sym typeface="Cambria"/>
            </a:endParaRPr>
          </a:p>
        </p:txBody>
      </p:sp>
      <p:sp>
        <p:nvSpPr>
          <p:cNvPr id="131" name="Google Shape;131;p1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2E2DD057-D086-593E-BBB4-4D719D68A423}"/>
              </a:ext>
            </a:extLst>
          </p:cNvPr>
          <p:cNvPicPr>
            <a:picLocks noChangeAspect="1"/>
          </p:cNvPicPr>
          <p:nvPr/>
        </p:nvPicPr>
        <p:blipFill>
          <a:blip r:embed="rId3"/>
          <a:stretch>
            <a:fillRect/>
          </a:stretch>
        </p:blipFill>
        <p:spPr>
          <a:xfrm>
            <a:off x="2269773" y="3173475"/>
            <a:ext cx="5050902" cy="34335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38" name="Google Shape;138;p18"/>
          <p:cNvSpPr txBox="1">
            <a:spLocks noGrp="1"/>
          </p:cNvSpPr>
          <p:nvPr>
            <p:ph type="body" idx="1"/>
          </p:nvPr>
        </p:nvSpPr>
        <p:spPr>
          <a:xfrm>
            <a:off x="581192" y="1793712"/>
            <a:ext cx="8589300" cy="1248600"/>
          </a:xfrm>
          <a:prstGeom prst="rect">
            <a:avLst/>
          </a:prstGeom>
          <a:noFill/>
          <a:ln>
            <a:noFill/>
          </a:ln>
        </p:spPr>
        <p:txBody>
          <a:bodyPr spcFirstLastPara="1" wrap="square" lIns="91425" tIns="45700" rIns="91425" bIns="45700" anchor="ctr" anchorCtr="0">
            <a:normAutofit/>
          </a:bodyPr>
          <a:lstStyle/>
          <a:p>
            <a:pPr marL="457200" lvl="0" indent="-333756" algn="just" rtl="0">
              <a:lnSpc>
                <a:spcPct val="107000"/>
              </a:lnSpc>
              <a:spcBef>
                <a:spcPts val="0"/>
              </a:spcBef>
              <a:spcAft>
                <a:spcPts val="0"/>
              </a:spcAft>
              <a:buSzPts val="1656"/>
              <a:buChar char="∙"/>
            </a:pPr>
            <a:r>
              <a:rPr lang="es-ES" dirty="0">
                <a:latin typeface="Cambria"/>
                <a:ea typeface="Cambria"/>
                <a:cs typeface="Cambria"/>
                <a:sym typeface="Cambria"/>
              </a:rPr>
              <a:t>Una vez configurado correctamente, se podrá observar en la sección </a:t>
            </a:r>
            <a:r>
              <a:rPr lang="es-ES" dirty="0" err="1">
                <a:latin typeface="Cambria"/>
                <a:ea typeface="Cambria"/>
                <a:cs typeface="Cambria"/>
                <a:sym typeface="Cambria"/>
              </a:rPr>
              <a:t>tools</a:t>
            </a:r>
            <a:r>
              <a:rPr lang="es-ES" dirty="0">
                <a:latin typeface="Cambria"/>
                <a:ea typeface="Cambria"/>
                <a:cs typeface="Cambria"/>
                <a:sym typeface="Cambria"/>
              </a:rPr>
              <a:t>/servers, si se decidió utilizar payara en un contenedor de Docker se puede colocar como remoto para usar payara</a:t>
            </a:r>
            <a:endParaRPr dirty="0">
              <a:latin typeface="Cambria"/>
              <a:ea typeface="Cambria"/>
              <a:cs typeface="Cambria"/>
              <a:sym typeface="Cambria"/>
            </a:endParaRPr>
          </a:p>
        </p:txBody>
      </p:sp>
      <p:sp>
        <p:nvSpPr>
          <p:cNvPr id="139" name="Google Shape;139;p1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67D28D41-CA09-2DFC-1F94-619845A0A94F}"/>
              </a:ext>
            </a:extLst>
          </p:cNvPr>
          <p:cNvPicPr>
            <a:picLocks noChangeAspect="1"/>
          </p:cNvPicPr>
          <p:nvPr/>
        </p:nvPicPr>
        <p:blipFill>
          <a:blip r:embed="rId3"/>
          <a:stretch>
            <a:fillRect/>
          </a:stretch>
        </p:blipFill>
        <p:spPr>
          <a:xfrm>
            <a:off x="2067876" y="3036815"/>
            <a:ext cx="5373948" cy="369924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46" name="Google Shape;146;p19"/>
          <p:cNvSpPr txBox="1">
            <a:spLocks noGrp="1"/>
          </p:cNvSpPr>
          <p:nvPr>
            <p:ph type="body" idx="1"/>
          </p:nvPr>
        </p:nvSpPr>
        <p:spPr>
          <a:xfrm>
            <a:off x="581192" y="1941603"/>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b="1" dirty="0">
                <a:latin typeface="Cambria"/>
                <a:ea typeface="Cambria"/>
                <a:cs typeface="Cambria"/>
                <a:sym typeface="Cambria"/>
              </a:rPr>
              <a:t>1.2.2 	Creación del Proyecto</a:t>
            </a:r>
            <a:endParaRPr b="1" dirty="0">
              <a:latin typeface="Cambria"/>
              <a:ea typeface="Cambria"/>
              <a:cs typeface="Cambria"/>
              <a:sym typeface="Cambria"/>
            </a:endParaRPr>
          </a:p>
          <a:p>
            <a:pPr marL="0" marR="0" lvl="0" indent="0" algn="just" rtl="0">
              <a:lnSpc>
                <a:spcPct val="107000"/>
              </a:lnSpc>
              <a:spcBef>
                <a:spcPts val="0"/>
              </a:spcBef>
              <a:spcAft>
                <a:spcPts val="0"/>
              </a:spcAft>
              <a:buSzPts val="1948"/>
              <a:buNone/>
            </a:pPr>
            <a:endParaRPr dirty="0">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dirty="0">
                <a:latin typeface="Cambria"/>
                <a:ea typeface="Cambria"/>
                <a:cs typeface="Cambria"/>
                <a:sym typeface="Cambria"/>
              </a:rPr>
              <a:t>Una vez creado el servidor, se crea un proyecto Java, Web </a:t>
            </a:r>
            <a:r>
              <a:rPr lang="es-ES" dirty="0" err="1">
                <a:latin typeface="Cambria"/>
                <a:ea typeface="Cambria"/>
                <a:cs typeface="Cambria"/>
                <a:sym typeface="Cambria"/>
              </a:rPr>
              <a:t>Application</a:t>
            </a:r>
            <a:r>
              <a:rPr lang="es-ES" dirty="0">
                <a:latin typeface="Cambria"/>
                <a:ea typeface="Cambria"/>
                <a:cs typeface="Cambria"/>
                <a:sym typeface="Cambria"/>
              </a:rPr>
              <a:t> </a:t>
            </a:r>
            <a:endParaRPr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147" name="Google Shape;147;p1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DE87177D-CBC1-1478-CF53-CDB90CCC8862}"/>
              </a:ext>
            </a:extLst>
          </p:cNvPr>
          <p:cNvPicPr>
            <a:picLocks noChangeAspect="1"/>
          </p:cNvPicPr>
          <p:nvPr/>
        </p:nvPicPr>
        <p:blipFill>
          <a:blip r:embed="rId3"/>
          <a:stretch>
            <a:fillRect/>
          </a:stretch>
        </p:blipFill>
        <p:spPr>
          <a:xfrm>
            <a:off x="2606751" y="3346621"/>
            <a:ext cx="4751387" cy="32672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54" name="Google Shape;154;p20"/>
          <p:cNvSpPr txBox="1">
            <a:spLocks noGrp="1"/>
          </p:cNvSpPr>
          <p:nvPr>
            <p:ph type="body" idx="1"/>
          </p:nvPr>
        </p:nvSpPr>
        <p:spPr>
          <a:xfrm>
            <a:off x="463956" y="1966545"/>
            <a:ext cx="8744040" cy="1165731"/>
          </a:xfrm>
          <a:prstGeom prst="rect">
            <a:avLst/>
          </a:prstGeom>
          <a:noFill/>
          <a:ln>
            <a:noFill/>
          </a:ln>
        </p:spPr>
        <p:txBody>
          <a:bodyPr spcFirstLastPara="1" wrap="square" lIns="91425" tIns="45700" rIns="91425" bIns="45700" anchor="ctr" anchorCtr="0">
            <a:noAutofit/>
          </a:bodyPr>
          <a:lstStyle/>
          <a:p>
            <a:pPr marL="457200" lvl="0" indent="-333756" algn="just" rtl="0">
              <a:lnSpc>
                <a:spcPct val="107000"/>
              </a:lnSpc>
              <a:spcBef>
                <a:spcPts val="0"/>
              </a:spcBef>
              <a:spcAft>
                <a:spcPts val="0"/>
              </a:spcAft>
              <a:buSzPts val="1656"/>
              <a:buChar char="∙"/>
            </a:pPr>
            <a:r>
              <a:rPr lang="es-ES" dirty="0">
                <a:latin typeface="Cambria"/>
                <a:ea typeface="Cambria"/>
                <a:cs typeface="Cambria"/>
                <a:sym typeface="Cambria"/>
              </a:rPr>
              <a:t>Se aplica el nombre del proyecto como ‘WS_CON_UNI_JAVA_RESTFUL’, y se configura el grupo como ‘</a:t>
            </a:r>
            <a:r>
              <a:rPr lang="es-ES" u="sng" dirty="0" err="1">
                <a:solidFill>
                  <a:schemeClr val="hlink"/>
                </a:solidFill>
                <a:latin typeface="Cambria"/>
                <a:ea typeface="Cambria"/>
                <a:cs typeface="Cambria"/>
                <a:sym typeface="Cambria"/>
                <a:hlinkClick r:id="rId3"/>
              </a:rPr>
              <a:t>ec.edu</a:t>
            </a:r>
            <a:r>
              <a:rPr lang="es-ES" dirty="0" err="1">
                <a:latin typeface="Cambria"/>
                <a:ea typeface="Cambria"/>
                <a:cs typeface="Cambria"/>
                <a:sym typeface="Cambria"/>
              </a:rPr>
              <a:t>.monster</a:t>
            </a:r>
            <a:r>
              <a:rPr lang="es-ES" dirty="0">
                <a:latin typeface="Cambria"/>
                <a:ea typeface="Cambria"/>
                <a:cs typeface="Cambria"/>
                <a:sym typeface="Cambria"/>
              </a:rPr>
              <a:t>’</a:t>
            </a:r>
            <a:endParaRPr dirty="0">
              <a:latin typeface="Cambria"/>
              <a:ea typeface="Cambria"/>
              <a:cs typeface="Cambria"/>
              <a:sym typeface="Cambria"/>
            </a:endParaRPr>
          </a:p>
          <a:p>
            <a:pPr marL="457200" lvl="0" indent="-311150" algn="just" rtl="0">
              <a:lnSpc>
                <a:spcPct val="107000"/>
              </a:lnSpc>
              <a:spcBef>
                <a:spcPts val="0"/>
              </a:spcBef>
              <a:spcAft>
                <a:spcPts val="0"/>
              </a:spcAft>
              <a:buSzPts val="1300"/>
              <a:buFont typeface="Cambria"/>
              <a:buChar char="∙"/>
            </a:pPr>
            <a:r>
              <a:rPr lang="es-ES" dirty="0">
                <a:latin typeface="Cambria"/>
                <a:ea typeface="Cambria"/>
                <a:cs typeface="Cambria"/>
                <a:sym typeface="Cambria"/>
              </a:rPr>
              <a:t>Se selecciona nuestro Servidor Payara creado y </a:t>
            </a:r>
            <a:r>
              <a:rPr lang="es-ES" dirty="0" err="1">
                <a:latin typeface="Cambria"/>
                <a:ea typeface="Cambria"/>
                <a:cs typeface="Cambria"/>
                <a:sym typeface="Cambria"/>
              </a:rPr>
              <a:t>Jakarta</a:t>
            </a:r>
            <a:r>
              <a:rPr lang="es-ES" dirty="0">
                <a:latin typeface="Cambria"/>
                <a:ea typeface="Cambria"/>
                <a:cs typeface="Cambria"/>
                <a:sym typeface="Cambria"/>
              </a:rPr>
              <a:t> EE 11 como conjunto de desarrollo de aplicaciones Java.</a:t>
            </a:r>
            <a:endParaRPr dirty="0">
              <a:latin typeface="Cambria"/>
              <a:ea typeface="Cambria"/>
              <a:cs typeface="Cambria"/>
              <a:sym typeface="Cambria"/>
            </a:endParaRPr>
          </a:p>
        </p:txBody>
      </p:sp>
      <p:sp>
        <p:nvSpPr>
          <p:cNvPr id="155" name="Google Shape;155;p2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F96D408B-E38A-11FD-402B-0C1A9AC8FB3F}"/>
              </a:ext>
            </a:extLst>
          </p:cNvPr>
          <p:cNvPicPr>
            <a:picLocks noChangeAspect="1"/>
          </p:cNvPicPr>
          <p:nvPr/>
        </p:nvPicPr>
        <p:blipFill>
          <a:blip r:embed="rId4"/>
          <a:stretch>
            <a:fillRect/>
          </a:stretch>
        </p:blipFill>
        <p:spPr>
          <a:xfrm>
            <a:off x="463956" y="3382966"/>
            <a:ext cx="4316766" cy="2564753"/>
          </a:xfrm>
          <a:prstGeom prst="rect">
            <a:avLst/>
          </a:prstGeom>
        </p:spPr>
      </p:pic>
      <p:pic>
        <p:nvPicPr>
          <p:cNvPr id="5" name="Picture 4">
            <a:extLst>
              <a:ext uri="{FF2B5EF4-FFF2-40B4-BE49-F238E27FC236}">
                <a16:creationId xmlns:a16="http://schemas.microsoft.com/office/drawing/2014/main" id="{14FE4D6D-52C3-8FF9-9629-3421AF39A6D5}"/>
              </a:ext>
            </a:extLst>
          </p:cNvPr>
          <p:cNvPicPr>
            <a:picLocks noChangeAspect="1"/>
          </p:cNvPicPr>
          <p:nvPr/>
        </p:nvPicPr>
        <p:blipFill>
          <a:blip r:embed="rId5"/>
          <a:stretch>
            <a:fillRect/>
          </a:stretch>
        </p:blipFill>
        <p:spPr>
          <a:xfrm>
            <a:off x="5023352" y="3234649"/>
            <a:ext cx="4147140" cy="28613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63" name="Google Shape;163;p21"/>
          <p:cNvSpPr txBox="1">
            <a:spLocks noGrp="1"/>
          </p:cNvSpPr>
          <p:nvPr>
            <p:ph type="body" idx="1"/>
          </p:nvPr>
        </p:nvSpPr>
        <p:spPr>
          <a:xfrm>
            <a:off x="317589" y="2143663"/>
            <a:ext cx="4557900" cy="38700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77"/>
              <a:buChar char="∙"/>
            </a:pPr>
            <a:r>
              <a:rPr lang="es-ES" b="1" dirty="0">
                <a:latin typeface="Cambria"/>
                <a:ea typeface="Cambria"/>
                <a:cs typeface="Cambria"/>
                <a:sym typeface="Cambria"/>
              </a:rPr>
              <a:t>ESTRUCTURA MVC</a:t>
            </a:r>
            <a:endParaRPr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b="1" dirty="0">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dirty="0">
                <a:latin typeface="Cambria"/>
                <a:ea typeface="Cambria"/>
                <a:cs typeface="Cambria"/>
                <a:sym typeface="Cambria"/>
              </a:rPr>
              <a:t>Aplicando un patrón arquitectónico MVC junto a otras capas se configuran los paquetes principales.</a:t>
            </a:r>
            <a:endParaRPr b="1" dirty="0">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164" name="Google Shape;164;p2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4" name="Picture 3">
            <a:extLst>
              <a:ext uri="{FF2B5EF4-FFF2-40B4-BE49-F238E27FC236}">
                <a16:creationId xmlns:a16="http://schemas.microsoft.com/office/drawing/2014/main" id="{8E7E0E18-7D5F-50A7-172B-AC80F03C72D2}"/>
              </a:ext>
            </a:extLst>
          </p:cNvPr>
          <p:cNvPicPr>
            <a:picLocks noChangeAspect="1"/>
          </p:cNvPicPr>
          <p:nvPr/>
        </p:nvPicPr>
        <p:blipFill>
          <a:blip r:embed="rId3"/>
          <a:stretch>
            <a:fillRect/>
          </a:stretch>
        </p:blipFill>
        <p:spPr>
          <a:xfrm>
            <a:off x="4850775" y="2679841"/>
            <a:ext cx="4435224" cy="30635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a:t>
            </a:r>
            <a:endParaRPr dirty="0"/>
          </a:p>
        </p:txBody>
      </p:sp>
      <p:sp>
        <p:nvSpPr>
          <p:cNvPr id="171" name="Google Shape;171;p22"/>
          <p:cNvSpPr txBox="1">
            <a:spLocks noGrp="1"/>
          </p:cNvSpPr>
          <p:nvPr>
            <p:ph type="body" idx="1"/>
          </p:nvPr>
        </p:nvSpPr>
        <p:spPr>
          <a:xfrm>
            <a:off x="573339" y="2056933"/>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b="1" dirty="0">
                <a:latin typeface="Cambria"/>
                <a:ea typeface="Cambria"/>
                <a:cs typeface="Cambria"/>
                <a:sym typeface="Cambria"/>
              </a:rPr>
              <a:t>1.2.3 	Creación de la clase que expone /api</a:t>
            </a:r>
            <a:endParaRPr dirty="0">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dirty="0">
                <a:latin typeface="Cambria"/>
                <a:ea typeface="Cambria"/>
                <a:cs typeface="Cambria"/>
                <a:sym typeface="Cambria"/>
              </a:rPr>
              <a:t>Dentro del paquete de configuración, se crea una clase de java que permitirá configurar el web </a:t>
            </a:r>
            <a:r>
              <a:rPr lang="es-ES" dirty="0" err="1">
                <a:latin typeface="Cambria"/>
                <a:ea typeface="Cambria"/>
                <a:cs typeface="Cambria"/>
                <a:sym typeface="Cambria"/>
              </a:rPr>
              <a:t>service</a:t>
            </a:r>
            <a:r>
              <a:rPr lang="es-ES" dirty="0">
                <a:latin typeface="Cambria"/>
                <a:ea typeface="Cambria"/>
                <a:cs typeface="Cambria"/>
                <a:sym typeface="Cambria"/>
              </a:rPr>
              <a:t> con su nombre </a:t>
            </a:r>
            <a:r>
              <a:rPr lang="es-ES" dirty="0" err="1">
                <a:latin typeface="Cambria"/>
                <a:ea typeface="Cambria"/>
                <a:cs typeface="Cambria"/>
                <a:sym typeface="Cambria"/>
              </a:rPr>
              <a:t>ConfiguracionJersey</a:t>
            </a:r>
            <a:r>
              <a:rPr lang="es-ES" dirty="0">
                <a:latin typeface="Cambria"/>
                <a:ea typeface="Cambria"/>
                <a:cs typeface="Cambria"/>
                <a:sym typeface="Cambria"/>
              </a:rPr>
              <a:t>.</a:t>
            </a:r>
            <a:endParaRPr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dirty="0">
              <a:latin typeface="Cambria"/>
              <a:ea typeface="Cambria"/>
              <a:cs typeface="Cambria"/>
              <a:sym typeface="Cambria"/>
            </a:endParaRPr>
          </a:p>
        </p:txBody>
      </p:sp>
      <p:sp>
        <p:nvSpPr>
          <p:cNvPr id="172" name="Google Shape;172;p2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D828487E-C932-3724-C2DD-5CFD06BC21F1}"/>
              </a:ext>
            </a:extLst>
          </p:cNvPr>
          <p:cNvPicPr>
            <a:picLocks noChangeAspect="1"/>
          </p:cNvPicPr>
          <p:nvPr/>
        </p:nvPicPr>
        <p:blipFill>
          <a:blip r:embed="rId3"/>
          <a:stretch>
            <a:fillRect/>
          </a:stretch>
        </p:blipFill>
        <p:spPr>
          <a:xfrm>
            <a:off x="2631325" y="3429000"/>
            <a:ext cx="4473328" cy="287298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a:t>
            </a:r>
            <a:endParaRPr dirty="0"/>
          </a:p>
        </p:txBody>
      </p:sp>
      <p:sp>
        <p:nvSpPr>
          <p:cNvPr id="180" name="Google Shape;180;p23"/>
          <p:cNvSpPr txBox="1">
            <a:spLocks noGrp="1"/>
          </p:cNvSpPr>
          <p:nvPr>
            <p:ph type="body" idx="1"/>
          </p:nvPr>
        </p:nvSpPr>
        <p:spPr>
          <a:xfrm>
            <a:off x="581199" y="2180500"/>
            <a:ext cx="2821028" cy="2961645"/>
          </a:xfrm>
          <a:prstGeom prst="rect">
            <a:avLst/>
          </a:prstGeom>
          <a:noFill/>
          <a:ln>
            <a:noFill/>
          </a:ln>
        </p:spPr>
        <p:txBody>
          <a:bodyPr spcFirstLastPara="1" wrap="square" lIns="91425" tIns="45700" rIns="91425" bIns="45700" anchor="ctr" anchorCtr="0">
            <a:noAutofit/>
          </a:bodyPr>
          <a:lstStyle/>
          <a:p>
            <a:pPr marL="457200" lvl="0" indent="-335090" rtl="0">
              <a:lnSpc>
                <a:spcPct val="107000"/>
              </a:lnSpc>
              <a:spcBef>
                <a:spcPts val="0"/>
              </a:spcBef>
              <a:spcAft>
                <a:spcPts val="0"/>
              </a:spcAft>
              <a:buSzPts val="1677"/>
              <a:buFont typeface="Cambria"/>
              <a:buChar char="∙"/>
            </a:pPr>
            <a:r>
              <a:rPr lang="es-ES" sz="1400" b="1" dirty="0">
                <a:latin typeface="Cambria"/>
                <a:ea typeface="Cambria"/>
                <a:cs typeface="Cambria"/>
                <a:sym typeface="Cambria"/>
              </a:rPr>
              <a:t>Se codifica la clase bajo los siguientes lineamientos</a:t>
            </a:r>
            <a:endParaRPr sz="1400" b="1" dirty="0">
              <a:latin typeface="Cambria"/>
              <a:ea typeface="Cambria"/>
              <a:cs typeface="Cambria"/>
              <a:sym typeface="Cambria"/>
            </a:endParaRPr>
          </a:p>
          <a:p>
            <a:pPr marL="457200" lvl="0" indent="0" rtl="0">
              <a:lnSpc>
                <a:spcPct val="107000"/>
              </a:lnSpc>
              <a:spcBef>
                <a:spcPts val="0"/>
              </a:spcBef>
              <a:spcAft>
                <a:spcPts val="0"/>
              </a:spcAft>
              <a:buNone/>
            </a:pPr>
            <a:endParaRPr sz="1400" b="1" dirty="0">
              <a:latin typeface="Cambria"/>
              <a:ea typeface="Cambria"/>
              <a:cs typeface="Cambria"/>
              <a:sym typeface="Cambria"/>
            </a:endParaRPr>
          </a:p>
          <a:p>
            <a:pPr marL="457200" lvl="0" indent="-335090" rtl="0">
              <a:lnSpc>
                <a:spcPct val="107000"/>
              </a:lnSpc>
              <a:spcBef>
                <a:spcPts val="0"/>
              </a:spcBef>
              <a:spcAft>
                <a:spcPts val="0"/>
              </a:spcAft>
              <a:buSzPts val="1677"/>
              <a:buFont typeface="Cambria"/>
              <a:buChar char="∙"/>
            </a:pPr>
            <a:r>
              <a:rPr lang="es-ES" sz="1400" dirty="0">
                <a:latin typeface="Cambria"/>
                <a:ea typeface="Cambria"/>
                <a:cs typeface="Cambria"/>
                <a:sym typeface="Cambria"/>
              </a:rPr>
              <a:t>1.	Se dejan preparadas las siguientes importaciones que se encargarán de gestionar toda la lógica.</a:t>
            </a:r>
            <a:endParaRPr sz="1400" dirty="0">
              <a:latin typeface="Cambria"/>
              <a:ea typeface="Cambria"/>
              <a:cs typeface="Cambria"/>
              <a:sym typeface="Cambria"/>
            </a:endParaRPr>
          </a:p>
        </p:txBody>
      </p:sp>
      <p:sp>
        <p:nvSpPr>
          <p:cNvPr id="181" name="Google Shape;181;p2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182" name="Google Shape;182;p23"/>
          <p:cNvGraphicFramePr/>
          <p:nvPr>
            <p:extLst>
              <p:ext uri="{D42A27DB-BD31-4B8C-83A1-F6EECF244321}">
                <p14:modId xmlns:p14="http://schemas.microsoft.com/office/powerpoint/2010/main" val="3177660500"/>
              </p:ext>
            </p:extLst>
          </p:nvPr>
        </p:nvGraphicFramePr>
        <p:xfrm>
          <a:off x="3549376" y="3111376"/>
          <a:ext cx="5400050" cy="163576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100" dirty="0" err="1">
                          <a:solidFill>
                            <a:srgbClr val="4F81BD"/>
                          </a:solidFill>
                          <a:latin typeface="Calibri"/>
                          <a:ea typeface="Calibri"/>
                          <a:cs typeface="Calibri"/>
                          <a:sym typeface="Calibri"/>
                        </a:rPr>
                        <a:t>package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ec.edu.monster.config</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org.eclipse.microprofile.openapi.annotations.OpenAPIDefinition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org.eclipse.microprofile.openapi.annotations.info.Contact</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org.eclipse.microprofile.openapi.annotations.info.Info</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jakarta.ws.rs.core.Application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jakarta.ws.rs.ApplicationPath</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org.eclipse.microprofile.openapi.annotations.enums.SecuritySchemeType;</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org.eclipse.microprofile.openapi.annotations.security.SecurityScheme;</a:t>
                      </a: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88" name="Google Shape;188;p24"/>
          <p:cNvSpPr txBox="1">
            <a:spLocks noGrp="1"/>
          </p:cNvSpPr>
          <p:nvPr>
            <p:ph type="body" idx="1"/>
          </p:nvPr>
        </p:nvSpPr>
        <p:spPr>
          <a:xfrm>
            <a:off x="440100" y="2299082"/>
            <a:ext cx="3120251" cy="1987846"/>
          </a:xfrm>
          <a:prstGeom prst="rect">
            <a:avLst/>
          </a:prstGeom>
          <a:noFill/>
          <a:ln>
            <a:noFill/>
          </a:ln>
        </p:spPr>
        <p:txBody>
          <a:bodyPr spcFirstLastPara="1" wrap="square" lIns="91425" tIns="45700" rIns="91425" bIns="45700" anchor="ctr" anchorCtr="0">
            <a:normAutofit/>
          </a:bodyPr>
          <a:lstStyle/>
          <a:p>
            <a:pPr marL="457200" lvl="0" indent="-335090" rtl="0">
              <a:lnSpc>
                <a:spcPct val="107000"/>
              </a:lnSpc>
              <a:spcBef>
                <a:spcPts val="0"/>
              </a:spcBef>
              <a:spcAft>
                <a:spcPts val="0"/>
              </a:spcAft>
              <a:buSzPts val="1677"/>
              <a:buFont typeface="Cambria"/>
              <a:buChar char="∙"/>
            </a:pPr>
            <a:r>
              <a:rPr lang="es-ES" sz="1400" dirty="0">
                <a:latin typeface="Cambria"/>
                <a:ea typeface="Cambria"/>
                <a:cs typeface="Cambria"/>
                <a:sym typeface="Cambria"/>
              </a:rPr>
              <a:t>2.	Se configura el </a:t>
            </a:r>
            <a:r>
              <a:rPr lang="es-ES" sz="1400" dirty="0" err="1">
                <a:latin typeface="Cambria"/>
                <a:ea typeface="Cambria"/>
                <a:cs typeface="Cambria"/>
                <a:sym typeface="Cambria"/>
              </a:rPr>
              <a:t>endpoint</a:t>
            </a:r>
            <a:r>
              <a:rPr lang="es-ES" sz="1400" dirty="0">
                <a:latin typeface="Cambria"/>
                <a:ea typeface="Cambria"/>
                <a:cs typeface="Cambria"/>
                <a:sym typeface="Cambria"/>
              </a:rPr>
              <a:t> de nuestro servicio web.</a:t>
            </a:r>
            <a:endParaRPr sz="1400" dirty="0">
              <a:latin typeface="Cambria"/>
              <a:ea typeface="Cambria"/>
              <a:cs typeface="Cambria"/>
              <a:sym typeface="Cambria"/>
            </a:endParaRPr>
          </a:p>
          <a:p>
            <a:pPr marL="457200" lvl="0" indent="-335090" rtl="0">
              <a:lnSpc>
                <a:spcPct val="107000"/>
              </a:lnSpc>
              <a:spcBef>
                <a:spcPts val="0"/>
              </a:spcBef>
              <a:spcAft>
                <a:spcPts val="0"/>
              </a:spcAft>
              <a:buSzPts val="1677"/>
              <a:buFont typeface="Cambria"/>
              <a:buChar char="∙"/>
            </a:pPr>
            <a:r>
              <a:rPr lang="es-ES" sz="1400" dirty="0">
                <a:latin typeface="Cambria"/>
                <a:ea typeface="Cambria"/>
                <a:cs typeface="Cambria"/>
                <a:sym typeface="Cambria"/>
              </a:rPr>
              <a:t>3.	Se crean los </a:t>
            </a:r>
            <a:r>
              <a:rPr lang="es-ES" sz="1400" dirty="0" err="1">
                <a:latin typeface="Cambria"/>
                <a:ea typeface="Cambria"/>
                <a:cs typeface="Cambria"/>
                <a:sym typeface="Cambria"/>
              </a:rPr>
              <a:t>atributosde</a:t>
            </a:r>
            <a:r>
              <a:rPr lang="es-ES" sz="1400" dirty="0">
                <a:latin typeface="Cambria"/>
                <a:ea typeface="Cambria"/>
                <a:cs typeface="Cambria"/>
                <a:sym typeface="Cambria"/>
              </a:rPr>
              <a:t> seguridad respectivos.</a:t>
            </a:r>
            <a:endParaRPr sz="1400" b="1" dirty="0">
              <a:latin typeface="Cambria"/>
              <a:ea typeface="Cambria"/>
              <a:cs typeface="Cambria"/>
              <a:sym typeface="Cambria"/>
            </a:endParaRPr>
          </a:p>
        </p:txBody>
      </p:sp>
      <p:sp>
        <p:nvSpPr>
          <p:cNvPr id="189" name="Google Shape;189;p2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190" name="Google Shape;190;p24"/>
          <p:cNvGraphicFramePr/>
          <p:nvPr>
            <p:extLst>
              <p:ext uri="{D42A27DB-BD31-4B8C-83A1-F6EECF244321}">
                <p14:modId xmlns:p14="http://schemas.microsoft.com/office/powerpoint/2010/main" val="2690093226"/>
              </p:ext>
            </p:extLst>
          </p:nvPr>
        </p:nvGraphicFramePr>
        <p:xfrm>
          <a:off x="3701450" y="2180500"/>
          <a:ext cx="5400050" cy="146812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100" dirty="0">
                          <a:solidFill>
                            <a:srgbClr val="4F81BD"/>
                          </a:solidFill>
                          <a:latin typeface="Calibri"/>
                          <a:ea typeface="Calibri"/>
                          <a:cs typeface="Calibri"/>
                          <a:sym typeface="Calibri"/>
                        </a:rPr>
                        <a:t>@ApplicationPath("/api")</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@OpenAPIDefinition(</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info</a:t>
                      </a:r>
                      <a:r>
                        <a:rPr lang="es-ES" sz="1100" dirty="0">
                          <a:solidFill>
                            <a:srgbClr val="4F81BD"/>
                          </a:solidFill>
                          <a:latin typeface="Calibri"/>
                          <a:ea typeface="Calibri"/>
                          <a:cs typeface="Calibri"/>
                          <a:sym typeface="Calibri"/>
                        </a:rPr>
                        <a:t> = @Info(</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title</a:t>
                      </a:r>
                      <a:r>
                        <a:rPr lang="es-ES" sz="1100" dirty="0">
                          <a:solidFill>
                            <a:srgbClr val="4F81BD"/>
                          </a:solidFill>
                          <a:latin typeface="Calibri"/>
                          <a:ea typeface="Calibri"/>
                          <a:cs typeface="Calibri"/>
                          <a:sym typeface="Calibri"/>
                        </a:rPr>
                        <a:t> = "Convertidor de Unidades Monster </a:t>
                      </a:r>
                      <a:r>
                        <a:rPr lang="es-ES" sz="1100" dirty="0" err="1">
                          <a:solidFill>
                            <a:srgbClr val="4F81BD"/>
                          </a:solidFill>
                          <a:latin typeface="Calibri"/>
                          <a:ea typeface="Calibri"/>
                          <a:cs typeface="Calibri"/>
                          <a:sym typeface="Calibri"/>
                        </a:rPr>
                        <a:t>RESTful</a:t>
                      </a:r>
                      <a:r>
                        <a:rPr lang="es-ES" sz="1100" dirty="0">
                          <a:solidFill>
                            <a:srgbClr val="4F81BD"/>
                          </a:solidFill>
                          <a:latin typeface="Calibri"/>
                          <a:ea typeface="Calibri"/>
                          <a:cs typeface="Calibri"/>
                          <a:sym typeface="Calibri"/>
                        </a:rPr>
                        <a:t> JAVA",</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version</a:t>
                      </a:r>
                      <a:r>
                        <a:rPr lang="es-ES" sz="1100" dirty="0">
                          <a:solidFill>
                            <a:srgbClr val="4F81BD"/>
                          </a:solidFill>
                          <a:latin typeface="Calibri"/>
                          <a:ea typeface="Calibri"/>
                          <a:cs typeface="Calibri"/>
                          <a:sym typeface="Calibri"/>
                        </a:rPr>
                        <a:t> = "1.0.0",</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description</a:t>
                      </a:r>
                      <a:r>
                        <a:rPr lang="es-ES" sz="1100" dirty="0">
                          <a:solidFill>
                            <a:srgbClr val="4F81BD"/>
                          </a:solidFill>
                          <a:latin typeface="Calibri"/>
                          <a:ea typeface="Calibri"/>
                          <a:cs typeface="Calibri"/>
                          <a:sym typeface="Calibri"/>
                        </a:rPr>
                        <a:t> = "Servicio web </a:t>
                      </a:r>
                      <a:r>
                        <a:rPr lang="es-ES" sz="1100" dirty="0" err="1">
                          <a:solidFill>
                            <a:srgbClr val="4F81BD"/>
                          </a:solidFill>
                          <a:latin typeface="Calibri"/>
                          <a:ea typeface="Calibri"/>
                          <a:cs typeface="Calibri"/>
                          <a:sym typeface="Calibri"/>
                        </a:rPr>
                        <a:t>RESTful</a:t>
                      </a:r>
                      <a:r>
                        <a:rPr lang="es-ES" sz="1100" dirty="0">
                          <a:solidFill>
                            <a:srgbClr val="4F81BD"/>
                          </a:solidFill>
                          <a:latin typeface="Calibri"/>
                          <a:ea typeface="Calibri"/>
                          <a:cs typeface="Calibri"/>
                          <a:sym typeface="Calibri"/>
                        </a:rPr>
                        <a:t> en Java para conversión de unidades de temperatura",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contact</a:t>
                      </a:r>
                      <a:r>
                        <a:rPr lang="es-ES" sz="1100" dirty="0">
                          <a:solidFill>
                            <a:srgbClr val="4F81BD"/>
                          </a:solidFill>
                          <a:latin typeface="Calibri"/>
                          <a:ea typeface="Calibri"/>
                          <a:cs typeface="Calibri"/>
                          <a:sym typeface="Calibri"/>
                        </a:rPr>
                        <a:t> = @Contact(name= "Grupo 7 Arquitectura")))</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191" name="Google Shape;191;p24"/>
          <p:cNvGraphicFramePr/>
          <p:nvPr>
            <p:extLst>
              <p:ext uri="{D42A27DB-BD31-4B8C-83A1-F6EECF244321}">
                <p14:modId xmlns:p14="http://schemas.microsoft.com/office/powerpoint/2010/main" val="573590187"/>
              </p:ext>
            </p:extLst>
          </p:nvPr>
        </p:nvGraphicFramePr>
        <p:xfrm>
          <a:off x="3701450" y="3935448"/>
          <a:ext cx="5400050" cy="96520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100" dirty="0">
                          <a:solidFill>
                            <a:srgbClr val="4F81BD"/>
                          </a:solidFill>
                          <a:latin typeface="Calibri"/>
                          <a:ea typeface="Calibri"/>
                          <a:cs typeface="Calibri"/>
                          <a:sym typeface="Calibri"/>
                        </a:rPr>
                        <a:t>@SecurityScheme(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securitySchemeName</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bearerAuth</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type</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SecuritySchemeType.HTTP</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scheme</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bearer</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bearerFormat</a:t>
                      </a:r>
                      <a:r>
                        <a:rPr lang="es-ES" sz="1100" dirty="0">
                          <a:solidFill>
                            <a:srgbClr val="4F81BD"/>
                          </a:solidFill>
                          <a:latin typeface="Calibri"/>
                          <a:ea typeface="Calibri"/>
                          <a:cs typeface="Calibri"/>
                          <a:sym typeface="Calibri"/>
                        </a:rPr>
                        <a:t> = "JWT")</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97" name="Google Shape;197;p25"/>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400" dirty="0">
                <a:latin typeface="Cambria"/>
                <a:ea typeface="Cambria"/>
                <a:cs typeface="Cambria"/>
                <a:sym typeface="Cambria"/>
              </a:rPr>
              <a:t>4. Se crean los métodos respectivos, incluyendo el de autenticación</a:t>
            </a:r>
            <a:endParaRPr sz="1400"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400"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400" dirty="0">
              <a:latin typeface="Cambria"/>
              <a:ea typeface="Cambria"/>
              <a:cs typeface="Cambria"/>
              <a:sym typeface="Cambria"/>
            </a:endParaRPr>
          </a:p>
        </p:txBody>
      </p:sp>
      <p:sp>
        <p:nvSpPr>
          <p:cNvPr id="198" name="Google Shape;198;p2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199" name="Google Shape;199;p25"/>
          <p:cNvGraphicFramePr/>
          <p:nvPr>
            <p:extLst>
              <p:ext uri="{D42A27DB-BD31-4B8C-83A1-F6EECF244321}">
                <p14:modId xmlns:p14="http://schemas.microsoft.com/office/powerpoint/2010/main" val="1407895350"/>
              </p:ext>
            </p:extLst>
          </p:nvPr>
        </p:nvGraphicFramePr>
        <p:xfrm>
          <a:off x="3272427" y="1887151"/>
          <a:ext cx="5647030" cy="4919980"/>
        </p:xfrm>
        <a:graphic>
          <a:graphicData uri="http://schemas.openxmlformats.org/drawingml/2006/table">
            <a:tbl>
              <a:tblPr>
                <a:noFill/>
                <a:tableStyleId>{BF136021-7255-42B7-A7E7-87A8D8FFE9CA}</a:tableStyleId>
              </a:tblPr>
              <a:tblGrid>
                <a:gridCol w="5647030">
                  <a:extLst>
                    <a:ext uri="{9D8B030D-6E8A-4147-A177-3AD203B41FA5}">
                      <a16:colId xmlns:a16="http://schemas.microsoft.com/office/drawing/2014/main" val="20000"/>
                    </a:ext>
                  </a:extLst>
                </a:gridCol>
              </a:tblGrid>
              <a:tr h="4653692">
                <a:tc>
                  <a:txBody>
                    <a:bodyPr/>
                    <a:lstStyle/>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@Path("/autenticacion")</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@Produces(MediaType.APPLICATION_JSON)</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@Consumes(MediaType.APPLICATION_JSON)</a:t>
                      </a:r>
                    </a:p>
                    <a:p>
                      <a:pPr marL="0" lvl="0" indent="0" algn="l" rtl="0">
                        <a:lnSpc>
                          <a:spcPct val="100000"/>
                        </a:lnSpc>
                        <a:spcBef>
                          <a:spcPts val="0"/>
                        </a:spcBef>
                        <a:spcAft>
                          <a:spcPts val="0"/>
                        </a:spcAft>
                        <a:buNone/>
                      </a:pPr>
                      <a:r>
                        <a:rPr lang="es-EC" sz="850" dirty="0" err="1">
                          <a:solidFill>
                            <a:srgbClr val="4F81BD"/>
                          </a:solidFill>
                          <a:latin typeface="Calibri"/>
                          <a:ea typeface="Calibri"/>
                          <a:cs typeface="Calibri"/>
                          <a:sym typeface="Calibri"/>
                        </a:rPr>
                        <a:t>public</a:t>
                      </a: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class</a:t>
                      </a: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ControladorAutenticacion</a:t>
                      </a:r>
                      <a:r>
                        <a:rPr lang="es-EC" sz="85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private</a:t>
                      </a:r>
                      <a:r>
                        <a:rPr lang="es-EC" sz="850" dirty="0">
                          <a:solidFill>
                            <a:srgbClr val="4F81BD"/>
                          </a:solidFill>
                          <a:latin typeface="Calibri"/>
                          <a:ea typeface="Calibri"/>
                          <a:cs typeface="Calibri"/>
                          <a:sym typeface="Calibri"/>
                        </a:rPr>
                        <a:t> final </a:t>
                      </a:r>
                      <a:r>
                        <a:rPr lang="es-EC" sz="850" dirty="0" err="1">
                          <a:solidFill>
                            <a:srgbClr val="4F81BD"/>
                          </a:solidFill>
                          <a:latin typeface="Calibri"/>
                          <a:ea typeface="Calibri"/>
                          <a:cs typeface="Calibri"/>
                          <a:sym typeface="Calibri"/>
                        </a:rPr>
                        <a:t>ServicioAutenticacion</a:t>
                      </a: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servicioAutenticacion</a:t>
                      </a:r>
                      <a:r>
                        <a:rPr lang="es-EC" sz="85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@Inject</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public</a:t>
                      </a: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ControladorAutenticacion</a:t>
                      </a:r>
                      <a:r>
                        <a:rPr lang="es-EC" sz="850" dirty="0">
                          <a:solidFill>
                            <a:srgbClr val="4F81BD"/>
                          </a:solidFill>
                          <a:latin typeface="Calibri"/>
                          <a:ea typeface="Calibri"/>
                          <a:cs typeface="Calibri"/>
                          <a:sym typeface="Calibri"/>
                        </a:rPr>
                        <a:t>(</a:t>
                      </a:r>
                      <a:r>
                        <a:rPr lang="es-EC" sz="850" dirty="0" err="1">
                          <a:solidFill>
                            <a:srgbClr val="4F81BD"/>
                          </a:solidFill>
                          <a:latin typeface="Calibri"/>
                          <a:ea typeface="Calibri"/>
                          <a:cs typeface="Calibri"/>
                          <a:sym typeface="Calibri"/>
                        </a:rPr>
                        <a:t>ServicioAutenticacion</a:t>
                      </a: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servicioAutenticacion</a:t>
                      </a:r>
                      <a:r>
                        <a:rPr lang="es-EC" sz="85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this.servicioAutenticacion</a:t>
                      </a:r>
                      <a:r>
                        <a:rPr lang="es-EC" sz="850" dirty="0">
                          <a:solidFill>
                            <a:srgbClr val="4F81BD"/>
                          </a:solidFill>
                          <a:latin typeface="Calibri"/>
                          <a:ea typeface="Calibri"/>
                          <a:cs typeface="Calibri"/>
                          <a:sym typeface="Calibri"/>
                        </a:rPr>
                        <a:t> = </a:t>
                      </a:r>
                      <a:r>
                        <a:rPr lang="es-EC" sz="850" dirty="0" err="1">
                          <a:solidFill>
                            <a:srgbClr val="4F81BD"/>
                          </a:solidFill>
                          <a:latin typeface="Calibri"/>
                          <a:ea typeface="Calibri"/>
                          <a:cs typeface="Calibri"/>
                          <a:sym typeface="Calibri"/>
                        </a:rPr>
                        <a:t>servicioAutenticacion</a:t>
                      </a:r>
                      <a:r>
                        <a:rPr lang="es-EC" sz="85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@POST</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@Path("/iniciar-sesion")</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@Operation(</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summary</a:t>
                      </a:r>
                      <a:r>
                        <a:rPr lang="es-EC" sz="850" dirty="0">
                          <a:solidFill>
                            <a:srgbClr val="4F81BD"/>
                          </a:solidFill>
                          <a:latin typeface="Calibri"/>
                          <a:ea typeface="Calibri"/>
                          <a:cs typeface="Calibri"/>
                          <a:sym typeface="Calibri"/>
                        </a:rPr>
                        <a:t> = "Inicio de sesión",</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description</a:t>
                      </a:r>
                      <a:r>
                        <a:rPr lang="es-EC" sz="850" dirty="0">
                          <a:solidFill>
                            <a:srgbClr val="4F81BD"/>
                          </a:solidFill>
                          <a:latin typeface="Calibri"/>
                          <a:ea typeface="Calibri"/>
                          <a:cs typeface="Calibri"/>
                          <a:sym typeface="Calibri"/>
                        </a:rPr>
                        <a:t> = "Recibe credenciales y autentica para devolver token de sesión."</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@APIResponses({</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@APIResponse(</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responseCode</a:t>
                      </a:r>
                      <a:r>
                        <a:rPr lang="es-EC" sz="850" dirty="0">
                          <a:solidFill>
                            <a:srgbClr val="4F81BD"/>
                          </a:solidFill>
                          <a:latin typeface="Calibri"/>
                          <a:ea typeface="Calibri"/>
                          <a:cs typeface="Calibri"/>
                          <a:sym typeface="Calibri"/>
                        </a:rPr>
                        <a:t> = "200",</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description</a:t>
                      </a:r>
                      <a:r>
                        <a:rPr lang="es-EC" sz="850" dirty="0">
                          <a:solidFill>
                            <a:srgbClr val="4F81BD"/>
                          </a:solidFill>
                          <a:latin typeface="Calibri"/>
                          <a:ea typeface="Calibri"/>
                          <a:cs typeface="Calibri"/>
                          <a:sym typeface="Calibri"/>
                        </a:rPr>
                        <a:t> = "Inicio de Sesión realizado exitosamente",</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content</a:t>
                      </a:r>
                      <a:r>
                        <a:rPr lang="es-EC" sz="850" dirty="0">
                          <a:solidFill>
                            <a:srgbClr val="4F81BD"/>
                          </a:solidFill>
                          <a:latin typeface="Calibri"/>
                          <a:ea typeface="Calibri"/>
                          <a:cs typeface="Calibri"/>
                          <a:sym typeface="Calibri"/>
                        </a:rPr>
                        <a:t> = @Content(mediaType = </a:t>
                      </a:r>
                      <a:r>
                        <a:rPr lang="es-EC" sz="850" dirty="0" err="1">
                          <a:solidFill>
                            <a:srgbClr val="4F81BD"/>
                          </a:solidFill>
                          <a:latin typeface="Calibri"/>
                          <a:ea typeface="Calibri"/>
                          <a:cs typeface="Calibri"/>
                          <a:sym typeface="Calibri"/>
                        </a:rPr>
                        <a:t>MediaType.APPLICATION_JSON</a:t>
                      </a:r>
                      <a:r>
                        <a:rPr lang="es-EC" sz="85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schema</a:t>
                      </a:r>
                      <a:r>
                        <a:rPr lang="es-EC" sz="850" dirty="0">
                          <a:solidFill>
                            <a:srgbClr val="4F81BD"/>
                          </a:solidFill>
                          <a:latin typeface="Calibri"/>
                          <a:ea typeface="Calibri"/>
                          <a:cs typeface="Calibri"/>
                          <a:sym typeface="Calibri"/>
                        </a:rPr>
                        <a:t> = @Schema(implementation = </a:t>
                      </a:r>
                      <a:r>
                        <a:rPr lang="es-EC" sz="850" dirty="0" err="1">
                          <a:solidFill>
                            <a:srgbClr val="4F81BD"/>
                          </a:solidFill>
                          <a:latin typeface="Calibri"/>
                          <a:ea typeface="Calibri"/>
                          <a:cs typeface="Calibri"/>
                          <a:sym typeface="Calibri"/>
                        </a:rPr>
                        <a:t>RespuestaLogin.class</a:t>
                      </a:r>
                      <a:r>
                        <a:rPr lang="es-EC" sz="85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@APIResponse(</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responseCode</a:t>
                      </a:r>
                      <a:r>
                        <a:rPr lang="es-EC" sz="850" dirty="0">
                          <a:solidFill>
                            <a:srgbClr val="4F81BD"/>
                          </a:solidFill>
                          <a:latin typeface="Calibri"/>
                          <a:ea typeface="Calibri"/>
                          <a:cs typeface="Calibri"/>
                          <a:sym typeface="Calibri"/>
                        </a:rPr>
                        <a:t> = "401",</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description</a:t>
                      </a:r>
                      <a:r>
                        <a:rPr lang="es-EC" sz="850" dirty="0">
                          <a:solidFill>
                            <a:srgbClr val="4F81BD"/>
                          </a:solidFill>
                          <a:latin typeface="Calibri"/>
                          <a:ea typeface="Calibri"/>
                          <a:cs typeface="Calibri"/>
                          <a:sym typeface="Calibri"/>
                        </a:rPr>
                        <a:t> = "Credenciales inválidas",</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content</a:t>
                      </a:r>
                      <a:r>
                        <a:rPr lang="es-EC" sz="850" dirty="0">
                          <a:solidFill>
                            <a:srgbClr val="4F81BD"/>
                          </a:solidFill>
                          <a:latin typeface="Calibri"/>
                          <a:ea typeface="Calibri"/>
                          <a:cs typeface="Calibri"/>
                          <a:sym typeface="Calibri"/>
                        </a:rPr>
                        <a:t> = @Content(mediaType = </a:t>
                      </a:r>
                      <a:r>
                        <a:rPr lang="es-EC" sz="850" dirty="0" err="1">
                          <a:solidFill>
                            <a:srgbClr val="4F81BD"/>
                          </a:solidFill>
                          <a:latin typeface="Calibri"/>
                          <a:ea typeface="Calibri"/>
                          <a:cs typeface="Calibri"/>
                          <a:sym typeface="Calibri"/>
                        </a:rPr>
                        <a:t>MediaType.APPLICATION_JSON</a:t>
                      </a:r>
                      <a:r>
                        <a:rPr lang="es-EC" sz="85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schema</a:t>
                      </a:r>
                      <a:r>
                        <a:rPr lang="es-EC" sz="850" dirty="0">
                          <a:solidFill>
                            <a:srgbClr val="4F81BD"/>
                          </a:solidFill>
                          <a:latin typeface="Calibri"/>
                          <a:ea typeface="Calibri"/>
                          <a:cs typeface="Calibri"/>
                          <a:sym typeface="Calibri"/>
                        </a:rPr>
                        <a:t> = @Schema(implementation = </a:t>
                      </a:r>
                      <a:r>
                        <a:rPr lang="es-EC" sz="850" dirty="0" err="1">
                          <a:solidFill>
                            <a:srgbClr val="4F81BD"/>
                          </a:solidFill>
                          <a:latin typeface="Calibri"/>
                          <a:ea typeface="Calibri"/>
                          <a:cs typeface="Calibri"/>
                          <a:sym typeface="Calibri"/>
                        </a:rPr>
                        <a:t>RespuestaError.class</a:t>
                      </a:r>
                      <a:r>
                        <a:rPr lang="es-EC" sz="85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public</a:t>
                      </a:r>
                      <a:r>
                        <a:rPr lang="es-EC" sz="850" dirty="0">
                          <a:solidFill>
                            <a:srgbClr val="4F81BD"/>
                          </a:solidFill>
                          <a:latin typeface="Calibri"/>
                          <a:ea typeface="Calibri"/>
                          <a:cs typeface="Calibri"/>
                          <a:sym typeface="Calibri"/>
                        </a:rPr>
                        <a:t> Response </a:t>
                      </a:r>
                      <a:r>
                        <a:rPr lang="es-EC" sz="850" dirty="0" err="1">
                          <a:solidFill>
                            <a:srgbClr val="4F81BD"/>
                          </a:solidFill>
                          <a:latin typeface="Calibri"/>
                          <a:ea typeface="Calibri"/>
                          <a:cs typeface="Calibri"/>
                          <a:sym typeface="Calibri"/>
                        </a:rPr>
                        <a:t>iniciarSesion</a:t>
                      </a:r>
                      <a:r>
                        <a:rPr lang="es-EC" sz="850" dirty="0">
                          <a:solidFill>
                            <a:srgbClr val="4F81BD"/>
                          </a:solidFill>
                          <a:latin typeface="Calibri"/>
                          <a:ea typeface="Calibri"/>
                          <a:cs typeface="Calibri"/>
                          <a:sym typeface="Calibri"/>
                        </a:rPr>
                        <a:t>(@RequestBody(description = "Credenciales de inicio de sesión", </a:t>
                      </a:r>
                      <a:r>
                        <a:rPr lang="es-EC" sz="850" dirty="0" err="1">
                          <a:solidFill>
                            <a:srgbClr val="4F81BD"/>
                          </a:solidFill>
                          <a:latin typeface="Calibri"/>
                          <a:ea typeface="Calibri"/>
                          <a:cs typeface="Calibri"/>
                          <a:sym typeface="Calibri"/>
                        </a:rPr>
                        <a:t>required</a:t>
                      </a:r>
                      <a:r>
                        <a:rPr lang="es-EC" sz="850" dirty="0">
                          <a:solidFill>
                            <a:srgbClr val="4F81BD"/>
                          </a:solidFill>
                          <a:latin typeface="Calibri"/>
                          <a:ea typeface="Calibri"/>
                          <a:cs typeface="Calibri"/>
                          <a:sym typeface="Calibri"/>
                        </a:rPr>
                        <a:t> = true)</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@Valid </a:t>
                      </a:r>
                      <a:r>
                        <a:rPr lang="es-EC" sz="850" dirty="0" err="1">
                          <a:solidFill>
                            <a:srgbClr val="4F81BD"/>
                          </a:solidFill>
                          <a:latin typeface="Calibri"/>
                          <a:ea typeface="Calibri"/>
                          <a:cs typeface="Calibri"/>
                          <a:sym typeface="Calibri"/>
                        </a:rPr>
                        <a:t>SolicitudLogin</a:t>
                      </a:r>
                      <a:r>
                        <a:rPr lang="es-EC" sz="850" dirty="0">
                          <a:solidFill>
                            <a:srgbClr val="4F81BD"/>
                          </a:solidFill>
                          <a:latin typeface="Calibri"/>
                          <a:ea typeface="Calibri"/>
                          <a:cs typeface="Calibri"/>
                          <a:sym typeface="Calibri"/>
                        </a:rPr>
                        <a:t> solicitud) {</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RespuestaLogin</a:t>
                      </a:r>
                      <a:r>
                        <a:rPr lang="es-EC" sz="850" dirty="0">
                          <a:solidFill>
                            <a:srgbClr val="4F81BD"/>
                          </a:solidFill>
                          <a:latin typeface="Calibri"/>
                          <a:ea typeface="Calibri"/>
                          <a:cs typeface="Calibri"/>
                          <a:sym typeface="Calibri"/>
                        </a:rPr>
                        <a:t> respuesta = </a:t>
                      </a:r>
                      <a:r>
                        <a:rPr lang="es-EC" sz="850" dirty="0" err="1">
                          <a:solidFill>
                            <a:srgbClr val="4F81BD"/>
                          </a:solidFill>
                          <a:latin typeface="Calibri"/>
                          <a:ea typeface="Calibri"/>
                          <a:cs typeface="Calibri"/>
                          <a:sym typeface="Calibri"/>
                        </a:rPr>
                        <a:t>servicioAutenticacion.iniciarSesion</a:t>
                      </a:r>
                      <a:r>
                        <a:rPr lang="es-EC" sz="850" dirty="0">
                          <a:solidFill>
                            <a:srgbClr val="4F81BD"/>
                          </a:solidFill>
                          <a:latin typeface="Calibri"/>
                          <a:ea typeface="Calibri"/>
                          <a:cs typeface="Calibri"/>
                          <a:sym typeface="Calibri"/>
                        </a:rPr>
                        <a:t>(solicitud);</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return</a:t>
                      </a:r>
                      <a:r>
                        <a:rPr lang="es-EC" sz="850" dirty="0">
                          <a:solidFill>
                            <a:srgbClr val="4F81BD"/>
                          </a:solidFill>
                          <a:latin typeface="Calibri"/>
                          <a:ea typeface="Calibri"/>
                          <a:cs typeface="Calibri"/>
                          <a:sym typeface="Calibri"/>
                        </a:rPr>
                        <a:t> </a:t>
                      </a:r>
                      <a:r>
                        <a:rPr lang="es-EC" sz="850" dirty="0" err="1">
                          <a:solidFill>
                            <a:srgbClr val="4F81BD"/>
                          </a:solidFill>
                          <a:latin typeface="Calibri"/>
                          <a:ea typeface="Calibri"/>
                          <a:cs typeface="Calibri"/>
                          <a:sym typeface="Calibri"/>
                        </a:rPr>
                        <a:t>Response.ok</a:t>
                      </a:r>
                      <a:r>
                        <a:rPr lang="es-EC" sz="850" dirty="0">
                          <a:solidFill>
                            <a:srgbClr val="4F81BD"/>
                          </a:solidFill>
                          <a:latin typeface="Calibri"/>
                          <a:ea typeface="Calibri"/>
                          <a:cs typeface="Calibri"/>
                          <a:sym typeface="Calibri"/>
                        </a:rPr>
                        <a:t>(respuesta).</a:t>
                      </a:r>
                      <a:r>
                        <a:rPr lang="es-EC" sz="850" dirty="0" err="1">
                          <a:solidFill>
                            <a:srgbClr val="4F81BD"/>
                          </a:solidFill>
                          <a:latin typeface="Calibri"/>
                          <a:ea typeface="Calibri"/>
                          <a:cs typeface="Calibri"/>
                          <a:sym typeface="Calibri"/>
                        </a:rPr>
                        <a:t>build</a:t>
                      </a:r>
                      <a:r>
                        <a:rPr lang="es-EC" sz="85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850" dirty="0">
                          <a:solidFill>
                            <a:srgbClr val="4F81BD"/>
                          </a:solidFill>
                          <a:latin typeface="Calibri"/>
                          <a:ea typeface="Calibri"/>
                          <a:cs typeface="Calibri"/>
                          <a:sym typeface="Calibri"/>
                        </a:rPr>
                        <a:t>}</a:t>
                      </a:r>
                      <a:endParaRPr sz="85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204" name="Google Shape;204;p26"/>
          <p:cNvGraphicFramePr/>
          <p:nvPr>
            <p:extLst>
              <p:ext uri="{D42A27DB-BD31-4B8C-83A1-F6EECF244321}">
                <p14:modId xmlns:p14="http://schemas.microsoft.com/office/powerpoint/2010/main" val="180185893"/>
              </p:ext>
            </p:extLst>
          </p:nvPr>
        </p:nvGraphicFramePr>
        <p:xfrm>
          <a:off x="3060864" y="1868632"/>
          <a:ext cx="5951332" cy="4663973"/>
        </p:xfrm>
        <a:graphic>
          <a:graphicData uri="http://schemas.openxmlformats.org/drawingml/2006/table">
            <a:tbl>
              <a:tblPr>
                <a:noFill/>
                <a:tableStyleId>{BF136021-7255-42B7-A7E7-87A8D8FFE9CA}</a:tableStyleId>
              </a:tblPr>
              <a:tblGrid>
                <a:gridCol w="5951332">
                  <a:extLst>
                    <a:ext uri="{9D8B030D-6E8A-4147-A177-3AD203B41FA5}">
                      <a16:colId xmlns:a16="http://schemas.microsoft.com/office/drawing/2014/main" val="20000"/>
                    </a:ext>
                  </a:extLst>
                </a:gridCol>
              </a:tblGrid>
              <a:tr h="4663973">
                <a:tc>
                  <a:txBody>
                    <a:bodyPr/>
                    <a:lstStyle/>
                    <a:p>
                      <a:pPr marL="0" lvl="0" indent="0" algn="l" rtl="0">
                        <a:spcBef>
                          <a:spcPts val="0"/>
                        </a:spcBef>
                        <a:spcAft>
                          <a:spcPts val="0"/>
                        </a:spcAft>
                        <a:buNone/>
                      </a:pPr>
                      <a:r>
                        <a:rPr lang="es-ES" sz="800" dirty="0">
                          <a:solidFill>
                            <a:srgbClr val="4F81BD"/>
                          </a:solidFill>
                          <a:latin typeface="Calibri"/>
                          <a:ea typeface="Calibri"/>
                          <a:cs typeface="Calibri"/>
                          <a:sym typeface="Calibri"/>
                        </a:rPr>
                        <a:t>@Path("/conversion/longitud")</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@Produces(MediaType.APPLICATION_JSON)</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@Consumes(MediaType.APPLICATION_JSON)</a:t>
                      </a:r>
                    </a:p>
                    <a:p>
                      <a:pPr marL="0" lvl="0" indent="0" algn="l" rtl="0">
                        <a:spcBef>
                          <a:spcPts val="0"/>
                        </a:spcBef>
                        <a:spcAft>
                          <a:spcPts val="0"/>
                        </a:spcAft>
                        <a:buNone/>
                      </a:pPr>
                      <a:r>
                        <a:rPr lang="es-ES" sz="800" dirty="0" err="1">
                          <a:solidFill>
                            <a:srgbClr val="4F81BD"/>
                          </a:solidFill>
                          <a:latin typeface="Calibri"/>
                          <a:ea typeface="Calibri"/>
                          <a:cs typeface="Calibri"/>
                          <a:sym typeface="Calibri"/>
                        </a:rPr>
                        <a:t>public</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class</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ControladorLongitud</a:t>
                      </a: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private</a:t>
                      </a:r>
                      <a:r>
                        <a:rPr lang="es-ES" sz="800" dirty="0">
                          <a:solidFill>
                            <a:srgbClr val="4F81BD"/>
                          </a:solidFill>
                          <a:latin typeface="Calibri"/>
                          <a:ea typeface="Calibri"/>
                          <a:cs typeface="Calibri"/>
                          <a:sym typeface="Calibri"/>
                        </a:rPr>
                        <a:t> final </a:t>
                      </a:r>
                      <a:r>
                        <a:rPr lang="es-ES" sz="800" dirty="0" err="1">
                          <a:solidFill>
                            <a:srgbClr val="4F81BD"/>
                          </a:solidFill>
                          <a:latin typeface="Calibri"/>
                          <a:ea typeface="Calibri"/>
                          <a:cs typeface="Calibri"/>
                          <a:sym typeface="Calibri"/>
                        </a:rPr>
                        <a:t>ServicioLongitud</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servicioLongitud</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@Inject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public</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ControladorLongitud</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ServicioLongitud</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servicioLongitud</a:t>
                      </a: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this.servicioLongitud</a:t>
                      </a:r>
                      <a:r>
                        <a:rPr lang="es-ES" sz="800" dirty="0">
                          <a:solidFill>
                            <a:srgbClr val="4F81BD"/>
                          </a:solidFill>
                          <a:latin typeface="Calibri"/>
                          <a:ea typeface="Calibri"/>
                          <a:cs typeface="Calibri"/>
                          <a:sym typeface="Calibri"/>
                        </a:rPr>
                        <a:t> = </a:t>
                      </a:r>
                      <a:r>
                        <a:rPr lang="es-ES" sz="800" dirty="0" err="1">
                          <a:solidFill>
                            <a:srgbClr val="4F81BD"/>
                          </a:solidFill>
                          <a:latin typeface="Calibri"/>
                          <a:ea typeface="Calibri"/>
                          <a:cs typeface="Calibri"/>
                          <a:sym typeface="Calibri"/>
                        </a:rPr>
                        <a:t>servicioLongitud</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@POST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@SecurityRequirement(name = "</a:t>
                      </a:r>
                      <a:r>
                        <a:rPr lang="es-ES" sz="800" dirty="0" err="1">
                          <a:solidFill>
                            <a:srgbClr val="4F81BD"/>
                          </a:solidFill>
                          <a:latin typeface="Calibri"/>
                          <a:ea typeface="Calibri"/>
                          <a:cs typeface="Calibri"/>
                          <a:sym typeface="Calibri"/>
                        </a:rPr>
                        <a:t>bearerAuth</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@Operation(</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operationId</a:t>
                      </a:r>
                      <a:r>
                        <a:rPr lang="es-ES" sz="800" dirty="0">
                          <a:solidFill>
                            <a:srgbClr val="4F81BD"/>
                          </a:solidFill>
                          <a:latin typeface="Calibri"/>
                          <a:ea typeface="Calibri"/>
                          <a:cs typeface="Calibri"/>
                          <a:sym typeface="Calibri"/>
                        </a:rPr>
                        <a:t> = "</a:t>
                      </a:r>
                      <a:r>
                        <a:rPr lang="es-ES" sz="800" dirty="0" err="1">
                          <a:solidFill>
                            <a:srgbClr val="4F81BD"/>
                          </a:solidFill>
                          <a:latin typeface="Calibri"/>
                          <a:ea typeface="Calibri"/>
                          <a:cs typeface="Calibri"/>
                          <a:sym typeface="Calibri"/>
                        </a:rPr>
                        <a:t>convertirLpngitud</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summary</a:t>
                      </a:r>
                      <a:r>
                        <a:rPr lang="es-ES" sz="800" dirty="0">
                          <a:solidFill>
                            <a:srgbClr val="4F81BD"/>
                          </a:solidFill>
                          <a:latin typeface="Calibri"/>
                          <a:ea typeface="Calibri"/>
                          <a:cs typeface="Calibri"/>
                          <a:sym typeface="Calibri"/>
                        </a:rPr>
                        <a:t> = "Convertir unidades de longitud",</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description</a:t>
                      </a:r>
                      <a:r>
                        <a:rPr lang="es-ES" sz="800" dirty="0">
                          <a:solidFill>
                            <a:srgbClr val="4F81BD"/>
                          </a:solidFill>
                          <a:latin typeface="Calibri"/>
                          <a:ea typeface="Calibri"/>
                          <a:cs typeface="Calibri"/>
                          <a:sym typeface="Calibri"/>
                        </a:rPr>
                        <a:t> = "Convierte un valor de una unidad de longitud a otra."</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@APIResponses({</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@APIResponse(</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responseCode</a:t>
                      </a:r>
                      <a:r>
                        <a:rPr lang="es-ES" sz="800" dirty="0">
                          <a:solidFill>
                            <a:srgbClr val="4F81BD"/>
                          </a:solidFill>
                          <a:latin typeface="Calibri"/>
                          <a:ea typeface="Calibri"/>
                          <a:cs typeface="Calibri"/>
                          <a:sym typeface="Calibri"/>
                        </a:rPr>
                        <a:t> = "200",</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description</a:t>
                      </a:r>
                      <a:r>
                        <a:rPr lang="es-ES" sz="800" dirty="0">
                          <a:solidFill>
                            <a:srgbClr val="4F81BD"/>
                          </a:solidFill>
                          <a:latin typeface="Calibri"/>
                          <a:ea typeface="Calibri"/>
                          <a:cs typeface="Calibri"/>
                          <a:sym typeface="Calibri"/>
                        </a:rPr>
                        <a:t> = "Conversión realizada exitosamente",</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content</a:t>
                      </a:r>
                      <a:r>
                        <a:rPr lang="es-ES" sz="800" dirty="0">
                          <a:solidFill>
                            <a:srgbClr val="4F81BD"/>
                          </a:solidFill>
                          <a:latin typeface="Calibri"/>
                          <a:ea typeface="Calibri"/>
                          <a:cs typeface="Calibri"/>
                          <a:sym typeface="Calibri"/>
                        </a:rPr>
                        <a:t> = @Content(mediaType = </a:t>
                      </a:r>
                      <a:r>
                        <a:rPr lang="es-ES" sz="800" dirty="0" err="1">
                          <a:solidFill>
                            <a:srgbClr val="4F81BD"/>
                          </a:solidFill>
                          <a:latin typeface="Calibri"/>
                          <a:ea typeface="Calibri"/>
                          <a:cs typeface="Calibri"/>
                          <a:sym typeface="Calibri"/>
                        </a:rPr>
                        <a:t>MediaType.APPLICATION_JSON</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schema</a:t>
                      </a:r>
                      <a:r>
                        <a:rPr lang="es-ES" sz="800" dirty="0">
                          <a:solidFill>
                            <a:srgbClr val="4F81BD"/>
                          </a:solidFill>
                          <a:latin typeface="Calibri"/>
                          <a:ea typeface="Calibri"/>
                          <a:cs typeface="Calibri"/>
                          <a:sym typeface="Calibri"/>
                        </a:rPr>
                        <a:t> = @Schema(implementation = </a:t>
                      </a:r>
                      <a:r>
                        <a:rPr lang="es-ES" sz="800" dirty="0" err="1">
                          <a:solidFill>
                            <a:srgbClr val="4F81BD"/>
                          </a:solidFill>
                          <a:latin typeface="Calibri"/>
                          <a:ea typeface="Calibri"/>
                          <a:cs typeface="Calibri"/>
                          <a:sym typeface="Calibri"/>
                        </a:rPr>
                        <a:t>RespuestaConversion.class</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err="1">
                          <a:solidFill>
                            <a:srgbClr val="4F81BD"/>
                          </a:solidFill>
                          <a:latin typeface="Calibri"/>
                          <a:ea typeface="Calibri"/>
                          <a:cs typeface="Calibri"/>
                          <a:sym typeface="Calibri"/>
                        </a:rPr>
                        <a:t>public</a:t>
                      </a:r>
                      <a:r>
                        <a:rPr lang="es-ES" sz="800" dirty="0">
                          <a:solidFill>
                            <a:srgbClr val="4F81BD"/>
                          </a:solidFill>
                          <a:latin typeface="Calibri"/>
                          <a:ea typeface="Calibri"/>
                          <a:cs typeface="Calibri"/>
                          <a:sym typeface="Calibri"/>
                        </a:rPr>
                        <a:t> Response convertir(@RequestBody(</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description</a:t>
                      </a:r>
                      <a:r>
                        <a:rPr lang="es-ES" sz="800" dirty="0">
                          <a:solidFill>
                            <a:srgbClr val="4F81BD"/>
                          </a:solidFill>
                          <a:latin typeface="Calibri"/>
                          <a:ea typeface="Calibri"/>
                          <a:cs typeface="Calibri"/>
                          <a:sym typeface="Calibri"/>
                        </a:rPr>
                        <a:t> = "Datos para la conversión de longitud",</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required</a:t>
                      </a:r>
                      <a:r>
                        <a:rPr lang="es-ES" sz="800" dirty="0">
                          <a:solidFill>
                            <a:srgbClr val="4F81BD"/>
                          </a:solidFill>
                          <a:latin typeface="Calibri"/>
                          <a:ea typeface="Calibri"/>
                          <a:cs typeface="Calibri"/>
                          <a:sym typeface="Calibri"/>
                        </a:rPr>
                        <a:t> = true,</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content</a:t>
                      </a:r>
                      <a:r>
                        <a:rPr lang="es-ES" sz="800" dirty="0">
                          <a:solidFill>
                            <a:srgbClr val="4F81BD"/>
                          </a:solidFill>
                          <a:latin typeface="Calibri"/>
                          <a:ea typeface="Calibri"/>
                          <a:cs typeface="Calibri"/>
                          <a:sym typeface="Calibri"/>
                        </a:rPr>
                        <a:t> = @Content(mediaType = </a:t>
                      </a:r>
                      <a:r>
                        <a:rPr lang="es-ES" sz="800" dirty="0" err="1">
                          <a:solidFill>
                            <a:srgbClr val="4F81BD"/>
                          </a:solidFill>
                          <a:latin typeface="Calibri"/>
                          <a:ea typeface="Calibri"/>
                          <a:cs typeface="Calibri"/>
                          <a:sym typeface="Calibri"/>
                        </a:rPr>
                        <a:t>MediaType.APPLICATION_JSON</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schema</a:t>
                      </a:r>
                      <a:r>
                        <a:rPr lang="es-ES" sz="800" dirty="0">
                          <a:solidFill>
                            <a:srgbClr val="4F81BD"/>
                          </a:solidFill>
                          <a:latin typeface="Calibri"/>
                          <a:ea typeface="Calibri"/>
                          <a:cs typeface="Calibri"/>
                          <a:sym typeface="Calibri"/>
                        </a:rPr>
                        <a:t> = @Schema(implementation = </a:t>
                      </a:r>
                      <a:r>
                        <a:rPr lang="es-ES" sz="800" dirty="0" err="1">
                          <a:solidFill>
                            <a:srgbClr val="4F81BD"/>
                          </a:solidFill>
                          <a:latin typeface="Calibri"/>
                          <a:ea typeface="Calibri"/>
                          <a:cs typeface="Calibri"/>
                          <a:sym typeface="Calibri"/>
                        </a:rPr>
                        <a:t>SolicitudConversion.class</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 @Valid </a:t>
                      </a:r>
                      <a:r>
                        <a:rPr lang="es-ES" sz="800" dirty="0" err="1">
                          <a:solidFill>
                            <a:srgbClr val="4F81BD"/>
                          </a:solidFill>
                          <a:latin typeface="Calibri"/>
                          <a:ea typeface="Calibri"/>
                          <a:cs typeface="Calibri"/>
                          <a:sym typeface="Calibri"/>
                        </a:rPr>
                        <a:t>SolicitudConversion</a:t>
                      </a:r>
                      <a:r>
                        <a:rPr lang="es-ES" sz="800" dirty="0">
                          <a:solidFill>
                            <a:srgbClr val="4F81BD"/>
                          </a:solidFill>
                          <a:latin typeface="Calibri"/>
                          <a:ea typeface="Calibri"/>
                          <a:cs typeface="Calibri"/>
                          <a:sym typeface="Calibri"/>
                        </a:rPr>
                        <a:t> solicitud)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RespuestaConversion</a:t>
                      </a:r>
                      <a:r>
                        <a:rPr lang="es-ES" sz="800" dirty="0">
                          <a:solidFill>
                            <a:srgbClr val="4F81BD"/>
                          </a:solidFill>
                          <a:latin typeface="Calibri"/>
                          <a:ea typeface="Calibri"/>
                          <a:cs typeface="Calibri"/>
                          <a:sym typeface="Calibri"/>
                        </a:rPr>
                        <a:t> respuesta = </a:t>
                      </a:r>
                      <a:r>
                        <a:rPr lang="es-ES" sz="800" dirty="0" err="1">
                          <a:solidFill>
                            <a:srgbClr val="4F81BD"/>
                          </a:solidFill>
                          <a:latin typeface="Calibri"/>
                          <a:ea typeface="Calibri"/>
                          <a:cs typeface="Calibri"/>
                          <a:sym typeface="Calibri"/>
                        </a:rPr>
                        <a:t>servicioLongitud.convertir</a:t>
                      </a:r>
                      <a:r>
                        <a:rPr lang="es-ES" sz="800" dirty="0">
                          <a:solidFill>
                            <a:srgbClr val="4F81BD"/>
                          </a:solidFill>
                          <a:latin typeface="Calibri"/>
                          <a:ea typeface="Calibri"/>
                          <a:cs typeface="Calibri"/>
                          <a:sym typeface="Calibri"/>
                        </a:rPr>
                        <a:t>(solicitud);</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Response.ok</a:t>
                      </a:r>
                      <a:r>
                        <a:rPr lang="es-ES" sz="800" dirty="0">
                          <a:solidFill>
                            <a:srgbClr val="4F81BD"/>
                          </a:solidFill>
                          <a:latin typeface="Calibri"/>
                          <a:ea typeface="Calibri"/>
                          <a:cs typeface="Calibri"/>
                          <a:sym typeface="Calibri"/>
                        </a:rPr>
                        <a:t>(respuesta).</a:t>
                      </a:r>
                      <a:r>
                        <a:rPr lang="es-ES" sz="800" dirty="0" err="1">
                          <a:solidFill>
                            <a:srgbClr val="4F81BD"/>
                          </a:solidFill>
                          <a:latin typeface="Calibri"/>
                          <a:ea typeface="Calibri"/>
                          <a:cs typeface="Calibri"/>
                          <a:sym typeface="Calibri"/>
                        </a:rPr>
                        <a:t>build</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205" name="Google Shape;205;p2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06" name="Google Shape;206;p26"/>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dirty="0">
                <a:latin typeface="Cambria"/>
                <a:ea typeface="Cambria"/>
                <a:cs typeface="Cambria"/>
                <a:sym typeface="Cambria"/>
              </a:rPr>
              <a:t>4. Se crean los métodos respectivos, incluyendo el de autenticación</a:t>
            </a:r>
            <a:endParaRPr sz="1677"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207" name="Google Shape;207;p2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A620FEAD-21BF-7EC6-9E29-05FBB08593F8}"/>
            </a:ext>
          </a:extLst>
        </p:cNvPr>
        <p:cNvGrpSpPr/>
        <p:nvPr/>
      </p:nvGrpSpPr>
      <p:grpSpPr>
        <a:xfrm>
          <a:off x="0" y="0"/>
          <a:ext cx="0" cy="0"/>
          <a:chOff x="0" y="0"/>
          <a:chExt cx="0" cy="0"/>
        </a:xfrm>
      </p:grpSpPr>
      <p:graphicFrame>
        <p:nvGraphicFramePr>
          <p:cNvPr id="204" name="Google Shape;204;p26">
            <a:extLst>
              <a:ext uri="{FF2B5EF4-FFF2-40B4-BE49-F238E27FC236}">
                <a16:creationId xmlns:a16="http://schemas.microsoft.com/office/drawing/2014/main" id="{EF4A4FF5-7F25-57CB-FAD5-6B4E3B511076}"/>
              </a:ext>
            </a:extLst>
          </p:cNvPr>
          <p:cNvGraphicFramePr/>
          <p:nvPr>
            <p:extLst>
              <p:ext uri="{D42A27DB-BD31-4B8C-83A1-F6EECF244321}">
                <p14:modId xmlns:p14="http://schemas.microsoft.com/office/powerpoint/2010/main" val="3448789674"/>
              </p:ext>
            </p:extLst>
          </p:nvPr>
        </p:nvGraphicFramePr>
        <p:xfrm>
          <a:off x="3449998" y="1896483"/>
          <a:ext cx="4776817" cy="4759960"/>
        </p:xfrm>
        <a:graphic>
          <a:graphicData uri="http://schemas.openxmlformats.org/drawingml/2006/table">
            <a:tbl>
              <a:tblPr>
                <a:noFill/>
                <a:tableStyleId>{BF136021-7255-42B7-A7E7-87A8D8FFE9CA}</a:tableStyleId>
              </a:tblPr>
              <a:tblGrid>
                <a:gridCol w="4776817">
                  <a:extLst>
                    <a:ext uri="{9D8B030D-6E8A-4147-A177-3AD203B41FA5}">
                      <a16:colId xmlns:a16="http://schemas.microsoft.com/office/drawing/2014/main" val="20000"/>
                    </a:ext>
                  </a:extLst>
                </a:gridCol>
              </a:tblGrid>
              <a:tr h="2856749">
                <a:tc>
                  <a:txBody>
                    <a:bodyPr/>
                    <a:lstStyle/>
                    <a:p>
                      <a:pPr marL="0" lvl="0" indent="0" algn="l" rtl="0">
                        <a:spcBef>
                          <a:spcPts val="0"/>
                        </a:spcBef>
                        <a:spcAft>
                          <a:spcPts val="0"/>
                        </a:spcAft>
                        <a:buNone/>
                      </a:pPr>
                      <a:r>
                        <a:rPr lang="es-ES" sz="800" dirty="0">
                          <a:solidFill>
                            <a:srgbClr val="4F81BD"/>
                          </a:solidFill>
                          <a:latin typeface="Calibri"/>
                          <a:ea typeface="Calibri"/>
                          <a:cs typeface="Calibri"/>
                          <a:sym typeface="Calibri"/>
                        </a:rPr>
                        <a:t>@Path("/conversion/temperatura")</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@Produces(MediaType.APPLICATION_JSON)</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@Consumes(MediaType.APPLICATION_JSON)</a:t>
                      </a:r>
                    </a:p>
                    <a:p>
                      <a:pPr marL="0" lvl="0" indent="0" algn="l" rtl="0">
                        <a:spcBef>
                          <a:spcPts val="0"/>
                        </a:spcBef>
                        <a:spcAft>
                          <a:spcPts val="0"/>
                        </a:spcAft>
                        <a:buNone/>
                      </a:pPr>
                      <a:r>
                        <a:rPr lang="es-ES" sz="800" dirty="0" err="1">
                          <a:solidFill>
                            <a:srgbClr val="4F81BD"/>
                          </a:solidFill>
                          <a:latin typeface="Calibri"/>
                          <a:ea typeface="Calibri"/>
                          <a:cs typeface="Calibri"/>
                          <a:sym typeface="Calibri"/>
                        </a:rPr>
                        <a:t>public</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class</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ControladorTemperatura</a:t>
                      </a: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private</a:t>
                      </a:r>
                      <a:r>
                        <a:rPr lang="es-ES" sz="800" dirty="0">
                          <a:solidFill>
                            <a:srgbClr val="4F81BD"/>
                          </a:solidFill>
                          <a:latin typeface="Calibri"/>
                          <a:ea typeface="Calibri"/>
                          <a:cs typeface="Calibri"/>
                          <a:sym typeface="Calibri"/>
                        </a:rPr>
                        <a:t> final </a:t>
                      </a:r>
                      <a:r>
                        <a:rPr lang="es-ES" sz="800" dirty="0" err="1">
                          <a:solidFill>
                            <a:srgbClr val="4F81BD"/>
                          </a:solidFill>
                          <a:latin typeface="Calibri"/>
                          <a:ea typeface="Calibri"/>
                          <a:cs typeface="Calibri"/>
                          <a:sym typeface="Calibri"/>
                        </a:rPr>
                        <a:t>ServicioTemperatura</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servicioTemperatura</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@Inject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public</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ControladorTemperatura</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ServicioTemperatura</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servicioTemperatura</a:t>
                      </a: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this.servicioTemperatura</a:t>
                      </a:r>
                      <a:r>
                        <a:rPr lang="es-ES" sz="800" dirty="0">
                          <a:solidFill>
                            <a:srgbClr val="4F81BD"/>
                          </a:solidFill>
                          <a:latin typeface="Calibri"/>
                          <a:ea typeface="Calibri"/>
                          <a:cs typeface="Calibri"/>
                          <a:sym typeface="Calibri"/>
                        </a:rPr>
                        <a:t> = </a:t>
                      </a:r>
                      <a:r>
                        <a:rPr lang="es-ES" sz="800" dirty="0" err="1">
                          <a:solidFill>
                            <a:srgbClr val="4F81BD"/>
                          </a:solidFill>
                          <a:latin typeface="Calibri"/>
                          <a:ea typeface="Calibri"/>
                          <a:cs typeface="Calibri"/>
                          <a:sym typeface="Calibri"/>
                        </a:rPr>
                        <a:t>servicioTemperatura</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@POST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@SecurityRequirement(name = "</a:t>
                      </a:r>
                      <a:r>
                        <a:rPr lang="es-ES" sz="800" dirty="0" err="1">
                          <a:solidFill>
                            <a:srgbClr val="4F81BD"/>
                          </a:solidFill>
                          <a:latin typeface="Calibri"/>
                          <a:ea typeface="Calibri"/>
                          <a:cs typeface="Calibri"/>
                          <a:sym typeface="Calibri"/>
                        </a:rPr>
                        <a:t>bearerAuth</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@Operation(</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operationId</a:t>
                      </a:r>
                      <a:r>
                        <a:rPr lang="es-ES" sz="800" dirty="0">
                          <a:solidFill>
                            <a:srgbClr val="4F81BD"/>
                          </a:solidFill>
                          <a:latin typeface="Calibri"/>
                          <a:ea typeface="Calibri"/>
                          <a:cs typeface="Calibri"/>
                          <a:sym typeface="Calibri"/>
                        </a:rPr>
                        <a:t> = "</a:t>
                      </a:r>
                      <a:r>
                        <a:rPr lang="es-ES" sz="800" dirty="0" err="1">
                          <a:solidFill>
                            <a:srgbClr val="4F81BD"/>
                          </a:solidFill>
                          <a:latin typeface="Calibri"/>
                          <a:ea typeface="Calibri"/>
                          <a:cs typeface="Calibri"/>
                          <a:sym typeface="Calibri"/>
                        </a:rPr>
                        <a:t>convertirTemperatura</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summary</a:t>
                      </a:r>
                      <a:r>
                        <a:rPr lang="es-ES" sz="800" dirty="0">
                          <a:solidFill>
                            <a:srgbClr val="4F81BD"/>
                          </a:solidFill>
                          <a:latin typeface="Calibri"/>
                          <a:ea typeface="Calibri"/>
                          <a:cs typeface="Calibri"/>
                          <a:sym typeface="Calibri"/>
                        </a:rPr>
                        <a:t> = "Convertir unidades de temperatura",</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description</a:t>
                      </a:r>
                      <a:r>
                        <a:rPr lang="es-ES" sz="800" dirty="0">
                          <a:solidFill>
                            <a:srgbClr val="4F81BD"/>
                          </a:solidFill>
                          <a:latin typeface="Calibri"/>
                          <a:ea typeface="Calibri"/>
                          <a:cs typeface="Calibri"/>
                          <a:sym typeface="Calibri"/>
                        </a:rPr>
                        <a:t> = "Convierte un valor de una unidad de temperatura a otra."</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@APIResponses({</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@APIResponse(</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responseCode</a:t>
                      </a:r>
                      <a:r>
                        <a:rPr lang="es-ES" sz="800" dirty="0">
                          <a:solidFill>
                            <a:srgbClr val="4F81BD"/>
                          </a:solidFill>
                          <a:latin typeface="Calibri"/>
                          <a:ea typeface="Calibri"/>
                          <a:cs typeface="Calibri"/>
                          <a:sym typeface="Calibri"/>
                        </a:rPr>
                        <a:t> = "200",</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description</a:t>
                      </a:r>
                      <a:r>
                        <a:rPr lang="es-ES" sz="800" dirty="0">
                          <a:solidFill>
                            <a:srgbClr val="4F81BD"/>
                          </a:solidFill>
                          <a:latin typeface="Calibri"/>
                          <a:ea typeface="Calibri"/>
                          <a:cs typeface="Calibri"/>
                          <a:sym typeface="Calibri"/>
                        </a:rPr>
                        <a:t> = "Conversión realizada exitosamente",</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content</a:t>
                      </a:r>
                      <a:r>
                        <a:rPr lang="es-ES" sz="800" dirty="0">
                          <a:solidFill>
                            <a:srgbClr val="4F81BD"/>
                          </a:solidFill>
                          <a:latin typeface="Calibri"/>
                          <a:ea typeface="Calibri"/>
                          <a:cs typeface="Calibri"/>
                          <a:sym typeface="Calibri"/>
                        </a:rPr>
                        <a:t> = @Content(mediaType = </a:t>
                      </a:r>
                      <a:r>
                        <a:rPr lang="es-ES" sz="800" dirty="0" err="1">
                          <a:solidFill>
                            <a:srgbClr val="4F81BD"/>
                          </a:solidFill>
                          <a:latin typeface="Calibri"/>
                          <a:ea typeface="Calibri"/>
                          <a:cs typeface="Calibri"/>
                          <a:sym typeface="Calibri"/>
                        </a:rPr>
                        <a:t>MediaType.APPLICATION_JSON</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schema</a:t>
                      </a:r>
                      <a:r>
                        <a:rPr lang="es-ES" sz="800" dirty="0">
                          <a:solidFill>
                            <a:srgbClr val="4F81BD"/>
                          </a:solidFill>
                          <a:latin typeface="Calibri"/>
                          <a:ea typeface="Calibri"/>
                          <a:cs typeface="Calibri"/>
                          <a:sym typeface="Calibri"/>
                        </a:rPr>
                        <a:t> = @Schema(implementation = </a:t>
                      </a:r>
                      <a:r>
                        <a:rPr lang="es-ES" sz="800" dirty="0" err="1">
                          <a:solidFill>
                            <a:srgbClr val="4F81BD"/>
                          </a:solidFill>
                          <a:latin typeface="Calibri"/>
                          <a:ea typeface="Calibri"/>
                          <a:cs typeface="Calibri"/>
                          <a:sym typeface="Calibri"/>
                        </a:rPr>
                        <a:t>RespuestaConversion.class</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err="1">
                          <a:solidFill>
                            <a:srgbClr val="4F81BD"/>
                          </a:solidFill>
                          <a:latin typeface="Calibri"/>
                          <a:ea typeface="Calibri"/>
                          <a:cs typeface="Calibri"/>
                          <a:sym typeface="Calibri"/>
                        </a:rPr>
                        <a:t>public</a:t>
                      </a:r>
                      <a:r>
                        <a:rPr lang="es-ES" sz="800" dirty="0">
                          <a:solidFill>
                            <a:srgbClr val="4F81BD"/>
                          </a:solidFill>
                          <a:latin typeface="Calibri"/>
                          <a:ea typeface="Calibri"/>
                          <a:cs typeface="Calibri"/>
                          <a:sym typeface="Calibri"/>
                        </a:rPr>
                        <a:t> Response convertir(@RequestBody(</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description</a:t>
                      </a:r>
                      <a:r>
                        <a:rPr lang="es-ES" sz="800" dirty="0">
                          <a:solidFill>
                            <a:srgbClr val="4F81BD"/>
                          </a:solidFill>
                          <a:latin typeface="Calibri"/>
                          <a:ea typeface="Calibri"/>
                          <a:cs typeface="Calibri"/>
                          <a:sym typeface="Calibri"/>
                        </a:rPr>
                        <a:t> = "Datos para la conversión de temperatura",</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required</a:t>
                      </a:r>
                      <a:r>
                        <a:rPr lang="es-ES" sz="800" dirty="0">
                          <a:solidFill>
                            <a:srgbClr val="4F81BD"/>
                          </a:solidFill>
                          <a:latin typeface="Calibri"/>
                          <a:ea typeface="Calibri"/>
                          <a:cs typeface="Calibri"/>
                          <a:sym typeface="Calibri"/>
                        </a:rPr>
                        <a:t> = true,</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content</a:t>
                      </a:r>
                      <a:r>
                        <a:rPr lang="es-ES" sz="800" dirty="0">
                          <a:solidFill>
                            <a:srgbClr val="4F81BD"/>
                          </a:solidFill>
                          <a:latin typeface="Calibri"/>
                          <a:ea typeface="Calibri"/>
                          <a:cs typeface="Calibri"/>
                          <a:sym typeface="Calibri"/>
                        </a:rPr>
                        <a:t> = @Content(mediaType = </a:t>
                      </a:r>
                      <a:r>
                        <a:rPr lang="es-ES" sz="800" dirty="0" err="1">
                          <a:solidFill>
                            <a:srgbClr val="4F81BD"/>
                          </a:solidFill>
                          <a:latin typeface="Calibri"/>
                          <a:ea typeface="Calibri"/>
                          <a:cs typeface="Calibri"/>
                          <a:sym typeface="Calibri"/>
                        </a:rPr>
                        <a:t>MediaType.APPLICATION_JSON</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schema</a:t>
                      </a:r>
                      <a:r>
                        <a:rPr lang="es-ES" sz="800" dirty="0">
                          <a:solidFill>
                            <a:srgbClr val="4F81BD"/>
                          </a:solidFill>
                          <a:latin typeface="Calibri"/>
                          <a:ea typeface="Calibri"/>
                          <a:cs typeface="Calibri"/>
                          <a:sym typeface="Calibri"/>
                        </a:rPr>
                        <a:t> = @Schema(implementation = </a:t>
                      </a:r>
                      <a:r>
                        <a:rPr lang="es-ES" sz="800" dirty="0" err="1">
                          <a:solidFill>
                            <a:srgbClr val="4F81BD"/>
                          </a:solidFill>
                          <a:latin typeface="Calibri"/>
                          <a:ea typeface="Calibri"/>
                          <a:cs typeface="Calibri"/>
                          <a:sym typeface="Calibri"/>
                        </a:rPr>
                        <a:t>SolicitudConversion.class</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 @Valid </a:t>
                      </a:r>
                      <a:r>
                        <a:rPr lang="es-ES" sz="800" dirty="0" err="1">
                          <a:solidFill>
                            <a:srgbClr val="4F81BD"/>
                          </a:solidFill>
                          <a:latin typeface="Calibri"/>
                          <a:ea typeface="Calibri"/>
                          <a:cs typeface="Calibri"/>
                          <a:sym typeface="Calibri"/>
                        </a:rPr>
                        <a:t>SolicitudConversion</a:t>
                      </a:r>
                      <a:r>
                        <a:rPr lang="es-ES" sz="800" dirty="0">
                          <a:solidFill>
                            <a:srgbClr val="4F81BD"/>
                          </a:solidFill>
                          <a:latin typeface="Calibri"/>
                          <a:ea typeface="Calibri"/>
                          <a:cs typeface="Calibri"/>
                          <a:sym typeface="Calibri"/>
                        </a:rPr>
                        <a:t> solicitud)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RespuestaConversion</a:t>
                      </a:r>
                      <a:r>
                        <a:rPr lang="es-ES" sz="800" dirty="0">
                          <a:solidFill>
                            <a:srgbClr val="4F81BD"/>
                          </a:solidFill>
                          <a:latin typeface="Calibri"/>
                          <a:ea typeface="Calibri"/>
                          <a:cs typeface="Calibri"/>
                          <a:sym typeface="Calibri"/>
                        </a:rPr>
                        <a:t> respuesta = </a:t>
                      </a:r>
                      <a:r>
                        <a:rPr lang="es-ES" sz="800" dirty="0" err="1">
                          <a:solidFill>
                            <a:srgbClr val="4F81BD"/>
                          </a:solidFill>
                          <a:latin typeface="Calibri"/>
                          <a:ea typeface="Calibri"/>
                          <a:cs typeface="Calibri"/>
                          <a:sym typeface="Calibri"/>
                        </a:rPr>
                        <a:t>servicioTemperatura.convertir</a:t>
                      </a:r>
                      <a:r>
                        <a:rPr lang="es-ES" sz="800" dirty="0">
                          <a:solidFill>
                            <a:srgbClr val="4F81BD"/>
                          </a:solidFill>
                          <a:latin typeface="Calibri"/>
                          <a:ea typeface="Calibri"/>
                          <a:cs typeface="Calibri"/>
                          <a:sym typeface="Calibri"/>
                        </a:rPr>
                        <a:t>(solicitud);</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Response.ok</a:t>
                      </a:r>
                      <a:r>
                        <a:rPr lang="es-ES" sz="800" dirty="0">
                          <a:solidFill>
                            <a:srgbClr val="4F81BD"/>
                          </a:solidFill>
                          <a:latin typeface="Calibri"/>
                          <a:ea typeface="Calibri"/>
                          <a:cs typeface="Calibri"/>
                          <a:sym typeface="Calibri"/>
                        </a:rPr>
                        <a:t>(respuesta).</a:t>
                      </a:r>
                      <a:r>
                        <a:rPr lang="es-ES" sz="800" dirty="0" err="1">
                          <a:solidFill>
                            <a:srgbClr val="4F81BD"/>
                          </a:solidFill>
                          <a:latin typeface="Calibri"/>
                          <a:ea typeface="Calibri"/>
                          <a:cs typeface="Calibri"/>
                          <a:sym typeface="Calibri"/>
                        </a:rPr>
                        <a:t>build</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205" name="Google Shape;205;p26">
            <a:extLst>
              <a:ext uri="{FF2B5EF4-FFF2-40B4-BE49-F238E27FC236}">
                <a16:creationId xmlns:a16="http://schemas.microsoft.com/office/drawing/2014/main" id="{0BB75406-6C66-9320-FE11-0B2B917ECAAF}"/>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06" name="Google Shape;206;p26">
            <a:extLst>
              <a:ext uri="{FF2B5EF4-FFF2-40B4-BE49-F238E27FC236}">
                <a16:creationId xmlns:a16="http://schemas.microsoft.com/office/drawing/2014/main" id="{8759F4C1-C2A7-07E7-0E56-86B5A66D60C1}"/>
              </a:ext>
            </a:extLst>
          </p:cNvPr>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dirty="0">
                <a:latin typeface="Cambria"/>
                <a:ea typeface="Cambria"/>
                <a:cs typeface="Cambria"/>
                <a:sym typeface="Cambria"/>
              </a:rPr>
              <a:t>4. Se crean los métodos respectivos, incluyendo el de autenticación</a:t>
            </a:r>
            <a:endParaRPr sz="1677"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207" name="Google Shape;207;p26">
            <a:extLst>
              <a:ext uri="{FF2B5EF4-FFF2-40B4-BE49-F238E27FC236}">
                <a16:creationId xmlns:a16="http://schemas.microsoft.com/office/drawing/2014/main" id="{D66BCFA1-82AF-B690-12B6-3F708D59EF61}"/>
              </a:ext>
            </a:extLst>
          </p:cNvPr>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Tree>
    <p:extLst>
      <p:ext uri="{BB962C8B-B14F-4D97-AF65-F5344CB8AC3E}">
        <p14:creationId xmlns:p14="http://schemas.microsoft.com/office/powerpoint/2010/main" val="845104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13" name="Google Shape;213;p27"/>
          <p:cNvSpPr txBox="1">
            <a:spLocks noGrp="1"/>
          </p:cNvSpPr>
          <p:nvPr>
            <p:ph type="body" idx="1"/>
          </p:nvPr>
        </p:nvSpPr>
        <p:spPr>
          <a:xfrm>
            <a:off x="455658" y="1977587"/>
            <a:ext cx="8630677"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700" b="1" dirty="0">
                <a:latin typeface="Cambria"/>
                <a:ea typeface="Cambria"/>
                <a:cs typeface="Cambria"/>
                <a:sym typeface="Cambria"/>
              </a:rPr>
              <a:t>1.2.4 	Autenticación</a:t>
            </a:r>
            <a:endParaRPr sz="1700" dirty="0">
              <a:latin typeface="Cambria"/>
              <a:ea typeface="Cambria"/>
              <a:cs typeface="Cambria"/>
              <a:sym typeface="Cambria"/>
            </a:endParaRPr>
          </a:p>
          <a:p>
            <a:pPr marL="342900" marR="0" lvl="0" indent="-323850" algn="just" rtl="0">
              <a:lnSpc>
                <a:spcPct val="107000"/>
              </a:lnSpc>
              <a:spcBef>
                <a:spcPts val="0"/>
              </a:spcBef>
              <a:spcAft>
                <a:spcPts val="0"/>
              </a:spcAft>
              <a:buSzPts val="1356"/>
              <a:buFont typeface="Cambria"/>
              <a:buChar char="∙"/>
            </a:pPr>
            <a:r>
              <a:rPr lang="es-ES" sz="1700" dirty="0">
                <a:latin typeface="Cambria"/>
                <a:ea typeface="Cambria"/>
                <a:cs typeface="Cambria"/>
                <a:sym typeface="Cambria"/>
              </a:rPr>
              <a:t>Una clase importante a mencionar es el </a:t>
            </a:r>
            <a:r>
              <a:rPr lang="es-ES" sz="1700" dirty="0" err="1">
                <a:latin typeface="Cambria"/>
                <a:ea typeface="Cambria"/>
                <a:cs typeface="Cambria"/>
                <a:sym typeface="Cambria"/>
              </a:rPr>
              <a:t>FiltroAutenticacionJWT</a:t>
            </a:r>
            <a:r>
              <a:rPr lang="es-ES" sz="1700" dirty="0">
                <a:latin typeface="Cambria"/>
                <a:ea typeface="Cambria"/>
                <a:cs typeface="Cambria"/>
                <a:sym typeface="Cambria"/>
              </a:rPr>
              <a:t> y el </a:t>
            </a:r>
            <a:r>
              <a:rPr lang="es-ES" sz="1700" dirty="0" err="1">
                <a:latin typeface="Cambria"/>
                <a:ea typeface="Cambria"/>
                <a:cs typeface="Cambria"/>
                <a:sym typeface="Cambria"/>
              </a:rPr>
              <a:t>ProveedorTokenJWT</a:t>
            </a:r>
            <a:r>
              <a:rPr lang="es-ES" sz="1700" dirty="0">
                <a:latin typeface="Cambria"/>
                <a:ea typeface="Cambria"/>
                <a:cs typeface="Cambria"/>
                <a:sym typeface="Cambria"/>
              </a:rPr>
              <a:t>, que sirve como un middleware en servicios RESTFUL con el fin de autenticar debidamente antes de permitir el paso a los métodos de cada uno de los </a:t>
            </a:r>
            <a:r>
              <a:rPr lang="es-ES" sz="1700" dirty="0" err="1">
                <a:latin typeface="Cambria"/>
                <a:ea typeface="Cambria"/>
                <a:cs typeface="Cambria"/>
                <a:sym typeface="Cambria"/>
              </a:rPr>
              <a:t>endpoints</a:t>
            </a:r>
            <a:r>
              <a:rPr lang="es-ES" sz="1700" dirty="0">
                <a:latin typeface="Cambria"/>
                <a:ea typeface="Cambria"/>
                <a:cs typeface="Cambria"/>
                <a:sym typeface="Cambria"/>
              </a:rPr>
              <a:t> del web </a:t>
            </a:r>
            <a:r>
              <a:rPr lang="es-ES" sz="1700" dirty="0" err="1">
                <a:latin typeface="Cambria"/>
                <a:ea typeface="Cambria"/>
                <a:cs typeface="Cambria"/>
                <a:sym typeface="Cambria"/>
              </a:rPr>
              <a:t>service</a:t>
            </a:r>
            <a:r>
              <a:rPr lang="es-ES" sz="1700" dirty="0">
                <a:latin typeface="Cambria"/>
                <a:ea typeface="Cambria"/>
                <a:cs typeface="Cambria"/>
                <a:sym typeface="Cambria"/>
              </a:rPr>
              <a:t>.</a:t>
            </a:r>
            <a:endParaRPr sz="1700" dirty="0">
              <a:latin typeface="Cambria"/>
              <a:ea typeface="Cambria"/>
              <a:cs typeface="Cambria"/>
              <a:sym typeface="Cambria"/>
            </a:endParaRPr>
          </a:p>
        </p:txBody>
      </p:sp>
      <p:sp>
        <p:nvSpPr>
          <p:cNvPr id="214" name="Google Shape;214;p2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4" name="Picture 3">
            <a:extLst>
              <a:ext uri="{FF2B5EF4-FFF2-40B4-BE49-F238E27FC236}">
                <a16:creationId xmlns:a16="http://schemas.microsoft.com/office/drawing/2014/main" id="{A8337B89-5C78-D8D3-EBC0-AB41E5DE979B}"/>
              </a:ext>
            </a:extLst>
          </p:cNvPr>
          <p:cNvPicPr>
            <a:picLocks noChangeAspect="1"/>
          </p:cNvPicPr>
          <p:nvPr/>
        </p:nvPicPr>
        <p:blipFill>
          <a:blip r:embed="rId3"/>
          <a:stretch>
            <a:fillRect/>
          </a:stretch>
        </p:blipFill>
        <p:spPr>
          <a:xfrm>
            <a:off x="2181552" y="3944018"/>
            <a:ext cx="6250811" cy="221182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21" name="Google Shape;221;p28"/>
          <p:cNvSpPr txBox="1">
            <a:spLocks noGrp="1"/>
          </p:cNvSpPr>
          <p:nvPr>
            <p:ph type="body" idx="1"/>
          </p:nvPr>
        </p:nvSpPr>
        <p:spPr>
          <a:xfrm>
            <a:off x="581192" y="1876272"/>
            <a:ext cx="8589300" cy="1248600"/>
          </a:xfrm>
          <a:prstGeom prst="rect">
            <a:avLst/>
          </a:prstGeom>
          <a:noFill/>
          <a:ln>
            <a:noFill/>
          </a:ln>
        </p:spPr>
        <p:txBody>
          <a:bodyPr spcFirstLastPara="1" wrap="square" lIns="91425" tIns="45700" rIns="91425" bIns="45700" anchor="ctr" anchorCtr="0">
            <a:normAutofit/>
          </a:bodyPr>
          <a:lstStyle/>
          <a:p>
            <a:pPr marL="457200" lvl="0" indent="-327406" algn="just" rtl="0">
              <a:lnSpc>
                <a:spcPct val="107000"/>
              </a:lnSpc>
              <a:spcBef>
                <a:spcPts val="0"/>
              </a:spcBef>
              <a:spcAft>
                <a:spcPts val="0"/>
              </a:spcAft>
              <a:buSzPts val="1556"/>
              <a:buChar char="∙"/>
            </a:pPr>
            <a:r>
              <a:rPr lang="es-ES" sz="1400" dirty="0">
                <a:latin typeface="Cambria"/>
                <a:ea typeface="Cambria"/>
                <a:cs typeface="Cambria"/>
                <a:sym typeface="Cambria"/>
              </a:rPr>
              <a:t>Por otro lado, la clase del </a:t>
            </a:r>
            <a:r>
              <a:rPr lang="es-ES" sz="1400" dirty="0" err="1">
                <a:latin typeface="Cambria"/>
                <a:ea typeface="Cambria"/>
                <a:cs typeface="Cambria"/>
                <a:sym typeface="Cambria"/>
              </a:rPr>
              <a:t>ServicioAutenticacion</a:t>
            </a:r>
            <a:r>
              <a:rPr lang="es-ES" sz="1400" dirty="0">
                <a:latin typeface="Cambria"/>
                <a:ea typeface="Cambria"/>
                <a:cs typeface="Cambria"/>
                <a:sym typeface="Cambria"/>
              </a:rPr>
              <a:t> contiene la lógica que se puede observar en la Tabla junto a la complementaria para gestionar la autenticación con tokens y la autenticación que maneja credenciales </a:t>
            </a:r>
            <a:r>
              <a:rPr lang="es-ES" sz="1400" dirty="0" err="1">
                <a:latin typeface="Cambria"/>
                <a:ea typeface="Cambria"/>
                <a:cs typeface="Cambria"/>
                <a:sym typeface="Cambria"/>
              </a:rPr>
              <a:t>hardcodeadas</a:t>
            </a:r>
            <a:r>
              <a:rPr lang="es-ES" sz="1400" dirty="0">
                <a:latin typeface="Cambria"/>
                <a:ea typeface="Cambria"/>
                <a:cs typeface="Cambria"/>
                <a:sym typeface="Cambria"/>
              </a:rPr>
              <a:t> en código (Usuario: </a:t>
            </a:r>
            <a:r>
              <a:rPr lang="es-ES" sz="1400" b="1" dirty="0">
                <a:latin typeface="Cambria"/>
                <a:ea typeface="Cambria"/>
                <a:cs typeface="Cambria"/>
                <a:sym typeface="Cambria"/>
              </a:rPr>
              <a:t>MONSTER</a:t>
            </a:r>
            <a:r>
              <a:rPr lang="es-ES" sz="1400" dirty="0">
                <a:latin typeface="Cambria"/>
                <a:ea typeface="Cambria"/>
                <a:cs typeface="Cambria"/>
                <a:sym typeface="Cambria"/>
              </a:rPr>
              <a:t>, Contraseña: </a:t>
            </a:r>
            <a:r>
              <a:rPr lang="es-ES" sz="1400" b="1" dirty="0">
                <a:latin typeface="Cambria"/>
                <a:ea typeface="Cambria"/>
                <a:cs typeface="Cambria"/>
                <a:sym typeface="Cambria"/>
              </a:rPr>
              <a:t>MONSTER9</a:t>
            </a:r>
            <a:r>
              <a:rPr lang="es-ES" sz="1400" dirty="0">
                <a:latin typeface="Cambria"/>
                <a:ea typeface="Cambria"/>
                <a:cs typeface="Cambria"/>
                <a:sym typeface="Cambria"/>
              </a:rPr>
              <a:t>)</a:t>
            </a:r>
            <a:endParaRPr sz="1400" dirty="0">
              <a:latin typeface="Cambria"/>
              <a:ea typeface="Cambria"/>
              <a:cs typeface="Cambria"/>
              <a:sym typeface="Cambria"/>
            </a:endParaRPr>
          </a:p>
        </p:txBody>
      </p:sp>
      <p:sp>
        <p:nvSpPr>
          <p:cNvPr id="222" name="Google Shape;222;p2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4" name="Picture 3">
            <a:extLst>
              <a:ext uri="{FF2B5EF4-FFF2-40B4-BE49-F238E27FC236}">
                <a16:creationId xmlns:a16="http://schemas.microsoft.com/office/drawing/2014/main" id="{C1979A88-E978-84A1-47FE-2FEAA16583C7}"/>
              </a:ext>
            </a:extLst>
          </p:cNvPr>
          <p:cNvPicPr>
            <a:picLocks noChangeAspect="1"/>
          </p:cNvPicPr>
          <p:nvPr/>
        </p:nvPicPr>
        <p:blipFill>
          <a:blip r:embed="rId3"/>
          <a:stretch>
            <a:fillRect/>
          </a:stretch>
        </p:blipFill>
        <p:spPr>
          <a:xfrm>
            <a:off x="811605" y="3124873"/>
            <a:ext cx="4246427" cy="1367494"/>
          </a:xfrm>
          <a:prstGeom prst="rect">
            <a:avLst/>
          </a:prstGeom>
        </p:spPr>
      </p:pic>
      <p:pic>
        <p:nvPicPr>
          <p:cNvPr id="6" name="Picture 5">
            <a:extLst>
              <a:ext uri="{FF2B5EF4-FFF2-40B4-BE49-F238E27FC236}">
                <a16:creationId xmlns:a16="http://schemas.microsoft.com/office/drawing/2014/main" id="{97527A59-669F-8DB9-4C82-C5F78A399303}"/>
              </a:ext>
            </a:extLst>
          </p:cNvPr>
          <p:cNvPicPr>
            <a:picLocks noChangeAspect="1"/>
          </p:cNvPicPr>
          <p:nvPr/>
        </p:nvPicPr>
        <p:blipFill>
          <a:blip r:embed="rId4"/>
          <a:stretch>
            <a:fillRect/>
          </a:stretch>
        </p:blipFill>
        <p:spPr>
          <a:xfrm>
            <a:off x="3735057" y="4492367"/>
            <a:ext cx="5066270" cy="22610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38" name="Google Shape;238;p30"/>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just" rtl="0">
              <a:lnSpc>
                <a:spcPct val="107000"/>
              </a:lnSpc>
              <a:spcBef>
                <a:spcPts val="0"/>
              </a:spcBef>
              <a:spcAft>
                <a:spcPts val="0"/>
              </a:spcAft>
              <a:buSzPts val="1556"/>
              <a:buChar char="∙"/>
            </a:pPr>
            <a:r>
              <a:rPr lang="es-ES" sz="1400" dirty="0">
                <a:latin typeface="Cambria"/>
                <a:ea typeface="Cambria"/>
                <a:cs typeface="Cambria"/>
                <a:sym typeface="Cambria"/>
              </a:rPr>
              <a:t>Esta clase contiene la lógica que se puede observar en la Tabla junto a la complementaria para gestionar la autenticación con tokens y la autenticación que maneja credenciales quemadas en código.</a:t>
            </a:r>
            <a:endParaRPr sz="1400" dirty="0">
              <a:latin typeface="Cambria"/>
              <a:ea typeface="Cambria"/>
              <a:cs typeface="Cambria"/>
              <a:sym typeface="Cambria"/>
            </a:endParaRPr>
          </a:p>
        </p:txBody>
      </p:sp>
      <p:sp>
        <p:nvSpPr>
          <p:cNvPr id="239" name="Google Shape;239;p3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40" name="Google Shape;240;p30"/>
          <p:cNvGraphicFramePr/>
          <p:nvPr>
            <p:extLst>
              <p:ext uri="{D42A27DB-BD31-4B8C-83A1-F6EECF244321}">
                <p14:modId xmlns:p14="http://schemas.microsoft.com/office/powerpoint/2010/main" val="1943742787"/>
              </p:ext>
            </p:extLst>
          </p:nvPr>
        </p:nvGraphicFramePr>
        <p:xfrm>
          <a:off x="3017311" y="1876275"/>
          <a:ext cx="6062675" cy="50038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951625">
                <a:tc>
                  <a:txBody>
                    <a:bodyPr/>
                    <a:lstStyle/>
                    <a:p>
                      <a:pPr marL="0" lvl="0" indent="0" algn="l" rtl="0">
                        <a:spcBef>
                          <a:spcPts val="0"/>
                        </a:spcBef>
                        <a:spcAft>
                          <a:spcPts val="0"/>
                        </a:spcAft>
                        <a:buNone/>
                      </a:pPr>
                      <a:r>
                        <a:rPr lang="es-ES" sz="800" dirty="0">
                          <a:solidFill>
                            <a:srgbClr val="4F81BD"/>
                          </a:solidFill>
                          <a:latin typeface="Calibri"/>
                          <a:ea typeface="Calibri"/>
                          <a:cs typeface="Calibri"/>
                          <a:sym typeface="Calibri"/>
                        </a:rPr>
                        <a:t> @Provider</a:t>
                      </a:r>
                    </a:p>
                    <a:p>
                      <a:pPr marL="0" lvl="0" indent="0" algn="l" rtl="0">
                        <a:spcBef>
                          <a:spcPts val="0"/>
                        </a:spcBef>
                        <a:spcAft>
                          <a:spcPts val="0"/>
                        </a:spcAft>
                        <a:buNone/>
                      </a:pPr>
                      <a:r>
                        <a:rPr lang="es-ES" sz="800" dirty="0" err="1">
                          <a:solidFill>
                            <a:srgbClr val="4F81BD"/>
                          </a:solidFill>
                          <a:latin typeface="Calibri"/>
                          <a:ea typeface="Calibri"/>
                          <a:cs typeface="Calibri"/>
                          <a:sym typeface="Calibri"/>
                        </a:rPr>
                        <a:t>public</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class</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FiltroAutenticacionJwt</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implements</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ContainerRequestFilter</a:t>
                      </a: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private</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static</a:t>
                      </a:r>
                      <a:r>
                        <a:rPr lang="es-ES" sz="800" dirty="0">
                          <a:solidFill>
                            <a:srgbClr val="4F81BD"/>
                          </a:solidFill>
                          <a:latin typeface="Calibri"/>
                          <a:ea typeface="Calibri"/>
                          <a:cs typeface="Calibri"/>
                          <a:sym typeface="Calibri"/>
                        </a:rPr>
                        <a:t> final </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ENCABEZADO_AUTH = "</a:t>
                      </a:r>
                      <a:r>
                        <a:rPr lang="es-ES" sz="800" dirty="0" err="1">
                          <a:solidFill>
                            <a:srgbClr val="4F81BD"/>
                          </a:solidFill>
                          <a:latin typeface="Calibri"/>
                          <a:ea typeface="Calibri"/>
                          <a:cs typeface="Calibri"/>
                          <a:sym typeface="Calibri"/>
                        </a:rPr>
                        <a:t>Authorization</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private</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static</a:t>
                      </a:r>
                      <a:r>
                        <a:rPr lang="es-ES" sz="800" dirty="0">
                          <a:solidFill>
                            <a:srgbClr val="4F81BD"/>
                          </a:solidFill>
                          <a:latin typeface="Calibri"/>
                          <a:ea typeface="Calibri"/>
                          <a:cs typeface="Calibri"/>
                          <a:sym typeface="Calibri"/>
                        </a:rPr>
                        <a:t> final </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PREFIJO_BEARER = "</a:t>
                      </a:r>
                      <a:r>
                        <a:rPr lang="es-ES" sz="800" dirty="0" err="1">
                          <a:solidFill>
                            <a:srgbClr val="4F81BD"/>
                          </a:solidFill>
                          <a:latin typeface="Calibri"/>
                          <a:ea typeface="Calibri"/>
                          <a:cs typeface="Calibri"/>
                          <a:sym typeface="Calibri"/>
                        </a:rPr>
                        <a:t>Bearer</a:t>
                      </a: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private</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static</a:t>
                      </a:r>
                      <a:r>
                        <a:rPr lang="es-ES" sz="800" dirty="0">
                          <a:solidFill>
                            <a:srgbClr val="4F81BD"/>
                          </a:solidFill>
                          <a:latin typeface="Calibri"/>
                          <a:ea typeface="Calibri"/>
                          <a:cs typeface="Calibri"/>
                          <a:sym typeface="Calibri"/>
                        </a:rPr>
                        <a:t> final </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RUTAS_PROTEGIDAS = {"</a:t>
                      </a:r>
                      <a:r>
                        <a:rPr lang="es-ES" sz="800" dirty="0" err="1">
                          <a:solidFill>
                            <a:srgbClr val="4F81BD"/>
                          </a:solidFill>
                          <a:latin typeface="Calibri"/>
                          <a:ea typeface="Calibri"/>
                          <a:cs typeface="Calibri"/>
                          <a:sym typeface="Calibri"/>
                        </a:rPr>
                        <a:t>conversion</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@Inject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ProveedorTokenJwt</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proveedorTokenJwt</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@Override</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public</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void</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filter</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ContainerRequestContext</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requestContext</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throws</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IOException</a:t>
                      </a: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ruta = </a:t>
                      </a:r>
                      <a:r>
                        <a:rPr lang="es-ES" sz="800" dirty="0" err="1">
                          <a:solidFill>
                            <a:srgbClr val="4F81BD"/>
                          </a:solidFill>
                          <a:latin typeface="Calibri"/>
                          <a:ea typeface="Calibri"/>
                          <a:cs typeface="Calibri"/>
                          <a:sym typeface="Calibri"/>
                        </a:rPr>
                        <a:t>requestContext.getUriInfo</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getPath</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if</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esRutaProtegida</a:t>
                      </a:r>
                      <a:r>
                        <a:rPr lang="es-ES" sz="800" dirty="0">
                          <a:solidFill>
                            <a:srgbClr val="4F81BD"/>
                          </a:solidFill>
                          <a:latin typeface="Calibri"/>
                          <a:ea typeface="Calibri"/>
                          <a:cs typeface="Calibri"/>
                          <a:sym typeface="Calibri"/>
                        </a:rPr>
                        <a:t>(ruta))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authHeader</a:t>
                      </a:r>
                      <a:r>
                        <a:rPr lang="es-ES" sz="800" dirty="0">
                          <a:solidFill>
                            <a:srgbClr val="4F81BD"/>
                          </a:solidFill>
                          <a:latin typeface="Calibri"/>
                          <a:ea typeface="Calibri"/>
                          <a:cs typeface="Calibri"/>
                          <a:sym typeface="Calibri"/>
                        </a:rPr>
                        <a:t> = </a:t>
                      </a:r>
                      <a:r>
                        <a:rPr lang="es-ES" sz="800" dirty="0" err="1">
                          <a:solidFill>
                            <a:srgbClr val="4F81BD"/>
                          </a:solidFill>
                          <a:latin typeface="Calibri"/>
                          <a:ea typeface="Calibri"/>
                          <a:cs typeface="Calibri"/>
                          <a:sym typeface="Calibri"/>
                        </a:rPr>
                        <a:t>requestContext.getHeaderString</a:t>
                      </a:r>
                      <a:r>
                        <a:rPr lang="es-ES" sz="800" dirty="0">
                          <a:solidFill>
                            <a:srgbClr val="4F81BD"/>
                          </a:solidFill>
                          <a:latin typeface="Calibri"/>
                          <a:ea typeface="Calibri"/>
                          <a:cs typeface="Calibri"/>
                          <a:sym typeface="Calibri"/>
                        </a:rPr>
                        <a:t>(ENCABEZADO_AUTH);</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if</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authHeader</a:t>
                      </a:r>
                      <a:r>
                        <a:rPr lang="es-ES" sz="800" dirty="0">
                          <a:solidFill>
                            <a:srgbClr val="4F81BD"/>
                          </a:solidFill>
                          <a:latin typeface="Calibri"/>
                          <a:ea typeface="Calibri"/>
                          <a:cs typeface="Calibri"/>
                          <a:sym typeface="Calibri"/>
                        </a:rPr>
                        <a:t> == </a:t>
                      </a:r>
                      <a:r>
                        <a:rPr lang="es-ES" sz="800" dirty="0" err="1">
                          <a:solidFill>
                            <a:srgbClr val="4F81BD"/>
                          </a:solidFill>
                          <a:latin typeface="Calibri"/>
                          <a:ea typeface="Calibri"/>
                          <a:cs typeface="Calibri"/>
                          <a:sym typeface="Calibri"/>
                        </a:rPr>
                        <a:t>null</a:t>
                      </a:r>
                      <a:r>
                        <a:rPr lang="es-ES" sz="800" dirty="0">
                          <a:solidFill>
                            <a:srgbClr val="4F81BD"/>
                          </a:solidFill>
                          <a:latin typeface="Calibri"/>
                          <a:ea typeface="Calibri"/>
                          <a:cs typeface="Calibri"/>
                          <a:sym typeface="Calibri"/>
                        </a:rPr>
                        <a:t> || !</a:t>
                      </a:r>
                      <a:r>
                        <a:rPr lang="es-ES" sz="800" dirty="0" err="1">
                          <a:solidFill>
                            <a:srgbClr val="4F81BD"/>
                          </a:solidFill>
                          <a:latin typeface="Calibri"/>
                          <a:ea typeface="Calibri"/>
                          <a:cs typeface="Calibri"/>
                          <a:sym typeface="Calibri"/>
                        </a:rPr>
                        <a:t>authHeader.startsWith</a:t>
                      </a:r>
                      <a:r>
                        <a:rPr lang="es-ES" sz="800" dirty="0">
                          <a:solidFill>
                            <a:srgbClr val="4F81BD"/>
                          </a:solidFill>
                          <a:latin typeface="Calibri"/>
                          <a:ea typeface="Calibri"/>
                          <a:cs typeface="Calibri"/>
                          <a:sym typeface="Calibri"/>
                        </a:rPr>
                        <a:t>(PREFIJO_BEARER))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abortarConError</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requestContext</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Response.Status.UNAUTHORIZED</a:t>
                      </a:r>
                      <a:r>
                        <a:rPr lang="es-ES" sz="800" dirty="0">
                          <a:solidFill>
                            <a:srgbClr val="4F81BD"/>
                          </a:solidFill>
                          <a:latin typeface="Calibri"/>
                          <a:ea typeface="Calibri"/>
                          <a:cs typeface="Calibri"/>
                          <a:sym typeface="Calibri"/>
                        </a:rPr>
                        <a:t>, "Encabezado </a:t>
                      </a:r>
                      <a:r>
                        <a:rPr lang="es-ES" sz="800" dirty="0" err="1">
                          <a:solidFill>
                            <a:srgbClr val="4F81BD"/>
                          </a:solidFill>
                          <a:latin typeface="Calibri"/>
                          <a:ea typeface="Calibri"/>
                          <a:cs typeface="Calibri"/>
                          <a:sym typeface="Calibri"/>
                        </a:rPr>
                        <a:t>Authorization</a:t>
                      </a:r>
                      <a:r>
                        <a:rPr lang="es-ES" sz="800" dirty="0">
                          <a:solidFill>
                            <a:srgbClr val="4F81BD"/>
                          </a:solidFill>
                          <a:latin typeface="Calibri"/>
                          <a:ea typeface="Calibri"/>
                          <a:cs typeface="Calibri"/>
                          <a:sym typeface="Calibri"/>
                        </a:rPr>
                        <a:t> faltante o inválido");</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token = </a:t>
                      </a:r>
                      <a:r>
                        <a:rPr lang="es-ES" sz="800" dirty="0" err="1">
                          <a:solidFill>
                            <a:srgbClr val="4F81BD"/>
                          </a:solidFill>
                          <a:latin typeface="Calibri"/>
                          <a:ea typeface="Calibri"/>
                          <a:cs typeface="Calibri"/>
                          <a:sym typeface="Calibri"/>
                        </a:rPr>
                        <a:t>authHeader.substring</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PREFIJO_BEARER.length</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trim</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if</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proveedorTokenJwt.validarToken</a:t>
                      </a:r>
                      <a:r>
                        <a:rPr lang="es-ES" sz="800" dirty="0">
                          <a:solidFill>
                            <a:srgbClr val="4F81BD"/>
                          </a:solidFill>
                          <a:latin typeface="Calibri"/>
                          <a:ea typeface="Calibri"/>
                          <a:cs typeface="Calibri"/>
                          <a:sym typeface="Calibri"/>
                        </a:rPr>
                        <a:t>(token))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abortarConError</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requestContext</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Response.Status.UNAUTHORIZED</a:t>
                      </a:r>
                      <a:r>
                        <a:rPr lang="es-ES" sz="800" dirty="0">
                          <a:solidFill>
                            <a:srgbClr val="4F81BD"/>
                          </a:solidFill>
                          <a:latin typeface="Calibri"/>
                          <a:ea typeface="Calibri"/>
                          <a:cs typeface="Calibri"/>
                          <a:sym typeface="Calibri"/>
                        </a:rPr>
                        <a:t>, "Token inválido o expirado");</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private</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boolean</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esRutaProtegida</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ruta)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for</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rutaProtegida</a:t>
                      </a:r>
                      <a:r>
                        <a:rPr lang="es-ES" sz="800" dirty="0">
                          <a:solidFill>
                            <a:srgbClr val="4F81BD"/>
                          </a:solidFill>
                          <a:latin typeface="Calibri"/>
                          <a:ea typeface="Calibri"/>
                          <a:cs typeface="Calibri"/>
                          <a:sym typeface="Calibri"/>
                        </a:rPr>
                        <a:t> : RUTAS_PROTEGIDAS)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if</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ruta.startsWith</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rutaProtegida</a:t>
                      </a: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 true;</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 false;</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46" name="Google Shape;246;p31"/>
          <p:cNvSpPr txBox="1">
            <a:spLocks noGrp="1"/>
          </p:cNvSpPr>
          <p:nvPr>
            <p:ph type="body" idx="1"/>
          </p:nvPr>
        </p:nvSpPr>
        <p:spPr>
          <a:xfrm>
            <a:off x="581192" y="1867767"/>
            <a:ext cx="8014948" cy="1808733"/>
          </a:xfrm>
          <a:prstGeom prst="rect">
            <a:avLst/>
          </a:prstGeom>
          <a:noFill/>
          <a:ln>
            <a:noFill/>
          </a:ln>
        </p:spPr>
        <p:txBody>
          <a:bodyPr spcFirstLastPara="1" wrap="square" lIns="91425" tIns="45700" rIns="91425" bIns="45700" anchor="ctr" anchorCtr="0">
            <a:noAutofit/>
          </a:bodyPr>
          <a:lstStyle/>
          <a:p>
            <a:pPr marL="342900" lvl="0" indent="-342900" algn="just" rtl="0">
              <a:lnSpc>
                <a:spcPct val="107000"/>
              </a:lnSpc>
              <a:spcBef>
                <a:spcPts val="0"/>
              </a:spcBef>
              <a:spcAft>
                <a:spcPts val="0"/>
              </a:spcAft>
              <a:buSzPts val="1785"/>
              <a:buChar char="∙"/>
            </a:pPr>
            <a:r>
              <a:rPr lang="es-ES" sz="1600" b="1" dirty="0">
                <a:latin typeface="Cambria"/>
                <a:ea typeface="Cambria"/>
                <a:cs typeface="Cambria"/>
                <a:sym typeface="Cambria"/>
              </a:rPr>
              <a:t>1.2.5	Lógica</a:t>
            </a:r>
            <a:endParaRPr sz="1600" dirty="0">
              <a:latin typeface="Cambria"/>
              <a:ea typeface="Cambria"/>
              <a:cs typeface="Cambria"/>
              <a:sym typeface="Cambria"/>
            </a:endParaRPr>
          </a:p>
          <a:p>
            <a:pPr marL="0" lvl="0" indent="0" algn="just" rtl="0">
              <a:lnSpc>
                <a:spcPct val="107000"/>
              </a:lnSpc>
              <a:spcBef>
                <a:spcPts val="0"/>
              </a:spcBef>
              <a:spcAft>
                <a:spcPts val="0"/>
              </a:spcAft>
              <a:buNone/>
            </a:pPr>
            <a:endParaRPr sz="1600" dirty="0">
              <a:latin typeface="Cambria"/>
              <a:ea typeface="Cambria"/>
              <a:cs typeface="Cambria"/>
              <a:sym typeface="Cambria"/>
            </a:endParaRPr>
          </a:p>
          <a:p>
            <a:pPr marL="0" lvl="0" indent="0" algn="just" rtl="0">
              <a:lnSpc>
                <a:spcPct val="107000"/>
              </a:lnSpc>
              <a:spcBef>
                <a:spcPts val="0"/>
              </a:spcBef>
              <a:spcAft>
                <a:spcPts val="0"/>
              </a:spcAft>
              <a:buNone/>
            </a:pPr>
            <a:r>
              <a:rPr lang="es-ES" sz="1600" dirty="0">
                <a:latin typeface="Cambria"/>
                <a:ea typeface="Cambria"/>
                <a:cs typeface="Cambria"/>
                <a:sym typeface="Cambria"/>
              </a:rPr>
              <a:t>Ahora se procede a completar el resto de la lógica, donde las utilidades exponen la lógica (utilizando factores de conversión y fórmulas)</a:t>
            </a:r>
            <a:endParaRPr sz="1600" dirty="0">
              <a:latin typeface="Cambria"/>
              <a:ea typeface="Cambria"/>
              <a:cs typeface="Cambria"/>
              <a:sym typeface="Cambria"/>
            </a:endParaRPr>
          </a:p>
        </p:txBody>
      </p:sp>
      <p:sp>
        <p:nvSpPr>
          <p:cNvPr id="247" name="Google Shape;247;p3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48" name="Google Shape;248;p31"/>
          <p:cNvGraphicFramePr/>
          <p:nvPr>
            <p:extLst>
              <p:ext uri="{D42A27DB-BD31-4B8C-83A1-F6EECF244321}">
                <p14:modId xmlns:p14="http://schemas.microsoft.com/office/powerpoint/2010/main" val="566969591"/>
              </p:ext>
            </p:extLst>
          </p:nvPr>
        </p:nvGraphicFramePr>
        <p:xfrm>
          <a:off x="751907" y="3676500"/>
          <a:ext cx="6062675" cy="140716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200" dirty="0" err="1">
                          <a:solidFill>
                            <a:srgbClr val="4F81BD"/>
                          </a:solidFill>
                          <a:latin typeface="Calibri"/>
                          <a:ea typeface="Calibri"/>
                          <a:cs typeface="Calibri"/>
                          <a:sym typeface="Calibri"/>
                        </a:rPr>
                        <a:t>public</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RespuestaConversion</a:t>
                      </a:r>
                      <a:r>
                        <a:rPr lang="es-ES" sz="1200" dirty="0">
                          <a:solidFill>
                            <a:srgbClr val="4F81BD"/>
                          </a:solidFill>
                          <a:latin typeface="Calibri"/>
                          <a:ea typeface="Calibri"/>
                          <a:cs typeface="Calibri"/>
                          <a:sym typeface="Calibri"/>
                        </a:rPr>
                        <a:t>(</a:t>
                      </a:r>
                      <a:r>
                        <a:rPr lang="es-ES" sz="1200" dirty="0" err="1">
                          <a:solidFill>
                            <a:srgbClr val="4F81BD"/>
                          </a:solidFill>
                          <a:latin typeface="Calibri"/>
                          <a:ea typeface="Calibri"/>
                          <a:cs typeface="Calibri"/>
                          <a:sym typeface="Calibri"/>
                        </a:rPr>
                        <a:t>Double</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valorOriginal</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Double</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valorConvertido</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String</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unidadOrigen</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String</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unidadDestino</a:t>
                      </a:r>
                      <a:r>
                        <a:rPr lang="es-ES" sz="12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this.valorOriginal</a:t>
                      </a:r>
                      <a:r>
                        <a:rPr lang="es-ES" sz="1200" dirty="0">
                          <a:solidFill>
                            <a:srgbClr val="4F81BD"/>
                          </a:solidFill>
                          <a:latin typeface="Calibri"/>
                          <a:ea typeface="Calibri"/>
                          <a:cs typeface="Calibri"/>
                          <a:sym typeface="Calibri"/>
                        </a:rPr>
                        <a:t> = </a:t>
                      </a:r>
                      <a:r>
                        <a:rPr lang="es-ES" sz="1200" dirty="0" err="1">
                          <a:solidFill>
                            <a:srgbClr val="4F81BD"/>
                          </a:solidFill>
                          <a:latin typeface="Calibri"/>
                          <a:ea typeface="Calibri"/>
                          <a:cs typeface="Calibri"/>
                          <a:sym typeface="Calibri"/>
                        </a:rPr>
                        <a:t>valorOriginal</a:t>
                      </a:r>
                      <a:r>
                        <a:rPr lang="es-ES" sz="12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this.valorConvertido</a:t>
                      </a:r>
                      <a:r>
                        <a:rPr lang="es-ES" sz="1200" dirty="0">
                          <a:solidFill>
                            <a:srgbClr val="4F81BD"/>
                          </a:solidFill>
                          <a:latin typeface="Calibri"/>
                          <a:ea typeface="Calibri"/>
                          <a:cs typeface="Calibri"/>
                          <a:sym typeface="Calibri"/>
                        </a:rPr>
                        <a:t> = </a:t>
                      </a:r>
                      <a:r>
                        <a:rPr lang="es-ES" sz="1200" dirty="0" err="1">
                          <a:solidFill>
                            <a:srgbClr val="4F81BD"/>
                          </a:solidFill>
                          <a:latin typeface="Calibri"/>
                          <a:ea typeface="Calibri"/>
                          <a:cs typeface="Calibri"/>
                          <a:sym typeface="Calibri"/>
                        </a:rPr>
                        <a:t>valorConvertido</a:t>
                      </a:r>
                      <a:r>
                        <a:rPr lang="es-ES" sz="12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this.unidadOrigen</a:t>
                      </a:r>
                      <a:r>
                        <a:rPr lang="es-ES" sz="1200" dirty="0">
                          <a:solidFill>
                            <a:srgbClr val="4F81BD"/>
                          </a:solidFill>
                          <a:latin typeface="Calibri"/>
                          <a:ea typeface="Calibri"/>
                          <a:cs typeface="Calibri"/>
                          <a:sym typeface="Calibri"/>
                        </a:rPr>
                        <a:t> = </a:t>
                      </a:r>
                      <a:r>
                        <a:rPr lang="es-ES" sz="1200" dirty="0" err="1">
                          <a:solidFill>
                            <a:srgbClr val="4F81BD"/>
                          </a:solidFill>
                          <a:latin typeface="Calibri"/>
                          <a:ea typeface="Calibri"/>
                          <a:cs typeface="Calibri"/>
                          <a:sym typeface="Calibri"/>
                        </a:rPr>
                        <a:t>unidadOrigen</a:t>
                      </a:r>
                      <a:r>
                        <a:rPr lang="es-ES" sz="12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this.unidadDestino</a:t>
                      </a:r>
                      <a:r>
                        <a:rPr lang="es-ES" sz="1200" dirty="0">
                          <a:solidFill>
                            <a:srgbClr val="4F81BD"/>
                          </a:solidFill>
                          <a:latin typeface="Calibri"/>
                          <a:ea typeface="Calibri"/>
                          <a:cs typeface="Calibri"/>
                          <a:sym typeface="Calibri"/>
                        </a:rPr>
                        <a:t> = </a:t>
                      </a:r>
                      <a:r>
                        <a:rPr lang="es-ES" sz="1200" dirty="0" err="1">
                          <a:solidFill>
                            <a:srgbClr val="4F81BD"/>
                          </a:solidFill>
                          <a:latin typeface="Calibri"/>
                          <a:ea typeface="Calibri"/>
                          <a:cs typeface="Calibri"/>
                          <a:sym typeface="Calibri"/>
                        </a:rPr>
                        <a:t>unidadDestino</a:t>
                      </a:r>
                      <a:r>
                        <a:rPr lang="es-ES" sz="12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endParaRPr sz="9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54" name="Google Shape;254;p32"/>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Autofit/>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400" dirty="0">
              <a:latin typeface="Cambria"/>
              <a:ea typeface="Cambria"/>
              <a:cs typeface="Cambria"/>
              <a:sym typeface="Cambria"/>
            </a:endParaRPr>
          </a:p>
        </p:txBody>
      </p:sp>
      <p:sp>
        <p:nvSpPr>
          <p:cNvPr id="255" name="Google Shape;255;p3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56" name="Google Shape;256;p32"/>
          <p:cNvGraphicFramePr/>
          <p:nvPr>
            <p:extLst>
              <p:ext uri="{D42A27DB-BD31-4B8C-83A1-F6EECF244321}">
                <p14:modId xmlns:p14="http://schemas.microsoft.com/office/powerpoint/2010/main" val="464605970"/>
              </p:ext>
            </p:extLst>
          </p:nvPr>
        </p:nvGraphicFramePr>
        <p:xfrm>
          <a:off x="3017311" y="2357158"/>
          <a:ext cx="6062675" cy="40894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000" dirty="0">
                          <a:solidFill>
                            <a:srgbClr val="4F81BD"/>
                          </a:solidFill>
                          <a:latin typeface="Calibri"/>
                          <a:ea typeface="Calibri"/>
                          <a:cs typeface="Calibri"/>
                          <a:sym typeface="Calibri"/>
                        </a:rPr>
                        <a:t>@ApplicationScoped</a:t>
                      </a: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class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ServicioLongitud</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RespuestaConversion</a:t>
                      </a:r>
                      <a:r>
                        <a:rPr lang="es-ES" sz="1000" dirty="0">
                          <a:solidFill>
                            <a:srgbClr val="4F81BD"/>
                          </a:solidFill>
                          <a:latin typeface="Calibri"/>
                          <a:ea typeface="Calibri"/>
                          <a:cs typeface="Calibri"/>
                          <a:sym typeface="Calibri"/>
                        </a:rPr>
                        <a:t> convertir(</a:t>
                      </a:r>
                      <a:r>
                        <a:rPr lang="es-ES" sz="1000" dirty="0" err="1">
                          <a:solidFill>
                            <a:srgbClr val="4F81BD"/>
                          </a:solidFill>
                          <a:latin typeface="Calibri"/>
                          <a:ea typeface="Calibri"/>
                          <a:cs typeface="Calibri"/>
                          <a:sym typeface="Calibri"/>
                        </a:rPr>
                        <a:t>SolicitudConversion</a:t>
                      </a:r>
                      <a:r>
                        <a:rPr lang="es-ES" sz="1000" dirty="0">
                          <a:solidFill>
                            <a:srgbClr val="4F81BD"/>
                          </a:solidFill>
                          <a:latin typeface="Calibri"/>
                          <a:ea typeface="Calibri"/>
                          <a:cs typeface="Calibri"/>
                          <a:sym typeface="Calibri"/>
                        </a:rPr>
                        <a:t> solicitud)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UnidadLongitud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unidadOrigen</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UnidadLongitud.desdeString</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solicitud.getUnidadOrigen</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UnidadLongitud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unidadDestino</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UnidadLongitud.desdeString</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solicitud.getUnidadDestino</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valor = </a:t>
                      </a:r>
                      <a:r>
                        <a:rPr lang="es-ES" sz="1000" dirty="0" err="1">
                          <a:solidFill>
                            <a:srgbClr val="4F81BD"/>
                          </a:solidFill>
                          <a:latin typeface="Calibri"/>
                          <a:ea typeface="Calibri"/>
                          <a:cs typeface="Calibri"/>
                          <a:sym typeface="Calibri"/>
                        </a:rPr>
                        <a:t>solicitud.getValor</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Double.isFinite</a:t>
                      </a:r>
                      <a:r>
                        <a:rPr lang="es-ES" sz="1000" dirty="0">
                          <a:solidFill>
                            <a:srgbClr val="4F81BD"/>
                          </a:solidFill>
                          <a:latin typeface="Calibri"/>
                          <a:ea typeface="Calibri"/>
                          <a:cs typeface="Calibri"/>
                          <a:sym typeface="Calibri"/>
                        </a:rPr>
                        <a:t>(valor) || valor&lt;0)</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throw</a:t>
                      </a: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ExcepcionLongitudInvalida</a:t>
                      </a:r>
                      <a:r>
                        <a:rPr lang="es-ES" sz="1000" dirty="0">
                          <a:solidFill>
                            <a:srgbClr val="4F81BD"/>
                          </a:solidFill>
                          <a:latin typeface="Calibri"/>
                          <a:ea typeface="Calibri"/>
                          <a:cs typeface="Calibri"/>
                          <a:sym typeface="Calibri"/>
                        </a:rPr>
                        <a:t>("No se permite ingresar valores negativos");</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valorConvertido</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calcularConversion</a:t>
                      </a:r>
                      <a:r>
                        <a:rPr lang="es-ES" sz="1000" dirty="0">
                          <a:solidFill>
                            <a:srgbClr val="4F81BD"/>
                          </a:solidFill>
                          <a:latin typeface="Calibri"/>
                          <a:ea typeface="Calibri"/>
                          <a:cs typeface="Calibri"/>
                          <a:sym typeface="Calibri"/>
                        </a:rPr>
                        <a:t>(valor, </a:t>
                      </a:r>
                      <a:r>
                        <a:rPr lang="es-ES" sz="1000" dirty="0" err="1">
                          <a:solidFill>
                            <a:srgbClr val="4F81BD"/>
                          </a:solidFill>
                          <a:latin typeface="Calibri"/>
                          <a:ea typeface="Calibri"/>
                          <a:cs typeface="Calibri"/>
                          <a:sym typeface="Calibri"/>
                        </a:rPr>
                        <a:t>unidadOrigen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unidadDestino</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RespuestaConversion</a:t>
                      </a:r>
                      <a:r>
                        <a:rPr lang="es-ES" sz="1000" dirty="0">
                          <a:solidFill>
                            <a:srgbClr val="4F81BD"/>
                          </a:solidFill>
                          <a:latin typeface="Calibri"/>
                          <a:ea typeface="Calibri"/>
                          <a:cs typeface="Calibri"/>
                          <a:sym typeface="Calibri"/>
                        </a:rPr>
                        <a:t>(valor, </a:t>
                      </a:r>
                      <a:r>
                        <a:rPr lang="es-ES" sz="1000" dirty="0" err="1">
                          <a:solidFill>
                            <a:srgbClr val="4F81BD"/>
                          </a:solidFill>
                          <a:latin typeface="Calibri"/>
                          <a:ea typeface="Calibri"/>
                          <a:cs typeface="Calibri"/>
                          <a:sym typeface="Calibri"/>
                        </a:rPr>
                        <a:t>valorConvertido</a:t>
                      </a:r>
                      <a:r>
                        <a:rPr lang="es-ES" sz="1000" dirty="0">
                          <a:solidFill>
                            <a:srgbClr val="4F81BD"/>
                          </a:solidFill>
                          <a:latin typeface="Calibri"/>
                          <a:ea typeface="Calibri"/>
                          <a:cs typeface="Calibri"/>
                          <a:sym typeface="Calibri"/>
                        </a:rPr>
                        <a:t>, unidadOrigen.name(), unidadDestino.name());</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calcularConversion</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valor, </a:t>
                      </a:r>
                      <a:r>
                        <a:rPr lang="es-ES" sz="1000" dirty="0" err="1">
                          <a:solidFill>
                            <a:srgbClr val="4F81BD"/>
                          </a:solidFill>
                          <a:latin typeface="Calibri"/>
                          <a:ea typeface="Calibri"/>
                          <a:cs typeface="Calibri"/>
                          <a:sym typeface="Calibri"/>
                        </a:rPr>
                        <a:t>UnidadLongitud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unidadOrigen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UnidadLongitud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unidadFinal</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valorABase</a:t>
                      </a:r>
                      <a:r>
                        <a:rPr lang="es-ES" sz="1000" dirty="0">
                          <a:solidFill>
                            <a:srgbClr val="4F81BD"/>
                          </a:solidFill>
                          <a:latin typeface="Calibri"/>
                          <a:ea typeface="Calibri"/>
                          <a:cs typeface="Calibri"/>
                          <a:sym typeface="Calibri"/>
                        </a:rPr>
                        <a:t> = valor * </a:t>
                      </a:r>
                      <a:r>
                        <a:rPr lang="es-ES" sz="1000" dirty="0" err="1">
                          <a:solidFill>
                            <a:srgbClr val="4F81BD"/>
                          </a:solidFill>
                          <a:latin typeface="Calibri"/>
                          <a:ea typeface="Calibri"/>
                          <a:cs typeface="Calibri"/>
                          <a:sym typeface="Calibri"/>
                        </a:rPr>
                        <a:t>unidadOrigen.getFactor</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valorDesdeBase</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valorABase</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unidadFinal.getFactor</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valorDesdeBase</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endParaRPr sz="10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62" name="Google Shape;262;p33"/>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Autofit/>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400" dirty="0">
              <a:latin typeface="Cambria"/>
              <a:ea typeface="Cambria"/>
              <a:cs typeface="Cambria"/>
              <a:sym typeface="Cambria"/>
            </a:endParaRPr>
          </a:p>
        </p:txBody>
      </p:sp>
      <p:sp>
        <p:nvSpPr>
          <p:cNvPr id="263" name="Google Shape;263;p3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64" name="Google Shape;264;p33"/>
          <p:cNvGraphicFramePr/>
          <p:nvPr>
            <p:extLst>
              <p:ext uri="{D42A27DB-BD31-4B8C-83A1-F6EECF244321}">
                <p14:modId xmlns:p14="http://schemas.microsoft.com/office/powerpoint/2010/main" val="564869277"/>
              </p:ext>
            </p:extLst>
          </p:nvPr>
        </p:nvGraphicFramePr>
        <p:xfrm>
          <a:off x="2893745" y="2418012"/>
          <a:ext cx="6062675" cy="37846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000" dirty="0">
                          <a:solidFill>
                            <a:srgbClr val="4F81BD"/>
                          </a:solidFill>
                          <a:latin typeface="Calibri"/>
                          <a:ea typeface="Calibri"/>
                          <a:cs typeface="Calibri"/>
                          <a:sym typeface="Calibri"/>
                        </a:rPr>
                        <a:t>@ApplicationScoped</a:t>
                      </a: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class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ServicioMasa</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RespuestaConversion</a:t>
                      </a:r>
                      <a:r>
                        <a:rPr lang="es-ES" sz="1000" dirty="0">
                          <a:solidFill>
                            <a:srgbClr val="4F81BD"/>
                          </a:solidFill>
                          <a:latin typeface="Calibri"/>
                          <a:ea typeface="Calibri"/>
                          <a:cs typeface="Calibri"/>
                          <a:sym typeface="Calibri"/>
                        </a:rPr>
                        <a:t> convertir(</a:t>
                      </a:r>
                      <a:r>
                        <a:rPr lang="es-ES" sz="1000" dirty="0" err="1">
                          <a:solidFill>
                            <a:srgbClr val="4F81BD"/>
                          </a:solidFill>
                          <a:latin typeface="Calibri"/>
                          <a:ea typeface="Calibri"/>
                          <a:cs typeface="Calibri"/>
                          <a:sym typeface="Calibri"/>
                        </a:rPr>
                        <a:t>SolicitudConversion</a:t>
                      </a:r>
                      <a:r>
                        <a:rPr lang="es-ES" sz="1000" dirty="0">
                          <a:solidFill>
                            <a:srgbClr val="4F81BD"/>
                          </a:solidFill>
                          <a:latin typeface="Calibri"/>
                          <a:ea typeface="Calibri"/>
                          <a:cs typeface="Calibri"/>
                          <a:sym typeface="Calibri"/>
                        </a:rPr>
                        <a:t> solicitud)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UnidadMasa</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unidadOrigen</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UnidadMasa.desdeString</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solicitud.getUnidadOrigen</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UnidadMasa</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unidadDestino</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UnidadMasa.desdeString</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solicitud.getUnidadDestino</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valor = </a:t>
                      </a:r>
                      <a:r>
                        <a:rPr lang="es-ES" sz="1000" dirty="0" err="1">
                          <a:solidFill>
                            <a:srgbClr val="4F81BD"/>
                          </a:solidFill>
                          <a:latin typeface="Calibri"/>
                          <a:ea typeface="Calibri"/>
                          <a:cs typeface="Calibri"/>
                          <a:sym typeface="Calibri"/>
                        </a:rPr>
                        <a:t>solicitud.getValor</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Double.isFinite</a:t>
                      </a:r>
                      <a:r>
                        <a:rPr lang="es-ES" sz="1000" dirty="0">
                          <a:solidFill>
                            <a:srgbClr val="4F81BD"/>
                          </a:solidFill>
                          <a:latin typeface="Calibri"/>
                          <a:ea typeface="Calibri"/>
                          <a:cs typeface="Calibri"/>
                          <a:sym typeface="Calibri"/>
                        </a:rPr>
                        <a:t>(valor) || valor&lt;0)</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throw</a:t>
                      </a: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ExcepcionMasaInvalida</a:t>
                      </a:r>
                      <a:r>
                        <a:rPr lang="es-ES" sz="1000" dirty="0">
                          <a:solidFill>
                            <a:srgbClr val="4F81BD"/>
                          </a:solidFill>
                          <a:latin typeface="Calibri"/>
                          <a:ea typeface="Calibri"/>
                          <a:cs typeface="Calibri"/>
                          <a:sym typeface="Calibri"/>
                        </a:rPr>
                        <a:t>("No se permite ingresar valores negativos");</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valorConvertido</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calcularConversion</a:t>
                      </a:r>
                      <a:r>
                        <a:rPr lang="es-ES" sz="1000" dirty="0">
                          <a:solidFill>
                            <a:srgbClr val="4F81BD"/>
                          </a:solidFill>
                          <a:latin typeface="Calibri"/>
                          <a:ea typeface="Calibri"/>
                          <a:cs typeface="Calibri"/>
                          <a:sym typeface="Calibri"/>
                        </a:rPr>
                        <a:t>(valor, </a:t>
                      </a:r>
                      <a:r>
                        <a:rPr lang="es-ES" sz="1000" dirty="0" err="1">
                          <a:solidFill>
                            <a:srgbClr val="4F81BD"/>
                          </a:solidFill>
                          <a:latin typeface="Calibri"/>
                          <a:ea typeface="Calibri"/>
                          <a:cs typeface="Calibri"/>
                          <a:sym typeface="Calibri"/>
                        </a:rPr>
                        <a:t>unidadOrigen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unidadDestino</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RespuestaConversion</a:t>
                      </a:r>
                      <a:r>
                        <a:rPr lang="es-ES" sz="1000" dirty="0">
                          <a:solidFill>
                            <a:srgbClr val="4F81BD"/>
                          </a:solidFill>
                          <a:latin typeface="Calibri"/>
                          <a:ea typeface="Calibri"/>
                          <a:cs typeface="Calibri"/>
                          <a:sym typeface="Calibri"/>
                        </a:rPr>
                        <a:t>(valor, </a:t>
                      </a:r>
                      <a:r>
                        <a:rPr lang="es-ES" sz="1000" dirty="0" err="1">
                          <a:solidFill>
                            <a:srgbClr val="4F81BD"/>
                          </a:solidFill>
                          <a:latin typeface="Calibri"/>
                          <a:ea typeface="Calibri"/>
                          <a:cs typeface="Calibri"/>
                          <a:sym typeface="Calibri"/>
                        </a:rPr>
                        <a:t>valorConvertido</a:t>
                      </a:r>
                      <a:r>
                        <a:rPr lang="es-ES" sz="1000" dirty="0">
                          <a:solidFill>
                            <a:srgbClr val="4F81BD"/>
                          </a:solidFill>
                          <a:latin typeface="Calibri"/>
                          <a:ea typeface="Calibri"/>
                          <a:cs typeface="Calibri"/>
                          <a:sym typeface="Calibri"/>
                        </a:rPr>
                        <a:t>, unidadOrigen.name(), unidadDestino.name());</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calcularConversion</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valor, </a:t>
                      </a:r>
                      <a:r>
                        <a:rPr lang="es-ES" sz="1000" dirty="0" err="1">
                          <a:solidFill>
                            <a:srgbClr val="4F81BD"/>
                          </a:solidFill>
                          <a:latin typeface="Calibri"/>
                          <a:ea typeface="Calibri"/>
                          <a:cs typeface="Calibri"/>
                          <a:sym typeface="Calibri"/>
                        </a:rPr>
                        <a:t>UnidadMasa</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unidadOrigen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UnidadMasa</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unidadFinal</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valorABase</a:t>
                      </a:r>
                      <a:r>
                        <a:rPr lang="es-ES" sz="1000" dirty="0">
                          <a:solidFill>
                            <a:srgbClr val="4F81BD"/>
                          </a:solidFill>
                          <a:latin typeface="Calibri"/>
                          <a:ea typeface="Calibri"/>
                          <a:cs typeface="Calibri"/>
                          <a:sym typeface="Calibri"/>
                        </a:rPr>
                        <a:t> = valor * </a:t>
                      </a:r>
                      <a:r>
                        <a:rPr lang="es-ES" sz="1000" dirty="0" err="1">
                          <a:solidFill>
                            <a:srgbClr val="4F81BD"/>
                          </a:solidFill>
                          <a:latin typeface="Calibri"/>
                          <a:ea typeface="Calibri"/>
                          <a:cs typeface="Calibri"/>
                          <a:sym typeface="Calibri"/>
                        </a:rPr>
                        <a:t>unidadOrigen.getFactor</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valorDesdeBase</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valorABase</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unidadFinal.getFactor</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valorDesdeBase</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endParaRPr sz="10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70" name="Google Shape;270;p34"/>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Autofit/>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400" dirty="0">
              <a:latin typeface="Cambria"/>
              <a:ea typeface="Cambria"/>
              <a:cs typeface="Cambria"/>
              <a:sym typeface="Cambria"/>
            </a:endParaRPr>
          </a:p>
        </p:txBody>
      </p:sp>
      <p:sp>
        <p:nvSpPr>
          <p:cNvPr id="271" name="Google Shape;271;p3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72" name="Google Shape;272;p34"/>
          <p:cNvGraphicFramePr/>
          <p:nvPr>
            <p:extLst>
              <p:ext uri="{D42A27DB-BD31-4B8C-83A1-F6EECF244321}">
                <p14:modId xmlns:p14="http://schemas.microsoft.com/office/powerpoint/2010/main" val="714546080"/>
              </p:ext>
            </p:extLst>
          </p:nvPr>
        </p:nvGraphicFramePr>
        <p:xfrm>
          <a:off x="2883275" y="1863661"/>
          <a:ext cx="6062675" cy="48514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000" dirty="0">
                          <a:solidFill>
                            <a:srgbClr val="4F81BD"/>
                          </a:solidFill>
                          <a:latin typeface="Calibri"/>
                          <a:ea typeface="Calibri"/>
                          <a:cs typeface="Calibri"/>
                          <a:sym typeface="Calibri"/>
                        </a:rPr>
                        <a:t>@ApplicationScoped</a:t>
                      </a: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class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ServicioTemperatura</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ServicioTemperatura</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RespuestaConversion</a:t>
                      </a:r>
                      <a:r>
                        <a:rPr lang="es-ES" sz="1000" dirty="0">
                          <a:solidFill>
                            <a:srgbClr val="4F81BD"/>
                          </a:solidFill>
                          <a:latin typeface="Calibri"/>
                          <a:ea typeface="Calibri"/>
                          <a:cs typeface="Calibri"/>
                          <a:sym typeface="Calibri"/>
                        </a:rPr>
                        <a:t> convertir(</a:t>
                      </a:r>
                      <a:r>
                        <a:rPr lang="es-ES" sz="1000" dirty="0" err="1">
                          <a:solidFill>
                            <a:srgbClr val="4F81BD"/>
                          </a:solidFill>
                          <a:latin typeface="Calibri"/>
                          <a:ea typeface="Calibri"/>
                          <a:cs typeface="Calibri"/>
                          <a:sym typeface="Calibri"/>
                        </a:rPr>
                        <a:t>SolicitudConversion</a:t>
                      </a:r>
                      <a:r>
                        <a:rPr lang="es-ES" sz="1000" dirty="0">
                          <a:solidFill>
                            <a:srgbClr val="4F81BD"/>
                          </a:solidFill>
                          <a:latin typeface="Calibri"/>
                          <a:ea typeface="Calibri"/>
                          <a:cs typeface="Calibri"/>
                          <a:sym typeface="Calibri"/>
                        </a:rPr>
                        <a:t> solicitud)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UnidadTemperatura</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unidadOrigen</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UnidadTemperatura.desdeString</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solicitud.getUnidadOrigen</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UnidadTemperatura</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unidadDestino</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UnidadTemperatura.desdeString</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solicitud.getUnidadDestino</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valor = </a:t>
                      </a:r>
                      <a:r>
                        <a:rPr lang="es-ES" sz="1000" dirty="0" err="1">
                          <a:solidFill>
                            <a:srgbClr val="4F81BD"/>
                          </a:solidFill>
                          <a:latin typeface="Calibri"/>
                          <a:ea typeface="Calibri"/>
                          <a:cs typeface="Calibri"/>
                          <a:sym typeface="Calibri"/>
                        </a:rPr>
                        <a:t>solicitud.getValor</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unidadOrigen.validar</a:t>
                      </a:r>
                      <a:r>
                        <a:rPr lang="es-ES" sz="1000" dirty="0">
                          <a:solidFill>
                            <a:srgbClr val="4F81BD"/>
                          </a:solidFill>
                          <a:latin typeface="Calibri"/>
                          <a:ea typeface="Calibri"/>
                          <a:cs typeface="Calibri"/>
                          <a:sym typeface="Calibri"/>
                        </a:rPr>
                        <a:t>(valor);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valorEnKelvin</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aKelvin</a:t>
                      </a:r>
                      <a:r>
                        <a:rPr lang="es-ES" sz="1000" dirty="0">
                          <a:solidFill>
                            <a:srgbClr val="4F81BD"/>
                          </a:solidFill>
                          <a:latin typeface="Calibri"/>
                          <a:ea typeface="Calibri"/>
                          <a:cs typeface="Calibri"/>
                          <a:sym typeface="Calibri"/>
                        </a:rPr>
                        <a:t>(valor, </a:t>
                      </a:r>
                      <a:r>
                        <a:rPr lang="es-ES" sz="1000" dirty="0" err="1">
                          <a:solidFill>
                            <a:srgbClr val="4F81BD"/>
                          </a:solidFill>
                          <a:latin typeface="Calibri"/>
                          <a:ea typeface="Calibri"/>
                          <a:cs typeface="Calibri"/>
                          <a:sym typeface="Calibri"/>
                        </a:rPr>
                        <a:t>unidadOrigen</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valorConvertido</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desdeKelvin</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valorEnKelvin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unidadDestino</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RespuestaConversion</a:t>
                      </a:r>
                      <a:r>
                        <a:rPr lang="es-ES" sz="1000" dirty="0">
                          <a:solidFill>
                            <a:srgbClr val="4F81BD"/>
                          </a:solidFill>
                          <a:latin typeface="Calibri"/>
                          <a:ea typeface="Calibri"/>
                          <a:cs typeface="Calibri"/>
                          <a:sym typeface="Calibri"/>
                        </a:rPr>
                        <a:t>(valor, </a:t>
                      </a:r>
                      <a:r>
                        <a:rPr lang="es-ES" sz="1000" dirty="0" err="1">
                          <a:solidFill>
                            <a:srgbClr val="4F81BD"/>
                          </a:solidFill>
                          <a:latin typeface="Calibri"/>
                          <a:ea typeface="Calibri"/>
                          <a:cs typeface="Calibri"/>
                          <a:sym typeface="Calibri"/>
                        </a:rPr>
                        <a:t>valorConvertido</a:t>
                      </a:r>
                      <a:r>
                        <a:rPr lang="es-ES" sz="1000" dirty="0">
                          <a:solidFill>
                            <a:srgbClr val="4F81BD"/>
                          </a:solidFill>
                          <a:latin typeface="Calibri"/>
                          <a:ea typeface="Calibri"/>
                          <a:cs typeface="Calibri"/>
                          <a:sym typeface="Calibri"/>
                        </a:rPr>
                        <a:t>, unidadOrigen.name(), unidadDestino.name());</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aKelvin</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valor, </a:t>
                      </a:r>
                      <a:r>
                        <a:rPr lang="es-ES" sz="1000" dirty="0" err="1">
                          <a:solidFill>
                            <a:srgbClr val="4F81BD"/>
                          </a:solidFill>
                          <a:latin typeface="Calibri"/>
                          <a:ea typeface="Calibri"/>
                          <a:cs typeface="Calibri"/>
                          <a:sym typeface="Calibri"/>
                        </a:rPr>
                        <a:t>UnidadTemperatura</a:t>
                      </a:r>
                      <a:r>
                        <a:rPr lang="es-ES" sz="1000" dirty="0">
                          <a:solidFill>
                            <a:srgbClr val="4F81BD"/>
                          </a:solidFill>
                          <a:latin typeface="Calibri"/>
                          <a:ea typeface="Calibri"/>
                          <a:cs typeface="Calibri"/>
                          <a:sym typeface="Calibri"/>
                        </a:rPr>
                        <a:t> unidad)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switch (unidad)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case CELSIUS -&gt; valor + 273.15;</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case FAHRENHEIT -&gt; (valor + 459.67) * 5.0 / 9.0;</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case KELVIN -&gt; valor;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case RANKINE -&gt; valor * 5.0 / 9.0;</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desdeKelvin</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kelvin, </a:t>
                      </a:r>
                      <a:r>
                        <a:rPr lang="es-ES" sz="1000" dirty="0" err="1">
                          <a:solidFill>
                            <a:srgbClr val="4F81BD"/>
                          </a:solidFill>
                          <a:latin typeface="Calibri"/>
                          <a:ea typeface="Calibri"/>
                          <a:cs typeface="Calibri"/>
                          <a:sym typeface="Calibri"/>
                        </a:rPr>
                        <a:t>UnidadTemperatura</a:t>
                      </a:r>
                      <a:r>
                        <a:rPr lang="es-ES" sz="1000" dirty="0">
                          <a:solidFill>
                            <a:srgbClr val="4F81BD"/>
                          </a:solidFill>
                          <a:latin typeface="Calibri"/>
                          <a:ea typeface="Calibri"/>
                          <a:cs typeface="Calibri"/>
                          <a:sym typeface="Calibri"/>
                        </a:rPr>
                        <a:t> unidad)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switch (unidad)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case CELSIUS -&gt; kelvin - 273.15;</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case FAHRENHEIT -&gt; kelvin * 9.0 / 5.0 - 459.67;</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case KELVIN -&gt; kelvin;</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case RANKINE -&gt; kelvin * 9.0 / 5.0;</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endParaRPr sz="7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94" name="Google Shape;294;p37"/>
          <p:cNvSpPr txBox="1">
            <a:spLocks noGrp="1"/>
          </p:cNvSpPr>
          <p:nvPr>
            <p:ph type="body" idx="1"/>
          </p:nvPr>
        </p:nvSpPr>
        <p:spPr>
          <a:xfrm>
            <a:off x="490582" y="2007528"/>
            <a:ext cx="3323537" cy="45588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600" b="1" dirty="0">
                <a:latin typeface="Cambria"/>
                <a:ea typeface="Cambria"/>
                <a:cs typeface="Cambria"/>
                <a:sym typeface="Cambria"/>
              </a:rPr>
              <a:t>1.2.6 	Ejecución en Servidor</a:t>
            </a:r>
            <a:endParaRPr sz="1600" dirty="0">
              <a:latin typeface="Cambria"/>
              <a:ea typeface="Cambria"/>
              <a:cs typeface="Cambria"/>
              <a:sym typeface="Cambria"/>
            </a:endParaRPr>
          </a:p>
          <a:p>
            <a:pPr marL="342900" lvl="0" indent="-323850" algn="just">
              <a:lnSpc>
                <a:spcPct val="107000"/>
              </a:lnSpc>
              <a:spcBef>
                <a:spcPts val="0"/>
              </a:spcBef>
              <a:buSzPts val="1356"/>
              <a:buFont typeface="Cambria"/>
              <a:buChar char="∙"/>
            </a:pPr>
            <a:r>
              <a:rPr lang="es-ES" sz="1600" dirty="0">
                <a:latin typeface="Cambria"/>
                <a:ea typeface="Cambria"/>
                <a:cs typeface="Cambria"/>
                <a:sym typeface="Cambria"/>
              </a:rPr>
              <a:t>Se ejecuta el programa corriendo en nuestro servidor payara y se comprueba el funcionamiento correcto en la ruta (En los puertos de Docker se configuro 9080 para payara): </a:t>
            </a:r>
          </a:p>
          <a:p>
            <a:pPr marL="342900" lvl="0" indent="-323850" algn="just">
              <a:lnSpc>
                <a:spcPct val="107000"/>
              </a:lnSpc>
              <a:spcBef>
                <a:spcPts val="0"/>
              </a:spcBef>
              <a:buSzPts val="1356"/>
              <a:buFont typeface="Cambria"/>
              <a:buChar char="∙"/>
            </a:pPr>
            <a:endParaRPr lang="es-ES" sz="1600" dirty="0">
              <a:latin typeface="Cambria"/>
              <a:ea typeface="Cambria"/>
              <a:cs typeface="Cambria"/>
              <a:sym typeface="Cambria"/>
            </a:endParaRPr>
          </a:p>
          <a:p>
            <a:pPr marL="342900" lvl="0" indent="-323850" algn="just">
              <a:lnSpc>
                <a:spcPct val="107000"/>
              </a:lnSpc>
              <a:spcBef>
                <a:spcPts val="0"/>
              </a:spcBef>
              <a:buSzPts val="1356"/>
              <a:buFont typeface="Cambria"/>
              <a:buChar char="∙"/>
            </a:pPr>
            <a:r>
              <a:rPr lang="es-ES" sz="1600" i="1" dirty="0">
                <a:solidFill>
                  <a:schemeClr val="accent1">
                    <a:lumMod val="60000"/>
                    <a:lumOff val="40000"/>
                  </a:schemeClr>
                </a:solidFill>
                <a:latin typeface="Cambria"/>
                <a:ea typeface="Cambria"/>
                <a:cs typeface="Cambria"/>
                <a:sym typeface="Cambria"/>
              </a:rPr>
              <a:t>http://localhost:9080/CONV_REST_JAVA/docs.html</a:t>
            </a:r>
            <a:endParaRPr sz="1800" dirty="0">
              <a:latin typeface="Cambria"/>
              <a:ea typeface="Cambria"/>
              <a:cs typeface="Cambria"/>
              <a:sym typeface="Cambria"/>
            </a:endParaRPr>
          </a:p>
        </p:txBody>
      </p:sp>
      <p:sp>
        <p:nvSpPr>
          <p:cNvPr id="295" name="Google Shape;295;p3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7" name="Picture 6">
            <a:extLst>
              <a:ext uri="{FF2B5EF4-FFF2-40B4-BE49-F238E27FC236}">
                <a16:creationId xmlns:a16="http://schemas.microsoft.com/office/drawing/2014/main" id="{40CFD15C-EAEE-FBE5-07DF-D19B8F6C5ECB}"/>
              </a:ext>
            </a:extLst>
          </p:cNvPr>
          <p:cNvPicPr>
            <a:picLocks noChangeAspect="1"/>
          </p:cNvPicPr>
          <p:nvPr/>
        </p:nvPicPr>
        <p:blipFill>
          <a:blip r:embed="rId3"/>
          <a:stretch>
            <a:fillRect/>
          </a:stretch>
        </p:blipFill>
        <p:spPr>
          <a:xfrm>
            <a:off x="4128288" y="2270717"/>
            <a:ext cx="4697107" cy="403242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OBJETIVO</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accent2"/>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SERVIDOR RESTFUL</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MOVIL</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02" name="Google Shape;302;p3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a:t>
            </a:r>
            <a:endParaRPr dirty="0"/>
          </a:p>
        </p:txBody>
      </p:sp>
      <p:sp>
        <p:nvSpPr>
          <p:cNvPr id="303" name="Google Shape;303;p38"/>
          <p:cNvSpPr txBox="1">
            <a:spLocks noGrp="1"/>
          </p:cNvSpPr>
          <p:nvPr>
            <p:ph type="body" idx="1"/>
          </p:nvPr>
        </p:nvSpPr>
        <p:spPr>
          <a:xfrm>
            <a:off x="498873" y="2079535"/>
            <a:ext cx="8581500" cy="1471595"/>
          </a:xfrm>
          <a:prstGeom prst="rect">
            <a:avLst/>
          </a:prstGeom>
          <a:noFill/>
          <a:ln>
            <a:noFill/>
          </a:ln>
        </p:spPr>
        <p:txBody>
          <a:bodyPr spcFirstLastPara="1" wrap="square" lIns="91425" tIns="45700" rIns="91425" bIns="45700" anchor="ctr" anchorCtr="0">
            <a:noAutofit/>
          </a:bodyPr>
          <a:lstStyle/>
          <a:p>
            <a:pPr marL="0" lvl="0" indent="0" algn="just" rtl="0">
              <a:lnSpc>
                <a:spcPct val="115000"/>
              </a:lnSpc>
              <a:spcBef>
                <a:spcPts val="1200"/>
              </a:spcBef>
              <a:spcAft>
                <a:spcPts val="0"/>
              </a:spcAft>
              <a:buClr>
                <a:schemeClr val="dk1"/>
              </a:buClr>
              <a:buSzPct val="70332"/>
              <a:buFont typeface="Arial"/>
              <a:buNone/>
            </a:pPr>
            <a:r>
              <a:rPr lang="es-MX" sz="1400" b="1" dirty="0">
                <a:latin typeface="Cambria"/>
                <a:ea typeface="Cambria"/>
                <a:cs typeface="Cambria"/>
                <a:sym typeface="Cambria"/>
              </a:rPr>
              <a:t>1.3  CREACIÓN DEL PROYECTO CLIENTE CONSOLA</a:t>
            </a:r>
          </a:p>
          <a:p>
            <a:pPr marL="422426" lvl="0" indent="-285750" algn="just" rtl="0">
              <a:lnSpc>
                <a:spcPct val="115000"/>
              </a:lnSpc>
              <a:spcBef>
                <a:spcPts val="0"/>
              </a:spcBef>
              <a:spcAft>
                <a:spcPts val="0"/>
              </a:spcAft>
              <a:buSzPct val="100064"/>
              <a:buFont typeface="Arial" panose="020B0604020202020204" pitchFamily="34" charset="0"/>
              <a:buChar char="•"/>
            </a:pPr>
            <a:r>
              <a:rPr lang="es-MX" sz="1400" dirty="0">
                <a:latin typeface="Cambria"/>
                <a:ea typeface="Cambria"/>
                <a:cs typeface="Cambria"/>
                <a:sym typeface="Cambria"/>
              </a:rPr>
              <a:t>Para el cliente consola se uso NetBeans en el cual se debe crear un nuevo proyecto para ello se seleccionó el gestor de proyectos Java </a:t>
            </a:r>
            <a:r>
              <a:rPr lang="es-MX" sz="1400" dirty="0" err="1">
                <a:latin typeface="Cambria"/>
                <a:ea typeface="Cambria"/>
                <a:cs typeface="Cambria"/>
                <a:sym typeface="Cambria"/>
              </a:rPr>
              <a:t>with</a:t>
            </a:r>
            <a:r>
              <a:rPr lang="es-MX" sz="1400" dirty="0">
                <a:latin typeface="Cambria"/>
                <a:ea typeface="Cambria"/>
                <a:cs typeface="Cambria"/>
                <a:sym typeface="Cambria"/>
              </a:rPr>
              <a:t> Maven, el tipo de aplicativo que se usa es Java </a:t>
            </a:r>
            <a:r>
              <a:rPr lang="es-MX" sz="1400" dirty="0" err="1">
                <a:latin typeface="Cambria"/>
                <a:ea typeface="Cambria"/>
                <a:cs typeface="Cambria"/>
                <a:sym typeface="Cambria"/>
              </a:rPr>
              <a:t>Application</a:t>
            </a:r>
            <a:r>
              <a:rPr lang="es-MX" sz="1400" dirty="0">
                <a:latin typeface="Cambria"/>
                <a:ea typeface="Cambria"/>
                <a:cs typeface="Cambria"/>
                <a:sym typeface="Cambria"/>
              </a:rPr>
              <a:t>.</a:t>
            </a:r>
          </a:p>
          <a:p>
            <a:pPr marL="422426" lvl="0" indent="-285750" algn="just" rtl="0">
              <a:lnSpc>
                <a:spcPct val="115000"/>
              </a:lnSpc>
              <a:spcBef>
                <a:spcPts val="0"/>
              </a:spcBef>
              <a:spcAft>
                <a:spcPts val="0"/>
              </a:spcAft>
              <a:buSzPct val="100064"/>
              <a:buFont typeface="Arial" panose="020B0604020202020204" pitchFamily="34" charset="0"/>
              <a:buChar char="•"/>
            </a:pPr>
            <a:r>
              <a:rPr lang="es-MX" sz="1400" dirty="0">
                <a:latin typeface="Cambria"/>
                <a:ea typeface="Cambria"/>
                <a:cs typeface="Cambria"/>
                <a:sym typeface="Cambria"/>
              </a:rPr>
              <a:t>Se asigna un nombre al proyecto, se da una ubicación, y se configura el </a:t>
            </a:r>
            <a:r>
              <a:rPr lang="es-MX" sz="1400" dirty="0" err="1">
                <a:latin typeface="Cambria"/>
                <a:ea typeface="Cambria"/>
                <a:cs typeface="Cambria"/>
                <a:sym typeface="Cambria"/>
              </a:rPr>
              <a:t>group</a:t>
            </a:r>
            <a:r>
              <a:rPr lang="es-MX" sz="1400" dirty="0">
                <a:latin typeface="Cambria"/>
                <a:ea typeface="Cambria"/>
                <a:cs typeface="Cambria"/>
                <a:sym typeface="Cambria"/>
              </a:rPr>
              <a:t> id con el que se quiere nombrar.</a:t>
            </a:r>
          </a:p>
          <a:p>
            <a:pPr marL="0" lvl="0" indent="0" algn="l" rtl="0">
              <a:lnSpc>
                <a:spcPct val="115000"/>
              </a:lnSpc>
              <a:spcBef>
                <a:spcPts val="1200"/>
              </a:spcBef>
              <a:spcAft>
                <a:spcPts val="1200"/>
              </a:spcAft>
              <a:buSzPct val="99162"/>
              <a:buNone/>
            </a:pPr>
            <a:endParaRPr sz="1400" dirty="0">
              <a:latin typeface="Cambria"/>
              <a:ea typeface="Cambria"/>
              <a:cs typeface="Cambria"/>
              <a:sym typeface="Cambria"/>
            </a:endParaRPr>
          </a:p>
        </p:txBody>
      </p:sp>
      <p:pic>
        <p:nvPicPr>
          <p:cNvPr id="3" name="Picture 2">
            <a:extLst>
              <a:ext uri="{FF2B5EF4-FFF2-40B4-BE49-F238E27FC236}">
                <a16:creationId xmlns:a16="http://schemas.microsoft.com/office/drawing/2014/main" id="{D21FD43A-51C3-C83D-9282-DAFC6FBE4777}"/>
              </a:ext>
            </a:extLst>
          </p:cNvPr>
          <p:cNvPicPr>
            <a:picLocks noChangeAspect="1"/>
          </p:cNvPicPr>
          <p:nvPr/>
        </p:nvPicPr>
        <p:blipFill>
          <a:blip r:embed="rId3"/>
          <a:stretch>
            <a:fillRect/>
          </a:stretch>
        </p:blipFill>
        <p:spPr>
          <a:xfrm>
            <a:off x="450353" y="3728330"/>
            <a:ext cx="4339270" cy="2928165"/>
          </a:xfrm>
          <a:prstGeom prst="rect">
            <a:avLst/>
          </a:prstGeom>
        </p:spPr>
      </p:pic>
      <p:pic>
        <p:nvPicPr>
          <p:cNvPr id="4" name="Picture 3">
            <a:extLst>
              <a:ext uri="{FF2B5EF4-FFF2-40B4-BE49-F238E27FC236}">
                <a16:creationId xmlns:a16="http://schemas.microsoft.com/office/drawing/2014/main" id="{46DAEA48-5A54-159F-1966-D07BEAB95796}"/>
              </a:ext>
            </a:extLst>
          </p:cNvPr>
          <p:cNvPicPr>
            <a:picLocks noChangeAspect="1"/>
          </p:cNvPicPr>
          <p:nvPr/>
        </p:nvPicPr>
        <p:blipFill>
          <a:blip r:embed="rId4"/>
          <a:stretch>
            <a:fillRect/>
          </a:stretch>
        </p:blipFill>
        <p:spPr>
          <a:xfrm>
            <a:off x="4948473" y="3884887"/>
            <a:ext cx="4131900" cy="211564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OBJETIVO</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accent2"/>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SERVIDOR RESTFUL</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MOVIL</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11" name="Google Shape;311;p3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12" name="Google Shape;312;p39"/>
          <p:cNvSpPr txBox="1">
            <a:spLocks noGrp="1"/>
          </p:cNvSpPr>
          <p:nvPr>
            <p:ph type="body" idx="1"/>
          </p:nvPr>
        </p:nvSpPr>
        <p:spPr>
          <a:xfrm>
            <a:off x="581192" y="1785292"/>
            <a:ext cx="8581500" cy="2149500"/>
          </a:xfrm>
          <a:prstGeom prst="rect">
            <a:avLst/>
          </a:prstGeom>
          <a:noFill/>
          <a:ln>
            <a:noFill/>
          </a:ln>
        </p:spPr>
        <p:txBody>
          <a:bodyPr spcFirstLastPara="1" wrap="square" lIns="91425" tIns="45700" rIns="91425" bIns="45700" anchor="ctr" anchorCtr="0">
            <a:normAutofit/>
          </a:bodyPr>
          <a:lstStyle/>
          <a:p>
            <a:pPr marL="415036" indent="-285750">
              <a:lnSpc>
                <a:spcPct val="115000"/>
              </a:lnSpc>
              <a:spcBef>
                <a:spcPts val="0"/>
              </a:spcBef>
              <a:buSzPts val="1564"/>
              <a:buFont typeface="Arial" panose="020B0604020202020204" pitchFamily="34" charset="0"/>
              <a:buChar char="•"/>
            </a:pPr>
            <a:r>
              <a:rPr lang="es-ES" sz="1564" dirty="0">
                <a:latin typeface="Cambria"/>
                <a:ea typeface="Cambria"/>
                <a:cs typeface="Cambria"/>
                <a:sym typeface="Cambria"/>
              </a:rPr>
              <a:t>Una vez que se creó el proyecto se debe generar los diferentes paquetes, donde se colocarán los archivos con código fuente, se deberá ejecutar desde el archivo principal que se va a crear</a:t>
            </a:r>
            <a:endParaRPr sz="1564" dirty="0">
              <a:latin typeface="Cambria"/>
              <a:ea typeface="Cambria"/>
              <a:cs typeface="Cambria"/>
              <a:sym typeface="Cambria"/>
            </a:endParaRPr>
          </a:p>
          <a:p>
            <a:pPr marL="0" lvl="0" indent="0" algn="l" rtl="0">
              <a:lnSpc>
                <a:spcPct val="115000"/>
              </a:lnSpc>
              <a:spcBef>
                <a:spcPts val="1200"/>
              </a:spcBef>
              <a:spcAft>
                <a:spcPts val="1200"/>
              </a:spcAft>
              <a:buSzPts val="1656"/>
              <a:buNone/>
            </a:pPr>
            <a:endParaRPr sz="1670" dirty="0">
              <a:latin typeface="Cambria"/>
              <a:ea typeface="Cambria"/>
              <a:cs typeface="Cambria"/>
              <a:sym typeface="Cambria"/>
            </a:endParaRPr>
          </a:p>
        </p:txBody>
      </p:sp>
      <p:pic>
        <p:nvPicPr>
          <p:cNvPr id="4" name="Picture 3">
            <a:extLst>
              <a:ext uri="{FF2B5EF4-FFF2-40B4-BE49-F238E27FC236}">
                <a16:creationId xmlns:a16="http://schemas.microsoft.com/office/drawing/2014/main" id="{5B51430F-2561-CFC8-657A-05C1447BE061}"/>
              </a:ext>
            </a:extLst>
          </p:cNvPr>
          <p:cNvPicPr>
            <a:picLocks noChangeAspect="1"/>
          </p:cNvPicPr>
          <p:nvPr/>
        </p:nvPicPr>
        <p:blipFill>
          <a:blip r:embed="rId3"/>
          <a:stretch>
            <a:fillRect/>
          </a:stretch>
        </p:blipFill>
        <p:spPr>
          <a:xfrm>
            <a:off x="3722541" y="3105664"/>
            <a:ext cx="2809965" cy="354391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19" name="Google Shape;319;p40"/>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
        <p:nvSpPr>
          <p:cNvPr id="320" name="Google Shape;320;p4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21" name="Google Shape;321;p40"/>
          <p:cNvGraphicFramePr/>
          <p:nvPr>
            <p:extLst>
              <p:ext uri="{D42A27DB-BD31-4B8C-83A1-F6EECF244321}">
                <p14:modId xmlns:p14="http://schemas.microsoft.com/office/powerpoint/2010/main" val="2710148170"/>
              </p:ext>
            </p:extLst>
          </p:nvPr>
        </p:nvGraphicFramePr>
        <p:xfrm>
          <a:off x="2964625" y="1876275"/>
          <a:ext cx="6062675" cy="49276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4701300">
                <a:tc>
                  <a:txBody>
                    <a:bodyPr/>
                    <a:lstStyle/>
                    <a:p>
                      <a:pPr marL="0" lvl="0" indent="0" algn="l" rtl="0">
                        <a:spcBef>
                          <a:spcPts val="0"/>
                        </a:spcBef>
                        <a:spcAft>
                          <a:spcPts val="0"/>
                        </a:spcAft>
                        <a:buClr>
                          <a:schemeClr val="dk1"/>
                        </a:buClr>
                        <a:buSzPts val="1100"/>
                        <a:buFont typeface="Arial"/>
                        <a:buNone/>
                      </a:pPr>
                      <a:r>
                        <a:rPr lang="es-ES" sz="900" dirty="0" err="1">
                          <a:solidFill>
                            <a:srgbClr val="4F81BD"/>
                          </a:solidFill>
                          <a:latin typeface="Calibri"/>
                          <a:ea typeface="Calibri"/>
                          <a:cs typeface="Calibri"/>
                          <a:sym typeface="Calibri"/>
                        </a:rPr>
                        <a:t>package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ec.edu.monster.configuracion</a:t>
                      </a:r>
                      <a:r>
                        <a:rPr lang="es-ES" sz="9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endParaRPr lang="es-ES" sz="9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dirty="0" err="1">
                          <a:solidFill>
                            <a:srgbClr val="4F81BD"/>
                          </a:solidFill>
                          <a:latin typeface="Calibri"/>
                          <a:ea typeface="Calibri"/>
                          <a:cs typeface="Calibri"/>
                          <a:sym typeface="Calibri"/>
                        </a:rPr>
                        <a:t>import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io.github.cdimascio.dotenv.Dotenv</a:t>
                      </a:r>
                      <a:r>
                        <a:rPr lang="es-ES" sz="9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900" dirty="0" err="1">
                          <a:solidFill>
                            <a:srgbClr val="4F81BD"/>
                          </a:solidFill>
                          <a:latin typeface="Calibri"/>
                          <a:ea typeface="Calibri"/>
                          <a:cs typeface="Calibri"/>
                          <a:sym typeface="Calibri"/>
                        </a:rPr>
                        <a:t>import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java.io.File</a:t>
                      </a:r>
                      <a:r>
                        <a:rPr lang="es-ES" sz="9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900" dirty="0" err="1">
                          <a:solidFill>
                            <a:srgbClr val="4F81BD"/>
                          </a:solidFill>
                          <a:latin typeface="Calibri"/>
                          <a:ea typeface="Calibri"/>
                          <a:cs typeface="Calibri"/>
                          <a:sym typeface="Calibri"/>
                        </a:rPr>
                        <a:t>import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java.net.URISyntaxException</a:t>
                      </a:r>
                      <a:r>
                        <a:rPr lang="es-ES" sz="9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endParaRPr lang="es-ES" sz="9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Lee la configuración del servicio </a:t>
                      </a:r>
                      <a:r>
                        <a:rPr lang="es-ES" sz="900" dirty="0" err="1">
                          <a:solidFill>
                            <a:srgbClr val="4F81BD"/>
                          </a:solidFill>
                          <a:latin typeface="Calibri"/>
                          <a:ea typeface="Calibri"/>
                          <a:cs typeface="Calibri"/>
                          <a:sym typeface="Calibri"/>
                        </a:rPr>
                        <a:t>RESTful</a:t>
                      </a:r>
                      <a:r>
                        <a:rPr lang="es-ES" sz="900" dirty="0">
                          <a:solidFill>
                            <a:srgbClr val="4F81BD"/>
                          </a:solidFill>
                          <a:latin typeface="Calibri"/>
                          <a:ea typeface="Calibri"/>
                          <a:cs typeface="Calibri"/>
                          <a:sym typeface="Calibri"/>
                        </a:rPr>
                        <a:t> sin dejar direcciones dentro del código. */</a:t>
                      </a:r>
                    </a:p>
                    <a:p>
                      <a:pPr marL="0" lvl="0" indent="0" algn="l" rtl="0">
                        <a:spcBef>
                          <a:spcPts val="0"/>
                        </a:spcBef>
                        <a:spcAft>
                          <a:spcPts val="0"/>
                        </a:spcAft>
                        <a:buClr>
                          <a:schemeClr val="dk1"/>
                        </a:buClr>
                        <a:buSzPts val="1100"/>
                        <a:buFont typeface="Arial"/>
                        <a:buNone/>
                      </a:pP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final </a:t>
                      </a:r>
                      <a:r>
                        <a:rPr lang="es-ES" sz="900" dirty="0" err="1">
                          <a:solidFill>
                            <a:srgbClr val="4F81BD"/>
                          </a:solidFill>
                          <a:latin typeface="Calibri"/>
                          <a:ea typeface="Calibri"/>
                          <a:cs typeface="Calibri"/>
                          <a:sym typeface="Calibri"/>
                        </a:rPr>
                        <a:t>class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RestConfig</a:t>
                      </a:r>
                      <a:r>
                        <a:rPr lang="es-ES" sz="9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static</a:t>
                      </a:r>
                      <a:r>
                        <a:rPr lang="es-ES" sz="900" dirty="0">
                          <a:solidFill>
                            <a:srgbClr val="4F81BD"/>
                          </a:solidFill>
                          <a:latin typeface="Calibri"/>
                          <a:ea typeface="Calibri"/>
                          <a:cs typeface="Calibri"/>
                          <a:sym typeface="Calibri"/>
                        </a:rPr>
                        <a:t> final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ARCHIVO_ENV = "</a:t>
                      </a:r>
                      <a:r>
                        <a:rPr lang="es-ES" sz="900" dirty="0" err="1">
                          <a:solidFill>
                            <a:srgbClr val="4F81BD"/>
                          </a:solidFill>
                          <a:latin typeface="Calibri"/>
                          <a:ea typeface="Calibri"/>
                          <a:cs typeface="Calibri"/>
                          <a:sym typeface="Calibri"/>
                        </a:rPr>
                        <a:t>development.env</a:t>
                      </a:r>
                      <a:r>
                        <a:rPr lang="es-ES" sz="9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static</a:t>
                      </a:r>
                      <a:r>
                        <a:rPr lang="es-ES" sz="900" dirty="0">
                          <a:solidFill>
                            <a:srgbClr val="4F81BD"/>
                          </a:solidFill>
                          <a:latin typeface="Calibri"/>
                          <a:ea typeface="Calibri"/>
                          <a:cs typeface="Calibri"/>
                          <a:sym typeface="Calibri"/>
                        </a:rPr>
                        <a:t> final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RUTAS_ENV = {</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src</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main</a:t>
                      </a:r>
                      <a:r>
                        <a:rPr lang="es-ES" sz="900" dirty="0">
                          <a:solidFill>
                            <a:srgbClr val="4F81BD"/>
                          </a:solidFill>
                          <a:latin typeface="Calibri"/>
                          <a:ea typeface="Calibri"/>
                          <a:cs typeface="Calibri"/>
                          <a:sym typeface="Calibri"/>
                        </a:rPr>
                        <a:t>/java/</a:t>
                      </a:r>
                      <a:r>
                        <a:rPr lang="es-ES" sz="900" dirty="0" err="1">
                          <a:solidFill>
                            <a:srgbClr val="4F81BD"/>
                          </a:solidFill>
                          <a:latin typeface="Calibri"/>
                          <a:ea typeface="Calibri"/>
                          <a:cs typeface="Calibri"/>
                          <a:sym typeface="Calibri"/>
                        </a:rPr>
                        <a:t>ec</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edu</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monster</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clicon_uni_java_restful</a:t>
                      </a:r>
                      <a:r>
                        <a:rPr lang="es-ES" sz="900" dirty="0">
                          <a:solidFill>
                            <a:srgbClr val="4F81BD"/>
                          </a:solidFill>
                          <a:latin typeface="Calibri"/>
                          <a:ea typeface="Calibri"/>
                          <a:cs typeface="Calibri"/>
                          <a:sym typeface="Calibri"/>
                        </a:rPr>
                        <a:t>/" + ARCHIVO_ENV,</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src</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main</a:t>
                      </a:r>
                      <a:r>
                        <a:rPr lang="es-ES" sz="900" dirty="0">
                          <a:solidFill>
                            <a:srgbClr val="4F81BD"/>
                          </a:solidFill>
                          <a:latin typeface="Calibri"/>
                          <a:ea typeface="Calibri"/>
                          <a:cs typeface="Calibri"/>
                          <a:sym typeface="Calibri"/>
                        </a:rPr>
                        <a:t>/recursos/" + ARCHIVO_ENV</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static</a:t>
                      </a:r>
                      <a:r>
                        <a:rPr lang="es-ES" sz="900" dirty="0">
                          <a:solidFill>
                            <a:srgbClr val="4F81BD"/>
                          </a:solidFill>
                          <a:latin typeface="Calibri"/>
                          <a:ea typeface="Calibri"/>
                          <a:cs typeface="Calibri"/>
                          <a:sym typeface="Calibri"/>
                        </a:rPr>
                        <a:t> final </a:t>
                      </a:r>
                      <a:r>
                        <a:rPr lang="es-ES" sz="900" dirty="0" err="1">
                          <a:solidFill>
                            <a:srgbClr val="4F81BD"/>
                          </a:solidFill>
                          <a:latin typeface="Calibri"/>
                          <a:ea typeface="Calibri"/>
                          <a:cs typeface="Calibri"/>
                          <a:sym typeface="Calibri"/>
                        </a:rPr>
                        <a:t>Dotenv</a:t>
                      </a:r>
                      <a:r>
                        <a:rPr lang="es-ES" sz="900" dirty="0">
                          <a:solidFill>
                            <a:srgbClr val="4F81BD"/>
                          </a:solidFill>
                          <a:latin typeface="Calibri"/>
                          <a:ea typeface="Calibri"/>
                          <a:cs typeface="Calibri"/>
                          <a:sym typeface="Calibri"/>
                        </a:rPr>
                        <a:t> ENV = cargar();</a:t>
                      </a:r>
                    </a:p>
                    <a:p>
                      <a:pPr marL="0" lvl="0" indent="0" algn="l" rtl="0">
                        <a:spcBef>
                          <a:spcPts val="0"/>
                        </a:spcBef>
                        <a:spcAft>
                          <a:spcPts val="0"/>
                        </a:spcAft>
                        <a:buClr>
                          <a:schemeClr val="dk1"/>
                        </a:buClr>
                        <a:buSzPts val="1100"/>
                        <a:buFont typeface="Arial"/>
                        <a:buNone/>
                      </a:pPr>
                      <a:endParaRPr lang="es-ES" sz="9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RestConfig</a:t>
                      </a:r>
                      <a:r>
                        <a:rPr lang="es-ES" sz="900" dirty="0">
                          <a:solidFill>
                            <a:srgbClr val="4F81BD"/>
                          </a:solidFill>
                          <a:latin typeface="Calibri"/>
                          <a:ea typeface="Calibri"/>
                          <a:cs typeface="Calibri"/>
                          <a:sym typeface="Calibri"/>
                        </a:rPr>
                        <a:t>() { }</a:t>
                      </a:r>
                    </a:p>
                    <a:p>
                      <a:pPr marL="0" lvl="0" indent="0" algn="l" rtl="0">
                        <a:spcBef>
                          <a:spcPts val="0"/>
                        </a:spcBef>
                        <a:spcAft>
                          <a:spcPts val="0"/>
                        </a:spcAft>
                        <a:buClr>
                          <a:schemeClr val="dk1"/>
                        </a:buClr>
                        <a:buSzPts val="1100"/>
                        <a:buFont typeface="Arial"/>
                        <a:buNone/>
                      </a:pPr>
                      <a:endParaRPr lang="es-ES" sz="9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static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Dotenv</a:t>
                      </a:r>
                      <a:r>
                        <a:rPr lang="es-ES" sz="900" dirty="0">
                          <a:solidFill>
                            <a:srgbClr val="4F81BD"/>
                          </a:solidFill>
                          <a:latin typeface="Calibri"/>
                          <a:ea typeface="Calibri"/>
                          <a:cs typeface="Calibri"/>
                          <a:sym typeface="Calibri"/>
                        </a:rPr>
                        <a:t> cargar() {</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File archivo = </a:t>
                      </a:r>
                      <a:r>
                        <a:rPr lang="es-ES" sz="900" dirty="0" err="1">
                          <a:solidFill>
                            <a:srgbClr val="4F81BD"/>
                          </a:solidFill>
                          <a:latin typeface="Calibri"/>
                          <a:ea typeface="Calibri"/>
                          <a:cs typeface="Calibri"/>
                          <a:sym typeface="Calibri"/>
                        </a:rPr>
                        <a:t>ubicarArchivo</a:t>
                      </a:r>
                      <a:r>
                        <a:rPr lang="es-ES" sz="9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(archivo != </a:t>
                      </a:r>
                      <a:r>
                        <a:rPr lang="es-ES" sz="900" dirty="0" err="1">
                          <a:solidFill>
                            <a:srgbClr val="4F81BD"/>
                          </a:solidFill>
                          <a:latin typeface="Calibri"/>
                          <a:ea typeface="Calibri"/>
                          <a:cs typeface="Calibri"/>
                          <a:sym typeface="Calibri"/>
                        </a:rPr>
                        <a:t>null</a:t>
                      </a:r>
                      <a:r>
                        <a:rPr lang="es-ES" sz="9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Dotenv.configure</a:t>
                      </a:r>
                      <a:r>
                        <a:rPr lang="es-ES" sz="9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getParent</a:t>
                      </a:r>
                      <a:r>
                        <a:rPr lang="es-ES" sz="900" dirty="0">
                          <a:solidFill>
                            <a:srgbClr val="4F81BD"/>
                          </a:solidFill>
                          <a:latin typeface="Calibri"/>
                          <a:ea typeface="Calibri"/>
                          <a:cs typeface="Calibri"/>
                          <a:sym typeface="Calibri"/>
                        </a:rPr>
                        <a:t>() es </a:t>
                      </a:r>
                      <a:r>
                        <a:rPr lang="es-ES" sz="900" dirty="0" err="1">
                          <a:solidFill>
                            <a:srgbClr val="4F81BD"/>
                          </a:solidFill>
                          <a:latin typeface="Calibri"/>
                          <a:ea typeface="Calibri"/>
                          <a:cs typeface="Calibri"/>
                          <a:sym typeface="Calibri"/>
                        </a:rPr>
                        <a:t>null</a:t>
                      </a:r>
                      <a:r>
                        <a:rPr lang="es-ES" sz="900" dirty="0">
                          <a:solidFill>
                            <a:srgbClr val="4F81BD"/>
                          </a:solidFill>
                          <a:latin typeface="Calibri"/>
                          <a:ea typeface="Calibri"/>
                          <a:cs typeface="Calibri"/>
                          <a:sym typeface="Calibri"/>
                        </a:rPr>
                        <a:t> si el archivo se encuentra en el</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 directorio actual y fue creado con una ruta relativa.</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directory</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archivo.getAbsoluteFile</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getParent</a:t>
                      </a:r>
                      <a:r>
                        <a:rPr lang="es-ES" sz="9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filename</a:t>
                      </a:r>
                      <a:r>
                        <a:rPr lang="es-ES" sz="900" dirty="0">
                          <a:solidFill>
                            <a:srgbClr val="4F81BD"/>
                          </a:solidFill>
                          <a:latin typeface="Calibri"/>
                          <a:ea typeface="Calibri"/>
                          <a:cs typeface="Calibri"/>
                          <a:sym typeface="Calibri"/>
                        </a:rPr>
                        <a:t>(ARCHIVO_ENV)</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ignoreIfMissing</a:t>
                      </a:r>
                      <a:r>
                        <a:rPr lang="es-ES" sz="9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.load();</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Dotenv.configure</a:t>
                      </a:r>
                      <a:r>
                        <a:rPr lang="es-ES" sz="9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filename</a:t>
                      </a:r>
                      <a:r>
                        <a:rPr lang="es-ES" sz="900" dirty="0">
                          <a:solidFill>
                            <a:srgbClr val="4F81BD"/>
                          </a:solidFill>
                          <a:latin typeface="Calibri"/>
                          <a:ea typeface="Calibri"/>
                          <a:cs typeface="Calibri"/>
                          <a:sym typeface="Calibri"/>
                        </a:rPr>
                        <a:t>(ARCHIVO_ENV)</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ignoreIfMissing</a:t>
                      </a:r>
                      <a:r>
                        <a:rPr lang="es-ES" sz="9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.load();</a:t>
                      </a: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endParaRPr lang="es-ES" sz="9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28" name="Google Shape;328;p4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29" name="Google Shape;329;p41"/>
          <p:cNvGraphicFramePr/>
          <p:nvPr>
            <p:extLst>
              <p:ext uri="{D42A27DB-BD31-4B8C-83A1-F6EECF244321}">
                <p14:modId xmlns:p14="http://schemas.microsoft.com/office/powerpoint/2010/main" val="1719195741"/>
              </p:ext>
            </p:extLst>
          </p:nvPr>
        </p:nvGraphicFramePr>
        <p:xfrm>
          <a:off x="2964625" y="1876275"/>
          <a:ext cx="6062675" cy="50038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3566293">
                <a:tc>
                  <a:txBody>
                    <a:bodyPr/>
                    <a:lstStyle/>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requerido(</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clave)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valor = </a:t>
                      </a:r>
                      <a:r>
                        <a:rPr lang="es-ES" sz="1000" dirty="0" err="1">
                          <a:solidFill>
                            <a:srgbClr val="4F81BD"/>
                          </a:solidFill>
                          <a:latin typeface="Calibri"/>
                          <a:ea typeface="Calibri"/>
                          <a:cs typeface="Calibri"/>
                          <a:sym typeface="Calibri"/>
                        </a:rPr>
                        <a:t>ENV.get</a:t>
                      </a:r>
                      <a:r>
                        <a:rPr lang="es-ES" sz="1000" dirty="0">
                          <a:solidFill>
                            <a:srgbClr val="4F81BD"/>
                          </a:solidFill>
                          <a:latin typeface="Calibri"/>
                          <a:ea typeface="Calibri"/>
                          <a:cs typeface="Calibri"/>
                          <a:sym typeface="Calibri"/>
                        </a:rPr>
                        <a:t>(clave);</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(valor == </a:t>
                      </a:r>
                      <a:r>
                        <a:rPr lang="es-ES" sz="1000" dirty="0" err="1">
                          <a:solidFill>
                            <a:srgbClr val="4F81BD"/>
                          </a:solidFill>
                          <a:latin typeface="Calibri"/>
                          <a:ea typeface="Calibri"/>
                          <a:cs typeface="Calibri"/>
                          <a:sym typeface="Calibri"/>
                        </a:rPr>
                        <a:t>null</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valor.isBlank</a:t>
                      </a: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throw</a:t>
                      </a: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IllegalStateException</a:t>
                      </a:r>
                      <a:r>
                        <a:rPr lang="es-ES" sz="1000" dirty="0">
                          <a:solidFill>
                            <a:srgbClr val="4F81BD"/>
                          </a:solidFill>
                          <a:latin typeface="Calibri"/>
                          <a:ea typeface="Calibri"/>
                          <a:cs typeface="Calibri"/>
                          <a:sym typeface="Calibri"/>
                        </a:rPr>
                        <a:t>("Falta la variable '" + clave + "' en " + ARCHIVO_ENV);</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valor;</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baseUrl</a:t>
                      </a: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requerido("RESTFUL_PROTOCOL") +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 requerido("RESTFUL_HOST") +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 requerido("RESTFUL_PORT")</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 requerido("RESTFUL_API");</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endpointAutenticacion</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requerido("ENDPOINT_AUTENTICACION");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endpointConvertirLongitud</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requerido("ENDPOINT_CONVERSION_LONGITUD");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endpointConvertirTemperatura</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requerido("ENDPOINT_CONVERSION_TEMPERATURA");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endpointConvertirMasa</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requerido("ENDPOINT_CONVERSION_MASA"); }</a:t>
                      </a:r>
                    </a:p>
                    <a:p>
                      <a:pPr marL="0" lvl="0" indent="0" algn="l" rtl="0">
                        <a:spcBef>
                          <a:spcPts val="0"/>
                        </a:spcBef>
                        <a:spcAft>
                          <a:spcPts val="0"/>
                        </a:spcAft>
                        <a:buClr>
                          <a:schemeClr val="dk1"/>
                        </a:buClr>
                        <a:buSzPts val="1100"/>
                        <a:buFont typeface="Arial"/>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int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connectTimeout</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entero("RESTFUL_CONNECT_TIMEOUT");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int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readTimeout</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entero("RESTFUL_READ_TIMEOUT");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boolean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insecureTls</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Boolean.parseBoolean</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ENV.get</a:t>
                      </a:r>
                      <a:r>
                        <a:rPr lang="es-ES" sz="1000" dirty="0">
                          <a:solidFill>
                            <a:srgbClr val="4F81BD"/>
                          </a:solidFill>
                          <a:latin typeface="Calibri"/>
                          <a:ea typeface="Calibri"/>
                          <a:cs typeface="Calibri"/>
                          <a:sym typeface="Calibri"/>
                        </a:rPr>
                        <a:t>("RESTFUL_INSECURE_TLS", "false")); }</a:t>
                      </a:r>
                    </a:p>
                    <a:p>
                      <a:pPr marL="0" lvl="0" indent="0" algn="l" rtl="0">
                        <a:spcBef>
                          <a:spcPts val="0"/>
                        </a:spcBef>
                        <a:spcAft>
                          <a:spcPts val="0"/>
                        </a:spcAft>
                        <a:buClr>
                          <a:schemeClr val="dk1"/>
                        </a:buClr>
                        <a:buSzPts val="1100"/>
                        <a:buFont typeface="Arial"/>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int</a:t>
                      </a:r>
                      <a:r>
                        <a:rPr lang="es-ES" sz="1000" dirty="0">
                          <a:solidFill>
                            <a:srgbClr val="4F81BD"/>
                          </a:solidFill>
                          <a:latin typeface="Calibri"/>
                          <a:ea typeface="Calibri"/>
                          <a:cs typeface="Calibri"/>
                          <a:sym typeface="Calibri"/>
                        </a:rPr>
                        <a:t> entero(</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clave)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try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Integer.parseInt</a:t>
                      </a:r>
                      <a:r>
                        <a:rPr lang="es-ES" sz="1000" dirty="0">
                          <a:solidFill>
                            <a:srgbClr val="4F81BD"/>
                          </a:solidFill>
                          <a:latin typeface="Calibri"/>
                          <a:ea typeface="Calibri"/>
                          <a:cs typeface="Calibri"/>
                          <a:sym typeface="Calibri"/>
                        </a:rPr>
                        <a:t>(requerido(clave));</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 catch (</a:t>
                      </a:r>
                      <a:r>
                        <a:rPr lang="es-ES" sz="1000" dirty="0" err="1">
                          <a:solidFill>
                            <a:srgbClr val="4F81BD"/>
                          </a:solidFill>
                          <a:latin typeface="Calibri"/>
                          <a:ea typeface="Calibri"/>
                          <a:cs typeface="Calibri"/>
                          <a:sym typeface="Calibri"/>
                        </a:rPr>
                        <a:t>NumberFormatException</a:t>
                      </a:r>
                      <a:r>
                        <a:rPr lang="es-ES" sz="1000" dirty="0">
                          <a:solidFill>
                            <a:srgbClr val="4F81BD"/>
                          </a:solidFill>
                          <a:latin typeface="Calibri"/>
                          <a:ea typeface="Calibri"/>
                          <a:cs typeface="Calibri"/>
                          <a:sym typeface="Calibri"/>
                        </a:rPr>
                        <a:t> ex)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throw</a:t>
                      </a: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IllegalStateException</a:t>
                      </a:r>
                      <a:r>
                        <a:rPr lang="es-ES" sz="1000" dirty="0">
                          <a:solidFill>
                            <a:srgbClr val="4F81BD"/>
                          </a:solidFill>
                          <a:latin typeface="Calibri"/>
                          <a:ea typeface="Calibri"/>
                          <a:cs typeface="Calibri"/>
                          <a:sym typeface="Calibri"/>
                        </a:rPr>
                        <a:t>("La variable '" + clave + "' debe ser un entero", ex);</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txBody>
                  <a:tcPr marL="63500" marR="63500" marT="63500" marB="63500"/>
                </a:tc>
                <a:extLst>
                  <a:ext uri="{0D108BD9-81ED-4DB2-BD59-A6C34878D82A}">
                    <a16:rowId xmlns:a16="http://schemas.microsoft.com/office/drawing/2014/main" val="10000"/>
                  </a:ext>
                </a:extLst>
              </a:tr>
            </a:tbl>
          </a:graphicData>
        </a:graphic>
      </p:graphicFrame>
      <p:sp>
        <p:nvSpPr>
          <p:cNvPr id="5" name="Google Shape;319;p40">
            <a:extLst>
              <a:ext uri="{FF2B5EF4-FFF2-40B4-BE49-F238E27FC236}">
                <a16:creationId xmlns:a16="http://schemas.microsoft.com/office/drawing/2014/main" id="{2348F5FA-412C-637F-1F87-8B5060DD5713}"/>
              </a:ext>
            </a:extLst>
          </p:cNvPr>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36" name="Google Shape;336;p4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37" name="Google Shape;337;p42"/>
          <p:cNvGraphicFramePr/>
          <p:nvPr>
            <p:extLst>
              <p:ext uri="{D42A27DB-BD31-4B8C-83A1-F6EECF244321}">
                <p14:modId xmlns:p14="http://schemas.microsoft.com/office/powerpoint/2010/main" val="3920602767"/>
              </p:ext>
            </p:extLst>
          </p:nvPr>
        </p:nvGraphicFramePr>
        <p:xfrm>
          <a:off x="3258803" y="3352738"/>
          <a:ext cx="5439425" cy="1748374"/>
        </p:xfrm>
        <a:graphic>
          <a:graphicData uri="http://schemas.openxmlformats.org/drawingml/2006/table">
            <a:tbl>
              <a:tblPr>
                <a:noFill/>
                <a:tableStyleId>{BF136021-7255-42B7-A7E7-87A8D8FFE9CA}</a:tableStyleId>
              </a:tblPr>
              <a:tblGrid>
                <a:gridCol w="5439425">
                  <a:extLst>
                    <a:ext uri="{9D8B030D-6E8A-4147-A177-3AD203B41FA5}">
                      <a16:colId xmlns:a16="http://schemas.microsoft.com/office/drawing/2014/main" val="20000"/>
                    </a:ext>
                  </a:extLst>
                </a:gridCol>
              </a:tblGrid>
              <a:tr h="1748374">
                <a:tc>
                  <a:txBody>
                    <a:bodyPr/>
                    <a:lstStyle/>
                    <a:p>
                      <a:pPr marL="0" lvl="0" indent="0" algn="l" rtl="0">
                        <a:spcBef>
                          <a:spcPts val="0"/>
                        </a:spcBef>
                        <a:spcAft>
                          <a:spcPts val="0"/>
                        </a:spcAft>
                        <a:buClr>
                          <a:schemeClr val="dk1"/>
                        </a:buClr>
                        <a:buSzPts val="1100"/>
                        <a:buFont typeface="Arial"/>
                        <a:buNone/>
                      </a:pPr>
                      <a:r>
                        <a:rPr lang="es-ES" sz="1100" dirty="0" err="1">
                          <a:solidFill>
                            <a:srgbClr val="4F81BD"/>
                          </a:solidFill>
                          <a:latin typeface="Calibri"/>
                          <a:ea typeface="Calibri"/>
                          <a:cs typeface="Calibri"/>
                          <a:sym typeface="Calibri"/>
                        </a:rPr>
                        <a:t>package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ec.edu.monster.modelos</a:t>
                      </a: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record</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ResultadoConversion</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double</a:t>
                      </a:r>
                      <a:r>
                        <a:rPr lang="es-ES" sz="1100" dirty="0">
                          <a:solidFill>
                            <a:srgbClr val="4F81BD"/>
                          </a:solidFill>
                          <a:latin typeface="Calibri"/>
                          <a:ea typeface="Calibri"/>
                          <a:cs typeface="Calibri"/>
                          <a:sym typeface="Calibri"/>
                        </a:rPr>
                        <a:t> valor,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unidadOrigen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unidadDestino</a:t>
                      </a: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double</a:t>
                      </a:r>
                      <a:r>
                        <a:rPr lang="es-ES" sz="1100" dirty="0">
                          <a:solidFill>
                            <a:srgbClr val="4F81BD"/>
                          </a:solidFill>
                          <a:latin typeface="Calibri"/>
                          <a:ea typeface="Calibri"/>
                          <a:cs typeface="Calibri"/>
                          <a:sym typeface="Calibri"/>
                        </a:rPr>
                        <a:t> resultado) { }</a:t>
                      </a:r>
                    </a:p>
                    <a:p>
                      <a:pPr marL="0" lvl="0" indent="0" algn="l" rtl="0">
                        <a:spcBef>
                          <a:spcPts val="0"/>
                        </a:spcBef>
                        <a:spcAft>
                          <a:spcPts val="0"/>
                        </a:spcAft>
                        <a:buNone/>
                      </a:pP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CB1440CD-484E-713C-F3FF-CC800025A4E3}"/>
              </a:ext>
            </a:extLst>
          </p:cNvPr>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43" name="Google Shape;343;p43"/>
          <p:cNvSpPr txBox="1">
            <a:spLocks noGrp="1"/>
          </p:cNvSpPr>
          <p:nvPr>
            <p:ph type="body" idx="1"/>
          </p:nvPr>
        </p:nvSpPr>
        <p:spPr>
          <a:xfrm>
            <a:off x="830650" y="2141151"/>
            <a:ext cx="7742247" cy="906849"/>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MX" sz="1400" dirty="0">
                <a:solidFill>
                  <a:schemeClr val="dk1"/>
                </a:solidFill>
                <a:latin typeface="Calibri"/>
                <a:ea typeface="Calibri"/>
                <a:cs typeface="Calibri"/>
                <a:sym typeface="Calibri"/>
              </a:rPr>
              <a:t>Se </a:t>
            </a:r>
            <a:r>
              <a:rPr lang="es-MX" sz="1400" dirty="0" err="1">
                <a:solidFill>
                  <a:schemeClr val="dk1"/>
                </a:solidFill>
                <a:latin typeface="Calibri"/>
                <a:ea typeface="Calibri"/>
                <a:cs typeface="Calibri"/>
                <a:sym typeface="Calibri"/>
              </a:rPr>
              <a:t>debrá</a:t>
            </a:r>
            <a:r>
              <a:rPr lang="es-MX" sz="1400" dirty="0">
                <a:solidFill>
                  <a:schemeClr val="dk1"/>
                </a:solidFill>
                <a:latin typeface="Calibri"/>
                <a:ea typeface="Calibri"/>
                <a:cs typeface="Calibri"/>
                <a:sym typeface="Calibri"/>
              </a:rPr>
              <a:t> configurar un archivo .</a:t>
            </a:r>
            <a:r>
              <a:rPr lang="es-MX" sz="1400" dirty="0" err="1">
                <a:solidFill>
                  <a:schemeClr val="dk1"/>
                </a:solidFill>
                <a:latin typeface="Calibri"/>
                <a:ea typeface="Calibri"/>
                <a:cs typeface="Calibri"/>
                <a:sym typeface="Calibri"/>
              </a:rPr>
              <a:t>development.env</a:t>
            </a:r>
            <a:r>
              <a:rPr lang="es-MX" sz="1400" dirty="0">
                <a:solidFill>
                  <a:schemeClr val="dk1"/>
                </a:solidFill>
                <a:latin typeface="Calibri"/>
                <a:ea typeface="Calibri"/>
                <a:cs typeface="Calibri"/>
                <a:sym typeface="Calibri"/>
              </a:rPr>
              <a:t> para tener los </a:t>
            </a:r>
            <a:r>
              <a:rPr lang="es-MX" sz="1400" dirty="0" err="1">
                <a:solidFill>
                  <a:schemeClr val="dk1"/>
                </a:solidFill>
                <a:latin typeface="Calibri"/>
                <a:ea typeface="Calibri"/>
                <a:cs typeface="Calibri"/>
                <a:sym typeface="Calibri"/>
              </a:rPr>
              <a:t>endpoints</a:t>
            </a:r>
            <a:r>
              <a:rPr lang="es-MX" sz="1400" dirty="0">
                <a:solidFill>
                  <a:schemeClr val="dk1"/>
                </a:solidFill>
                <a:latin typeface="Calibri"/>
                <a:ea typeface="Calibri"/>
                <a:cs typeface="Calibri"/>
                <a:sym typeface="Calibri"/>
              </a:rPr>
              <a:t> y la configuración de conexión entre el WS y el cliente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dirty="0">
              <a:latin typeface="Cambria"/>
              <a:ea typeface="Cambria"/>
              <a:cs typeface="Cambria"/>
              <a:sym typeface="Cambria"/>
            </a:endParaRPr>
          </a:p>
        </p:txBody>
      </p:sp>
      <p:sp>
        <p:nvSpPr>
          <p:cNvPr id="344" name="Google Shape;344;p4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46" name="Google Shape;346;p43"/>
          <p:cNvGraphicFramePr/>
          <p:nvPr>
            <p:extLst>
              <p:ext uri="{D42A27DB-BD31-4B8C-83A1-F6EECF244321}">
                <p14:modId xmlns:p14="http://schemas.microsoft.com/office/powerpoint/2010/main" val="2392305764"/>
              </p:ext>
            </p:extLst>
          </p:nvPr>
        </p:nvGraphicFramePr>
        <p:xfrm>
          <a:off x="1538726" y="3164758"/>
          <a:ext cx="6326093" cy="3479800"/>
        </p:xfrm>
        <a:graphic>
          <a:graphicData uri="http://schemas.openxmlformats.org/drawingml/2006/table">
            <a:tbl>
              <a:tblPr>
                <a:noFill/>
                <a:tableStyleId>{BF136021-7255-42B7-A7E7-87A8D8FFE9CA}</a:tableStyleId>
              </a:tblPr>
              <a:tblGrid>
                <a:gridCol w="6326093">
                  <a:extLst>
                    <a:ext uri="{9D8B030D-6E8A-4147-A177-3AD203B41FA5}">
                      <a16:colId xmlns:a16="http://schemas.microsoft.com/office/drawing/2014/main" val="20000"/>
                    </a:ext>
                  </a:extLst>
                </a:gridCol>
              </a:tblGrid>
              <a:tr h="1272407">
                <a:tc>
                  <a:txBody>
                    <a:bodyPr/>
                    <a:lstStyle/>
                    <a:p>
                      <a:pPr marL="0" lvl="0" indent="0" algn="l" rtl="0">
                        <a:spcBef>
                          <a:spcPts val="0"/>
                        </a:spcBef>
                        <a:spcAft>
                          <a:spcPts val="0"/>
                        </a:spcAft>
                        <a:buNone/>
                      </a:pPr>
                      <a:r>
                        <a:rPr lang="es-ES" sz="1100" dirty="0">
                          <a:solidFill>
                            <a:srgbClr val="4F81BD"/>
                          </a:solidFill>
                          <a:latin typeface="Calibri"/>
                          <a:ea typeface="Calibri"/>
                          <a:cs typeface="Calibri"/>
                          <a:sym typeface="Calibri"/>
                        </a:rPr>
                        <a:t># Dirección base del servidor </a:t>
                      </a:r>
                      <a:r>
                        <a:rPr lang="es-ES" sz="1100" dirty="0" err="1">
                          <a:solidFill>
                            <a:srgbClr val="4F81BD"/>
                          </a:solidFill>
                          <a:latin typeface="Calibri"/>
                          <a:ea typeface="Calibri"/>
                          <a:cs typeface="Calibri"/>
                          <a:sym typeface="Calibri"/>
                        </a:rPr>
                        <a:t>RESTful</a:t>
                      </a:r>
                      <a:r>
                        <a:rPr lang="es-ES" sz="1100" dirty="0">
                          <a:solidFill>
                            <a:srgbClr val="4F81BD"/>
                          </a:solidFill>
                          <a:latin typeface="Calibri"/>
                          <a:ea typeface="Calibri"/>
                          <a:cs typeface="Calibri"/>
                          <a:sym typeface="Calibri"/>
                        </a:rPr>
                        <a:t> desplegado en Payara.</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RESTFUL_PROTOCOL=http</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RESTFUL_HOST=127.0.0.1</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RESTFUL_PORT=9080</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RESTFUL_API=/CONV_REST_JAVA/api</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Rutas de la API </a:t>
                      </a:r>
                      <a:r>
                        <a:rPr lang="es-ES" sz="1100" dirty="0" err="1">
                          <a:solidFill>
                            <a:srgbClr val="4F81BD"/>
                          </a:solidFill>
                          <a:latin typeface="Calibri"/>
                          <a:ea typeface="Calibri"/>
                          <a:cs typeface="Calibri"/>
                          <a:sym typeface="Calibri"/>
                        </a:rPr>
                        <a:t>RESTful</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ENDPOINT_AUTENTICACION=/</a:t>
                      </a:r>
                      <a:r>
                        <a:rPr lang="es-ES" sz="1100" dirty="0" err="1">
                          <a:solidFill>
                            <a:srgbClr val="4F81BD"/>
                          </a:solidFill>
                          <a:latin typeface="Calibri"/>
                          <a:ea typeface="Calibri"/>
                          <a:cs typeface="Calibri"/>
                          <a:sym typeface="Calibri"/>
                        </a:rPr>
                        <a:t>autenticacion</a:t>
                      </a:r>
                      <a:r>
                        <a:rPr lang="es-ES" sz="1100" dirty="0">
                          <a:solidFill>
                            <a:srgbClr val="4F81BD"/>
                          </a:solidFill>
                          <a:latin typeface="Calibri"/>
                          <a:ea typeface="Calibri"/>
                          <a:cs typeface="Calibri"/>
                          <a:sym typeface="Calibri"/>
                        </a:rPr>
                        <a:t>/iniciar-</a:t>
                      </a:r>
                      <a:r>
                        <a:rPr lang="es-ES" sz="1100" dirty="0" err="1">
                          <a:solidFill>
                            <a:srgbClr val="4F81BD"/>
                          </a:solidFill>
                          <a:latin typeface="Calibri"/>
                          <a:ea typeface="Calibri"/>
                          <a:cs typeface="Calibri"/>
                          <a:sym typeface="Calibri"/>
                        </a:rPr>
                        <a:t>sesion</a:t>
                      </a: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ENDPOINT_CONVERSION_LONGITUD=/</a:t>
                      </a:r>
                      <a:r>
                        <a:rPr lang="es-ES" sz="1100" dirty="0" err="1">
                          <a:solidFill>
                            <a:srgbClr val="4F81BD"/>
                          </a:solidFill>
                          <a:latin typeface="Calibri"/>
                          <a:ea typeface="Calibri"/>
                          <a:cs typeface="Calibri"/>
                          <a:sym typeface="Calibri"/>
                        </a:rPr>
                        <a:t>conversion</a:t>
                      </a:r>
                      <a:r>
                        <a:rPr lang="es-ES" sz="1100" dirty="0">
                          <a:solidFill>
                            <a:srgbClr val="4F81BD"/>
                          </a:solidFill>
                          <a:latin typeface="Calibri"/>
                          <a:ea typeface="Calibri"/>
                          <a:cs typeface="Calibri"/>
                          <a:sym typeface="Calibri"/>
                        </a:rPr>
                        <a:t>/longitud</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ENDPOINT_CONVERSION_TEMPERATURA=/</a:t>
                      </a:r>
                      <a:r>
                        <a:rPr lang="es-ES" sz="1100" dirty="0" err="1">
                          <a:solidFill>
                            <a:srgbClr val="4F81BD"/>
                          </a:solidFill>
                          <a:latin typeface="Calibri"/>
                          <a:ea typeface="Calibri"/>
                          <a:cs typeface="Calibri"/>
                          <a:sym typeface="Calibri"/>
                        </a:rPr>
                        <a:t>conversion</a:t>
                      </a:r>
                      <a:r>
                        <a:rPr lang="es-ES" sz="1100" dirty="0">
                          <a:solidFill>
                            <a:srgbClr val="4F81BD"/>
                          </a:solidFill>
                          <a:latin typeface="Calibri"/>
                          <a:ea typeface="Calibri"/>
                          <a:cs typeface="Calibri"/>
                          <a:sym typeface="Calibri"/>
                        </a:rPr>
                        <a:t>/temperatura</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ENDPOINT_CONVERSION_MASA=/</a:t>
                      </a:r>
                      <a:r>
                        <a:rPr lang="es-ES" sz="1100" dirty="0" err="1">
                          <a:solidFill>
                            <a:srgbClr val="4F81BD"/>
                          </a:solidFill>
                          <a:latin typeface="Calibri"/>
                          <a:ea typeface="Calibri"/>
                          <a:cs typeface="Calibri"/>
                          <a:sym typeface="Calibri"/>
                        </a:rPr>
                        <a:t>conversion</a:t>
                      </a:r>
                      <a:r>
                        <a:rPr lang="es-ES" sz="1100" dirty="0">
                          <a:solidFill>
                            <a:srgbClr val="4F81BD"/>
                          </a:solidFill>
                          <a:latin typeface="Calibri"/>
                          <a:ea typeface="Calibri"/>
                          <a:cs typeface="Calibri"/>
                          <a:sym typeface="Calibri"/>
                        </a:rPr>
                        <a:t>/masa</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Tiempos máximos de conexión y respuesta, en milisegundos.</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RESTFUL_CONNECT_TIMEOUT=10000</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RESTFUL_READ_TIMEOUT=10000</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El servidor local usa HTTP; solo usar true con HTTPS y certificados de desarrollo.</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RESTFUL_INSECURE_TLS=false</a:t>
                      </a:r>
                    </a:p>
                    <a:p>
                      <a:pPr marL="0" lvl="0" indent="0" algn="l" rtl="0">
                        <a:spcBef>
                          <a:spcPts val="0"/>
                        </a:spcBef>
                        <a:spcAft>
                          <a:spcPts val="0"/>
                        </a:spcAft>
                        <a:buNone/>
                      </a:pPr>
                      <a:endParaRPr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53" name="Google Shape;353;p4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54" name="Google Shape;354;p44"/>
          <p:cNvGraphicFramePr/>
          <p:nvPr>
            <p:extLst>
              <p:ext uri="{D42A27DB-BD31-4B8C-83A1-F6EECF244321}">
                <p14:modId xmlns:p14="http://schemas.microsoft.com/office/powerpoint/2010/main" val="2423208586"/>
              </p:ext>
            </p:extLst>
          </p:nvPr>
        </p:nvGraphicFramePr>
        <p:xfrm>
          <a:off x="3167783" y="1861228"/>
          <a:ext cx="4518120" cy="4851400"/>
        </p:xfrm>
        <a:graphic>
          <a:graphicData uri="http://schemas.openxmlformats.org/drawingml/2006/table">
            <a:tbl>
              <a:tblPr>
                <a:noFill/>
                <a:tableStyleId>{BF136021-7255-42B7-A7E7-87A8D8FFE9CA}</a:tableStyleId>
              </a:tblPr>
              <a:tblGrid>
                <a:gridCol w="4518120">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class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LoginController</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final </a:t>
                      </a:r>
                      <a:r>
                        <a:rPr lang="es-ES" sz="1000" dirty="0" err="1">
                          <a:solidFill>
                            <a:srgbClr val="4F81BD"/>
                          </a:solidFill>
                          <a:latin typeface="Calibri"/>
                          <a:ea typeface="Calibri"/>
                          <a:cs typeface="Calibri"/>
                          <a:sym typeface="Calibri"/>
                        </a:rPr>
                        <a:t>ConsolaVista</a:t>
                      </a:r>
                      <a:r>
                        <a:rPr lang="es-ES" sz="1000" dirty="0">
                          <a:solidFill>
                            <a:srgbClr val="4F81BD"/>
                          </a:solidFill>
                          <a:latin typeface="Calibri"/>
                          <a:ea typeface="Calibri"/>
                          <a:cs typeface="Calibri"/>
                          <a:sym typeface="Calibri"/>
                        </a:rPr>
                        <a:t> vista;</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final </a:t>
                      </a:r>
                      <a:r>
                        <a:rPr lang="es-ES" sz="1000" dirty="0" err="1">
                          <a:solidFill>
                            <a:srgbClr val="4F81BD"/>
                          </a:solidFill>
                          <a:latin typeface="Calibri"/>
                          <a:ea typeface="Calibri"/>
                          <a:cs typeface="Calibri"/>
                          <a:sym typeface="Calibri"/>
                        </a:rPr>
                        <a:t>WSConversorCliente</a:t>
                      </a:r>
                      <a:r>
                        <a:rPr lang="es-ES" sz="1000" dirty="0">
                          <a:solidFill>
                            <a:srgbClr val="4F81BD"/>
                          </a:solidFill>
                          <a:latin typeface="Calibri"/>
                          <a:ea typeface="Calibri"/>
                          <a:cs typeface="Calibri"/>
                          <a:sym typeface="Calibri"/>
                        </a:rPr>
                        <a:t> cliente;</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LoginController</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ConsolaVista</a:t>
                      </a:r>
                      <a:r>
                        <a:rPr lang="es-ES" sz="1000" dirty="0">
                          <a:solidFill>
                            <a:srgbClr val="4F81BD"/>
                          </a:solidFill>
                          <a:latin typeface="Calibri"/>
                          <a:ea typeface="Calibri"/>
                          <a:cs typeface="Calibri"/>
                          <a:sym typeface="Calibri"/>
                        </a:rPr>
                        <a:t> vista, </a:t>
                      </a:r>
                      <a:r>
                        <a:rPr lang="es-ES" sz="1000" dirty="0" err="1">
                          <a:solidFill>
                            <a:srgbClr val="4F81BD"/>
                          </a:solidFill>
                          <a:latin typeface="Calibri"/>
                          <a:ea typeface="Calibri"/>
                          <a:cs typeface="Calibri"/>
                          <a:sym typeface="Calibri"/>
                        </a:rPr>
                        <a:t>WSConversorCliente</a:t>
                      </a:r>
                      <a:r>
                        <a:rPr lang="es-ES" sz="1000" dirty="0">
                          <a:solidFill>
                            <a:srgbClr val="4F81BD"/>
                          </a:solidFill>
                          <a:latin typeface="Calibri"/>
                          <a:ea typeface="Calibri"/>
                          <a:cs typeface="Calibri"/>
                          <a:sym typeface="Calibri"/>
                        </a:rPr>
                        <a:t> cliente)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this.vista</a:t>
                      </a:r>
                      <a:r>
                        <a:rPr lang="es-ES" sz="1000" dirty="0">
                          <a:solidFill>
                            <a:srgbClr val="4F81BD"/>
                          </a:solidFill>
                          <a:latin typeface="Calibri"/>
                          <a:ea typeface="Calibri"/>
                          <a:cs typeface="Calibri"/>
                          <a:sym typeface="Calibri"/>
                        </a:rPr>
                        <a:t> = vista;</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this.cliente</a:t>
                      </a:r>
                      <a:r>
                        <a:rPr lang="es-ES" sz="1000" dirty="0">
                          <a:solidFill>
                            <a:srgbClr val="4F81BD"/>
                          </a:solidFill>
                          <a:latin typeface="Calibri"/>
                          <a:ea typeface="Calibri"/>
                          <a:cs typeface="Calibri"/>
                          <a:sym typeface="Calibri"/>
                        </a:rPr>
                        <a:t> = cliente;</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boolean</a:t>
                      </a:r>
                      <a:r>
                        <a:rPr lang="es-ES" sz="1000" dirty="0">
                          <a:solidFill>
                            <a:srgbClr val="4F81BD"/>
                          </a:solidFill>
                          <a:latin typeface="Calibri"/>
                          <a:ea typeface="Calibri"/>
                          <a:cs typeface="Calibri"/>
                          <a:sym typeface="Calibri"/>
                        </a:rPr>
                        <a:t> autenticar()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vista.mostrarMensaje</a:t>
                      </a:r>
                      <a:r>
                        <a:rPr lang="es-ES" sz="1000" dirty="0">
                          <a:solidFill>
                            <a:srgbClr val="4F81BD"/>
                          </a:solidFill>
                          <a:latin typeface="Calibri"/>
                          <a:ea typeface="Calibri"/>
                          <a:cs typeface="Calibri"/>
                          <a:sym typeface="Calibri"/>
                        </a:rPr>
                        <a:t>("\n--- Inicio de sesión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usuario = </a:t>
                      </a:r>
                      <a:r>
                        <a:rPr lang="es-ES" sz="1000" dirty="0" err="1">
                          <a:solidFill>
                            <a:srgbClr val="4F81BD"/>
                          </a:solidFill>
                          <a:latin typeface="Calibri"/>
                          <a:ea typeface="Calibri"/>
                          <a:cs typeface="Calibri"/>
                          <a:sym typeface="Calibri"/>
                        </a:rPr>
                        <a:t>vista.solicitarTexto</a:t>
                      </a:r>
                      <a:r>
                        <a:rPr lang="es-ES" sz="1000" dirty="0">
                          <a:solidFill>
                            <a:srgbClr val="4F81BD"/>
                          </a:solidFill>
                          <a:latin typeface="Calibri"/>
                          <a:ea typeface="Calibri"/>
                          <a:cs typeface="Calibri"/>
                          <a:sym typeface="Calibri"/>
                        </a:rPr>
                        <a:t>("Usuario: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contrasenia</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vista.solicitarContrasenia</a:t>
                      </a:r>
                      <a:r>
                        <a:rPr lang="es-ES" sz="1000" dirty="0">
                          <a:solidFill>
                            <a:srgbClr val="4F81BD"/>
                          </a:solidFill>
                          <a:latin typeface="Calibri"/>
                          <a:ea typeface="Calibri"/>
                          <a:cs typeface="Calibri"/>
                          <a:sym typeface="Calibri"/>
                        </a:rPr>
                        <a:t>("Contraseña: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usuario.isBlank</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contrasenia.isBlank</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vista.mostrarError</a:t>
                      </a:r>
                      <a:r>
                        <a:rPr lang="es-ES" sz="1000" dirty="0">
                          <a:solidFill>
                            <a:srgbClr val="4F81BD"/>
                          </a:solidFill>
                          <a:latin typeface="Calibri"/>
                          <a:ea typeface="Calibri"/>
                          <a:cs typeface="Calibri"/>
                          <a:sym typeface="Calibri"/>
                        </a:rPr>
                        <a:t>("El usuario y la contraseña son obligatorios.");</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false;</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try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cliente.login</a:t>
                      </a:r>
                      <a:r>
                        <a:rPr lang="es-ES" sz="1000" dirty="0">
                          <a:solidFill>
                            <a:srgbClr val="4F81BD"/>
                          </a:solidFill>
                          <a:latin typeface="Calibri"/>
                          <a:ea typeface="Calibri"/>
                          <a:cs typeface="Calibri"/>
                          <a:sym typeface="Calibri"/>
                        </a:rPr>
                        <a:t>(usuario, </a:t>
                      </a:r>
                      <a:r>
                        <a:rPr lang="es-ES" sz="1000" dirty="0" err="1">
                          <a:solidFill>
                            <a:srgbClr val="4F81BD"/>
                          </a:solidFill>
                          <a:latin typeface="Calibri"/>
                          <a:ea typeface="Calibri"/>
                          <a:cs typeface="Calibri"/>
                          <a:sym typeface="Calibri"/>
                        </a:rPr>
                        <a:t>contrasenia</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vista.mostrarError</a:t>
                      </a:r>
                      <a:r>
                        <a:rPr lang="es-ES" sz="1000" dirty="0">
                          <a:solidFill>
                            <a:srgbClr val="4F81BD"/>
                          </a:solidFill>
                          <a:latin typeface="Calibri"/>
                          <a:ea typeface="Calibri"/>
                          <a:cs typeface="Calibri"/>
                          <a:sym typeface="Calibri"/>
                        </a:rPr>
                        <a:t>("Credenciales inválidas. Verifique su usuario y contraseña.");</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false;</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catch (</a:t>
                      </a:r>
                      <a:r>
                        <a:rPr lang="es-ES" sz="1000" dirty="0" err="1">
                          <a:solidFill>
                            <a:srgbClr val="4F81BD"/>
                          </a:solidFill>
                          <a:latin typeface="Calibri"/>
                          <a:ea typeface="Calibri"/>
                          <a:cs typeface="Calibri"/>
                          <a:sym typeface="Calibri"/>
                        </a:rPr>
                        <a:t>ExcepcionServicio</a:t>
                      </a:r>
                      <a:r>
                        <a:rPr lang="es-ES" sz="1000" dirty="0">
                          <a:solidFill>
                            <a:srgbClr val="4F81BD"/>
                          </a:solidFill>
                          <a:latin typeface="Calibri"/>
                          <a:ea typeface="Calibri"/>
                          <a:cs typeface="Calibri"/>
                          <a:sym typeface="Calibri"/>
                        </a:rPr>
                        <a:t> ex)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vista.mostrarError</a:t>
                      </a:r>
                      <a:r>
                        <a:rPr lang="es-ES" sz="1000" dirty="0">
                          <a:solidFill>
                            <a:srgbClr val="4F81BD"/>
                          </a:solidFill>
                          <a:latin typeface="Calibri"/>
                          <a:ea typeface="Calibri"/>
                          <a:cs typeface="Calibri"/>
                          <a:sym typeface="Calibri"/>
                        </a:rPr>
                        <a:t>("No se pudo iniciar sesión: " + </a:t>
                      </a:r>
                      <a:r>
                        <a:rPr lang="es-ES" sz="1000" dirty="0" err="1">
                          <a:solidFill>
                            <a:srgbClr val="4F81BD"/>
                          </a:solidFill>
                          <a:latin typeface="Calibri"/>
                          <a:ea typeface="Calibri"/>
                          <a:cs typeface="Calibri"/>
                          <a:sym typeface="Calibri"/>
                        </a:rPr>
                        <a:t>ex.getMessage</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false;</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vista.mostrarMensaje</a:t>
                      </a:r>
                      <a:r>
                        <a:rPr lang="es-ES" sz="1000" dirty="0">
                          <a:solidFill>
                            <a:srgbClr val="4F81BD"/>
                          </a:solidFill>
                          <a:latin typeface="Calibri"/>
                          <a:ea typeface="Calibri"/>
                          <a:cs typeface="Calibri"/>
                          <a:sym typeface="Calibri"/>
                        </a:rPr>
                        <a:t>("Sesión iniciada correctamente.");</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true;</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C9AFB88C-A432-9504-50B3-CFBB6EF109C1}"/>
              </a:ext>
            </a:extLst>
          </p:cNvPr>
          <p:cNvSpPr txBox="1">
            <a:spLocks/>
          </p:cNvSpPr>
          <p:nvPr/>
        </p:nvSpPr>
        <p:spPr>
          <a:xfrm>
            <a:off x="-89075" y="1826848"/>
            <a:ext cx="2354480" cy="47013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62" name="Google Shape;362;p4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63" name="Google Shape;363;p45"/>
          <p:cNvGraphicFramePr/>
          <p:nvPr>
            <p:extLst>
              <p:ext uri="{D42A27DB-BD31-4B8C-83A1-F6EECF244321}">
                <p14:modId xmlns:p14="http://schemas.microsoft.com/office/powerpoint/2010/main" val="627253426"/>
              </p:ext>
            </p:extLst>
          </p:nvPr>
        </p:nvGraphicFramePr>
        <p:xfrm>
          <a:off x="1964150" y="1874095"/>
          <a:ext cx="3522650" cy="4546600"/>
        </p:xfrm>
        <a:graphic>
          <a:graphicData uri="http://schemas.openxmlformats.org/drawingml/2006/table">
            <a:tbl>
              <a:tblPr>
                <a:noFill/>
                <a:tableStyleId>{BF136021-7255-42B7-A7E7-87A8D8FFE9CA}</a:tableStyleId>
              </a:tblPr>
              <a:tblGrid>
                <a:gridCol w="3522650">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class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ConversionController</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final </a:t>
                      </a:r>
                      <a:r>
                        <a:rPr lang="es-ES" sz="1000" dirty="0" err="1">
                          <a:solidFill>
                            <a:srgbClr val="4F81BD"/>
                          </a:solidFill>
                          <a:latin typeface="Calibri"/>
                          <a:ea typeface="Calibri"/>
                          <a:cs typeface="Calibri"/>
                          <a:sym typeface="Calibri"/>
                        </a:rPr>
                        <a:t>ConsolaVista</a:t>
                      </a:r>
                      <a:r>
                        <a:rPr lang="es-ES" sz="1000" dirty="0">
                          <a:solidFill>
                            <a:srgbClr val="4F81BD"/>
                          </a:solidFill>
                          <a:latin typeface="Calibri"/>
                          <a:ea typeface="Calibri"/>
                          <a:cs typeface="Calibri"/>
                          <a:sym typeface="Calibri"/>
                        </a:rPr>
                        <a:t> vista;</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final </a:t>
                      </a:r>
                      <a:r>
                        <a:rPr lang="es-ES" sz="1000" dirty="0" err="1">
                          <a:solidFill>
                            <a:srgbClr val="4F81BD"/>
                          </a:solidFill>
                          <a:latin typeface="Calibri"/>
                          <a:ea typeface="Calibri"/>
                          <a:cs typeface="Calibri"/>
                          <a:sym typeface="Calibri"/>
                        </a:rPr>
                        <a:t>WSConversorCliente</a:t>
                      </a:r>
                      <a:r>
                        <a:rPr lang="es-ES" sz="1000" dirty="0">
                          <a:solidFill>
                            <a:srgbClr val="4F81BD"/>
                          </a:solidFill>
                          <a:latin typeface="Calibri"/>
                          <a:ea typeface="Calibri"/>
                          <a:cs typeface="Calibri"/>
                          <a:sym typeface="Calibri"/>
                        </a:rPr>
                        <a:t> cliente;</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ConversionController</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ConsolaVista</a:t>
                      </a:r>
                      <a:r>
                        <a:rPr lang="es-ES" sz="1000" dirty="0">
                          <a:solidFill>
                            <a:srgbClr val="4F81BD"/>
                          </a:solidFill>
                          <a:latin typeface="Calibri"/>
                          <a:ea typeface="Calibri"/>
                          <a:cs typeface="Calibri"/>
                          <a:sym typeface="Calibri"/>
                        </a:rPr>
                        <a:t> vista, </a:t>
                      </a:r>
                      <a:r>
                        <a:rPr lang="es-ES" sz="1000" dirty="0" err="1">
                          <a:solidFill>
                            <a:srgbClr val="4F81BD"/>
                          </a:solidFill>
                          <a:latin typeface="Calibri"/>
                          <a:ea typeface="Calibri"/>
                          <a:cs typeface="Calibri"/>
                          <a:sym typeface="Calibri"/>
                        </a:rPr>
                        <a:t>WSConversorCliente</a:t>
                      </a:r>
                      <a:r>
                        <a:rPr lang="es-ES" sz="1000" dirty="0">
                          <a:solidFill>
                            <a:srgbClr val="4F81BD"/>
                          </a:solidFill>
                          <a:latin typeface="Calibri"/>
                          <a:ea typeface="Calibri"/>
                          <a:cs typeface="Calibri"/>
                          <a:sym typeface="Calibri"/>
                        </a:rPr>
                        <a:t> cliente)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this.vista</a:t>
                      </a:r>
                      <a:r>
                        <a:rPr lang="es-ES" sz="1000" dirty="0">
                          <a:solidFill>
                            <a:srgbClr val="4F81BD"/>
                          </a:solidFill>
                          <a:latin typeface="Calibri"/>
                          <a:ea typeface="Calibri"/>
                          <a:cs typeface="Calibri"/>
                          <a:sym typeface="Calibri"/>
                        </a:rPr>
                        <a:t> = vista;</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this.cliente</a:t>
                      </a:r>
                      <a:r>
                        <a:rPr lang="es-ES" sz="1000" dirty="0">
                          <a:solidFill>
                            <a:srgbClr val="4F81BD"/>
                          </a:solidFill>
                          <a:latin typeface="Calibri"/>
                          <a:ea typeface="Calibri"/>
                          <a:cs typeface="Calibri"/>
                          <a:sym typeface="Calibri"/>
                        </a:rPr>
                        <a:t> = cliente;</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void</a:t>
                      </a:r>
                      <a:r>
                        <a:rPr lang="es-ES" sz="1000" dirty="0">
                          <a:solidFill>
                            <a:srgbClr val="4F81BD"/>
                          </a:solidFill>
                          <a:latin typeface="Calibri"/>
                          <a:ea typeface="Calibri"/>
                          <a:cs typeface="Calibri"/>
                          <a:sym typeface="Calibri"/>
                        </a:rPr>
                        <a:t> convertir(</a:t>
                      </a:r>
                      <a:r>
                        <a:rPr lang="es-ES" sz="1000" dirty="0" err="1">
                          <a:solidFill>
                            <a:srgbClr val="4F81BD"/>
                          </a:solidFill>
                          <a:latin typeface="Calibri"/>
                          <a:ea typeface="Calibri"/>
                          <a:cs typeface="Calibri"/>
                          <a:sym typeface="Calibri"/>
                        </a:rPr>
                        <a:t>TipoConversion</a:t>
                      </a:r>
                      <a:r>
                        <a:rPr lang="es-ES" sz="1000" dirty="0">
                          <a:solidFill>
                            <a:srgbClr val="4F81BD"/>
                          </a:solidFill>
                          <a:latin typeface="Calibri"/>
                          <a:ea typeface="Calibri"/>
                          <a:cs typeface="Calibri"/>
                          <a:sym typeface="Calibri"/>
                        </a:rPr>
                        <a:t> tipo)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vista.mostrarMensaje</a:t>
                      </a:r>
                      <a:r>
                        <a:rPr lang="es-ES" sz="1000" dirty="0">
                          <a:solidFill>
                            <a:srgbClr val="4F81BD"/>
                          </a:solidFill>
                          <a:latin typeface="Calibri"/>
                          <a:ea typeface="Calibri"/>
                          <a:cs typeface="Calibri"/>
                          <a:sym typeface="Calibri"/>
                        </a:rPr>
                        <a:t>("\n--- Conversión de " + </a:t>
                      </a:r>
                      <a:r>
                        <a:rPr lang="es-ES" sz="1000" dirty="0" err="1">
                          <a:solidFill>
                            <a:srgbClr val="4F81BD"/>
                          </a:solidFill>
                          <a:latin typeface="Calibri"/>
                          <a:ea typeface="Calibri"/>
                          <a:cs typeface="Calibri"/>
                          <a:sym typeface="Calibri"/>
                        </a:rPr>
                        <a:t>tipo.titulo</a:t>
                      </a:r>
                      <a:r>
                        <a:rPr lang="es-ES" sz="1000" dirty="0">
                          <a:solidFill>
                            <a:srgbClr val="4F81BD"/>
                          </a:solidFill>
                          <a:latin typeface="Calibri"/>
                          <a:ea typeface="Calibri"/>
                          <a:cs typeface="Calibri"/>
                          <a:sym typeface="Calibri"/>
                        </a:rPr>
                        <a:t>() + "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valor = </a:t>
                      </a:r>
                      <a:r>
                        <a:rPr lang="es-ES" sz="1000" dirty="0" err="1">
                          <a:solidFill>
                            <a:srgbClr val="4F81BD"/>
                          </a:solidFill>
                          <a:latin typeface="Calibri"/>
                          <a:ea typeface="Calibri"/>
                          <a:cs typeface="Calibri"/>
                          <a:sym typeface="Calibri"/>
                        </a:rPr>
                        <a:t>vista.solicitarValor</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(tipo != </a:t>
                      </a:r>
                      <a:r>
                        <a:rPr lang="es-ES" sz="1000" dirty="0" err="1">
                          <a:solidFill>
                            <a:srgbClr val="4F81BD"/>
                          </a:solidFill>
                          <a:latin typeface="Calibri"/>
                          <a:ea typeface="Calibri"/>
                          <a:cs typeface="Calibri"/>
                          <a:sym typeface="Calibri"/>
                        </a:rPr>
                        <a:t>TipoConversion.TEMPERATURA</a:t>
                      </a:r>
                      <a:r>
                        <a:rPr lang="es-ES" sz="1000" dirty="0">
                          <a:solidFill>
                            <a:srgbClr val="4F81BD"/>
                          </a:solidFill>
                          <a:latin typeface="Calibri"/>
                          <a:ea typeface="Calibri"/>
                          <a:cs typeface="Calibri"/>
                          <a:sym typeface="Calibri"/>
                        </a:rPr>
                        <a:t> &amp;&amp; valor &lt; 0)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vista.mostrarError</a:t>
                      </a:r>
                      <a:r>
                        <a:rPr lang="es-ES" sz="1000" dirty="0">
                          <a:solidFill>
                            <a:srgbClr val="4F81BD"/>
                          </a:solidFill>
                          <a:latin typeface="Calibri"/>
                          <a:ea typeface="Calibri"/>
                          <a:cs typeface="Calibri"/>
                          <a:sym typeface="Calibri"/>
                        </a:rPr>
                        <a:t>("No se deben ingresar valores negativos");</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origen = </a:t>
                      </a:r>
                      <a:r>
                        <a:rPr lang="es-ES" sz="1000" dirty="0" err="1">
                          <a:solidFill>
                            <a:srgbClr val="4F81BD"/>
                          </a:solidFill>
                          <a:latin typeface="Calibri"/>
                          <a:ea typeface="Calibri"/>
                          <a:cs typeface="Calibri"/>
                          <a:sym typeface="Calibri"/>
                        </a:rPr>
                        <a:t>vista.seleccionarUnidad</a:t>
                      </a:r>
                      <a:r>
                        <a:rPr lang="es-ES" sz="1000" dirty="0">
                          <a:solidFill>
                            <a:srgbClr val="4F81BD"/>
                          </a:solidFill>
                          <a:latin typeface="Calibri"/>
                          <a:ea typeface="Calibri"/>
                          <a:cs typeface="Calibri"/>
                          <a:sym typeface="Calibri"/>
                        </a:rPr>
                        <a:t>("Unidad de origen:", </a:t>
                      </a:r>
                      <a:r>
                        <a:rPr lang="es-ES" sz="1000" dirty="0" err="1">
                          <a:solidFill>
                            <a:srgbClr val="4F81BD"/>
                          </a:solidFill>
                          <a:latin typeface="Calibri"/>
                          <a:ea typeface="Calibri"/>
                          <a:cs typeface="Calibri"/>
                          <a:sym typeface="Calibri"/>
                        </a:rPr>
                        <a:t>tipo.unidades</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destino = </a:t>
                      </a:r>
                      <a:r>
                        <a:rPr lang="es-ES" sz="1000" dirty="0" err="1">
                          <a:solidFill>
                            <a:srgbClr val="4F81BD"/>
                          </a:solidFill>
                          <a:latin typeface="Calibri"/>
                          <a:ea typeface="Calibri"/>
                          <a:cs typeface="Calibri"/>
                          <a:sym typeface="Calibri"/>
                        </a:rPr>
                        <a:t>vista.seleccionarUnidad</a:t>
                      </a:r>
                      <a:r>
                        <a:rPr lang="es-ES" sz="1000" dirty="0">
                          <a:solidFill>
                            <a:srgbClr val="4F81BD"/>
                          </a:solidFill>
                          <a:latin typeface="Calibri"/>
                          <a:ea typeface="Calibri"/>
                          <a:cs typeface="Calibri"/>
                          <a:sym typeface="Calibri"/>
                        </a:rPr>
                        <a:t>("Unidad de destino:", </a:t>
                      </a:r>
                      <a:r>
                        <a:rPr lang="es-ES" sz="1000" dirty="0" err="1">
                          <a:solidFill>
                            <a:srgbClr val="4F81BD"/>
                          </a:solidFill>
                          <a:latin typeface="Calibri"/>
                          <a:ea typeface="Calibri"/>
                          <a:cs typeface="Calibri"/>
                          <a:sym typeface="Calibri"/>
                        </a:rPr>
                        <a:t>tipo.unidades</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try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resultado = </a:t>
                      </a:r>
                      <a:r>
                        <a:rPr lang="es-ES" sz="1000" dirty="0" err="1">
                          <a:solidFill>
                            <a:srgbClr val="4F81BD"/>
                          </a:solidFill>
                          <a:latin typeface="Calibri"/>
                          <a:ea typeface="Calibri"/>
                          <a:cs typeface="Calibri"/>
                          <a:sym typeface="Calibri"/>
                        </a:rPr>
                        <a:t>solicitarConversion</a:t>
                      </a:r>
                      <a:r>
                        <a:rPr lang="es-ES" sz="1000" dirty="0">
                          <a:solidFill>
                            <a:srgbClr val="4F81BD"/>
                          </a:solidFill>
                          <a:latin typeface="Calibri"/>
                          <a:ea typeface="Calibri"/>
                          <a:cs typeface="Calibri"/>
                          <a:sym typeface="Calibri"/>
                        </a:rPr>
                        <a:t>(tipo, valor, origen, destino);</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vista.mostrarConversion</a:t>
                      </a:r>
                      <a:r>
                        <a:rPr lang="es-ES" sz="1000" dirty="0">
                          <a:solidFill>
                            <a:srgbClr val="4F81BD"/>
                          </a:solidFill>
                          <a:latin typeface="Calibri"/>
                          <a:ea typeface="Calibri"/>
                          <a:cs typeface="Calibri"/>
                          <a:sym typeface="Calibri"/>
                        </a:rPr>
                        <a:t>(tipo, new </a:t>
                      </a:r>
                      <a:r>
                        <a:rPr lang="es-ES" sz="1000" dirty="0" err="1">
                          <a:solidFill>
                            <a:srgbClr val="4F81BD"/>
                          </a:solidFill>
                          <a:latin typeface="Calibri"/>
                          <a:ea typeface="Calibri"/>
                          <a:cs typeface="Calibri"/>
                          <a:sym typeface="Calibri"/>
                        </a:rPr>
                        <a:t>ResultadoConversion</a:t>
                      </a:r>
                      <a:r>
                        <a:rPr lang="es-ES" sz="1000" dirty="0">
                          <a:solidFill>
                            <a:srgbClr val="4F81BD"/>
                          </a:solidFill>
                          <a:latin typeface="Calibri"/>
                          <a:ea typeface="Calibri"/>
                          <a:cs typeface="Calibri"/>
                          <a:sym typeface="Calibri"/>
                        </a:rPr>
                        <a:t>(valor, origen, destino, resultado));</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endParaRPr sz="10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364" name="Google Shape;364;p45"/>
          <p:cNvGraphicFramePr/>
          <p:nvPr>
            <p:extLst>
              <p:ext uri="{D42A27DB-BD31-4B8C-83A1-F6EECF244321}">
                <p14:modId xmlns:p14="http://schemas.microsoft.com/office/powerpoint/2010/main" val="3005372612"/>
              </p:ext>
            </p:extLst>
          </p:nvPr>
        </p:nvGraphicFramePr>
        <p:xfrm>
          <a:off x="5684676" y="1874095"/>
          <a:ext cx="3615844" cy="4653280"/>
        </p:xfrm>
        <a:graphic>
          <a:graphicData uri="http://schemas.openxmlformats.org/drawingml/2006/table">
            <a:tbl>
              <a:tblPr>
                <a:noFill/>
                <a:tableStyleId>{BF136021-7255-42B7-A7E7-87A8D8FFE9CA}</a:tableStyleId>
              </a:tblPr>
              <a:tblGrid>
                <a:gridCol w="3615844">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900" dirty="0">
                          <a:solidFill>
                            <a:srgbClr val="4F81BD"/>
                          </a:solidFill>
                          <a:latin typeface="Calibri"/>
                          <a:ea typeface="Calibri"/>
                          <a:cs typeface="Calibri"/>
                          <a:sym typeface="Calibri"/>
                        </a:rPr>
                        <a:t>} catch (</a:t>
                      </a:r>
                      <a:r>
                        <a:rPr lang="es-ES" sz="900" dirty="0" err="1">
                          <a:solidFill>
                            <a:srgbClr val="4F81BD"/>
                          </a:solidFill>
                          <a:latin typeface="Calibri"/>
                          <a:ea typeface="Calibri"/>
                          <a:cs typeface="Calibri"/>
                          <a:sym typeface="Calibri"/>
                        </a:rPr>
                        <a:t>ExcepcionServicio</a:t>
                      </a:r>
                      <a:r>
                        <a:rPr lang="es-ES" sz="900" dirty="0">
                          <a:solidFill>
                            <a:srgbClr val="4F81BD"/>
                          </a:solidFill>
                          <a:latin typeface="Calibri"/>
                          <a:ea typeface="Calibri"/>
                          <a:cs typeface="Calibri"/>
                          <a:sym typeface="Calibri"/>
                        </a:rPr>
                        <a:t> ex)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ex.sesionRechazada</a:t>
                      </a: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//Reenvía el error a capa superior</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throw</a:t>
                      </a: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ExcepcionSesionRechazada</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ex.respuestaError</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getMensaje</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else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ex.respuestaError</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null</a:t>
                      </a: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vista.mostrarError</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ex.respuestaError</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else</a:t>
                      </a: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vista.mostrarError</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ex.getMessage</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 catch (</a:t>
                      </a:r>
                      <a:r>
                        <a:rPr lang="es-ES" sz="900" dirty="0" err="1">
                          <a:solidFill>
                            <a:srgbClr val="4F81BD"/>
                          </a:solidFill>
                          <a:latin typeface="Calibri"/>
                          <a:ea typeface="Calibri"/>
                          <a:cs typeface="Calibri"/>
                          <a:sym typeface="Calibri"/>
                        </a:rPr>
                        <a:t>RuntimeException</a:t>
                      </a:r>
                      <a:r>
                        <a:rPr lang="es-ES" sz="900" dirty="0">
                          <a:solidFill>
                            <a:srgbClr val="4F81BD"/>
                          </a:solidFill>
                          <a:latin typeface="Calibri"/>
                          <a:ea typeface="Calibri"/>
                          <a:cs typeface="Calibri"/>
                          <a:sym typeface="Calibri"/>
                        </a:rPr>
                        <a:t> ex)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vista.mostrarError</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mensajeSeguro</a:t>
                      </a:r>
                      <a:r>
                        <a:rPr lang="es-ES" sz="900" dirty="0">
                          <a:solidFill>
                            <a:srgbClr val="4F81BD"/>
                          </a:solidFill>
                          <a:latin typeface="Calibri"/>
                          <a:ea typeface="Calibri"/>
                          <a:cs typeface="Calibri"/>
                          <a:sym typeface="Calibri"/>
                        </a:rPr>
                        <a:t>(ex));</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double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solicitarConversion</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TipoConversion</a:t>
                      </a:r>
                      <a:r>
                        <a:rPr lang="es-ES" sz="900" dirty="0">
                          <a:solidFill>
                            <a:srgbClr val="4F81BD"/>
                          </a:solidFill>
                          <a:latin typeface="Calibri"/>
                          <a:ea typeface="Calibri"/>
                          <a:cs typeface="Calibri"/>
                          <a:sym typeface="Calibri"/>
                        </a:rPr>
                        <a:t> tipo, </a:t>
                      </a:r>
                      <a:r>
                        <a:rPr lang="es-ES" sz="900" dirty="0" err="1">
                          <a:solidFill>
                            <a:srgbClr val="4F81BD"/>
                          </a:solidFill>
                          <a:latin typeface="Calibri"/>
                          <a:ea typeface="Calibri"/>
                          <a:cs typeface="Calibri"/>
                          <a:sym typeface="Calibri"/>
                        </a:rPr>
                        <a:t>double</a:t>
                      </a:r>
                      <a:r>
                        <a:rPr lang="es-ES" sz="900" dirty="0">
                          <a:solidFill>
                            <a:srgbClr val="4F81BD"/>
                          </a:solidFill>
                          <a:latin typeface="Calibri"/>
                          <a:ea typeface="Calibri"/>
                          <a:cs typeface="Calibri"/>
                          <a:sym typeface="Calibri"/>
                        </a:rPr>
                        <a:t> valor,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origen,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destino)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switch (tipo)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case TEMPERATURA -&gt; </a:t>
                      </a:r>
                      <a:r>
                        <a:rPr lang="es-ES" sz="900" dirty="0" err="1">
                          <a:solidFill>
                            <a:srgbClr val="4F81BD"/>
                          </a:solidFill>
                          <a:latin typeface="Calibri"/>
                          <a:ea typeface="Calibri"/>
                          <a:cs typeface="Calibri"/>
                          <a:sym typeface="Calibri"/>
                        </a:rPr>
                        <a:t>cliente.convertirTemperatura</a:t>
                      </a:r>
                      <a:r>
                        <a:rPr lang="es-ES" sz="900" dirty="0">
                          <a:solidFill>
                            <a:srgbClr val="4F81BD"/>
                          </a:solidFill>
                          <a:latin typeface="Calibri"/>
                          <a:ea typeface="Calibri"/>
                          <a:cs typeface="Calibri"/>
                          <a:sym typeface="Calibri"/>
                        </a:rPr>
                        <a:t>(valor, origen, destino);</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case MASA -&gt; </a:t>
                      </a:r>
                      <a:r>
                        <a:rPr lang="es-ES" sz="900" dirty="0" err="1">
                          <a:solidFill>
                            <a:srgbClr val="4F81BD"/>
                          </a:solidFill>
                          <a:latin typeface="Calibri"/>
                          <a:ea typeface="Calibri"/>
                          <a:cs typeface="Calibri"/>
                          <a:sym typeface="Calibri"/>
                        </a:rPr>
                        <a:t>cliente.convertirMasa</a:t>
                      </a:r>
                      <a:r>
                        <a:rPr lang="es-ES" sz="900" dirty="0">
                          <a:solidFill>
                            <a:srgbClr val="4F81BD"/>
                          </a:solidFill>
                          <a:latin typeface="Calibri"/>
                          <a:ea typeface="Calibri"/>
                          <a:cs typeface="Calibri"/>
                          <a:sym typeface="Calibri"/>
                        </a:rPr>
                        <a:t>(valor, origen, destino);</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case LONGITUD -&gt; </a:t>
                      </a:r>
                      <a:r>
                        <a:rPr lang="es-ES" sz="900" dirty="0" err="1">
                          <a:solidFill>
                            <a:srgbClr val="4F81BD"/>
                          </a:solidFill>
                          <a:latin typeface="Calibri"/>
                          <a:ea typeface="Calibri"/>
                          <a:cs typeface="Calibri"/>
                          <a:sym typeface="Calibri"/>
                        </a:rPr>
                        <a:t>cliente.convertirLongitud</a:t>
                      </a:r>
                      <a:r>
                        <a:rPr lang="es-ES" sz="900" dirty="0">
                          <a:solidFill>
                            <a:srgbClr val="4F81BD"/>
                          </a:solidFill>
                          <a:latin typeface="Calibri"/>
                          <a:ea typeface="Calibri"/>
                          <a:cs typeface="Calibri"/>
                          <a:sym typeface="Calibri"/>
                        </a:rPr>
                        <a:t>(valor, origen, destino);</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mensajeSeguro</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RuntimeException</a:t>
                      </a:r>
                      <a:r>
                        <a:rPr lang="es-ES" sz="900" dirty="0">
                          <a:solidFill>
                            <a:srgbClr val="4F81BD"/>
                          </a:solidFill>
                          <a:latin typeface="Calibri"/>
                          <a:ea typeface="Calibri"/>
                          <a:cs typeface="Calibri"/>
                          <a:sym typeface="Calibri"/>
                        </a:rPr>
                        <a:t> ex)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mensaje = </a:t>
                      </a:r>
                      <a:r>
                        <a:rPr lang="es-ES" sz="900" dirty="0" err="1">
                          <a:solidFill>
                            <a:srgbClr val="4F81BD"/>
                          </a:solidFill>
                          <a:latin typeface="Calibri"/>
                          <a:ea typeface="Calibri"/>
                          <a:cs typeface="Calibri"/>
                          <a:sym typeface="Calibri"/>
                        </a:rPr>
                        <a:t>ex.getMessage</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mensaje == </a:t>
                      </a:r>
                      <a:r>
                        <a:rPr lang="es-ES" sz="900" dirty="0" err="1">
                          <a:solidFill>
                            <a:srgbClr val="4F81BD"/>
                          </a:solidFill>
                          <a:latin typeface="Calibri"/>
                          <a:ea typeface="Calibri"/>
                          <a:cs typeface="Calibri"/>
                          <a:sym typeface="Calibri"/>
                        </a:rPr>
                        <a:t>null</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mensaje.isBlank</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 "No se pudo completar la conversión. Verifique la conexión o su sesión."</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 mensaje;</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8215E44A-8DF1-C436-C40F-F9558F788280}"/>
              </a:ext>
            </a:extLst>
          </p:cNvPr>
          <p:cNvSpPr txBox="1">
            <a:spLocks noGrp="1"/>
          </p:cNvSpPr>
          <p:nvPr>
            <p:ph type="body" idx="1"/>
          </p:nvPr>
        </p:nvSpPr>
        <p:spPr>
          <a:xfrm>
            <a:off x="-86065" y="187409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70" name="Google Shape;370;p46"/>
          <p:cNvSpPr txBox="1">
            <a:spLocks noGrp="1"/>
          </p:cNvSpPr>
          <p:nvPr>
            <p:ph type="body" idx="1"/>
          </p:nvPr>
        </p:nvSpPr>
        <p:spPr>
          <a:xfrm>
            <a:off x="344995" y="1959919"/>
            <a:ext cx="7513901" cy="75033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dirty="0">
                <a:solidFill>
                  <a:schemeClr val="dk1"/>
                </a:solidFill>
                <a:latin typeface="Calibri"/>
                <a:ea typeface="Calibri"/>
                <a:cs typeface="Calibri"/>
                <a:sym typeface="Calibri"/>
              </a:rPr>
              <a:t>Se puede verificar que el cliente funciona de forma correcta, se levanta y tiene comunicación </a:t>
            </a:r>
            <a:endParaRPr sz="1400" b="1" dirty="0">
              <a:solidFill>
                <a:srgbClr val="17365D"/>
              </a:solidFill>
              <a:latin typeface="Calibri"/>
              <a:ea typeface="Calibri"/>
              <a:cs typeface="Calibri"/>
              <a:sym typeface="Calibri"/>
            </a:endParaRPr>
          </a:p>
          <a:p>
            <a:pPr marL="457200" lvl="0" indent="-298450" algn="l" rtl="0">
              <a:lnSpc>
                <a:spcPct val="150000"/>
              </a:lnSpc>
              <a:spcBef>
                <a:spcPts val="0"/>
              </a:spcBef>
              <a:spcAft>
                <a:spcPts val="0"/>
              </a:spcAft>
              <a:buClr>
                <a:schemeClr val="dk1"/>
              </a:buClr>
              <a:buSzPts val="1100"/>
              <a:buFont typeface="Calibri"/>
              <a:buChar char="∙"/>
            </a:pPr>
            <a:endParaRPr sz="11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dirty="0">
              <a:latin typeface="Cambria"/>
              <a:ea typeface="Cambria"/>
              <a:cs typeface="Cambria"/>
              <a:sym typeface="Cambria"/>
            </a:endParaRPr>
          </a:p>
        </p:txBody>
      </p:sp>
      <p:sp>
        <p:nvSpPr>
          <p:cNvPr id="371" name="Google Shape;371;p4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4" name="Picture 3">
            <a:extLst>
              <a:ext uri="{FF2B5EF4-FFF2-40B4-BE49-F238E27FC236}">
                <a16:creationId xmlns:a16="http://schemas.microsoft.com/office/drawing/2014/main" id="{8BCF8715-8FBC-FDBA-92BD-08D36625371A}"/>
              </a:ext>
            </a:extLst>
          </p:cNvPr>
          <p:cNvPicPr>
            <a:picLocks noChangeAspect="1"/>
          </p:cNvPicPr>
          <p:nvPr/>
        </p:nvPicPr>
        <p:blipFill>
          <a:blip r:embed="rId3"/>
          <a:stretch>
            <a:fillRect/>
          </a:stretch>
        </p:blipFill>
        <p:spPr>
          <a:xfrm>
            <a:off x="581192" y="3477134"/>
            <a:ext cx="4808637" cy="1341236"/>
          </a:xfrm>
          <a:prstGeom prst="rect">
            <a:avLst/>
          </a:prstGeom>
        </p:spPr>
      </p:pic>
      <p:pic>
        <p:nvPicPr>
          <p:cNvPr id="7" name="Picture 6">
            <a:extLst>
              <a:ext uri="{FF2B5EF4-FFF2-40B4-BE49-F238E27FC236}">
                <a16:creationId xmlns:a16="http://schemas.microsoft.com/office/drawing/2014/main" id="{DE480C22-97A3-522F-801F-584873C379D6}"/>
              </a:ext>
            </a:extLst>
          </p:cNvPr>
          <p:cNvPicPr>
            <a:picLocks noChangeAspect="1"/>
          </p:cNvPicPr>
          <p:nvPr/>
        </p:nvPicPr>
        <p:blipFill>
          <a:blip r:embed="rId4"/>
          <a:stretch>
            <a:fillRect/>
          </a:stretch>
        </p:blipFill>
        <p:spPr>
          <a:xfrm>
            <a:off x="5546346" y="2335084"/>
            <a:ext cx="2872989" cy="430567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6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35" name="Google Shape;535;p66"/>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36" name="Google Shape;536;p66"/>
          <p:cNvSpPr txBox="1">
            <a:spLocks noGrp="1"/>
          </p:cNvSpPr>
          <p:nvPr>
            <p:ph type="body" idx="1"/>
          </p:nvPr>
        </p:nvSpPr>
        <p:spPr>
          <a:xfrm>
            <a:off x="603287" y="2062478"/>
            <a:ext cx="8589300" cy="1170900"/>
          </a:xfrm>
          <a:prstGeom prst="rect">
            <a:avLst/>
          </a:prstGeom>
          <a:noFill/>
          <a:ln>
            <a:noFill/>
          </a:ln>
        </p:spPr>
        <p:txBody>
          <a:bodyPr spcFirstLastPara="1" wrap="square" lIns="91425" tIns="45700" rIns="91425" bIns="45700" anchor="ctr" anchorCtr="0">
            <a:normAutofit/>
          </a:bodyPr>
          <a:lstStyle/>
          <a:p>
            <a:pPr marL="409197" lvl="0" indent="-285750" algn="just" rtl="0">
              <a:lnSpc>
                <a:spcPct val="107000"/>
              </a:lnSpc>
              <a:spcBef>
                <a:spcPts val="0"/>
              </a:spcBef>
              <a:spcAft>
                <a:spcPts val="0"/>
              </a:spcAft>
              <a:buSzPts val="1656"/>
              <a:buFont typeface="Arial" panose="020B0604020202020204" pitchFamily="34" charset="0"/>
              <a:buChar char="•"/>
            </a:pPr>
            <a:r>
              <a:rPr lang="es-ES" sz="1564" dirty="0">
                <a:latin typeface="Cambria"/>
                <a:ea typeface="Cambria"/>
                <a:cs typeface="Cambria"/>
                <a:sym typeface="Cambria"/>
              </a:rPr>
              <a:t>Para el cliente de escritorio se debe crear un proyecto de java </a:t>
            </a:r>
            <a:r>
              <a:rPr lang="es-ES" sz="1564" dirty="0" err="1">
                <a:latin typeface="Cambria"/>
                <a:ea typeface="Cambria"/>
                <a:cs typeface="Cambria"/>
                <a:sym typeface="Cambria"/>
              </a:rPr>
              <a:t>application</a:t>
            </a:r>
            <a:r>
              <a:rPr lang="es-ES" sz="1564" dirty="0">
                <a:latin typeface="Cambria"/>
                <a:ea typeface="Cambria"/>
                <a:cs typeface="Cambria"/>
                <a:sym typeface="Cambria"/>
              </a:rPr>
              <a:t>, el cual se inicializará y configurará para manejar el patrón arquitectónico MVC y los paquetes con el código respectivo</a:t>
            </a:r>
            <a:endParaRPr dirty="0">
              <a:latin typeface="Cambria"/>
              <a:ea typeface="Cambria"/>
              <a:cs typeface="Cambria"/>
              <a:sym typeface="Cambria"/>
            </a:endParaRPr>
          </a:p>
        </p:txBody>
      </p:sp>
      <p:pic>
        <p:nvPicPr>
          <p:cNvPr id="5" name="Picture 4">
            <a:extLst>
              <a:ext uri="{FF2B5EF4-FFF2-40B4-BE49-F238E27FC236}">
                <a16:creationId xmlns:a16="http://schemas.microsoft.com/office/drawing/2014/main" id="{DB87D13C-52EA-9A2B-E978-9B419FCDC72B}"/>
              </a:ext>
            </a:extLst>
          </p:cNvPr>
          <p:cNvPicPr>
            <a:picLocks noChangeAspect="1"/>
          </p:cNvPicPr>
          <p:nvPr/>
        </p:nvPicPr>
        <p:blipFill>
          <a:blip r:embed="rId3"/>
          <a:stretch>
            <a:fillRect/>
          </a:stretch>
        </p:blipFill>
        <p:spPr>
          <a:xfrm>
            <a:off x="467580" y="3348256"/>
            <a:ext cx="4664972" cy="3161815"/>
          </a:xfrm>
          <a:prstGeom prst="rect">
            <a:avLst/>
          </a:prstGeom>
        </p:spPr>
      </p:pic>
      <p:sp>
        <p:nvSpPr>
          <p:cNvPr id="7" name="TextBox 6">
            <a:extLst>
              <a:ext uri="{FF2B5EF4-FFF2-40B4-BE49-F238E27FC236}">
                <a16:creationId xmlns:a16="http://schemas.microsoft.com/office/drawing/2014/main" id="{EF2CADB8-69AC-EDFA-0B55-D4A654EE905F}"/>
              </a:ext>
            </a:extLst>
          </p:cNvPr>
          <p:cNvSpPr txBox="1"/>
          <p:nvPr/>
        </p:nvSpPr>
        <p:spPr>
          <a:xfrm>
            <a:off x="704335" y="1902979"/>
            <a:ext cx="6104238" cy="318998"/>
          </a:xfrm>
          <a:prstGeom prst="rect">
            <a:avLst/>
          </a:prstGeom>
          <a:noFill/>
        </p:spPr>
        <p:txBody>
          <a:bodyPr wrap="square">
            <a:spAutoFit/>
          </a:bodyPr>
          <a:lstStyle/>
          <a:p>
            <a:pPr marL="0" lvl="0" indent="0" algn="l" rtl="0">
              <a:lnSpc>
                <a:spcPct val="115000"/>
              </a:lnSpc>
              <a:spcBef>
                <a:spcPts val="1200"/>
              </a:spcBef>
              <a:spcAft>
                <a:spcPts val="0"/>
              </a:spcAft>
              <a:buClr>
                <a:schemeClr val="dk1"/>
              </a:buClr>
              <a:buSzPct val="70332"/>
              <a:buFont typeface="Arial"/>
              <a:buNone/>
            </a:pPr>
            <a:r>
              <a:rPr lang="es-MX" sz="1400" b="1" dirty="0">
                <a:latin typeface="Cambria"/>
                <a:ea typeface="Cambria"/>
                <a:cs typeface="Cambria"/>
                <a:sym typeface="Cambria"/>
              </a:rPr>
              <a:t>1.4  CREACIÓN DEL PROYECTO CLIENTE ESCRITORIO</a:t>
            </a:r>
          </a:p>
        </p:txBody>
      </p:sp>
      <p:pic>
        <p:nvPicPr>
          <p:cNvPr id="3" name="Picture 2">
            <a:extLst>
              <a:ext uri="{FF2B5EF4-FFF2-40B4-BE49-F238E27FC236}">
                <a16:creationId xmlns:a16="http://schemas.microsoft.com/office/drawing/2014/main" id="{12BCAFBE-3C14-280D-154C-68D41446BD07}"/>
              </a:ext>
            </a:extLst>
          </p:cNvPr>
          <p:cNvPicPr>
            <a:picLocks noChangeAspect="1"/>
          </p:cNvPicPr>
          <p:nvPr/>
        </p:nvPicPr>
        <p:blipFill>
          <a:blip r:embed="rId4"/>
          <a:stretch>
            <a:fillRect/>
          </a:stretch>
        </p:blipFill>
        <p:spPr>
          <a:xfrm>
            <a:off x="5281218" y="3739953"/>
            <a:ext cx="3953813" cy="16805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6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45" name="Google Shape;545;p67"/>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lang="es-EC"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547" name="Google Shape;547;p67"/>
          <p:cNvGraphicFramePr/>
          <p:nvPr>
            <p:extLst>
              <p:ext uri="{D42A27DB-BD31-4B8C-83A1-F6EECF244321}">
                <p14:modId xmlns:p14="http://schemas.microsoft.com/office/powerpoint/2010/main" val="2532653204"/>
              </p:ext>
            </p:extLst>
          </p:nvPr>
        </p:nvGraphicFramePr>
        <p:xfrm>
          <a:off x="1940435" y="2166597"/>
          <a:ext cx="3351270" cy="4057523"/>
        </p:xfrm>
        <a:graphic>
          <a:graphicData uri="http://schemas.openxmlformats.org/drawingml/2006/table">
            <a:tbl>
              <a:tblPr>
                <a:noFill/>
                <a:tableStyleId>{BF136021-7255-42B7-A7E7-87A8D8FFE9CA}</a:tableStyleId>
              </a:tblPr>
              <a:tblGrid>
                <a:gridCol w="3351270">
                  <a:extLst>
                    <a:ext uri="{9D8B030D-6E8A-4147-A177-3AD203B41FA5}">
                      <a16:colId xmlns:a16="http://schemas.microsoft.com/office/drawing/2014/main" val="20000"/>
                    </a:ext>
                  </a:extLst>
                </a:gridCol>
              </a:tblGrid>
              <a:tr h="4023900">
                <a:tc>
                  <a:txBody>
                    <a:bodyPr/>
                    <a:lstStyle/>
                    <a:p>
                      <a:pPr marL="0" lvl="0" indent="0" algn="l" rtl="0">
                        <a:lnSpc>
                          <a:spcPct val="144000"/>
                        </a:lnSpc>
                        <a:spcBef>
                          <a:spcPts val="0"/>
                        </a:spcBef>
                        <a:spcAft>
                          <a:spcPts val="0"/>
                        </a:spcAft>
                        <a:buNone/>
                      </a:pP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class</a:t>
                      </a:r>
                      <a:r>
                        <a:rPr lang="es-EC" sz="900" dirty="0">
                          <a:solidFill>
                            <a:srgbClr val="4F81BD"/>
                          </a:solidFill>
                          <a:latin typeface="Calibri"/>
                          <a:ea typeface="Calibri"/>
                          <a:cs typeface="Calibri"/>
                          <a:sym typeface="Calibri"/>
                        </a:rPr>
                        <a:t> CLIESC_JAVA_RESTFUL {</a:t>
                      </a:r>
                    </a:p>
                    <a:p>
                      <a:pPr marL="0" lvl="0" indent="0" algn="l" rtl="0">
                        <a:lnSpc>
                          <a:spcPct val="144000"/>
                        </a:lnSpc>
                        <a:spcBef>
                          <a:spcPts val="0"/>
                        </a:spcBef>
                        <a:spcAft>
                          <a:spcPts val="0"/>
                        </a:spcAft>
                        <a:buNone/>
                      </a:pPr>
                      <a:endParaRPr lang="es-EC"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static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void</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main</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args</a:t>
                      </a: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SwingUtilities.invokeLater</a:t>
                      </a:r>
                      <a:r>
                        <a:rPr lang="es-EC" sz="900" dirty="0">
                          <a:solidFill>
                            <a:srgbClr val="4F81BD"/>
                          </a:solidFill>
                          <a:latin typeface="Calibri"/>
                          <a:ea typeface="Calibri"/>
                          <a:cs typeface="Calibri"/>
                          <a:sym typeface="Calibri"/>
                        </a:rPr>
                        <a:t>(() -&gt;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try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AppTheme.instalar</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WSConversorCliente</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client</a:t>
                      </a:r>
                      <a:r>
                        <a:rPr lang="es-EC" sz="900" dirty="0">
                          <a:solidFill>
                            <a:srgbClr val="4F81BD"/>
                          </a:solidFill>
                          <a:latin typeface="Calibri"/>
                          <a:ea typeface="Calibri"/>
                          <a:cs typeface="Calibri"/>
                          <a:sym typeface="Calibri"/>
                        </a:rPr>
                        <a:t> = new </a:t>
                      </a:r>
                      <a:r>
                        <a:rPr lang="es-EC" sz="900" dirty="0" err="1">
                          <a:solidFill>
                            <a:srgbClr val="4F81BD"/>
                          </a:solidFill>
                          <a:latin typeface="Calibri"/>
                          <a:ea typeface="Calibri"/>
                          <a:cs typeface="Calibri"/>
                          <a:sym typeface="Calibri"/>
                        </a:rPr>
                        <a:t>WSConversorCliente</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LoginVista</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login</a:t>
                      </a:r>
                      <a:r>
                        <a:rPr lang="es-EC" sz="900" dirty="0">
                          <a:solidFill>
                            <a:srgbClr val="4F81BD"/>
                          </a:solidFill>
                          <a:latin typeface="Calibri"/>
                          <a:ea typeface="Calibri"/>
                          <a:cs typeface="Calibri"/>
                          <a:sym typeface="Calibri"/>
                        </a:rPr>
                        <a:t> = new </a:t>
                      </a:r>
                      <a:r>
                        <a:rPr lang="es-EC" sz="900" dirty="0" err="1">
                          <a:solidFill>
                            <a:srgbClr val="4F81BD"/>
                          </a:solidFill>
                          <a:latin typeface="Calibri"/>
                          <a:ea typeface="Calibri"/>
                          <a:cs typeface="Calibri"/>
                          <a:sym typeface="Calibri"/>
                        </a:rPr>
                        <a:t>LoginVista</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new </a:t>
                      </a:r>
                      <a:r>
                        <a:rPr lang="es-EC" sz="900" dirty="0" err="1">
                          <a:solidFill>
                            <a:srgbClr val="4F81BD"/>
                          </a:solidFill>
                          <a:latin typeface="Calibri"/>
                          <a:ea typeface="Calibri"/>
                          <a:cs typeface="Calibri"/>
                          <a:sym typeface="Calibri"/>
                        </a:rPr>
                        <a:t>LoginController</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login</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client</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login.setVisible</a:t>
                      </a:r>
                      <a:r>
                        <a:rPr lang="es-EC" sz="900" dirty="0">
                          <a:solidFill>
                            <a:srgbClr val="4F81BD"/>
                          </a:solidFill>
                          <a:latin typeface="Calibri"/>
                          <a:ea typeface="Calibri"/>
                          <a:cs typeface="Calibri"/>
                          <a:sym typeface="Calibri"/>
                        </a:rPr>
                        <a:t>(true);</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 catch (</a:t>
                      </a:r>
                      <a:r>
                        <a:rPr lang="es-EC" sz="900" dirty="0" err="1">
                          <a:solidFill>
                            <a:srgbClr val="4F81BD"/>
                          </a:solidFill>
                          <a:latin typeface="Calibri"/>
                          <a:ea typeface="Calibri"/>
                          <a:cs typeface="Calibri"/>
                          <a:sym typeface="Calibri"/>
                        </a:rPr>
                        <a:t>Exception</a:t>
                      </a:r>
                      <a:r>
                        <a:rPr lang="es-EC" sz="900" dirty="0">
                          <a:solidFill>
                            <a:srgbClr val="4F81BD"/>
                          </a:solidFill>
                          <a:latin typeface="Calibri"/>
                          <a:ea typeface="Calibri"/>
                          <a:cs typeface="Calibri"/>
                          <a:sym typeface="Calibri"/>
                        </a:rPr>
                        <a:t> e)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JOptionPane.showMessageDialog</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null</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"No se pudo conectar al servidor SOAP:\n" + </a:t>
                      </a:r>
                      <a:r>
                        <a:rPr lang="es-EC" sz="900" dirty="0" err="1">
                          <a:solidFill>
                            <a:srgbClr val="4F81BD"/>
                          </a:solidFill>
                          <a:latin typeface="Calibri"/>
                          <a:ea typeface="Calibri"/>
                          <a:cs typeface="Calibri"/>
                          <a:sym typeface="Calibri"/>
                        </a:rPr>
                        <a:t>e.getMessage</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"Error de conexión", </a:t>
                      </a:r>
                      <a:r>
                        <a:rPr lang="es-EC" sz="900" dirty="0" err="1">
                          <a:solidFill>
                            <a:srgbClr val="4F81BD"/>
                          </a:solidFill>
                          <a:latin typeface="Calibri"/>
                          <a:ea typeface="Calibri"/>
                          <a:cs typeface="Calibri"/>
                          <a:sym typeface="Calibri"/>
                        </a:rPr>
                        <a:t>JOptionPane.ERROR_MESSAGE</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System.exit</a:t>
                      </a:r>
                      <a:r>
                        <a:rPr lang="es-EC" sz="900" dirty="0">
                          <a:solidFill>
                            <a:srgbClr val="4F81BD"/>
                          </a:solidFill>
                          <a:latin typeface="Calibri"/>
                          <a:ea typeface="Calibri"/>
                          <a:cs typeface="Calibri"/>
                          <a:sym typeface="Calibri"/>
                        </a:rPr>
                        <a:t>(1);</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a:t>
                      </a:r>
                      <a:endParaRPr sz="9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4" name="Google Shape;547;p67">
            <a:extLst>
              <a:ext uri="{FF2B5EF4-FFF2-40B4-BE49-F238E27FC236}">
                <a16:creationId xmlns:a16="http://schemas.microsoft.com/office/drawing/2014/main" id="{A67D1364-BD2F-E428-B2CB-FA95B82F5E06}"/>
              </a:ext>
            </a:extLst>
          </p:cNvPr>
          <p:cNvGraphicFramePr/>
          <p:nvPr>
            <p:extLst>
              <p:ext uri="{D42A27DB-BD31-4B8C-83A1-F6EECF244321}">
                <p14:modId xmlns:p14="http://schemas.microsoft.com/office/powerpoint/2010/main" val="3971877659"/>
              </p:ext>
            </p:extLst>
          </p:nvPr>
        </p:nvGraphicFramePr>
        <p:xfrm>
          <a:off x="5394152" y="1837551"/>
          <a:ext cx="3887097" cy="4847463"/>
        </p:xfrm>
        <a:graphic>
          <a:graphicData uri="http://schemas.openxmlformats.org/drawingml/2006/table">
            <a:tbl>
              <a:tblPr>
                <a:noFill/>
                <a:tableStyleId>{BF136021-7255-42B7-A7E7-87A8D8FFE9CA}</a:tableStyleId>
              </a:tblPr>
              <a:tblGrid>
                <a:gridCol w="3887097">
                  <a:extLst>
                    <a:ext uri="{9D8B030D-6E8A-4147-A177-3AD203B41FA5}">
                      <a16:colId xmlns:a16="http://schemas.microsoft.com/office/drawing/2014/main" val="20000"/>
                    </a:ext>
                  </a:extLst>
                </a:gridCol>
              </a:tblGrid>
              <a:tr h="4023900">
                <a:tc>
                  <a:txBody>
                    <a:bodyPr/>
                    <a:lstStyle/>
                    <a:p>
                      <a:pPr marL="0" lvl="0" indent="0" algn="l" rtl="0">
                        <a:lnSpc>
                          <a:spcPct val="144000"/>
                        </a:lnSpc>
                        <a:spcBef>
                          <a:spcPts val="0"/>
                        </a:spcBef>
                        <a:spcAft>
                          <a:spcPts val="0"/>
                        </a:spcAft>
                        <a:buNone/>
                      </a:pP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final </a:t>
                      </a:r>
                      <a:r>
                        <a:rPr lang="es-EC" sz="900" dirty="0" err="1">
                          <a:solidFill>
                            <a:srgbClr val="4F81BD"/>
                          </a:solidFill>
                          <a:latin typeface="Calibri"/>
                          <a:ea typeface="Calibri"/>
                          <a:cs typeface="Calibri"/>
                          <a:sym typeface="Calibri"/>
                        </a:rPr>
                        <a:t>class</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RestConfig</a:t>
                      </a: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private</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static</a:t>
                      </a:r>
                      <a:r>
                        <a:rPr lang="es-EC" sz="900" dirty="0">
                          <a:solidFill>
                            <a:srgbClr val="4F81BD"/>
                          </a:solidFill>
                          <a:latin typeface="Calibri"/>
                          <a:ea typeface="Calibri"/>
                          <a:cs typeface="Calibri"/>
                          <a:sym typeface="Calibri"/>
                        </a:rPr>
                        <a:t> final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ARCHIVO_ENV = "</a:t>
                      </a:r>
                      <a:r>
                        <a:rPr lang="es-EC" sz="900" dirty="0" err="1">
                          <a:solidFill>
                            <a:srgbClr val="4F81BD"/>
                          </a:solidFill>
                          <a:latin typeface="Calibri"/>
                          <a:ea typeface="Calibri"/>
                          <a:cs typeface="Calibri"/>
                          <a:sym typeface="Calibri"/>
                        </a:rPr>
                        <a:t>development.env</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private</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static</a:t>
                      </a:r>
                      <a:r>
                        <a:rPr lang="es-EC" sz="900" dirty="0">
                          <a:solidFill>
                            <a:srgbClr val="4F81BD"/>
                          </a:solidFill>
                          <a:latin typeface="Calibri"/>
                          <a:ea typeface="Calibri"/>
                          <a:cs typeface="Calibri"/>
                          <a:sym typeface="Calibri"/>
                        </a:rPr>
                        <a:t> final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RUTAS_ENV =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src</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main</a:t>
                      </a:r>
                      <a:r>
                        <a:rPr lang="es-EC" sz="900" dirty="0">
                          <a:solidFill>
                            <a:srgbClr val="4F81BD"/>
                          </a:solidFill>
                          <a:latin typeface="Calibri"/>
                          <a:ea typeface="Calibri"/>
                          <a:cs typeface="Calibri"/>
                          <a:sym typeface="Calibri"/>
                        </a:rPr>
                        <a:t>/java/</a:t>
                      </a:r>
                      <a:r>
                        <a:rPr lang="es-EC" sz="900" dirty="0" err="1">
                          <a:solidFill>
                            <a:srgbClr val="4F81BD"/>
                          </a:solidFill>
                          <a:latin typeface="Calibri"/>
                          <a:ea typeface="Calibri"/>
                          <a:cs typeface="Calibri"/>
                          <a:sym typeface="Calibri"/>
                        </a:rPr>
                        <a:t>ec</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edu</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monster</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clicon_uni_java_restful</a:t>
                      </a:r>
                      <a:r>
                        <a:rPr lang="es-EC" sz="900" dirty="0">
                          <a:solidFill>
                            <a:srgbClr val="4F81BD"/>
                          </a:solidFill>
                          <a:latin typeface="Calibri"/>
                          <a:ea typeface="Calibri"/>
                          <a:cs typeface="Calibri"/>
                          <a:sym typeface="Calibri"/>
                        </a:rPr>
                        <a:t>/" + ARCHIVO_ENV,</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src</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main</a:t>
                      </a:r>
                      <a:r>
                        <a:rPr lang="es-EC" sz="900" dirty="0">
                          <a:solidFill>
                            <a:srgbClr val="4F81BD"/>
                          </a:solidFill>
                          <a:latin typeface="Calibri"/>
                          <a:ea typeface="Calibri"/>
                          <a:cs typeface="Calibri"/>
                          <a:sym typeface="Calibri"/>
                        </a:rPr>
                        <a:t>/recursos/" + ARCHIVO_ENV</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private</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static</a:t>
                      </a:r>
                      <a:r>
                        <a:rPr lang="es-EC" sz="900" dirty="0">
                          <a:solidFill>
                            <a:srgbClr val="4F81BD"/>
                          </a:solidFill>
                          <a:latin typeface="Calibri"/>
                          <a:ea typeface="Calibri"/>
                          <a:cs typeface="Calibri"/>
                          <a:sym typeface="Calibri"/>
                        </a:rPr>
                        <a:t> final </a:t>
                      </a:r>
                      <a:r>
                        <a:rPr lang="es-EC" sz="900" dirty="0" err="1">
                          <a:solidFill>
                            <a:srgbClr val="4F81BD"/>
                          </a:solidFill>
                          <a:latin typeface="Calibri"/>
                          <a:ea typeface="Calibri"/>
                          <a:cs typeface="Calibri"/>
                          <a:sym typeface="Calibri"/>
                        </a:rPr>
                        <a:t>Dotenv</a:t>
                      </a:r>
                      <a:r>
                        <a:rPr lang="es-EC" sz="900" dirty="0">
                          <a:solidFill>
                            <a:srgbClr val="4F81BD"/>
                          </a:solidFill>
                          <a:latin typeface="Calibri"/>
                          <a:ea typeface="Calibri"/>
                          <a:cs typeface="Calibri"/>
                          <a:sym typeface="Calibri"/>
                        </a:rPr>
                        <a:t> ENV = cargar();</a:t>
                      </a:r>
                    </a:p>
                    <a:p>
                      <a:pPr marL="0" lvl="0" indent="0" algn="l" rtl="0">
                        <a:lnSpc>
                          <a:spcPct val="144000"/>
                        </a:lnSpc>
                        <a:spcBef>
                          <a:spcPts val="0"/>
                        </a:spcBef>
                        <a:spcAft>
                          <a:spcPts val="0"/>
                        </a:spcAft>
                        <a:buNone/>
                      </a:pPr>
                      <a:endParaRPr lang="es-EC"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private</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RestConfig</a:t>
                      </a:r>
                      <a:r>
                        <a:rPr lang="es-EC" sz="900" dirty="0">
                          <a:solidFill>
                            <a:srgbClr val="4F81BD"/>
                          </a:solidFill>
                          <a:latin typeface="Calibri"/>
                          <a:ea typeface="Calibri"/>
                          <a:cs typeface="Calibri"/>
                          <a:sym typeface="Calibri"/>
                        </a:rPr>
                        <a:t>() { }</a:t>
                      </a:r>
                    </a:p>
                    <a:p>
                      <a:pPr marL="0" lvl="0" indent="0" algn="l" rtl="0">
                        <a:lnSpc>
                          <a:spcPct val="144000"/>
                        </a:lnSpc>
                        <a:spcBef>
                          <a:spcPts val="0"/>
                        </a:spcBef>
                        <a:spcAft>
                          <a:spcPts val="0"/>
                        </a:spcAft>
                        <a:buNone/>
                      </a:pPr>
                      <a:endParaRPr lang="es-EC"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private</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static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Dotenv</a:t>
                      </a:r>
                      <a:r>
                        <a:rPr lang="es-EC" sz="900" dirty="0">
                          <a:solidFill>
                            <a:srgbClr val="4F81BD"/>
                          </a:solidFill>
                          <a:latin typeface="Calibri"/>
                          <a:ea typeface="Calibri"/>
                          <a:cs typeface="Calibri"/>
                          <a:sym typeface="Calibri"/>
                        </a:rPr>
                        <a:t> cargar()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File archivo = </a:t>
                      </a:r>
                      <a:r>
                        <a:rPr lang="es-EC" sz="900" dirty="0" err="1">
                          <a:solidFill>
                            <a:srgbClr val="4F81BD"/>
                          </a:solidFill>
                          <a:latin typeface="Calibri"/>
                          <a:ea typeface="Calibri"/>
                          <a:cs typeface="Calibri"/>
                          <a:sym typeface="Calibri"/>
                        </a:rPr>
                        <a:t>ubicarArchivo</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if</a:t>
                      </a:r>
                      <a:r>
                        <a:rPr lang="es-EC" sz="900" dirty="0">
                          <a:solidFill>
                            <a:srgbClr val="4F81BD"/>
                          </a:solidFill>
                          <a:latin typeface="Calibri"/>
                          <a:ea typeface="Calibri"/>
                          <a:cs typeface="Calibri"/>
                          <a:sym typeface="Calibri"/>
                        </a:rPr>
                        <a:t> (archivo != </a:t>
                      </a:r>
                      <a:r>
                        <a:rPr lang="es-EC" sz="900" dirty="0" err="1">
                          <a:solidFill>
                            <a:srgbClr val="4F81BD"/>
                          </a:solidFill>
                          <a:latin typeface="Calibri"/>
                          <a:ea typeface="Calibri"/>
                          <a:cs typeface="Calibri"/>
                          <a:sym typeface="Calibri"/>
                        </a:rPr>
                        <a:t>null</a:t>
                      </a: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return</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Dotenv.configure</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directory</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archivo.getParent</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filename</a:t>
                      </a:r>
                      <a:r>
                        <a:rPr lang="es-EC" sz="900" dirty="0">
                          <a:solidFill>
                            <a:srgbClr val="4F81BD"/>
                          </a:solidFill>
                          <a:latin typeface="Calibri"/>
                          <a:ea typeface="Calibri"/>
                          <a:cs typeface="Calibri"/>
                          <a:sym typeface="Calibri"/>
                        </a:rPr>
                        <a:t>(ARCHIVO_ENV)</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ignoreIfMissing</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.load();</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return</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Dotenv.configure</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filename</a:t>
                      </a:r>
                      <a:r>
                        <a:rPr lang="es-EC" sz="900" dirty="0">
                          <a:solidFill>
                            <a:srgbClr val="4F81BD"/>
                          </a:solidFill>
                          <a:latin typeface="Calibri"/>
                          <a:ea typeface="Calibri"/>
                          <a:cs typeface="Calibri"/>
                          <a:sym typeface="Calibri"/>
                        </a:rPr>
                        <a:t>(ARCHIVO_ENV)</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ignoreIfMissing</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.load();</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txBody>
                  <a:tcPr marL="63500" marR="63500" marT="63500" marB="63500"/>
                </a:tc>
                <a:extLst>
                  <a:ext uri="{0D108BD9-81ED-4DB2-BD59-A6C34878D82A}">
                    <a16:rowId xmlns:a16="http://schemas.microsoft.com/office/drawing/2014/main" val="10000"/>
                  </a:ext>
                </a:extLst>
              </a:tr>
            </a:tbl>
          </a:graphicData>
        </a:graphic>
      </p:graphicFrame>
      <p:sp>
        <p:nvSpPr>
          <p:cNvPr id="5" name="Google Shape;319;p40">
            <a:extLst>
              <a:ext uri="{FF2B5EF4-FFF2-40B4-BE49-F238E27FC236}">
                <a16:creationId xmlns:a16="http://schemas.microsoft.com/office/drawing/2014/main" id="{90E606E2-56E3-1D77-8B34-317086E79A6F}"/>
              </a:ext>
            </a:extLst>
          </p:cNvPr>
          <p:cNvSpPr txBox="1">
            <a:spLocks noGrp="1"/>
          </p:cNvSpPr>
          <p:nvPr>
            <p:ph type="body" idx="1"/>
          </p:nvPr>
        </p:nvSpPr>
        <p:spPr>
          <a:xfrm>
            <a:off x="-1" y="1837551"/>
            <a:ext cx="1940435" cy="4447919"/>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6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53" name="Google Shape;553;p68"/>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555" name="Google Shape;555;p68"/>
          <p:cNvGraphicFramePr/>
          <p:nvPr>
            <p:extLst>
              <p:ext uri="{D42A27DB-BD31-4B8C-83A1-F6EECF244321}">
                <p14:modId xmlns:p14="http://schemas.microsoft.com/office/powerpoint/2010/main" val="1714520733"/>
              </p:ext>
            </p:extLst>
          </p:nvPr>
        </p:nvGraphicFramePr>
        <p:xfrm>
          <a:off x="2291648" y="1838167"/>
          <a:ext cx="6484300" cy="4847463"/>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23900">
                <a:tc>
                  <a:txBody>
                    <a:bodyPr/>
                    <a:lstStyle/>
                    <a:p>
                      <a:pPr marL="0" lvl="0" indent="0" algn="l" rtl="0">
                        <a:lnSpc>
                          <a:spcPct val="144000"/>
                        </a:lnSpc>
                        <a:spcBef>
                          <a:spcPts val="0"/>
                        </a:spcBef>
                        <a:spcAft>
                          <a:spcPts val="0"/>
                        </a:spcAft>
                        <a:buNone/>
                      </a:pP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class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MainController</a:t>
                      </a: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final </a:t>
                      </a:r>
                      <a:r>
                        <a:rPr lang="es-ES" sz="900" dirty="0" err="1">
                          <a:solidFill>
                            <a:srgbClr val="4F81BD"/>
                          </a:solidFill>
                          <a:latin typeface="Calibri"/>
                          <a:ea typeface="Calibri"/>
                          <a:cs typeface="Calibri"/>
                          <a:sym typeface="Calibri"/>
                        </a:rPr>
                        <a:t>MainVista</a:t>
                      </a:r>
                      <a:r>
                        <a:rPr lang="es-ES" sz="900" dirty="0">
                          <a:solidFill>
                            <a:srgbClr val="4F81BD"/>
                          </a:solidFill>
                          <a:latin typeface="Calibri"/>
                          <a:ea typeface="Calibri"/>
                          <a:cs typeface="Calibri"/>
                          <a:sym typeface="Calibri"/>
                        </a:rPr>
                        <a:t> vista;</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final </a:t>
                      </a:r>
                      <a:r>
                        <a:rPr lang="es-ES" sz="900" dirty="0" err="1">
                          <a:solidFill>
                            <a:srgbClr val="4F81BD"/>
                          </a:solidFill>
                          <a:latin typeface="Calibri"/>
                          <a:ea typeface="Calibri"/>
                          <a:cs typeface="Calibri"/>
                          <a:sym typeface="Calibri"/>
                        </a:rPr>
                        <a:t>WSConversorCliente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client</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MainController</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MainVista</a:t>
                      </a:r>
                      <a:r>
                        <a:rPr lang="es-ES" sz="900" dirty="0">
                          <a:solidFill>
                            <a:srgbClr val="4F81BD"/>
                          </a:solidFill>
                          <a:latin typeface="Calibri"/>
                          <a:ea typeface="Calibri"/>
                          <a:cs typeface="Calibri"/>
                          <a:sym typeface="Calibri"/>
                        </a:rPr>
                        <a:t> vista, </a:t>
                      </a:r>
                      <a:r>
                        <a:rPr lang="es-ES" sz="900" dirty="0" err="1">
                          <a:solidFill>
                            <a:srgbClr val="4F81BD"/>
                          </a:solidFill>
                          <a:latin typeface="Calibri"/>
                          <a:ea typeface="Calibri"/>
                          <a:cs typeface="Calibri"/>
                          <a:sym typeface="Calibri"/>
                        </a:rPr>
                        <a:t>WSConversorCliente</a:t>
                      </a:r>
                      <a:r>
                        <a:rPr lang="es-ES" sz="900" dirty="0">
                          <a:solidFill>
                            <a:srgbClr val="4F81BD"/>
                          </a:solidFill>
                          <a:latin typeface="Calibri"/>
                          <a:ea typeface="Calibri"/>
                          <a:cs typeface="Calibri"/>
                          <a:sym typeface="Calibri"/>
                        </a:rPr>
                        <a:t> cliente)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this.vista</a:t>
                      </a:r>
                      <a:r>
                        <a:rPr lang="es-ES" sz="900" dirty="0">
                          <a:solidFill>
                            <a:srgbClr val="4F81BD"/>
                          </a:solidFill>
                          <a:latin typeface="Calibri"/>
                          <a:ea typeface="Calibri"/>
                          <a:cs typeface="Calibri"/>
                          <a:sym typeface="Calibri"/>
                        </a:rPr>
                        <a:t> = vista;</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this.client</a:t>
                      </a:r>
                      <a:r>
                        <a:rPr lang="es-ES" sz="900" dirty="0">
                          <a:solidFill>
                            <a:srgbClr val="4F81BD"/>
                          </a:solidFill>
                          <a:latin typeface="Calibri"/>
                          <a:ea typeface="Calibri"/>
                          <a:cs typeface="Calibri"/>
                          <a:sym typeface="Calibri"/>
                        </a:rPr>
                        <a:t> = cliente;</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void</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init</a:t>
                      </a: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for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TipoConversion</a:t>
                      </a:r>
                      <a:r>
                        <a:rPr lang="es-ES" sz="900" dirty="0">
                          <a:solidFill>
                            <a:srgbClr val="4F81BD"/>
                          </a:solidFill>
                          <a:latin typeface="Calibri"/>
                          <a:ea typeface="Calibri"/>
                          <a:cs typeface="Calibri"/>
                          <a:sym typeface="Calibri"/>
                        </a:rPr>
                        <a:t> tipo : </a:t>
                      </a:r>
                      <a:r>
                        <a:rPr lang="es-ES" sz="900" dirty="0" err="1">
                          <a:solidFill>
                            <a:srgbClr val="4F81BD"/>
                          </a:solidFill>
                          <a:latin typeface="Calibri"/>
                          <a:ea typeface="Calibri"/>
                          <a:cs typeface="Calibri"/>
                          <a:sym typeface="Calibri"/>
                        </a:rPr>
                        <a:t>TipoConversion.values</a:t>
                      </a: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ConversionController</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vista.getPanelConversion</a:t>
                      </a:r>
                      <a:r>
                        <a:rPr lang="es-ES" sz="900" dirty="0">
                          <a:solidFill>
                            <a:srgbClr val="4F81BD"/>
                          </a:solidFill>
                          <a:latin typeface="Calibri"/>
                          <a:ea typeface="Calibri"/>
                          <a:cs typeface="Calibri"/>
                          <a:sym typeface="Calibri"/>
                        </a:rPr>
                        <a:t>(tipo), </a:t>
                      </a:r>
                      <a:r>
                        <a:rPr lang="es-ES" sz="900" dirty="0" err="1">
                          <a:solidFill>
                            <a:srgbClr val="4F81BD"/>
                          </a:solidFill>
                          <a:latin typeface="Calibri"/>
                          <a:ea typeface="Calibri"/>
                          <a:cs typeface="Calibri"/>
                          <a:sym typeface="Calibri"/>
                        </a:rPr>
                        <a:t>client</a:t>
                      </a:r>
                      <a:r>
                        <a:rPr lang="es-ES" sz="900" dirty="0">
                          <a:solidFill>
                            <a:srgbClr val="4F81BD"/>
                          </a:solidFill>
                          <a:latin typeface="Calibri"/>
                          <a:ea typeface="Calibri"/>
                          <a:cs typeface="Calibri"/>
                          <a:sym typeface="Calibri"/>
                        </a:rPr>
                        <a:t>, tipo);</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vista.getBtnCerrarSesion</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addActionListener</a:t>
                      </a:r>
                      <a:r>
                        <a:rPr lang="es-ES" sz="900" dirty="0">
                          <a:solidFill>
                            <a:srgbClr val="4F81BD"/>
                          </a:solidFill>
                          <a:latin typeface="Calibri"/>
                          <a:ea typeface="Calibri"/>
                          <a:cs typeface="Calibri"/>
                          <a:sym typeface="Calibri"/>
                        </a:rPr>
                        <a:t>(evento -&gt; </a:t>
                      </a:r>
                      <a:r>
                        <a:rPr lang="es-ES" sz="900" dirty="0" err="1">
                          <a:solidFill>
                            <a:srgbClr val="4F81BD"/>
                          </a:solidFill>
                          <a:latin typeface="Calibri"/>
                          <a:ea typeface="Calibri"/>
                          <a:cs typeface="Calibri"/>
                          <a:sym typeface="Calibri"/>
                        </a:rPr>
                        <a:t>cerrarSesion</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vista.setLocationRelativeTo</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null</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vista.setVisible</a:t>
                      </a:r>
                      <a:r>
                        <a:rPr lang="es-ES" sz="900" dirty="0">
                          <a:solidFill>
                            <a:srgbClr val="4F81BD"/>
                          </a:solidFill>
                          <a:latin typeface="Calibri"/>
                          <a:ea typeface="Calibri"/>
                          <a:cs typeface="Calibri"/>
                          <a:sym typeface="Calibri"/>
                        </a:rPr>
                        <a:t>(true);</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void</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cerrarSesion</a:t>
                      </a: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vista.dispose</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LoginVista</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login</a:t>
                      </a:r>
                      <a:r>
                        <a:rPr lang="es-ES" sz="900" dirty="0">
                          <a:solidFill>
                            <a:srgbClr val="4F81BD"/>
                          </a:solidFill>
                          <a:latin typeface="Calibri"/>
                          <a:ea typeface="Calibri"/>
                          <a:cs typeface="Calibri"/>
                          <a:sym typeface="Calibri"/>
                        </a:rPr>
                        <a:t> = new </a:t>
                      </a:r>
                      <a:r>
                        <a:rPr lang="es-ES" sz="900" dirty="0" err="1">
                          <a:solidFill>
                            <a:srgbClr val="4F81BD"/>
                          </a:solidFill>
                          <a:latin typeface="Calibri"/>
                          <a:ea typeface="Calibri"/>
                          <a:cs typeface="Calibri"/>
                          <a:sym typeface="Calibri"/>
                        </a:rPr>
                        <a:t>LoginVista</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LoginController</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login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client</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login.setVisible</a:t>
                      </a:r>
                      <a:r>
                        <a:rPr lang="es-ES" sz="900" dirty="0">
                          <a:solidFill>
                            <a:srgbClr val="4F81BD"/>
                          </a:solidFill>
                          <a:latin typeface="Calibri"/>
                          <a:ea typeface="Calibri"/>
                          <a:cs typeface="Calibri"/>
                          <a:sym typeface="Calibri"/>
                        </a:rPr>
                        <a:t>(true);</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endParaRPr sz="9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3E5A9CED-F171-E838-6853-A7AC2D6B416B}"/>
              </a:ext>
            </a:extLst>
          </p:cNvPr>
          <p:cNvSpPr txBox="1">
            <a:spLocks noGrp="1"/>
          </p:cNvSpPr>
          <p:nvPr>
            <p:ph type="body" idx="1"/>
          </p:nvPr>
        </p:nvSpPr>
        <p:spPr>
          <a:xfrm>
            <a:off x="172993" y="2136238"/>
            <a:ext cx="1940435" cy="4447919"/>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6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61" name="Google Shape;561;p69"/>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62" name="Google Shape;562;p69"/>
          <p:cNvSpPr txBox="1">
            <a:spLocks noGrp="1"/>
          </p:cNvSpPr>
          <p:nvPr>
            <p:ph type="body" idx="1"/>
          </p:nvPr>
        </p:nvSpPr>
        <p:spPr>
          <a:xfrm>
            <a:off x="271974" y="2738849"/>
            <a:ext cx="4491014" cy="886044"/>
          </a:xfrm>
          <a:prstGeom prst="rect">
            <a:avLst/>
          </a:prstGeom>
          <a:noFill/>
          <a:ln>
            <a:noFill/>
          </a:ln>
        </p:spPr>
        <p:txBody>
          <a:bodyPr spcFirstLastPara="1" wrap="square" lIns="91425" tIns="45700" rIns="91425" bIns="45700" anchor="ctr" anchorCtr="0">
            <a:noAutofit/>
          </a:bodyPr>
          <a:lstStyle/>
          <a:p>
            <a:pPr marL="457200" lvl="0" indent="-327406" algn="l" rtl="0">
              <a:lnSpc>
                <a:spcPct val="150000"/>
              </a:lnSpc>
              <a:spcBef>
                <a:spcPts val="0"/>
              </a:spcBef>
              <a:spcAft>
                <a:spcPts val="0"/>
              </a:spcAft>
              <a:buSzPts val="1556"/>
              <a:buChar char="∙"/>
            </a:pPr>
            <a:r>
              <a:rPr lang="es-MX" sz="1400" dirty="0">
                <a:solidFill>
                  <a:schemeClr val="dk1"/>
                </a:solidFill>
                <a:latin typeface="Calibri"/>
                <a:ea typeface="Calibri"/>
                <a:cs typeface="Calibri"/>
                <a:sym typeface="Calibri"/>
              </a:rPr>
              <a:t>La configuración para la conexión con el servidor se maneja igual que en la conexión desde el cliente de consola</a:t>
            </a:r>
          </a:p>
          <a:p>
            <a:pPr marL="457200" lvl="0" indent="-327406" algn="l" rtl="0">
              <a:lnSpc>
                <a:spcPct val="150000"/>
              </a:lnSpc>
              <a:spcBef>
                <a:spcPts val="0"/>
              </a:spcBef>
              <a:spcAft>
                <a:spcPts val="0"/>
              </a:spcAft>
              <a:buSzPts val="1556"/>
              <a:buChar char="∙"/>
            </a:pPr>
            <a:r>
              <a:rPr lang="es-MX" sz="1400" dirty="0">
                <a:solidFill>
                  <a:schemeClr val="dk1"/>
                </a:solidFill>
                <a:latin typeface="Calibri"/>
                <a:ea typeface="Calibri"/>
                <a:cs typeface="Calibri"/>
                <a:sym typeface="Calibri"/>
              </a:rPr>
              <a:t>Para poder probar se debe ejecutar el archivo principal del proyecto</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graphicFrame>
        <p:nvGraphicFramePr>
          <p:cNvPr id="563" name="Google Shape;563;p69"/>
          <p:cNvGraphicFramePr/>
          <p:nvPr>
            <p:extLst>
              <p:ext uri="{D42A27DB-BD31-4B8C-83A1-F6EECF244321}">
                <p14:modId xmlns:p14="http://schemas.microsoft.com/office/powerpoint/2010/main" val="4054151232"/>
              </p:ext>
            </p:extLst>
          </p:nvPr>
        </p:nvGraphicFramePr>
        <p:xfrm>
          <a:off x="4762988" y="1923059"/>
          <a:ext cx="4043261" cy="4742085"/>
        </p:xfrm>
        <a:graphic>
          <a:graphicData uri="http://schemas.openxmlformats.org/drawingml/2006/table">
            <a:tbl>
              <a:tblPr>
                <a:noFill/>
                <a:tableStyleId>{BF136021-7255-42B7-A7E7-87A8D8FFE9CA}</a:tableStyleId>
              </a:tblPr>
              <a:tblGrid>
                <a:gridCol w="4043261">
                  <a:extLst>
                    <a:ext uri="{9D8B030D-6E8A-4147-A177-3AD203B41FA5}">
                      <a16:colId xmlns:a16="http://schemas.microsoft.com/office/drawing/2014/main" val="20000"/>
                    </a:ext>
                  </a:extLst>
                </a:gridCol>
              </a:tblGrid>
              <a:tr h="4742085">
                <a:tc>
                  <a:txBody>
                    <a:bodyPr/>
                    <a:lstStyle/>
                    <a:p>
                      <a:pPr marL="0" lvl="0" indent="0" algn="l" rtl="0">
                        <a:lnSpc>
                          <a:spcPct val="144000"/>
                        </a:lnSpc>
                        <a:spcBef>
                          <a:spcPts val="0"/>
                        </a:spcBef>
                        <a:spcAft>
                          <a:spcPts val="0"/>
                        </a:spcAft>
                        <a:buNone/>
                      </a:pP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class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WSConversorCliente</a:t>
                      </a: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static</a:t>
                      </a:r>
                      <a:r>
                        <a:rPr lang="es-ES" sz="900" dirty="0">
                          <a:solidFill>
                            <a:srgbClr val="4F81BD"/>
                          </a:solidFill>
                          <a:latin typeface="Calibri"/>
                          <a:ea typeface="Calibri"/>
                          <a:cs typeface="Calibri"/>
                          <a:sym typeface="Calibri"/>
                        </a:rPr>
                        <a:t> final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TIPO_JSON = "</a:t>
                      </a:r>
                      <a:r>
                        <a:rPr lang="es-ES" sz="900" dirty="0" err="1">
                          <a:solidFill>
                            <a:srgbClr val="4F81BD"/>
                          </a:solidFill>
                          <a:latin typeface="Calibri"/>
                          <a:ea typeface="Calibri"/>
                          <a:cs typeface="Calibri"/>
                          <a:sym typeface="Calibri"/>
                        </a:rPr>
                        <a:t>application</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json</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final </a:t>
                      </a:r>
                      <a:r>
                        <a:rPr lang="es-ES" sz="900" dirty="0" err="1">
                          <a:solidFill>
                            <a:srgbClr val="4F81BD"/>
                          </a:solidFill>
                          <a:latin typeface="Calibri"/>
                          <a:ea typeface="Calibri"/>
                          <a:cs typeface="Calibri"/>
                          <a:sym typeface="Calibri"/>
                        </a:rPr>
                        <a:t>HttpClient</a:t>
                      </a:r>
                      <a:r>
                        <a:rPr lang="es-ES" sz="900" dirty="0">
                          <a:solidFill>
                            <a:srgbClr val="4F81BD"/>
                          </a:solidFill>
                          <a:latin typeface="Calibri"/>
                          <a:ea typeface="Calibri"/>
                          <a:cs typeface="Calibri"/>
                          <a:sym typeface="Calibri"/>
                        </a:rPr>
                        <a:t> http;</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final </a:t>
                      </a:r>
                      <a:r>
                        <a:rPr lang="es-ES" sz="900" dirty="0" err="1">
                          <a:solidFill>
                            <a:srgbClr val="4F81BD"/>
                          </a:solidFill>
                          <a:latin typeface="Calibri"/>
                          <a:ea typeface="Calibri"/>
                          <a:cs typeface="Calibri"/>
                          <a:sym typeface="Calibri"/>
                        </a:rPr>
                        <a:t>Gson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gson</a:t>
                      </a:r>
                      <a:r>
                        <a:rPr lang="es-ES" sz="900" dirty="0">
                          <a:solidFill>
                            <a:srgbClr val="4F81BD"/>
                          </a:solidFill>
                          <a:latin typeface="Calibri"/>
                          <a:ea typeface="Calibri"/>
                          <a:cs typeface="Calibri"/>
                          <a:sym typeface="Calibri"/>
                        </a:rPr>
                        <a:t> = new </a:t>
                      </a:r>
                      <a:r>
                        <a:rPr lang="es-ES" sz="900" dirty="0" err="1">
                          <a:solidFill>
                            <a:srgbClr val="4F81BD"/>
                          </a:solidFill>
                          <a:latin typeface="Calibri"/>
                          <a:ea typeface="Calibri"/>
                          <a:cs typeface="Calibri"/>
                          <a:sym typeface="Calibri"/>
                        </a:rPr>
                        <a:t>Gson</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WSConversorCliente</a:t>
                      </a: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HttpClient.Builder</a:t>
                      </a:r>
                      <a:r>
                        <a:rPr lang="es-ES" sz="900" dirty="0">
                          <a:solidFill>
                            <a:srgbClr val="4F81BD"/>
                          </a:solidFill>
                          <a:latin typeface="Calibri"/>
                          <a:ea typeface="Calibri"/>
                          <a:cs typeface="Calibri"/>
                          <a:sym typeface="Calibri"/>
                        </a:rPr>
                        <a:t> constructor = </a:t>
                      </a:r>
                      <a:r>
                        <a:rPr lang="es-ES" sz="900" dirty="0" err="1">
                          <a:solidFill>
                            <a:srgbClr val="4F81BD"/>
                          </a:solidFill>
                          <a:latin typeface="Calibri"/>
                          <a:ea typeface="Calibri"/>
                          <a:cs typeface="Calibri"/>
                          <a:sym typeface="Calibri"/>
                        </a:rPr>
                        <a:t>HttpClient.newBuilder</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connectTimeout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Duration.ofMillis</a:t>
                      </a:r>
                      <a:r>
                        <a:rPr lang="es-ES" sz="900" dirty="0">
                          <a:solidFill>
                            <a:srgbClr val="4F81BD"/>
                          </a:solidFill>
                          <a:latin typeface="Calibri"/>
                          <a:ea typeface="Calibri"/>
                          <a:cs typeface="Calibri"/>
                          <a:sym typeface="Calibri"/>
                        </a:rPr>
                        <a:t>(configurado(</a:t>
                      </a:r>
                      <a:r>
                        <a:rPr lang="es-ES" sz="900" dirty="0" err="1">
                          <a:solidFill>
                            <a:srgbClr val="4F81BD"/>
                          </a:solidFill>
                          <a:latin typeface="Calibri"/>
                          <a:ea typeface="Calibri"/>
                          <a:cs typeface="Calibri"/>
                          <a:sym typeface="Calibri"/>
                        </a:rPr>
                        <a:t>RestConfig</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connectTimeout</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RestConfig.insecureTls</a:t>
                      </a: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constructor.sslContext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TlsInseguro.contextoInseguro</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sslParameters</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TlsInseguro.parametrosSinVerificacionDeHost</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http = </a:t>
                      </a:r>
                      <a:r>
                        <a:rPr lang="es-ES" sz="900" dirty="0" err="1">
                          <a:solidFill>
                            <a:srgbClr val="4F81BD"/>
                          </a:solidFill>
                          <a:latin typeface="Calibri"/>
                          <a:ea typeface="Calibri"/>
                          <a:cs typeface="Calibri"/>
                          <a:sym typeface="Calibri"/>
                        </a:rPr>
                        <a:t>constructor.build</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endParaRPr lang="es-ES" sz="9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7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69" name="Google Shape;569;p70"/>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71" name="Google Shape;571;p70"/>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81BAB808-DE65-7F10-83B4-5D79A43D8EBF}"/>
              </a:ext>
            </a:extLst>
          </p:cNvPr>
          <p:cNvPicPr>
            <a:picLocks noChangeAspect="1"/>
          </p:cNvPicPr>
          <p:nvPr/>
        </p:nvPicPr>
        <p:blipFill>
          <a:blip r:embed="rId3"/>
          <a:stretch>
            <a:fillRect/>
          </a:stretch>
        </p:blipFill>
        <p:spPr>
          <a:xfrm>
            <a:off x="2148257" y="2526869"/>
            <a:ext cx="5611786" cy="390662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7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77" name="Google Shape;577;p71"/>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78" name="Google Shape;578;p71"/>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inicial al iniciar sesión</a:t>
            </a:r>
            <a:endParaRPr sz="2000" b="0" i="0" u="none" strike="noStrike" cap="none" dirty="0">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4C621075-3CD1-7C87-EF12-36A397FEC092}"/>
              </a:ext>
            </a:extLst>
          </p:cNvPr>
          <p:cNvPicPr>
            <a:picLocks noChangeAspect="1"/>
          </p:cNvPicPr>
          <p:nvPr/>
        </p:nvPicPr>
        <p:blipFill>
          <a:blip r:embed="rId3"/>
          <a:stretch>
            <a:fillRect/>
          </a:stretch>
        </p:blipFill>
        <p:spPr>
          <a:xfrm>
            <a:off x="1932874" y="2514114"/>
            <a:ext cx="5984152" cy="404810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7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85" name="Google Shape;585;p72"/>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86" name="Google Shape;586;p72"/>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de una conversión de temperatura</a:t>
            </a:r>
            <a:endParaRPr sz="2000" b="0" i="0" u="none" strike="noStrike" cap="none" dirty="0">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F879563B-FF1F-6024-C10C-3BDBB57A7A63}"/>
              </a:ext>
            </a:extLst>
          </p:cNvPr>
          <p:cNvPicPr>
            <a:picLocks noChangeAspect="1"/>
          </p:cNvPicPr>
          <p:nvPr/>
        </p:nvPicPr>
        <p:blipFill>
          <a:blip r:embed="rId3"/>
          <a:stretch>
            <a:fillRect/>
          </a:stretch>
        </p:blipFill>
        <p:spPr>
          <a:xfrm>
            <a:off x="2020957" y="2610549"/>
            <a:ext cx="5807985" cy="385909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7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93" name="Google Shape;593;p73"/>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94" name="Google Shape;594;p73"/>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09197" lvl="0" indent="-285750" algn="just" rtl="0">
              <a:lnSpc>
                <a:spcPct val="107000"/>
              </a:lnSpc>
              <a:spcBef>
                <a:spcPts val="0"/>
              </a:spcBef>
              <a:spcAft>
                <a:spcPts val="0"/>
              </a:spcAft>
              <a:buSzPts val="1656"/>
              <a:buFont typeface="Arial" panose="020B0604020202020204" pitchFamily="34" charset="0"/>
              <a:buChar char="•"/>
            </a:pPr>
            <a:r>
              <a:rPr lang="es-ES" sz="1564" dirty="0">
                <a:latin typeface="Cambria"/>
                <a:ea typeface="Cambria"/>
                <a:cs typeface="Cambria"/>
                <a:sym typeface="Cambria"/>
              </a:rPr>
              <a:t>Para el cliente web se debe crear en java una web </a:t>
            </a:r>
            <a:r>
              <a:rPr lang="es-ES" sz="1564" dirty="0" err="1">
                <a:latin typeface="Cambria"/>
                <a:ea typeface="Cambria"/>
                <a:cs typeface="Cambria"/>
                <a:sym typeface="Cambria"/>
              </a:rPr>
              <a:t>application</a:t>
            </a:r>
            <a:endParaRPr dirty="0">
              <a:latin typeface="Cambria"/>
              <a:ea typeface="Cambria"/>
              <a:cs typeface="Cambria"/>
              <a:sym typeface="Cambria"/>
            </a:endParaRPr>
          </a:p>
        </p:txBody>
      </p:sp>
      <p:sp>
        <p:nvSpPr>
          <p:cNvPr id="2" name="TextBox 1">
            <a:extLst>
              <a:ext uri="{FF2B5EF4-FFF2-40B4-BE49-F238E27FC236}">
                <a16:creationId xmlns:a16="http://schemas.microsoft.com/office/drawing/2014/main" id="{36902FD8-93D1-66C6-E6F4-D37C43665E30}"/>
              </a:ext>
            </a:extLst>
          </p:cNvPr>
          <p:cNvSpPr txBox="1"/>
          <p:nvPr/>
        </p:nvSpPr>
        <p:spPr>
          <a:xfrm>
            <a:off x="704335" y="1902979"/>
            <a:ext cx="6104238" cy="318998"/>
          </a:xfrm>
          <a:prstGeom prst="rect">
            <a:avLst/>
          </a:prstGeom>
          <a:noFill/>
        </p:spPr>
        <p:txBody>
          <a:bodyPr wrap="square">
            <a:spAutoFit/>
          </a:bodyPr>
          <a:lstStyle/>
          <a:p>
            <a:pPr marL="0" lvl="0" indent="0" algn="l" rtl="0">
              <a:lnSpc>
                <a:spcPct val="115000"/>
              </a:lnSpc>
              <a:spcBef>
                <a:spcPts val="1200"/>
              </a:spcBef>
              <a:spcAft>
                <a:spcPts val="0"/>
              </a:spcAft>
              <a:buClr>
                <a:schemeClr val="dk1"/>
              </a:buClr>
              <a:buSzPct val="70332"/>
              <a:buFont typeface="Arial"/>
              <a:buNone/>
            </a:pPr>
            <a:r>
              <a:rPr lang="es-MX" sz="1400" b="1" dirty="0">
                <a:latin typeface="Cambria"/>
                <a:ea typeface="Cambria"/>
                <a:cs typeface="Cambria"/>
                <a:sym typeface="Cambria"/>
              </a:rPr>
              <a:t>1.</a:t>
            </a:r>
            <a:r>
              <a:rPr lang="es-MX" b="1" dirty="0">
                <a:latin typeface="Cambria"/>
                <a:ea typeface="Cambria"/>
                <a:cs typeface="Cambria"/>
                <a:sym typeface="Cambria"/>
              </a:rPr>
              <a:t>5</a:t>
            </a:r>
            <a:r>
              <a:rPr lang="es-MX" sz="1400" b="1" dirty="0">
                <a:latin typeface="Cambria"/>
                <a:ea typeface="Cambria"/>
                <a:cs typeface="Cambria"/>
                <a:sym typeface="Cambria"/>
              </a:rPr>
              <a:t>  CREACIÓN DEL PROYECTO CLIENTE </a:t>
            </a:r>
            <a:r>
              <a:rPr lang="es-MX" b="1" dirty="0">
                <a:latin typeface="Cambria"/>
                <a:ea typeface="Cambria"/>
                <a:cs typeface="Cambria"/>
                <a:sym typeface="Cambria"/>
              </a:rPr>
              <a:t>WEB</a:t>
            </a:r>
            <a:endParaRPr lang="es-MX" sz="1400" b="1" dirty="0">
              <a:latin typeface="Cambria"/>
              <a:ea typeface="Cambria"/>
              <a:cs typeface="Cambria"/>
              <a:sym typeface="Cambria"/>
            </a:endParaRPr>
          </a:p>
        </p:txBody>
      </p:sp>
      <p:pic>
        <p:nvPicPr>
          <p:cNvPr id="6" name="Picture 5">
            <a:extLst>
              <a:ext uri="{FF2B5EF4-FFF2-40B4-BE49-F238E27FC236}">
                <a16:creationId xmlns:a16="http://schemas.microsoft.com/office/drawing/2014/main" id="{DEB357B6-7FC5-EAB8-C703-D2E55A0A226B}"/>
              </a:ext>
            </a:extLst>
          </p:cNvPr>
          <p:cNvPicPr>
            <a:picLocks noChangeAspect="1"/>
          </p:cNvPicPr>
          <p:nvPr/>
        </p:nvPicPr>
        <p:blipFill>
          <a:blip r:embed="rId3"/>
          <a:stretch>
            <a:fillRect/>
          </a:stretch>
        </p:blipFill>
        <p:spPr>
          <a:xfrm>
            <a:off x="481207" y="2997438"/>
            <a:ext cx="4667441" cy="3176162"/>
          </a:xfrm>
          <a:prstGeom prst="rect">
            <a:avLst/>
          </a:prstGeom>
        </p:spPr>
      </p:pic>
      <p:pic>
        <p:nvPicPr>
          <p:cNvPr id="4" name="Picture 3">
            <a:extLst>
              <a:ext uri="{FF2B5EF4-FFF2-40B4-BE49-F238E27FC236}">
                <a16:creationId xmlns:a16="http://schemas.microsoft.com/office/drawing/2014/main" id="{765857D8-E8F8-A522-DD01-D34691CD019B}"/>
              </a:ext>
            </a:extLst>
          </p:cNvPr>
          <p:cNvPicPr>
            <a:picLocks noChangeAspect="1"/>
          </p:cNvPicPr>
          <p:nvPr/>
        </p:nvPicPr>
        <p:blipFill>
          <a:blip r:embed="rId4"/>
          <a:stretch>
            <a:fillRect/>
          </a:stretch>
        </p:blipFill>
        <p:spPr>
          <a:xfrm>
            <a:off x="5372438" y="3685849"/>
            <a:ext cx="3787468" cy="156223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7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02" name="Google Shape;602;p74"/>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604" name="Google Shape;604;p74"/>
          <p:cNvGraphicFramePr/>
          <p:nvPr>
            <p:extLst>
              <p:ext uri="{D42A27DB-BD31-4B8C-83A1-F6EECF244321}">
                <p14:modId xmlns:p14="http://schemas.microsoft.com/office/powerpoint/2010/main" val="1611081261"/>
              </p:ext>
            </p:extLst>
          </p:nvPr>
        </p:nvGraphicFramePr>
        <p:xfrm>
          <a:off x="2485197" y="2308973"/>
          <a:ext cx="5311878" cy="3762629"/>
        </p:xfrm>
        <a:graphic>
          <a:graphicData uri="http://schemas.openxmlformats.org/drawingml/2006/table">
            <a:tbl>
              <a:tblPr>
                <a:noFill/>
                <a:tableStyleId>{BF136021-7255-42B7-A7E7-87A8D8FFE9CA}</a:tableStyleId>
              </a:tblPr>
              <a:tblGrid>
                <a:gridCol w="5311878">
                  <a:extLst>
                    <a:ext uri="{9D8B030D-6E8A-4147-A177-3AD203B41FA5}">
                      <a16:colId xmlns:a16="http://schemas.microsoft.com/office/drawing/2014/main" val="20000"/>
                    </a:ext>
                  </a:extLst>
                </a:gridCol>
              </a:tblGrid>
              <a:tr h="3310967">
                <a:tc>
                  <a:txBody>
                    <a:bodyPr/>
                    <a:lstStyle/>
                    <a:p>
                      <a:pPr marL="0" lvl="0" indent="0" algn="l" rtl="0">
                        <a:lnSpc>
                          <a:spcPct val="120000"/>
                        </a:lnSpc>
                        <a:spcBef>
                          <a:spcPts val="0"/>
                        </a:spcBef>
                        <a:spcAft>
                          <a:spcPts val="0"/>
                        </a:spcAft>
                        <a:buNone/>
                      </a:pPr>
                      <a:r>
                        <a:rPr lang="es-EC" sz="1050" dirty="0">
                          <a:solidFill>
                            <a:srgbClr val="4F81BD"/>
                          </a:solidFill>
                          <a:latin typeface="Calibri"/>
                          <a:ea typeface="Calibri"/>
                          <a:cs typeface="Calibri"/>
                          <a:sym typeface="Calibri"/>
                        </a:rPr>
                        <a:t>@ApplicationScoped</a:t>
                      </a:r>
                    </a:p>
                    <a:p>
                      <a:pPr marL="0" lvl="0" indent="0" algn="l" rtl="0">
                        <a:lnSpc>
                          <a:spcPct val="120000"/>
                        </a:lnSpc>
                        <a:spcBef>
                          <a:spcPts val="0"/>
                        </a:spcBef>
                        <a:spcAft>
                          <a:spcPts val="0"/>
                        </a:spcAft>
                        <a:buNone/>
                      </a:pPr>
                      <a:r>
                        <a:rPr lang="es-EC" sz="1050" dirty="0" err="1">
                          <a:solidFill>
                            <a:srgbClr val="4F81BD"/>
                          </a:solidFill>
                          <a:latin typeface="Calibri"/>
                          <a:ea typeface="Calibri"/>
                          <a:cs typeface="Calibri"/>
                          <a:sym typeface="Calibri"/>
                        </a:rPr>
                        <a:t>public</a:t>
                      </a: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class</a:t>
                      </a: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AutenticacionServicio</a:t>
                      </a:r>
                      <a:r>
                        <a:rPr lang="es-EC" sz="105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endParaRPr lang="es-EC" sz="105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C" sz="1050" dirty="0">
                          <a:solidFill>
                            <a:srgbClr val="4F81BD"/>
                          </a:solidFill>
                          <a:latin typeface="Calibri"/>
                          <a:ea typeface="Calibri"/>
                          <a:cs typeface="Calibri"/>
                          <a:sym typeface="Calibri"/>
                        </a:rPr>
                        <a:t>    @Inject</a:t>
                      </a:r>
                    </a:p>
                    <a:p>
                      <a:pPr marL="0" lvl="0" indent="0" algn="l" rtl="0">
                        <a:lnSpc>
                          <a:spcPct val="120000"/>
                        </a:lnSpc>
                        <a:spcBef>
                          <a:spcPts val="0"/>
                        </a:spcBef>
                        <a:spcAft>
                          <a:spcPts val="0"/>
                        </a:spcAft>
                        <a:buNone/>
                      </a:pP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private</a:t>
                      </a: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ClienteRest</a:t>
                      </a: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clienteRest</a:t>
                      </a:r>
                      <a:r>
                        <a:rPr lang="es-EC" sz="105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endParaRPr lang="es-EC" sz="105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public</a:t>
                      </a: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String</a:t>
                      </a: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login</a:t>
                      </a:r>
                      <a:r>
                        <a:rPr lang="es-EC" sz="1050" dirty="0">
                          <a:solidFill>
                            <a:srgbClr val="4F81BD"/>
                          </a:solidFill>
                          <a:latin typeface="Calibri"/>
                          <a:ea typeface="Calibri"/>
                          <a:cs typeface="Calibri"/>
                          <a:sym typeface="Calibri"/>
                        </a:rPr>
                        <a:t>(</a:t>
                      </a:r>
                      <a:r>
                        <a:rPr lang="es-EC" sz="1050" dirty="0" err="1">
                          <a:solidFill>
                            <a:srgbClr val="4F81BD"/>
                          </a:solidFill>
                          <a:latin typeface="Calibri"/>
                          <a:ea typeface="Calibri"/>
                          <a:cs typeface="Calibri"/>
                          <a:sym typeface="Calibri"/>
                        </a:rPr>
                        <a:t>String</a:t>
                      </a:r>
                      <a:r>
                        <a:rPr lang="es-EC" sz="1050" dirty="0">
                          <a:solidFill>
                            <a:srgbClr val="4F81BD"/>
                          </a:solidFill>
                          <a:latin typeface="Calibri"/>
                          <a:ea typeface="Calibri"/>
                          <a:cs typeface="Calibri"/>
                          <a:sym typeface="Calibri"/>
                        </a:rPr>
                        <a:t> usuario, </a:t>
                      </a:r>
                      <a:r>
                        <a:rPr lang="es-EC" sz="1050" dirty="0" err="1">
                          <a:solidFill>
                            <a:srgbClr val="4F81BD"/>
                          </a:solidFill>
                          <a:latin typeface="Calibri"/>
                          <a:ea typeface="Calibri"/>
                          <a:cs typeface="Calibri"/>
                          <a:sym typeface="Calibri"/>
                        </a:rPr>
                        <a:t>String</a:t>
                      </a: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contrasenia</a:t>
                      </a:r>
                      <a:r>
                        <a:rPr lang="es-EC" sz="105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var</a:t>
                      </a:r>
                      <a:r>
                        <a:rPr lang="es-EC" sz="1050" dirty="0">
                          <a:solidFill>
                            <a:srgbClr val="4F81BD"/>
                          </a:solidFill>
                          <a:latin typeface="Calibri"/>
                          <a:ea typeface="Calibri"/>
                          <a:cs typeface="Calibri"/>
                          <a:sym typeface="Calibri"/>
                        </a:rPr>
                        <a:t> solicitud = </a:t>
                      </a:r>
                      <a:r>
                        <a:rPr lang="es-EC" sz="1050" dirty="0" err="1">
                          <a:solidFill>
                            <a:srgbClr val="4F81BD"/>
                          </a:solidFill>
                          <a:latin typeface="Calibri"/>
                          <a:ea typeface="Calibri"/>
                          <a:cs typeface="Calibri"/>
                          <a:sym typeface="Calibri"/>
                        </a:rPr>
                        <a:t>Json.createObjectBuilder</a:t>
                      </a:r>
                      <a:r>
                        <a:rPr lang="es-EC" sz="105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add</a:t>
                      </a:r>
                      <a:r>
                        <a:rPr lang="es-EC" sz="1050" dirty="0">
                          <a:solidFill>
                            <a:srgbClr val="4F81BD"/>
                          </a:solidFill>
                          <a:latin typeface="Calibri"/>
                          <a:ea typeface="Calibri"/>
                          <a:cs typeface="Calibri"/>
                          <a:sym typeface="Calibri"/>
                        </a:rPr>
                        <a:t>("usuario", usuario)</a:t>
                      </a:r>
                    </a:p>
                    <a:p>
                      <a:pPr marL="0" lvl="0" indent="0" algn="l" rtl="0">
                        <a:lnSpc>
                          <a:spcPct val="120000"/>
                        </a:lnSpc>
                        <a:spcBef>
                          <a:spcPts val="0"/>
                        </a:spcBef>
                        <a:spcAft>
                          <a:spcPts val="0"/>
                        </a:spcAft>
                        <a:buNone/>
                      </a:pP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add</a:t>
                      </a:r>
                      <a:r>
                        <a:rPr lang="es-EC" sz="1050" dirty="0">
                          <a:solidFill>
                            <a:srgbClr val="4F81BD"/>
                          </a:solidFill>
                          <a:latin typeface="Calibri"/>
                          <a:ea typeface="Calibri"/>
                          <a:cs typeface="Calibri"/>
                          <a:sym typeface="Calibri"/>
                        </a:rPr>
                        <a:t>("</a:t>
                      </a:r>
                      <a:r>
                        <a:rPr lang="es-EC" sz="1050" dirty="0" err="1">
                          <a:solidFill>
                            <a:srgbClr val="4F81BD"/>
                          </a:solidFill>
                          <a:latin typeface="Calibri"/>
                          <a:ea typeface="Calibri"/>
                          <a:cs typeface="Calibri"/>
                          <a:sym typeface="Calibri"/>
                        </a:rPr>
                        <a:t>contrasena</a:t>
                      </a: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contrasenia</a:t>
                      </a:r>
                      <a:r>
                        <a:rPr lang="es-EC" sz="105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build</a:t>
                      </a:r>
                      <a:r>
                        <a:rPr lang="es-EC" sz="105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String</a:t>
                      </a:r>
                      <a:r>
                        <a:rPr lang="es-EC" sz="1050" dirty="0">
                          <a:solidFill>
                            <a:srgbClr val="4F81BD"/>
                          </a:solidFill>
                          <a:latin typeface="Calibri"/>
                          <a:ea typeface="Calibri"/>
                          <a:cs typeface="Calibri"/>
                          <a:sym typeface="Calibri"/>
                        </a:rPr>
                        <a:t> token = </a:t>
                      </a:r>
                      <a:r>
                        <a:rPr lang="es-EC" sz="1050" dirty="0" err="1">
                          <a:solidFill>
                            <a:srgbClr val="4F81BD"/>
                          </a:solidFill>
                          <a:latin typeface="Calibri"/>
                          <a:ea typeface="Calibri"/>
                          <a:cs typeface="Calibri"/>
                          <a:sym typeface="Calibri"/>
                        </a:rPr>
                        <a:t>clienteRest.post</a:t>
                      </a:r>
                      <a:r>
                        <a:rPr lang="es-EC" sz="1050" dirty="0">
                          <a:solidFill>
                            <a:srgbClr val="4F81BD"/>
                          </a:solidFill>
                          <a:latin typeface="Calibri"/>
                          <a:ea typeface="Calibri"/>
                          <a:cs typeface="Calibri"/>
                          <a:sym typeface="Calibri"/>
                        </a:rPr>
                        <a:t>("/</a:t>
                      </a:r>
                      <a:r>
                        <a:rPr lang="es-EC" sz="1050" dirty="0" err="1">
                          <a:solidFill>
                            <a:srgbClr val="4F81BD"/>
                          </a:solidFill>
                          <a:latin typeface="Calibri"/>
                          <a:ea typeface="Calibri"/>
                          <a:cs typeface="Calibri"/>
                          <a:sym typeface="Calibri"/>
                        </a:rPr>
                        <a:t>autenticacion</a:t>
                      </a:r>
                      <a:r>
                        <a:rPr lang="es-EC" sz="1050" dirty="0">
                          <a:solidFill>
                            <a:srgbClr val="4F81BD"/>
                          </a:solidFill>
                          <a:latin typeface="Calibri"/>
                          <a:ea typeface="Calibri"/>
                          <a:cs typeface="Calibri"/>
                          <a:sym typeface="Calibri"/>
                        </a:rPr>
                        <a:t>/iniciar-</a:t>
                      </a:r>
                      <a:r>
                        <a:rPr lang="es-EC" sz="1050" dirty="0" err="1">
                          <a:solidFill>
                            <a:srgbClr val="4F81BD"/>
                          </a:solidFill>
                          <a:latin typeface="Calibri"/>
                          <a:ea typeface="Calibri"/>
                          <a:cs typeface="Calibri"/>
                          <a:sym typeface="Calibri"/>
                        </a:rPr>
                        <a:t>sesion</a:t>
                      </a:r>
                      <a:r>
                        <a:rPr lang="es-EC" sz="1050" dirty="0">
                          <a:solidFill>
                            <a:srgbClr val="4F81BD"/>
                          </a:solidFill>
                          <a:latin typeface="Calibri"/>
                          <a:ea typeface="Calibri"/>
                          <a:cs typeface="Calibri"/>
                          <a:sym typeface="Calibri"/>
                        </a:rPr>
                        <a:t>", solicitud, </a:t>
                      </a:r>
                      <a:r>
                        <a:rPr lang="es-EC" sz="1050" dirty="0" err="1">
                          <a:solidFill>
                            <a:srgbClr val="4F81BD"/>
                          </a:solidFill>
                          <a:latin typeface="Calibri"/>
                          <a:ea typeface="Calibri"/>
                          <a:cs typeface="Calibri"/>
                          <a:sym typeface="Calibri"/>
                        </a:rPr>
                        <a:t>null</a:t>
                      </a:r>
                      <a:r>
                        <a:rPr lang="es-EC" sz="105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getString</a:t>
                      </a:r>
                      <a:r>
                        <a:rPr lang="es-EC" sz="1050" dirty="0">
                          <a:solidFill>
                            <a:srgbClr val="4F81BD"/>
                          </a:solidFill>
                          <a:latin typeface="Calibri"/>
                          <a:ea typeface="Calibri"/>
                          <a:cs typeface="Calibri"/>
                          <a:sym typeface="Calibri"/>
                        </a:rPr>
                        <a:t>("token", "");</a:t>
                      </a:r>
                    </a:p>
                    <a:p>
                      <a:pPr marL="0" lvl="0" indent="0" algn="l" rtl="0">
                        <a:lnSpc>
                          <a:spcPct val="120000"/>
                        </a:lnSpc>
                        <a:spcBef>
                          <a:spcPts val="0"/>
                        </a:spcBef>
                        <a:spcAft>
                          <a:spcPts val="0"/>
                        </a:spcAft>
                        <a:buNone/>
                      </a:pP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if</a:t>
                      </a: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token.isBlank</a:t>
                      </a:r>
                      <a:r>
                        <a:rPr lang="es-EC" sz="105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throw</a:t>
                      </a:r>
                      <a:r>
                        <a:rPr lang="es-EC" sz="1050" dirty="0">
                          <a:solidFill>
                            <a:srgbClr val="4F81BD"/>
                          </a:solidFill>
                          <a:latin typeface="Calibri"/>
                          <a:ea typeface="Calibri"/>
                          <a:cs typeface="Calibri"/>
                          <a:sym typeface="Calibri"/>
                        </a:rPr>
                        <a:t> new </a:t>
                      </a:r>
                      <a:r>
                        <a:rPr lang="es-EC" sz="1050" dirty="0" err="1">
                          <a:solidFill>
                            <a:srgbClr val="4F81BD"/>
                          </a:solidFill>
                          <a:latin typeface="Calibri"/>
                          <a:ea typeface="Calibri"/>
                          <a:cs typeface="Calibri"/>
                          <a:sym typeface="Calibri"/>
                        </a:rPr>
                        <a:t>ApiRestException</a:t>
                      </a:r>
                      <a:r>
                        <a:rPr lang="es-EC" sz="1050" dirty="0">
                          <a:solidFill>
                            <a:srgbClr val="4F81BD"/>
                          </a:solidFill>
                          <a:latin typeface="Calibri"/>
                          <a:ea typeface="Calibri"/>
                          <a:cs typeface="Calibri"/>
                          <a:sym typeface="Calibri"/>
                        </a:rPr>
                        <a:t>("El servidor no devolvió un token de sesión.");</a:t>
                      </a:r>
                    </a:p>
                    <a:p>
                      <a:pPr marL="0" lvl="0" indent="0" algn="l" rtl="0">
                        <a:lnSpc>
                          <a:spcPct val="120000"/>
                        </a:lnSpc>
                        <a:spcBef>
                          <a:spcPts val="0"/>
                        </a:spcBef>
                        <a:spcAft>
                          <a:spcPts val="0"/>
                        </a:spcAft>
                        <a:buNone/>
                      </a:pPr>
                      <a:r>
                        <a:rPr lang="es-EC" sz="105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C" sz="1050" dirty="0">
                          <a:solidFill>
                            <a:srgbClr val="4F81BD"/>
                          </a:solidFill>
                          <a:latin typeface="Calibri"/>
                          <a:ea typeface="Calibri"/>
                          <a:cs typeface="Calibri"/>
                          <a:sym typeface="Calibri"/>
                        </a:rPr>
                        <a:t>        </a:t>
                      </a:r>
                      <a:r>
                        <a:rPr lang="es-EC" sz="1050" dirty="0" err="1">
                          <a:solidFill>
                            <a:srgbClr val="4F81BD"/>
                          </a:solidFill>
                          <a:latin typeface="Calibri"/>
                          <a:ea typeface="Calibri"/>
                          <a:cs typeface="Calibri"/>
                          <a:sym typeface="Calibri"/>
                        </a:rPr>
                        <a:t>return</a:t>
                      </a:r>
                      <a:r>
                        <a:rPr lang="es-EC" sz="1050" dirty="0">
                          <a:solidFill>
                            <a:srgbClr val="4F81BD"/>
                          </a:solidFill>
                          <a:latin typeface="Calibri"/>
                          <a:ea typeface="Calibri"/>
                          <a:cs typeface="Calibri"/>
                          <a:sym typeface="Calibri"/>
                        </a:rPr>
                        <a:t> token;</a:t>
                      </a:r>
                    </a:p>
                    <a:p>
                      <a:pPr marL="0" lvl="0" indent="0" algn="l" rtl="0">
                        <a:lnSpc>
                          <a:spcPct val="120000"/>
                        </a:lnSpc>
                        <a:spcBef>
                          <a:spcPts val="0"/>
                        </a:spcBef>
                        <a:spcAft>
                          <a:spcPts val="0"/>
                        </a:spcAft>
                        <a:buNone/>
                      </a:pPr>
                      <a:r>
                        <a:rPr lang="es-EC" sz="105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C" sz="105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BE968C85-F64A-23C5-DD96-F0424BDCA403}"/>
              </a:ext>
            </a:extLst>
          </p:cNvPr>
          <p:cNvSpPr txBox="1">
            <a:spLocks/>
          </p:cNvSpPr>
          <p:nvPr/>
        </p:nvSpPr>
        <p:spPr>
          <a:xfrm>
            <a:off x="-1" y="1837551"/>
            <a:ext cx="1940435" cy="44479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7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0" name="Google Shape;610;p75"/>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612" name="Google Shape;612;p75"/>
          <p:cNvGraphicFramePr/>
          <p:nvPr>
            <p:extLst>
              <p:ext uri="{D42A27DB-BD31-4B8C-83A1-F6EECF244321}">
                <p14:modId xmlns:p14="http://schemas.microsoft.com/office/powerpoint/2010/main" val="1570056416"/>
              </p:ext>
            </p:extLst>
          </p:nvPr>
        </p:nvGraphicFramePr>
        <p:xfrm>
          <a:off x="2332825" y="1795025"/>
          <a:ext cx="6484300" cy="4945317"/>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465025">
                <a:tc>
                  <a:txBody>
                    <a:bodyPr/>
                    <a:lstStyle/>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@ApplicationScoped</a:t>
                      </a:r>
                    </a:p>
                    <a:p>
                      <a:pPr marL="0" lvl="0" indent="0" algn="l" rtl="0">
                        <a:lnSpc>
                          <a:spcPct val="120000"/>
                        </a:lnSpc>
                        <a:spcBef>
                          <a:spcPts val="0"/>
                        </a:spcBef>
                        <a:spcAft>
                          <a:spcPts val="0"/>
                        </a:spcAft>
                        <a:buNone/>
                      </a:pPr>
                      <a:r>
                        <a:rPr lang="es-ES" sz="800" dirty="0" err="1">
                          <a:solidFill>
                            <a:srgbClr val="4F81BD"/>
                          </a:solidFill>
                          <a:latin typeface="Calibri"/>
                          <a:ea typeface="Calibri"/>
                          <a:cs typeface="Calibri"/>
                          <a:sym typeface="Calibri"/>
                        </a:rPr>
                        <a:t>public</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class</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ConversorServicio</a:t>
                      </a:r>
                      <a:r>
                        <a:rPr lang="es-ES" sz="8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@Inject</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private</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ClienteRest</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clienteRest</a:t>
                      </a:r>
                      <a:r>
                        <a:rPr lang="es-ES" sz="8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public</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ResultadoConversion</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convertirLongitud</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token, </a:t>
                      </a:r>
                      <a:r>
                        <a:rPr lang="es-ES" sz="800" dirty="0" err="1">
                          <a:solidFill>
                            <a:srgbClr val="4F81BD"/>
                          </a:solidFill>
                          <a:latin typeface="Calibri"/>
                          <a:ea typeface="Calibri"/>
                          <a:cs typeface="Calibri"/>
                          <a:sym typeface="Calibri"/>
                        </a:rPr>
                        <a:t>double</a:t>
                      </a:r>
                      <a:r>
                        <a:rPr lang="es-ES" sz="800" dirty="0">
                          <a:solidFill>
                            <a:srgbClr val="4F81BD"/>
                          </a:solidFill>
                          <a:latin typeface="Calibri"/>
                          <a:ea typeface="Calibri"/>
                          <a:cs typeface="Calibri"/>
                          <a:sym typeface="Calibri"/>
                        </a:rPr>
                        <a:t> valor, </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origen, </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destino) {</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 convertir("/</a:t>
                      </a:r>
                      <a:r>
                        <a:rPr lang="es-ES" sz="800" dirty="0" err="1">
                          <a:solidFill>
                            <a:srgbClr val="4F81BD"/>
                          </a:solidFill>
                          <a:latin typeface="Calibri"/>
                          <a:ea typeface="Calibri"/>
                          <a:cs typeface="Calibri"/>
                          <a:sym typeface="Calibri"/>
                        </a:rPr>
                        <a:t>conversion</a:t>
                      </a:r>
                      <a:r>
                        <a:rPr lang="es-ES" sz="800" dirty="0">
                          <a:solidFill>
                            <a:srgbClr val="4F81BD"/>
                          </a:solidFill>
                          <a:latin typeface="Calibri"/>
                          <a:ea typeface="Calibri"/>
                          <a:cs typeface="Calibri"/>
                          <a:sym typeface="Calibri"/>
                        </a:rPr>
                        <a:t>/longitud", token, valor, origen, destino);</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public</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ResultadoConversion</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convertirMasa</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token, </a:t>
                      </a:r>
                      <a:r>
                        <a:rPr lang="es-ES" sz="800" dirty="0" err="1">
                          <a:solidFill>
                            <a:srgbClr val="4F81BD"/>
                          </a:solidFill>
                          <a:latin typeface="Calibri"/>
                          <a:ea typeface="Calibri"/>
                          <a:cs typeface="Calibri"/>
                          <a:sym typeface="Calibri"/>
                        </a:rPr>
                        <a:t>double</a:t>
                      </a:r>
                      <a:r>
                        <a:rPr lang="es-ES" sz="800" dirty="0">
                          <a:solidFill>
                            <a:srgbClr val="4F81BD"/>
                          </a:solidFill>
                          <a:latin typeface="Calibri"/>
                          <a:ea typeface="Calibri"/>
                          <a:cs typeface="Calibri"/>
                          <a:sym typeface="Calibri"/>
                        </a:rPr>
                        <a:t> valor, </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origen, </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destino) {</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 convertir("/</a:t>
                      </a:r>
                      <a:r>
                        <a:rPr lang="es-ES" sz="800" dirty="0" err="1">
                          <a:solidFill>
                            <a:srgbClr val="4F81BD"/>
                          </a:solidFill>
                          <a:latin typeface="Calibri"/>
                          <a:ea typeface="Calibri"/>
                          <a:cs typeface="Calibri"/>
                          <a:sym typeface="Calibri"/>
                        </a:rPr>
                        <a:t>conversion</a:t>
                      </a:r>
                      <a:r>
                        <a:rPr lang="es-ES" sz="800" dirty="0">
                          <a:solidFill>
                            <a:srgbClr val="4F81BD"/>
                          </a:solidFill>
                          <a:latin typeface="Calibri"/>
                          <a:ea typeface="Calibri"/>
                          <a:cs typeface="Calibri"/>
                          <a:sym typeface="Calibri"/>
                        </a:rPr>
                        <a:t>/masa", token, valor, origen, destino);</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public</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ResultadoConversion</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convertirTemperatura</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token, </a:t>
                      </a:r>
                      <a:r>
                        <a:rPr lang="es-ES" sz="800" dirty="0" err="1">
                          <a:solidFill>
                            <a:srgbClr val="4F81BD"/>
                          </a:solidFill>
                          <a:latin typeface="Calibri"/>
                          <a:ea typeface="Calibri"/>
                          <a:cs typeface="Calibri"/>
                          <a:sym typeface="Calibri"/>
                        </a:rPr>
                        <a:t>double</a:t>
                      </a:r>
                      <a:r>
                        <a:rPr lang="es-ES" sz="800" dirty="0">
                          <a:solidFill>
                            <a:srgbClr val="4F81BD"/>
                          </a:solidFill>
                          <a:latin typeface="Calibri"/>
                          <a:ea typeface="Calibri"/>
                          <a:cs typeface="Calibri"/>
                          <a:sym typeface="Calibri"/>
                        </a:rPr>
                        <a:t> valor, </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origen, </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destino) {</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 convertir("/</a:t>
                      </a:r>
                      <a:r>
                        <a:rPr lang="es-ES" sz="800" dirty="0" err="1">
                          <a:solidFill>
                            <a:srgbClr val="4F81BD"/>
                          </a:solidFill>
                          <a:latin typeface="Calibri"/>
                          <a:ea typeface="Calibri"/>
                          <a:cs typeface="Calibri"/>
                          <a:sym typeface="Calibri"/>
                        </a:rPr>
                        <a:t>conversion</a:t>
                      </a:r>
                      <a:r>
                        <a:rPr lang="es-ES" sz="800" dirty="0">
                          <a:solidFill>
                            <a:srgbClr val="4F81BD"/>
                          </a:solidFill>
                          <a:latin typeface="Calibri"/>
                          <a:ea typeface="Calibri"/>
                          <a:cs typeface="Calibri"/>
                          <a:sym typeface="Calibri"/>
                        </a:rPr>
                        <a:t>/temperatura", token, valor, origen, destino);</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private</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ResultadoConversion</a:t>
                      </a:r>
                      <a:r>
                        <a:rPr lang="es-ES" sz="800" dirty="0">
                          <a:solidFill>
                            <a:srgbClr val="4F81BD"/>
                          </a:solidFill>
                          <a:latin typeface="Calibri"/>
                          <a:ea typeface="Calibri"/>
                          <a:cs typeface="Calibri"/>
                          <a:sym typeface="Calibri"/>
                        </a:rPr>
                        <a:t> convertir(</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ruta, </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token, </a:t>
                      </a:r>
                      <a:r>
                        <a:rPr lang="es-ES" sz="800" dirty="0" err="1">
                          <a:solidFill>
                            <a:srgbClr val="4F81BD"/>
                          </a:solidFill>
                          <a:latin typeface="Calibri"/>
                          <a:ea typeface="Calibri"/>
                          <a:cs typeface="Calibri"/>
                          <a:sym typeface="Calibri"/>
                        </a:rPr>
                        <a:t>double</a:t>
                      </a:r>
                      <a:r>
                        <a:rPr lang="es-ES" sz="800" dirty="0">
                          <a:solidFill>
                            <a:srgbClr val="4F81BD"/>
                          </a:solidFill>
                          <a:latin typeface="Calibri"/>
                          <a:ea typeface="Calibri"/>
                          <a:cs typeface="Calibri"/>
                          <a:sym typeface="Calibri"/>
                        </a:rPr>
                        <a:t> valor,</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origen, </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destino) {</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JsonObject</a:t>
                      </a:r>
                      <a:r>
                        <a:rPr lang="es-ES" sz="800" dirty="0">
                          <a:solidFill>
                            <a:srgbClr val="4F81BD"/>
                          </a:solidFill>
                          <a:latin typeface="Calibri"/>
                          <a:ea typeface="Calibri"/>
                          <a:cs typeface="Calibri"/>
                          <a:sym typeface="Calibri"/>
                        </a:rPr>
                        <a:t> solicitud = </a:t>
                      </a:r>
                      <a:r>
                        <a:rPr lang="es-ES" sz="800" dirty="0" err="1">
                          <a:solidFill>
                            <a:srgbClr val="4F81BD"/>
                          </a:solidFill>
                          <a:latin typeface="Calibri"/>
                          <a:ea typeface="Calibri"/>
                          <a:cs typeface="Calibri"/>
                          <a:sym typeface="Calibri"/>
                        </a:rPr>
                        <a:t>Json.createObjectBuilder</a:t>
                      </a:r>
                      <a:r>
                        <a:rPr lang="es-ES" sz="8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add</a:t>
                      </a:r>
                      <a:r>
                        <a:rPr lang="es-ES" sz="800" dirty="0">
                          <a:solidFill>
                            <a:srgbClr val="4F81BD"/>
                          </a:solidFill>
                          <a:latin typeface="Calibri"/>
                          <a:ea typeface="Calibri"/>
                          <a:cs typeface="Calibri"/>
                          <a:sym typeface="Calibri"/>
                        </a:rPr>
                        <a:t>("valor", valor)</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add</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unidadOrigen</a:t>
                      </a:r>
                      <a:r>
                        <a:rPr lang="es-ES" sz="800" dirty="0">
                          <a:solidFill>
                            <a:srgbClr val="4F81BD"/>
                          </a:solidFill>
                          <a:latin typeface="Calibri"/>
                          <a:ea typeface="Calibri"/>
                          <a:cs typeface="Calibri"/>
                          <a:sym typeface="Calibri"/>
                        </a:rPr>
                        <a:t>", origen)</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add</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unidadDestino</a:t>
                      </a:r>
                      <a:r>
                        <a:rPr lang="es-ES" sz="800" dirty="0">
                          <a:solidFill>
                            <a:srgbClr val="4F81BD"/>
                          </a:solidFill>
                          <a:latin typeface="Calibri"/>
                          <a:ea typeface="Calibri"/>
                          <a:cs typeface="Calibri"/>
                          <a:sym typeface="Calibri"/>
                        </a:rPr>
                        <a:t>", destino)</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build</a:t>
                      </a:r>
                      <a:r>
                        <a:rPr lang="es-ES" sz="8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JsonObject</a:t>
                      </a:r>
                      <a:r>
                        <a:rPr lang="es-ES" sz="800" dirty="0">
                          <a:solidFill>
                            <a:srgbClr val="4F81BD"/>
                          </a:solidFill>
                          <a:latin typeface="Calibri"/>
                          <a:ea typeface="Calibri"/>
                          <a:cs typeface="Calibri"/>
                          <a:sym typeface="Calibri"/>
                        </a:rPr>
                        <a:t> respuesta = </a:t>
                      </a:r>
                      <a:r>
                        <a:rPr lang="es-ES" sz="800" dirty="0" err="1">
                          <a:solidFill>
                            <a:srgbClr val="4F81BD"/>
                          </a:solidFill>
                          <a:latin typeface="Calibri"/>
                          <a:ea typeface="Calibri"/>
                          <a:cs typeface="Calibri"/>
                          <a:sym typeface="Calibri"/>
                        </a:rPr>
                        <a:t>clienteRest.post</a:t>
                      </a:r>
                      <a:r>
                        <a:rPr lang="es-ES" sz="800" dirty="0">
                          <a:solidFill>
                            <a:srgbClr val="4F81BD"/>
                          </a:solidFill>
                          <a:latin typeface="Calibri"/>
                          <a:ea typeface="Calibri"/>
                          <a:cs typeface="Calibri"/>
                          <a:sym typeface="Calibri"/>
                        </a:rPr>
                        <a:t>(ruta, solicitud, token);</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 new </a:t>
                      </a:r>
                      <a:r>
                        <a:rPr lang="es-ES" sz="800" dirty="0" err="1">
                          <a:solidFill>
                            <a:srgbClr val="4F81BD"/>
                          </a:solidFill>
                          <a:latin typeface="Calibri"/>
                          <a:ea typeface="Calibri"/>
                          <a:cs typeface="Calibri"/>
                          <a:sym typeface="Calibri"/>
                        </a:rPr>
                        <a:t>ResultadoConversion</a:t>
                      </a:r>
                      <a:r>
                        <a:rPr lang="es-ES" sz="8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respuesta.getJsonNumber</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valorOriginal</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doubleValue</a:t>
                      </a:r>
                      <a:r>
                        <a:rPr lang="es-ES" sz="8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respuesta.getJsonNumber</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valorConvertido</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doubleValue</a:t>
                      </a:r>
                      <a:r>
                        <a:rPr lang="es-ES" sz="8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respuesta.getString</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unidadOrigen</a:t>
                      </a:r>
                      <a:r>
                        <a:rPr lang="es-ES" sz="8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respuesta.getString</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unidadDestino</a:t>
                      </a:r>
                      <a:r>
                        <a:rPr lang="es-ES" sz="8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8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AE6B9AB3-AC2B-4910-2D8C-D489EE42B92A}"/>
              </a:ext>
            </a:extLst>
          </p:cNvPr>
          <p:cNvSpPr txBox="1">
            <a:spLocks/>
          </p:cNvSpPr>
          <p:nvPr/>
        </p:nvSpPr>
        <p:spPr>
          <a:xfrm>
            <a:off x="-1" y="1837551"/>
            <a:ext cx="1940435" cy="44479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7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8" name="Google Shape;618;p76"/>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20" name="Google Shape;620;p76"/>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92F20044-75C3-6075-556F-854CF28D1C30}"/>
              </a:ext>
            </a:extLst>
          </p:cNvPr>
          <p:cNvPicPr>
            <a:picLocks noChangeAspect="1"/>
          </p:cNvPicPr>
          <p:nvPr/>
        </p:nvPicPr>
        <p:blipFill>
          <a:blip r:embed="rId3"/>
          <a:stretch>
            <a:fillRect/>
          </a:stretch>
        </p:blipFill>
        <p:spPr>
          <a:xfrm>
            <a:off x="1205566" y="2550809"/>
            <a:ext cx="7438768" cy="3952331"/>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7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26" name="Google Shape;626;p77"/>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27" name="Google Shape;627;p77"/>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Conversor</a:t>
            </a:r>
            <a:endParaRPr sz="2000" b="0" i="0" u="none" strike="noStrike" cap="none">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0E81928F-AA8D-B9A8-2A14-C6F28CCE5074}"/>
              </a:ext>
            </a:extLst>
          </p:cNvPr>
          <p:cNvPicPr>
            <a:picLocks noChangeAspect="1"/>
          </p:cNvPicPr>
          <p:nvPr/>
        </p:nvPicPr>
        <p:blipFill>
          <a:blip r:embed="rId3"/>
          <a:stretch>
            <a:fillRect/>
          </a:stretch>
        </p:blipFill>
        <p:spPr>
          <a:xfrm>
            <a:off x="1014285" y="2610549"/>
            <a:ext cx="7821329" cy="376582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7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a:t>
            </a:r>
            <a:endParaRPr dirty="0"/>
          </a:p>
        </p:txBody>
      </p:sp>
      <p:sp>
        <p:nvSpPr>
          <p:cNvPr id="634" name="Google Shape;634;p78"/>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35" name="Google Shape;635;p78"/>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Conversión Realizada</a:t>
            </a:r>
            <a:endParaRPr sz="2000" b="0" i="0" u="none" strike="noStrike" cap="none" dirty="0">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BA2D2ACF-A924-7176-9BCD-E72D005BD89E}"/>
              </a:ext>
            </a:extLst>
          </p:cNvPr>
          <p:cNvPicPr>
            <a:picLocks noChangeAspect="1"/>
          </p:cNvPicPr>
          <p:nvPr/>
        </p:nvPicPr>
        <p:blipFill>
          <a:blip r:embed="rId3"/>
          <a:stretch>
            <a:fillRect/>
          </a:stretch>
        </p:blipFill>
        <p:spPr>
          <a:xfrm>
            <a:off x="1522742" y="2702011"/>
            <a:ext cx="6804416" cy="3659548"/>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graphicFrame>
        <p:nvGraphicFramePr>
          <p:cNvPr id="641" name="Google Shape;641;p79"/>
          <p:cNvGraphicFramePr/>
          <p:nvPr>
            <p:extLst>
              <p:ext uri="{D42A27DB-BD31-4B8C-83A1-F6EECF244321}">
                <p14:modId xmlns:p14="http://schemas.microsoft.com/office/powerpoint/2010/main" val="678009414"/>
              </p:ext>
            </p:extLst>
          </p:nvPr>
        </p:nvGraphicFramePr>
        <p:xfrm>
          <a:off x="2380079" y="2830857"/>
          <a:ext cx="2914665" cy="3784600"/>
        </p:xfrm>
        <a:graphic>
          <a:graphicData uri="http://schemas.openxmlformats.org/drawingml/2006/table">
            <a:tbl>
              <a:tblPr>
                <a:noFill/>
                <a:tableStyleId>{BF136021-7255-42B7-A7E7-87A8D8FFE9CA}</a:tableStyleId>
              </a:tblPr>
              <a:tblGrid>
                <a:gridCol w="2914665">
                  <a:extLst>
                    <a:ext uri="{9D8B030D-6E8A-4147-A177-3AD203B41FA5}">
                      <a16:colId xmlns:a16="http://schemas.microsoft.com/office/drawing/2014/main" val="20000"/>
                    </a:ext>
                  </a:extLst>
                </a:gridCol>
              </a:tblGrid>
              <a:tr h="3415698">
                <a:tc>
                  <a:txBody>
                    <a:bodyPr/>
                    <a:lstStyle/>
                    <a:p>
                      <a:pPr marL="0" lvl="0" indent="0" algn="l" rtl="0">
                        <a:lnSpc>
                          <a:spcPct val="100000"/>
                        </a:lnSpc>
                        <a:spcBef>
                          <a:spcPts val="0"/>
                        </a:spcBef>
                        <a:spcAft>
                          <a:spcPts val="0"/>
                        </a:spcAft>
                        <a:buClr>
                          <a:schemeClr val="dk1"/>
                        </a:buClr>
                        <a:buSzPts val="1100"/>
                        <a:buFont typeface="Arial"/>
                        <a:buNone/>
                      </a:pPr>
                      <a:r>
                        <a:rPr lang="es-ES" sz="600" dirty="0" err="1">
                          <a:solidFill>
                            <a:srgbClr val="4F81BD"/>
                          </a:solidFill>
                          <a:latin typeface="Calibri"/>
                          <a:ea typeface="Calibri"/>
                          <a:cs typeface="Calibri"/>
                          <a:sym typeface="Calibri"/>
                        </a:rPr>
                        <a:t>class</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ControladorConversion</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private</a:t>
                      </a:r>
                      <a:r>
                        <a:rPr lang="es-ES" sz="600" dirty="0">
                          <a:solidFill>
                            <a:srgbClr val="4F81BD"/>
                          </a:solidFill>
                          <a:latin typeface="Calibri"/>
                          <a:ea typeface="Calibri"/>
                          <a:cs typeface="Calibri"/>
                          <a:sym typeface="Calibri"/>
                        </a:rPr>
                        <a:t> val vista: </a:t>
                      </a:r>
                      <a:r>
                        <a:rPr lang="es-ES" sz="600" dirty="0" err="1">
                          <a:solidFill>
                            <a:srgbClr val="4F81BD"/>
                          </a:solidFill>
                          <a:latin typeface="Calibri"/>
                          <a:ea typeface="Calibri"/>
                          <a:cs typeface="Calibri"/>
                          <a:sym typeface="Calibri"/>
                        </a:rPr>
                        <a:t>VistaConversion</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private</a:t>
                      </a:r>
                      <a:r>
                        <a:rPr lang="es-ES" sz="600" dirty="0">
                          <a:solidFill>
                            <a:srgbClr val="4F81BD"/>
                          </a:solidFill>
                          <a:latin typeface="Calibri"/>
                          <a:ea typeface="Calibri"/>
                          <a:cs typeface="Calibri"/>
                          <a:sym typeface="Calibri"/>
                        </a:rPr>
                        <a:t> val modelo: </a:t>
                      </a:r>
                      <a:r>
                        <a:rPr lang="es-ES" sz="600" dirty="0" err="1">
                          <a:solidFill>
                            <a:srgbClr val="4F81BD"/>
                          </a:solidFill>
                          <a:latin typeface="Calibri"/>
                          <a:ea typeface="Calibri"/>
                          <a:cs typeface="Calibri"/>
                          <a:sym typeface="Calibri"/>
                        </a:rPr>
                        <a:t>ModeloConversion</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private</a:t>
                      </a:r>
                      <a:r>
                        <a:rPr lang="es-ES" sz="600" dirty="0">
                          <a:solidFill>
                            <a:srgbClr val="4F81BD"/>
                          </a:solidFill>
                          <a:latin typeface="Calibri"/>
                          <a:ea typeface="Calibri"/>
                          <a:cs typeface="Calibri"/>
                          <a:sym typeface="Calibri"/>
                        </a:rPr>
                        <a:t> val </a:t>
                      </a:r>
                      <a:r>
                        <a:rPr lang="es-ES" sz="600" dirty="0" err="1">
                          <a:solidFill>
                            <a:srgbClr val="4F81BD"/>
                          </a:solidFill>
                          <a:latin typeface="Calibri"/>
                          <a:ea typeface="Calibri"/>
                          <a:cs typeface="Calibri"/>
                          <a:sym typeface="Calibri"/>
                        </a:rPr>
                        <a:t>categoria</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CategoriaUnidad</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private</a:t>
                      </a:r>
                      <a:r>
                        <a:rPr lang="es-ES" sz="600" dirty="0">
                          <a:solidFill>
                            <a:srgbClr val="4F81BD"/>
                          </a:solidFill>
                          <a:latin typeface="Calibri"/>
                          <a:ea typeface="Calibri"/>
                          <a:cs typeface="Calibri"/>
                          <a:sym typeface="Calibri"/>
                        </a:rPr>
                        <a:t> val </a:t>
                      </a:r>
                      <a:r>
                        <a:rPr lang="es-ES" sz="600" dirty="0" err="1">
                          <a:solidFill>
                            <a:srgbClr val="4F81BD"/>
                          </a:solidFill>
                          <a:latin typeface="Calibri"/>
                          <a:ea typeface="Calibri"/>
                          <a:cs typeface="Calibri"/>
                          <a:sym typeface="Calibri"/>
                        </a:rPr>
                        <a:t>ambito</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LifecycleCoroutineScope</a:t>
                      </a:r>
                      <a:endParaRPr lang="es-ES" sz="6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endParaRPr lang="es-ES" sz="6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private</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var</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indiceOrigen</a:t>
                      </a:r>
                      <a:r>
                        <a:rPr lang="es-ES" sz="600" dirty="0">
                          <a:solidFill>
                            <a:srgbClr val="4F81BD"/>
                          </a:solidFill>
                          <a:latin typeface="Calibri"/>
                          <a:ea typeface="Calibri"/>
                          <a:cs typeface="Calibri"/>
                          <a:sym typeface="Calibri"/>
                        </a:rPr>
                        <a:t> = 0</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private</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var</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indiceDestino</a:t>
                      </a:r>
                      <a:r>
                        <a:rPr lang="es-ES" sz="600" dirty="0">
                          <a:solidFill>
                            <a:srgbClr val="4F81BD"/>
                          </a:solidFill>
                          <a:latin typeface="Calibri"/>
                          <a:ea typeface="Calibri"/>
                          <a:cs typeface="Calibri"/>
                          <a:sym typeface="Calibri"/>
                        </a:rPr>
                        <a:t> = 1</a:t>
                      </a:r>
                    </a:p>
                    <a:p>
                      <a:pPr marL="0" lvl="0" indent="0" algn="l" rtl="0">
                        <a:lnSpc>
                          <a:spcPct val="100000"/>
                        </a:lnSpc>
                        <a:spcBef>
                          <a:spcPts val="0"/>
                        </a:spcBef>
                        <a:spcAft>
                          <a:spcPts val="0"/>
                        </a:spcAft>
                        <a:buClr>
                          <a:schemeClr val="dk1"/>
                        </a:buClr>
                        <a:buSzPts val="1100"/>
                        <a:buFont typeface="Arial"/>
                        <a:buNone/>
                      </a:pPr>
                      <a:endParaRPr lang="es-ES" sz="6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fun</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trasCrearVista</a:t>
                      </a: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vista.mostrarTitulo</a:t>
                      </a:r>
                      <a:r>
                        <a:rPr lang="es-ES" sz="600" dirty="0">
                          <a:solidFill>
                            <a:srgbClr val="4F81BD"/>
                          </a:solidFill>
                          <a:latin typeface="Calibri"/>
                          <a:ea typeface="Calibri"/>
                          <a:cs typeface="Calibri"/>
                          <a:sym typeface="Calibri"/>
                        </a:rPr>
                        <a:t>(</a:t>
                      </a:r>
                      <a:r>
                        <a:rPr lang="es-ES" sz="600" dirty="0" err="1">
                          <a:solidFill>
                            <a:srgbClr val="4F81BD"/>
                          </a:solidFill>
                          <a:latin typeface="Calibri"/>
                          <a:ea typeface="Calibri"/>
                          <a:cs typeface="Calibri"/>
                          <a:sym typeface="Calibri"/>
                        </a:rPr>
                        <a:t>categoria.titulo</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vista.mostrarUnidades</a:t>
                      </a:r>
                      <a:r>
                        <a:rPr lang="es-ES" sz="600" dirty="0">
                          <a:solidFill>
                            <a:srgbClr val="4F81BD"/>
                          </a:solidFill>
                          <a:latin typeface="Calibri"/>
                          <a:ea typeface="Calibri"/>
                          <a:cs typeface="Calibri"/>
                          <a:sym typeface="Calibri"/>
                        </a:rPr>
                        <a:t>(</a:t>
                      </a:r>
                      <a:r>
                        <a:rPr lang="es-ES" sz="600" dirty="0" err="1">
                          <a:solidFill>
                            <a:srgbClr val="4F81BD"/>
                          </a:solidFill>
                          <a:latin typeface="Calibri"/>
                          <a:ea typeface="Calibri"/>
                          <a:cs typeface="Calibri"/>
                          <a:sym typeface="Calibri"/>
                        </a:rPr>
                        <a:t>categoria.unidades</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indiceOrigen</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indiceDestino</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actualizarSimbolos</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endParaRPr lang="es-ES" sz="6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fun</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enSeleccionOrigen</a:t>
                      </a:r>
                      <a:r>
                        <a:rPr lang="es-ES" sz="600" dirty="0">
                          <a:solidFill>
                            <a:srgbClr val="4F81BD"/>
                          </a:solidFill>
                          <a:latin typeface="Calibri"/>
                          <a:ea typeface="Calibri"/>
                          <a:cs typeface="Calibri"/>
                          <a:sym typeface="Calibri"/>
                        </a:rPr>
                        <a:t>(</a:t>
                      </a:r>
                      <a:r>
                        <a:rPr lang="es-ES" sz="600" dirty="0" err="1">
                          <a:solidFill>
                            <a:srgbClr val="4F81BD"/>
                          </a:solidFill>
                          <a:latin typeface="Calibri"/>
                          <a:ea typeface="Calibri"/>
                          <a:cs typeface="Calibri"/>
                          <a:sym typeface="Calibri"/>
                        </a:rPr>
                        <a:t>posicion</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Int</a:t>
                      </a: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indiceOrigen</a:t>
                      </a:r>
                      <a:r>
                        <a:rPr lang="es-ES" sz="600" dirty="0">
                          <a:solidFill>
                            <a:srgbClr val="4F81BD"/>
                          </a:solidFill>
                          <a:latin typeface="Calibri"/>
                          <a:ea typeface="Calibri"/>
                          <a:cs typeface="Calibri"/>
                          <a:sym typeface="Calibri"/>
                        </a:rPr>
                        <a:t> = </a:t>
                      </a:r>
                      <a:r>
                        <a:rPr lang="es-ES" sz="600" dirty="0" err="1">
                          <a:solidFill>
                            <a:srgbClr val="4F81BD"/>
                          </a:solidFill>
                          <a:latin typeface="Calibri"/>
                          <a:ea typeface="Calibri"/>
                          <a:cs typeface="Calibri"/>
                          <a:sym typeface="Calibri"/>
                        </a:rPr>
                        <a:t>posicion</a:t>
                      </a:r>
                      <a:endParaRPr lang="es-ES" sz="6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actualizarSimbolos</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vista.limpiarResultado</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fun</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enSeleccionDestino</a:t>
                      </a:r>
                      <a:r>
                        <a:rPr lang="es-ES" sz="600" dirty="0">
                          <a:solidFill>
                            <a:srgbClr val="4F81BD"/>
                          </a:solidFill>
                          <a:latin typeface="Calibri"/>
                          <a:ea typeface="Calibri"/>
                          <a:cs typeface="Calibri"/>
                          <a:sym typeface="Calibri"/>
                        </a:rPr>
                        <a:t>(</a:t>
                      </a:r>
                      <a:r>
                        <a:rPr lang="es-ES" sz="600" dirty="0" err="1">
                          <a:solidFill>
                            <a:srgbClr val="4F81BD"/>
                          </a:solidFill>
                          <a:latin typeface="Calibri"/>
                          <a:ea typeface="Calibri"/>
                          <a:cs typeface="Calibri"/>
                          <a:sym typeface="Calibri"/>
                        </a:rPr>
                        <a:t>posicion</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Int</a:t>
                      </a: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indiceDestino</a:t>
                      </a:r>
                      <a:r>
                        <a:rPr lang="es-ES" sz="600" dirty="0">
                          <a:solidFill>
                            <a:srgbClr val="4F81BD"/>
                          </a:solidFill>
                          <a:latin typeface="Calibri"/>
                          <a:ea typeface="Calibri"/>
                          <a:cs typeface="Calibri"/>
                          <a:sym typeface="Calibri"/>
                        </a:rPr>
                        <a:t> = </a:t>
                      </a:r>
                      <a:r>
                        <a:rPr lang="es-ES" sz="600" dirty="0" err="1">
                          <a:solidFill>
                            <a:srgbClr val="4F81BD"/>
                          </a:solidFill>
                          <a:latin typeface="Calibri"/>
                          <a:ea typeface="Calibri"/>
                          <a:cs typeface="Calibri"/>
                          <a:sym typeface="Calibri"/>
                        </a:rPr>
                        <a:t>posicion</a:t>
                      </a:r>
                      <a:endParaRPr lang="es-ES" sz="6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actualizarSimbolos</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vista.limpiarResultado</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endParaRPr lang="es-ES" sz="6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fun</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enCambioEntrada</a:t>
                      </a: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vista.mostrarErrorEntrada</a:t>
                      </a:r>
                      <a:r>
                        <a:rPr lang="es-ES" sz="600" dirty="0">
                          <a:solidFill>
                            <a:srgbClr val="4F81BD"/>
                          </a:solidFill>
                          <a:latin typeface="Calibri"/>
                          <a:ea typeface="Calibri"/>
                          <a:cs typeface="Calibri"/>
                          <a:sym typeface="Calibri"/>
                        </a:rPr>
                        <a:t>(</a:t>
                      </a:r>
                      <a:r>
                        <a:rPr lang="es-ES" sz="600" dirty="0" err="1">
                          <a:solidFill>
                            <a:srgbClr val="4F81BD"/>
                          </a:solidFill>
                          <a:latin typeface="Calibri"/>
                          <a:ea typeface="Calibri"/>
                          <a:cs typeface="Calibri"/>
                          <a:sym typeface="Calibri"/>
                        </a:rPr>
                        <a:t>null</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vista.limpiarResultado</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endParaRPr lang="es-ES" sz="6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fun</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enClicConvertir</a:t>
                      </a:r>
                      <a:r>
                        <a:rPr lang="es-ES" sz="600" dirty="0">
                          <a:solidFill>
                            <a:srgbClr val="4F81BD"/>
                          </a:solidFill>
                          <a:latin typeface="Calibri"/>
                          <a:ea typeface="Calibri"/>
                          <a:cs typeface="Calibri"/>
                          <a:sym typeface="Calibri"/>
                        </a:rPr>
                        <a:t>(entrada: </a:t>
                      </a:r>
                      <a:r>
                        <a:rPr lang="es-ES" sz="600" dirty="0" err="1">
                          <a:solidFill>
                            <a:srgbClr val="4F81BD"/>
                          </a:solidFill>
                          <a:latin typeface="Calibri"/>
                          <a:ea typeface="Calibri"/>
                          <a:cs typeface="Calibri"/>
                          <a:sym typeface="Calibri"/>
                        </a:rPr>
                        <a:t>String</a:t>
                      </a: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val texto = </a:t>
                      </a:r>
                      <a:r>
                        <a:rPr lang="es-ES" sz="600" dirty="0" err="1">
                          <a:solidFill>
                            <a:srgbClr val="4F81BD"/>
                          </a:solidFill>
                          <a:latin typeface="Calibri"/>
                          <a:ea typeface="Calibri"/>
                          <a:cs typeface="Calibri"/>
                          <a:sym typeface="Calibri"/>
                        </a:rPr>
                        <a:t>entrada.trim</a:t>
                      </a:r>
                      <a:r>
                        <a:rPr lang="es-ES" sz="600" dirty="0">
                          <a:solidFill>
                            <a:srgbClr val="4F81BD"/>
                          </a:solidFill>
                          <a:latin typeface="Calibri"/>
                          <a:ea typeface="Calibri"/>
                          <a:cs typeface="Calibri"/>
                          <a:sym typeface="Calibri"/>
                        </a:rPr>
                        <a:t>().</a:t>
                      </a:r>
                      <a:r>
                        <a:rPr lang="es-ES" sz="600" dirty="0" err="1">
                          <a:solidFill>
                            <a:srgbClr val="4F81BD"/>
                          </a:solidFill>
                          <a:latin typeface="Calibri"/>
                          <a:ea typeface="Calibri"/>
                          <a:cs typeface="Calibri"/>
                          <a:sym typeface="Calibri"/>
                        </a:rPr>
                        <a:t>replace</a:t>
                      </a: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endParaRPr lang="es-ES" sz="6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if</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texto.isEmpty</a:t>
                      </a: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vista.mostrarErrorEntrada</a:t>
                      </a:r>
                      <a:r>
                        <a:rPr lang="es-ES" sz="600" dirty="0">
                          <a:solidFill>
                            <a:srgbClr val="4F81BD"/>
                          </a:solidFill>
                          <a:latin typeface="Calibri"/>
                          <a:ea typeface="Calibri"/>
                          <a:cs typeface="Calibri"/>
                          <a:sym typeface="Calibri"/>
                        </a:rPr>
                        <a:t>("Ingrese un valor a convertir")</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return</a:t>
                      </a:r>
                      <a:endParaRPr lang="es-ES" sz="6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endParaRPr lang="es-ES" sz="6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42" name="Google Shape;642;p7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43" name="Google Shape;643;p79"/>
          <p:cNvSpPr/>
          <p:nvPr/>
        </p:nvSpPr>
        <p:spPr>
          <a:xfrm>
            <a:off x="9383700"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46" name="Google Shape;646;p79"/>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57200" lvl="0" indent="-333753" algn="just" rtl="0">
              <a:lnSpc>
                <a:spcPct val="107000"/>
              </a:lnSpc>
              <a:spcBef>
                <a:spcPts val="0"/>
              </a:spcBef>
              <a:spcAft>
                <a:spcPts val="0"/>
              </a:spcAft>
              <a:buSzPts val="1656"/>
              <a:buChar char="●"/>
            </a:pPr>
            <a:r>
              <a:rPr lang="es-ES" sz="1564" dirty="0">
                <a:latin typeface="Cambria"/>
                <a:ea typeface="Cambria"/>
                <a:cs typeface="Cambria"/>
                <a:sym typeface="Cambria"/>
              </a:rPr>
              <a:t>Para el cliente móvil se debe crear un proyecto en </a:t>
            </a:r>
            <a:r>
              <a:rPr lang="es-ES" sz="1564" dirty="0" err="1">
                <a:latin typeface="Cambria"/>
                <a:ea typeface="Cambria"/>
                <a:cs typeface="Cambria"/>
                <a:sym typeface="Cambria"/>
              </a:rPr>
              <a:t>kotline</a:t>
            </a:r>
            <a:r>
              <a:rPr lang="es-ES" sz="1564" dirty="0">
                <a:latin typeface="Cambria"/>
                <a:ea typeface="Cambria"/>
                <a:cs typeface="Cambria"/>
                <a:sym typeface="Cambria"/>
              </a:rPr>
              <a:t> y puede ser ejecutado en Android Studio</a:t>
            </a:r>
            <a:endParaRPr dirty="0">
              <a:latin typeface="Cambria"/>
              <a:ea typeface="Cambria"/>
              <a:cs typeface="Cambria"/>
              <a:sym typeface="Cambria"/>
            </a:endParaRPr>
          </a:p>
        </p:txBody>
      </p:sp>
      <p:sp>
        <p:nvSpPr>
          <p:cNvPr id="2" name="TextBox 1">
            <a:extLst>
              <a:ext uri="{FF2B5EF4-FFF2-40B4-BE49-F238E27FC236}">
                <a16:creationId xmlns:a16="http://schemas.microsoft.com/office/drawing/2014/main" id="{B85A9A1D-525D-99F6-AC54-08B6DE41E24A}"/>
              </a:ext>
            </a:extLst>
          </p:cNvPr>
          <p:cNvSpPr txBox="1"/>
          <p:nvPr/>
        </p:nvSpPr>
        <p:spPr>
          <a:xfrm>
            <a:off x="704335" y="1902979"/>
            <a:ext cx="6104238" cy="318998"/>
          </a:xfrm>
          <a:prstGeom prst="rect">
            <a:avLst/>
          </a:prstGeom>
          <a:noFill/>
        </p:spPr>
        <p:txBody>
          <a:bodyPr wrap="square">
            <a:spAutoFit/>
          </a:bodyPr>
          <a:lstStyle/>
          <a:p>
            <a:pPr marL="0" lvl="0" indent="0" algn="l" rtl="0">
              <a:lnSpc>
                <a:spcPct val="115000"/>
              </a:lnSpc>
              <a:spcBef>
                <a:spcPts val="1200"/>
              </a:spcBef>
              <a:spcAft>
                <a:spcPts val="0"/>
              </a:spcAft>
              <a:buClr>
                <a:schemeClr val="dk1"/>
              </a:buClr>
              <a:buSzPct val="70332"/>
              <a:buFont typeface="Arial"/>
              <a:buNone/>
            </a:pPr>
            <a:r>
              <a:rPr lang="es-MX" sz="1400" b="1" dirty="0">
                <a:latin typeface="Cambria"/>
                <a:ea typeface="Cambria"/>
                <a:cs typeface="Cambria"/>
                <a:sym typeface="Cambria"/>
              </a:rPr>
              <a:t>1.6  CREACIÓN DEL PROYECTO CLIENTE </a:t>
            </a:r>
            <a:r>
              <a:rPr lang="es-MX" b="1" dirty="0">
                <a:latin typeface="Cambria"/>
                <a:ea typeface="Cambria"/>
                <a:cs typeface="Cambria"/>
                <a:sym typeface="Cambria"/>
              </a:rPr>
              <a:t>MÓVIL</a:t>
            </a:r>
            <a:endParaRPr lang="es-MX" sz="1400" b="1" dirty="0">
              <a:latin typeface="Cambria"/>
              <a:ea typeface="Cambria"/>
              <a:cs typeface="Cambria"/>
              <a:sym typeface="Cambria"/>
            </a:endParaRPr>
          </a:p>
        </p:txBody>
      </p:sp>
      <p:sp>
        <p:nvSpPr>
          <p:cNvPr id="5" name="Google Shape;319;p40">
            <a:extLst>
              <a:ext uri="{FF2B5EF4-FFF2-40B4-BE49-F238E27FC236}">
                <a16:creationId xmlns:a16="http://schemas.microsoft.com/office/drawing/2014/main" id="{1E11576F-AAA7-4AA1-58F8-C2A5941A9E4D}"/>
              </a:ext>
            </a:extLst>
          </p:cNvPr>
          <p:cNvSpPr txBox="1">
            <a:spLocks/>
          </p:cNvSpPr>
          <p:nvPr/>
        </p:nvSpPr>
        <p:spPr>
          <a:xfrm>
            <a:off x="109123" y="2221977"/>
            <a:ext cx="1940435" cy="44479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graphicFrame>
        <p:nvGraphicFramePr>
          <p:cNvPr id="6" name="Google Shape;641;p79">
            <a:extLst>
              <a:ext uri="{FF2B5EF4-FFF2-40B4-BE49-F238E27FC236}">
                <a16:creationId xmlns:a16="http://schemas.microsoft.com/office/drawing/2014/main" id="{545869A5-1335-6537-74F7-4FA70C305678}"/>
              </a:ext>
            </a:extLst>
          </p:cNvPr>
          <p:cNvGraphicFramePr/>
          <p:nvPr>
            <p:extLst>
              <p:ext uri="{D42A27DB-BD31-4B8C-83A1-F6EECF244321}">
                <p14:modId xmlns:p14="http://schemas.microsoft.com/office/powerpoint/2010/main" val="1483035287"/>
              </p:ext>
            </p:extLst>
          </p:nvPr>
        </p:nvGraphicFramePr>
        <p:xfrm>
          <a:off x="5625266" y="2644203"/>
          <a:ext cx="3477546" cy="4241800"/>
        </p:xfrm>
        <a:graphic>
          <a:graphicData uri="http://schemas.openxmlformats.org/drawingml/2006/table">
            <a:tbl>
              <a:tblPr>
                <a:noFill/>
                <a:tableStyleId>{BF136021-7255-42B7-A7E7-87A8D8FFE9CA}</a:tableStyleId>
              </a:tblPr>
              <a:tblGrid>
                <a:gridCol w="3477546">
                  <a:extLst>
                    <a:ext uri="{9D8B030D-6E8A-4147-A177-3AD203B41FA5}">
                      <a16:colId xmlns:a16="http://schemas.microsoft.com/office/drawing/2014/main" val="20000"/>
                    </a:ext>
                  </a:extLst>
                </a:gridCol>
              </a:tblGrid>
              <a:tr h="4025693">
                <a:tc>
                  <a:txBody>
                    <a:bodyPr/>
                    <a:lstStyle/>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val valor = </a:t>
                      </a:r>
                      <a:r>
                        <a:rPr lang="es-ES" sz="600" dirty="0" err="1">
                          <a:solidFill>
                            <a:srgbClr val="4F81BD"/>
                          </a:solidFill>
                          <a:latin typeface="Calibri"/>
                          <a:ea typeface="Calibri"/>
                          <a:cs typeface="Calibri"/>
                          <a:sym typeface="Calibri"/>
                        </a:rPr>
                        <a:t>texto.toDoubleOrNull</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if</a:t>
                      </a:r>
                      <a:r>
                        <a:rPr lang="es-ES" sz="600" dirty="0">
                          <a:solidFill>
                            <a:srgbClr val="4F81BD"/>
                          </a:solidFill>
                          <a:latin typeface="Calibri"/>
                          <a:ea typeface="Calibri"/>
                          <a:cs typeface="Calibri"/>
                          <a:sym typeface="Calibri"/>
                        </a:rPr>
                        <a:t> (valor == </a:t>
                      </a:r>
                      <a:r>
                        <a:rPr lang="es-ES" sz="600" dirty="0" err="1">
                          <a:solidFill>
                            <a:srgbClr val="4F81BD"/>
                          </a:solidFill>
                          <a:latin typeface="Calibri"/>
                          <a:ea typeface="Calibri"/>
                          <a:cs typeface="Calibri"/>
                          <a:sym typeface="Calibri"/>
                        </a:rPr>
                        <a:t>null</a:t>
                      </a: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vista.mostrarErrorEntrada</a:t>
                      </a:r>
                      <a:r>
                        <a:rPr lang="es-ES" sz="600" dirty="0">
                          <a:solidFill>
                            <a:srgbClr val="4F81BD"/>
                          </a:solidFill>
                          <a:latin typeface="Calibri"/>
                          <a:ea typeface="Calibri"/>
                          <a:cs typeface="Calibri"/>
                          <a:sym typeface="Calibri"/>
                        </a:rPr>
                        <a:t>("Valor no válido")</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return</a:t>
                      </a:r>
                      <a:endParaRPr lang="es-ES" sz="6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if</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categoria</a:t>
                      </a:r>
                      <a:r>
                        <a:rPr lang="es-ES" sz="600" dirty="0">
                          <a:solidFill>
                            <a:srgbClr val="4F81BD"/>
                          </a:solidFill>
                          <a:latin typeface="Calibri"/>
                          <a:ea typeface="Calibri"/>
                          <a:cs typeface="Calibri"/>
                          <a:sym typeface="Calibri"/>
                        </a:rPr>
                        <a:t> != </a:t>
                      </a:r>
                      <a:r>
                        <a:rPr lang="es-ES" sz="600" dirty="0" err="1">
                          <a:solidFill>
                            <a:srgbClr val="4F81BD"/>
                          </a:solidFill>
                          <a:latin typeface="Calibri"/>
                          <a:ea typeface="Calibri"/>
                          <a:cs typeface="Calibri"/>
                          <a:sym typeface="Calibri"/>
                        </a:rPr>
                        <a:t>CategoriaUnidad.TEMPERATURA</a:t>
                      </a:r>
                      <a:r>
                        <a:rPr lang="es-ES" sz="600" dirty="0">
                          <a:solidFill>
                            <a:srgbClr val="4F81BD"/>
                          </a:solidFill>
                          <a:latin typeface="Calibri"/>
                          <a:ea typeface="Calibri"/>
                          <a:cs typeface="Calibri"/>
                          <a:sym typeface="Calibri"/>
                        </a:rPr>
                        <a:t> &amp;&amp; valor &lt; 0)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vista.mostrarErrorEntrada</a:t>
                      </a:r>
                      <a:r>
                        <a:rPr lang="es-ES" sz="600" dirty="0">
                          <a:solidFill>
                            <a:srgbClr val="4F81BD"/>
                          </a:solidFill>
                          <a:latin typeface="Calibri"/>
                          <a:ea typeface="Calibri"/>
                          <a:cs typeface="Calibri"/>
                          <a:sym typeface="Calibri"/>
                        </a:rPr>
                        <a:t>("No se permiten valores negativos")</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return</a:t>
                      </a:r>
                      <a:endParaRPr lang="es-ES" sz="6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endParaRPr lang="es-ES" sz="6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vista.mostrarErrorEntrada</a:t>
                      </a:r>
                      <a:r>
                        <a:rPr lang="es-ES" sz="600" dirty="0">
                          <a:solidFill>
                            <a:srgbClr val="4F81BD"/>
                          </a:solidFill>
                          <a:latin typeface="Calibri"/>
                          <a:ea typeface="Calibri"/>
                          <a:cs typeface="Calibri"/>
                          <a:sym typeface="Calibri"/>
                        </a:rPr>
                        <a:t>(</a:t>
                      </a:r>
                      <a:r>
                        <a:rPr lang="es-ES" sz="600" dirty="0" err="1">
                          <a:solidFill>
                            <a:srgbClr val="4F81BD"/>
                          </a:solidFill>
                          <a:latin typeface="Calibri"/>
                          <a:ea typeface="Calibri"/>
                          <a:cs typeface="Calibri"/>
                          <a:sym typeface="Calibri"/>
                        </a:rPr>
                        <a:t>null</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vista.mostrarCargando</a:t>
                      </a:r>
                      <a:r>
                        <a:rPr lang="es-ES" sz="600" dirty="0">
                          <a:solidFill>
                            <a:srgbClr val="4F81BD"/>
                          </a:solidFill>
                          <a:latin typeface="Calibri"/>
                          <a:ea typeface="Calibri"/>
                          <a:cs typeface="Calibri"/>
                          <a:sym typeface="Calibri"/>
                        </a:rPr>
                        <a:t>(true)</a:t>
                      </a:r>
                    </a:p>
                    <a:p>
                      <a:pPr marL="0" lvl="0" indent="0" algn="l" rtl="0">
                        <a:lnSpc>
                          <a:spcPct val="100000"/>
                        </a:lnSpc>
                        <a:spcBef>
                          <a:spcPts val="0"/>
                        </a:spcBef>
                        <a:spcAft>
                          <a:spcPts val="0"/>
                        </a:spcAft>
                        <a:buClr>
                          <a:schemeClr val="dk1"/>
                        </a:buClr>
                        <a:buSzPts val="1100"/>
                        <a:buFont typeface="Arial"/>
                        <a:buNone/>
                      </a:pPr>
                      <a:endParaRPr lang="es-ES" sz="6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ambito.launch</a:t>
                      </a: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try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val respuesta = </a:t>
                      </a:r>
                      <a:r>
                        <a:rPr lang="es-ES" sz="600" dirty="0" err="1">
                          <a:solidFill>
                            <a:srgbClr val="4F81BD"/>
                          </a:solidFill>
                          <a:latin typeface="Calibri"/>
                          <a:ea typeface="Calibri"/>
                          <a:cs typeface="Calibri"/>
                          <a:sym typeface="Calibri"/>
                        </a:rPr>
                        <a:t>modelo.convertir</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valor,</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categoria.unidades</a:t>
                      </a:r>
                      <a:r>
                        <a:rPr lang="es-ES" sz="600" dirty="0">
                          <a:solidFill>
                            <a:srgbClr val="4F81BD"/>
                          </a:solidFill>
                          <a:latin typeface="Calibri"/>
                          <a:ea typeface="Calibri"/>
                          <a:cs typeface="Calibri"/>
                          <a:sym typeface="Calibri"/>
                        </a:rPr>
                        <a:t>[</a:t>
                      </a:r>
                      <a:r>
                        <a:rPr lang="es-ES" sz="600" dirty="0" err="1">
                          <a:solidFill>
                            <a:srgbClr val="4F81BD"/>
                          </a:solidFill>
                          <a:latin typeface="Calibri"/>
                          <a:ea typeface="Calibri"/>
                          <a:cs typeface="Calibri"/>
                          <a:sym typeface="Calibri"/>
                        </a:rPr>
                        <a:t>indiceOrigen</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categoria.unidades</a:t>
                      </a:r>
                      <a:r>
                        <a:rPr lang="es-ES" sz="600" dirty="0">
                          <a:solidFill>
                            <a:srgbClr val="4F81BD"/>
                          </a:solidFill>
                          <a:latin typeface="Calibri"/>
                          <a:ea typeface="Calibri"/>
                          <a:cs typeface="Calibri"/>
                          <a:sym typeface="Calibri"/>
                        </a:rPr>
                        <a:t>[</a:t>
                      </a:r>
                      <a:r>
                        <a:rPr lang="es-ES" sz="600" dirty="0" err="1">
                          <a:solidFill>
                            <a:srgbClr val="4F81BD"/>
                          </a:solidFill>
                          <a:latin typeface="Calibri"/>
                          <a:ea typeface="Calibri"/>
                          <a:cs typeface="Calibri"/>
                          <a:sym typeface="Calibri"/>
                        </a:rPr>
                        <a:t>indiceDestino</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vista.mostrarResultado</a:t>
                      </a:r>
                      <a:r>
                        <a:rPr lang="es-ES" sz="600" dirty="0">
                          <a:solidFill>
                            <a:srgbClr val="4F81BD"/>
                          </a:solidFill>
                          <a:latin typeface="Calibri"/>
                          <a:ea typeface="Calibri"/>
                          <a:cs typeface="Calibri"/>
                          <a:sym typeface="Calibri"/>
                        </a:rPr>
                        <a:t>(</a:t>
                      </a:r>
                      <a:r>
                        <a:rPr lang="es-ES" sz="600" dirty="0" err="1">
                          <a:solidFill>
                            <a:srgbClr val="4F81BD"/>
                          </a:solidFill>
                          <a:latin typeface="Calibri"/>
                          <a:ea typeface="Calibri"/>
                          <a:cs typeface="Calibri"/>
                          <a:sym typeface="Calibri"/>
                        </a:rPr>
                        <a:t>formatearResultado</a:t>
                      </a:r>
                      <a:r>
                        <a:rPr lang="es-ES" sz="600" dirty="0">
                          <a:solidFill>
                            <a:srgbClr val="4F81BD"/>
                          </a:solidFill>
                          <a:latin typeface="Calibri"/>
                          <a:ea typeface="Calibri"/>
                          <a:cs typeface="Calibri"/>
                          <a:sym typeface="Calibri"/>
                        </a:rPr>
                        <a:t>(</a:t>
                      </a:r>
                      <a:r>
                        <a:rPr lang="es-ES" sz="600" dirty="0" err="1">
                          <a:solidFill>
                            <a:srgbClr val="4F81BD"/>
                          </a:solidFill>
                          <a:latin typeface="Calibri"/>
                          <a:ea typeface="Calibri"/>
                          <a:cs typeface="Calibri"/>
                          <a:sym typeface="Calibri"/>
                        </a:rPr>
                        <a:t>respuesta.valorConvertido</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 catch (</a:t>
                      </a:r>
                      <a:r>
                        <a:rPr lang="es-ES" sz="600" dirty="0" err="1">
                          <a:solidFill>
                            <a:srgbClr val="4F81BD"/>
                          </a:solidFill>
                          <a:latin typeface="Calibri"/>
                          <a:ea typeface="Calibri"/>
                          <a:cs typeface="Calibri"/>
                          <a:sym typeface="Calibri"/>
                        </a:rPr>
                        <a:t>excepcion</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ExcepcionMantenimiento</a:t>
                      </a: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vista.mostrarMensajeMantenimiento</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 catch (</a:t>
                      </a:r>
                      <a:r>
                        <a:rPr lang="es-ES" sz="600" dirty="0" err="1">
                          <a:solidFill>
                            <a:srgbClr val="4F81BD"/>
                          </a:solidFill>
                          <a:latin typeface="Calibri"/>
                          <a:ea typeface="Calibri"/>
                          <a:cs typeface="Calibri"/>
                          <a:sym typeface="Calibri"/>
                        </a:rPr>
                        <a:t>excepcion</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ExcepcionSesionVencida</a:t>
                      </a: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vista.mostrarErrorSesionVencida</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 catch (</a:t>
                      </a:r>
                      <a:r>
                        <a:rPr lang="es-ES" sz="600" dirty="0" err="1">
                          <a:solidFill>
                            <a:srgbClr val="4F81BD"/>
                          </a:solidFill>
                          <a:latin typeface="Calibri"/>
                          <a:ea typeface="Calibri"/>
                          <a:cs typeface="Calibri"/>
                          <a:sym typeface="Calibri"/>
                        </a:rPr>
                        <a:t>excepcion</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ExcepcionServidor</a:t>
                      </a: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vista.mostrarError</a:t>
                      </a:r>
                      <a:r>
                        <a:rPr lang="es-ES" sz="600" dirty="0">
                          <a:solidFill>
                            <a:srgbClr val="4F81BD"/>
                          </a:solidFill>
                          <a:latin typeface="Calibri"/>
                          <a:ea typeface="Calibri"/>
                          <a:cs typeface="Calibri"/>
                          <a:sym typeface="Calibri"/>
                        </a:rPr>
                        <a:t>(</a:t>
                      </a:r>
                      <a:r>
                        <a:rPr lang="es-ES" sz="600" dirty="0" err="1">
                          <a:solidFill>
                            <a:srgbClr val="4F81BD"/>
                          </a:solidFill>
                          <a:latin typeface="Calibri"/>
                          <a:ea typeface="Calibri"/>
                          <a:cs typeface="Calibri"/>
                          <a:sym typeface="Calibri"/>
                        </a:rPr>
                        <a:t>excepcion.mensaje</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 </a:t>
                      </a:r>
                      <a:r>
                        <a:rPr lang="es-ES" sz="600" dirty="0" err="1">
                          <a:solidFill>
                            <a:srgbClr val="4F81BD"/>
                          </a:solidFill>
                          <a:latin typeface="Calibri"/>
                          <a:ea typeface="Calibri"/>
                          <a:cs typeface="Calibri"/>
                          <a:sym typeface="Calibri"/>
                        </a:rPr>
                        <a:t>finally</a:t>
                      </a: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vista.mostrarCargando</a:t>
                      </a:r>
                      <a:r>
                        <a:rPr lang="es-ES" sz="600" dirty="0">
                          <a:solidFill>
                            <a:srgbClr val="4F81BD"/>
                          </a:solidFill>
                          <a:latin typeface="Calibri"/>
                          <a:ea typeface="Calibri"/>
                          <a:cs typeface="Calibri"/>
                          <a:sym typeface="Calibri"/>
                        </a:rPr>
                        <a:t>(false)</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endParaRPr lang="es-ES" sz="6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private</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fun</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actualizarSimbolos</a:t>
                      </a: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vista.mostrarSimbolos</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categoria.unidades</a:t>
                      </a:r>
                      <a:r>
                        <a:rPr lang="es-ES" sz="600" dirty="0">
                          <a:solidFill>
                            <a:srgbClr val="4F81BD"/>
                          </a:solidFill>
                          <a:latin typeface="Calibri"/>
                          <a:ea typeface="Calibri"/>
                          <a:cs typeface="Calibri"/>
                          <a:sym typeface="Calibri"/>
                        </a:rPr>
                        <a:t>[</a:t>
                      </a:r>
                      <a:r>
                        <a:rPr lang="es-ES" sz="600" dirty="0" err="1">
                          <a:solidFill>
                            <a:srgbClr val="4F81BD"/>
                          </a:solidFill>
                          <a:latin typeface="Calibri"/>
                          <a:ea typeface="Calibri"/>
                          <a:cs typeface="Calibri"/>
                          <a:sym typeface="Calibri"/>
                        </a:rPr>
                        <a:t>indiceOrigen</a:t>
                      </a:r>
                      <a:r>
                        <a:rPr lang="es-ES" sz="600" dirty="0">
                          <a:solidFill>
                            <a:srgbClr val="4F81BD"/>
                          </a:solidFill>
                          <a:latin typeface="Calibri"/>
                          <a:ea typeface="Calibri"/>
                          <a:cs typeface="Calibri"/>
                          <a:sym typeface="Calibri"/>
                        </a:rPr>
                        <a:t>].</a:t>
                      </a:r>
                      <a:r>
                        <a:rPr lang="es-ES" sz="600" dirty="0" err="1">
                          <a:solidFill>
                            <a:srgbClr val="4F81BD"/>
                          </a:solidFill>
                          <a:latin typeface="Calibri"/>
                          <a:ea typeface="Calibri"/>
                          <a:cs typeface="Calibri"/>
                          <a:sym typeface="Calibri"/>
                        </a:rPr>
                        <a:t>simbolo</a:t>
                      </a:r>
                      <a:r>
                        <a:rPr lang="es-ES" sz="6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categoria.unidades</a:t>
                      </a:r>
                      <a:r>
                        <a:rPr lang="es-ES" sz="600" dirty="0">
                          <a:solidFill>
                            <a:srgbClr val="4F81BD"/>
                          </a:solidFill>
                          <a:latin typeface="Calibri"/>
                          <a:ea typeface="Calibri"/>
                          <a:cs typeface="Calibri"/>
                          <a:sym typeface="Calibri"/>
                        </a:rPr>
                        <a:t>[</a:t>
                      </a:r>
                      <a:r>
                        <a:rPr lang="es-ES" sz="600" dirty="0" err="1">
                          <a:solidFill>
                            <a:srgbClr val="4F81BD"/>
                          </a:solidFill>
                          <a:latin typeface="Calibri"/>
                          <a:ea typeface="Calibri"/>
                          <a:cs typeface="Calibri"/>
                          <a:sym typeface="Calibri"/>
                        </a:rPr>
                        <a:t>indiceDestino</a:t>
                      </a:r>
                      <a:r>
                        <a:rPr lang="es-ES" sz="600" dirty="0">
                          <a:solidFill>
                            <a:srgbClr val="4F81BD"/>
                          </a:solidFill>
                          <a:latin typeface="Calibri"/>
                          <a:ea typeface="Calibri"/>
                          <a:cs typeface="Calibri"/>
                          <a:sym typeface="Calibri"/>
                        </a:rPr>
                        <a:t>].</a:t>
                      </a:r>
                      <a:r>
                        <a:rPr lang="es-ES" sz="600" dirty="0" err="1">
                          <a:solidFill>
                            <a:srgbClr val="4F81BD"/>
                          </a:solidFill>
                          <a:latin typeface="Calibri"/>
                          <a:ea typeface="Calibri"/>
                          <a:cs typeface="Calibri"/>
                          <a:sym typeface="Calibri"/>
                        </a:rPr>
                        <a:t>simbolo</a:t>
                      </a:r>
                      <a:endParaRPr lang="es-ES" sz="6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endParaRPr lang="es-ES" sz="6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s-ES" sz="600" dirty="0" err="1">
                          <a:solidFill>
                            <a:srgbClr val="4F81BD"/>
                          </a:solidFill>
                          <a:latin typeface="Calibri"/>
                          <a:ea typeface="Calibri"/>
                          <a:cs typeface="Calibri"/>
                          <a:sym typeface="Calibri"/>
                        </a:rPr>
                        <a:t>private</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fun</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formatearResultado</a:t>
                      </a:r>
                      <a:r>
                        <a:rPr lang="es-ES" sz="600" dirty="0">
                          <a:solidFill>
                            <a:srgbClr val="4F81BD"/>
                          </a:solidFill>
                          <a:latin typeface="Calibri"/>
                          <a:ea typeface="Calibri"/>
                          <a:cs typeface="Calibri"/>
                          <a:sym typeface="Calibri"/>
                        </a:rPr>
                        <a:t>(valor: </a:t>
                      </a:r>
                      <a:r>
                        <a:rPr lang="es-ES" sz="600" dirty="0" err="1">
                          <a:solidFill>
                            <a:srgbClr val="4F81BD"/>
                          </a:solidFill>
                          <a:latin typeface="Calibri"/>
                          <a:ea typeface="Calibri"/>
                          <a:cs typeface="Calibri"/>
                          <a:sym typeface="Calibri"/>
                        </a:rPr>
                        <a:t>Double</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String</a:t>
                      </a: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val formateado = </a:t>
                      </a:r>
                      <a:r>
                        <a:rPr lang="es-ES" sz="600" dirty="0" err="1">
                          <a:solidFill>
                            <a:srgbClr val="4F81BD"/>
                          </a:solidFill>
                          <a:latin typeface="Calibri"/>
                          <a:ea typeface="Calibri"/>
                          <a:cs typeface="Calibri"/>
                          <a:sym typeface="Calibri"/>
                        </a:rPr>
                        <a:t>String.format</a:t>
                      </a:r>
                      <a:r>
                        <a:rPr lang="es-ES" sz="600" dirty="0">
                          <a:solidFill>
                            <a:srgbClr val="4F81BD"/>
                          </a:solidFill>
                          <a:latin typeface="Calibri"/>
                          <a:ea typeface="Calibri"/>
                          <a:cs typeface="Calibri"/>
                          <a:sym typeface="Calibri"/>
                        </a:rPr>
                        <a:t>(</a:t>
                      </a:r>
                      <a:r>
                        <a:rPr lang="es-ES" sz="600" dirty="0" err="1">
                          <a:solidFill>
                            <a:srgbClr val="4F81BD"/>
                          </a:solidFill>
                          <a:latin typeface="Calibri"/>
                          <a:ea typeface="Calibri"/>
                          <a:cs typeface="Calibri"/>
                          <a:sym typeface="Calibri"/>
                        </a:rPr>
                        <a:t>Locale.getDefault</a:t>
                      </a:r>
                      <a:r>
                        <a:rPr lang="es-ES" sz="600" dirty="0">
                          <a:solidFill>
                            <a:srgbClr val="4F81BD"/>
                          </a:solidFill>
                          <a:latin typeface="Calibri"/>
                          <a:ea typeface="Calibri"/>
                          <a:cs typeface="Calibri"/>
                          <a:sym typeface="Calibri"/>
                        </a:rPr>
                        <a:t>(), "%.4f", valor)</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return</a:t>
                      </a:r>
                      <a:r>
                        <a:rPr lang="es-ES" sz="600" dirty="0">
                          <a:solidFill>
                            <a:srgbClr val="4F81BD"/>
                          </a:solidFill>
                          <a:latin typeface="Calibri"/>
                          <a:ea typeface="Calibri"/>
                          <a:cs typeface="Calibri"/>
                          <a:sym typeface="Calibri"/>
                        </a:rPr>
                        <a:t> </a:t>
                      </a:r>
                      <a:r>
                        <a:rPr lang="es-ES" sz="600" dirty="0" err="1">
                          <a:solidFill>
                            <a:srgbClr val="4F81BD"/>
                          </a:solidFill>
                          <a:latin typeface="Calibri"/>
                          <a:ea typeface="Calibri"/>
                          <a:cs typeface="Calibri"/>
                          <a:sym typeface="Calibri"/>
                        </a:rPr>
                        <a:t>formateado.trimEnd</a:t>
                      </a:r>
                      <a:r>
                        <a:rPr lang="es-ES" sz="600" dirty="0">
                          <a:solidFill>
                            <a:srgbClr val="4F81BD"/>
                          </a:solidFill>
                          <a:latin typeface="Calibri"/>
                          <a:ea typeface="Calibri"/>
                          <a:cs typeface="Calibri"/>
                          <a:sym typeface="Calibri"/>
                        </a:rPr>
                        <a:t>('0').</a:t>
                      </a:r>
                      <a:r>
                        <a:rPr lang="es-ES" sz="600" dirty="0" err="1">
                          <a:solidFill>
                            <a:srgbClr val="4F81BD"/>
                          </a:solidFill>
                          <a:latin typeface="Calibri"/>
                          <a:ea typeface="Calibri"/>
                          <a:cs typeface="Calibri"/>
                          <a:sym typeface="Calibri"/>
                        </a:rPr>
                        <a:t>trimEnd</a:t>
                      </a: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Clr>
                          <a:schemeClr val="dk1"/>
                        </a:buClr>
                        <a:buSzPts val="1100"/>
                        <a:buFont typeface="Arial"/>
                        <a:buNone/>
                      </a:pPr>
                      <a:r>
                        <a:rPr lang="es-ES" sz="6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graphicFrame>
        <p:nvGraphicFramePr>
          <p:cNvPr id="651" name="Google Shape;651;p80"/>
          <p:cNvGraphicFramePr/>
          <p:nvPr>
            <p:extLst>
              <p:ext uri="{D42A27DB-BD31-4B8C-83A1-F6EECF244321}">
                <p14:modId xmlns:p14="http://schemas.microsoft.com/office/powerpoint/2010/main" val="3252665819"/>
              </p:ext>
            </p:extLst>
          </p:nvPr>
        </p:nvGraphicFramePr>
        <p:xfrm>
          <a:off x="2332838" y="2061638"/>
          <a:ext cx="6484300" cy="4493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493000">
                <a:tc>
                  <a:txBody>
                    <a:bodyPr/>
                    <a:lstStyle/>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fun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enClicIniciarSesion</a:t>
                      </a:r>
                      <a:r>
                        <a:rPr lang="es-ES" sz="900" dirty="0">
                          <a:solidFill>
                            <a:srgbClr val="4F81BD"/>
                          </a:solidFill>
                          <a:latin typeface="Calibri"/>
                          <a:ea typeface="Calibri"/>
                          <a:cs typeface="Calibri"/>
                          <a:sym typeface="Calibri"/>
                        </a:rPr>
                        <a:t>(usuario: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contrasena</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usuario.isBlank</a:t>
                      </a: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vista.mostrarErrorUsuario</a:t>
                      </a:r>
                      <a:r>
                        <a:rPr lang="es-ES" sz="900" dirty="0">
                          <a:solidFill>
                            <a:srgbClr val="4F81BD"/>
                          </a:solidFill>
                          <a:latin typeface="Calibri"/>
                          <a:ea typeface="Calibri"/>
                          <a:cs typeface="Calibri"/>
                          <a:sym typeface="Calibri"/>
                        </a:rPr>
                        <a:t>("Ingrese el usuario")</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endParaRPr lang="es-ES"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contrasena.isBlank</a:t>
                      </a: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vista.mostrarErrorContrasena</a:t>
                      </a:r>
                      <a:r>
                        <a:rPr lang="es-ES" sz="900" dirty="0">
                          <a:solidFill>
                            <a:srgbClr val="4F81BD"/>
                          </a:solidFill>
                          <a:latin typeface="Calibri"/>
                          <a:ea typeface="Calibri"/>
                          <a:cs typeface="Calibri"/>
                          <a:sym typeface="Calibri"/>
                        </a:rPr>
                        <a:t>("Ingrese la contraseña")</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endParaRPr lang="es-ES"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vista.mostrarCargando</a:t>
                      </a:r>
                      <a:r>
                        <a:rPr lang="es-ES" sz="900" dirty="0">
                          <a:solidFill>
                            <a:srgbClr val="4F81BD"/>
                          </a:solidFill>
                          <a:latin typeface="Calibri"/>
                          <a:ea typeface="Calibri"/>
                          <a:cs typeface="Calibri"/>
                          <a:sym typeface="Calibri"/>
                        </a:rPr>
                        <a:t>(true)</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ambito.launch</a:t>
                      </a: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try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val respuesta = </a:t>
                      </a:r>
                      <a:r>
                        <a:rPr lang="es-ES" sz="900" dirty="0" err="1">
                          <a:solidFill>
                            <a:srgbClr val="4F81BD"/>
                          </a:solidFill>
                          <a:latin typeface="Calibri"/>
                          <a:ea typeface="Calibri"/>
                          <a:cs typeface="Calibri"/>
                          <a:sym typeface="Calibri"/>
                        </a:rPr>
                        <a:t>modelo.iniciarSesion</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usuario.trim</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contrasena</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sesion.guardarToken</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respuesta.token</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vista.navegarAlConversor</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respuesta.token</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 catch (</a:t>
                      </a:r>
                      <a:r>
                        <a:rPr lang="es-ES" sz="900" dirty="0" err="1">
                          <a:solidFill>
                            <a:srgbClr val="4F81BD"/>
                          </a:solidFill>
                          <a:latin typeface="Calibri"/>
                          <a:ea typeface="Calibri"/>
                          <a:cs typeface="Calibri"/>
                          <a:sym typeface="Calibri"/>
                        </a:rPr>
                        <a:t>excepcion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ExcepcionAutenticacion</a:t>
                      </a: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vista.mostrarError</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excepcion.message</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finally</a:t>
                      </a: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vista.mostrarCargando</a:t>
                      </a:r>
                      <a:r>
                        <a:rPr lang="es-ES" sz="900" dirty="0">
                          <a:solidFill>
                            <a:srgbClr val="4F81BD"/>
                          </a:solidFill>
                          <a:latin typeface="Calibri"/>
                          <a:ea typeface="Calibri"/>
                          <a:cs typeface="Calibri"/>
                          <a:sym typeface="Calibri"/>
                        </a:rPr>
                        <a:t>(false)</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endParaRPr sz="9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52" name="Google Shape;652;p8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53" name="Google Shape;653;p8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4" name="Google Shape;319;p40">
            <a:extLst>
              <a:ext uri="{FF2B5EF4-FFF2-40B4-BE49-F238E27FC236}">
                <a16:creationId xmlns:a16="http://schemas.microsoft.com/office/drawing/2014/main" id="{EDF1264D-7178-17B2-553C-4C1B312EC422}"/>
              </a:ext>
            </a:extLst>
          </p:cNvPr>
          <p:cNvSpPr txBox="1">
            <a:spLocks/>
          </p:cNvSpPr>
          <p:nvPr/>
        </p:nvSpPr>
        <p:spPr>
          <a:xfrm>
            <a:off x="-1" y="1837551"/>
            <a:ext cx="1940435" cy="44479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graphicFrame>
        <p:nvGraphicFramePr>
          <p:cNvPr id="659" name="Google Shape;659;p81"/>
          <p:cNvGraphicFramePr/>
          <p:nvPr>
            <p:extLst>
              <p:ext uri="{D42A27DB-BD31-4B8C-83A1-F6EECF244321}">
                <p14:modId xmlns:p14="http://schemas.microsoft.com/office/powerpoint/2010/main" val="2742092324"/>
              </p:ext>
            </p:extLst>
          </p:nvPr>
        </p:nvGraphicFramePr>
        <p:xfrm>
          <a:off x="2769431" y="2418012"/>
          <a:ext cx="5954440" cy="3734626"/>
        </p:xfrm>
        <a:graphic>
          <a:graphicData uri="http://schemas.openxmlformats.org/drawingml/2006/table">
            <a:tbl>
              <a:tblPr>
                <a:noFill/>
                <a:tableStyleId>{BF136021-7255-42B7-A7E7-87A8D8FFE9CA}</a:tableStyleId>
              </a:tblPr>
              <a:tblGrid>
                <a:gridCol w="5954440">
                  <a:extLst>
                    <a:ext uri="{9D8B030D-6E8A-4147-A177-3AD203B41FA5}">
                      <a16:colId xmlns:a16="http://schemas.microsoft.com/office/drawing/2014/main" val="20000"/>
                    </a:ext>
                  </a:extLst>
                </a:gridCol>
              </a:tblGrid>
              <a:tr h="2389797">
                <a:tc>
                  <a:txBody>
                    <a:bodyPr/>
                    <a:lstStyle/>
                    <a:p>
                      <a:pPr marL="0" lvl="0" indent="0" algn="l" rtl="0">
                        <a:lnSpc>
                          <a:spcPct val="120000"/>
                        </a:lnSpc>
                        <a:spcBef>
                          <a:spcPts val="0"/>
                        </a:spcBef>
                        <a:spcAft>
                          <a:spcPts val="0"/>
                        </a:spcAft>
                        <a:buNone/>
                      </a:pPr>
                      <a:r>
                        <a:rPr lang="es-ES" sz="1100" dirty="0" err="1">
                          <a:solidFill>
                            <a:srgbClr val="4F81BD"/>
                          </a:solidFill>
                          <a:latin typeface="Calibri"/>
                          <a:ea typeface="Calibri"/>
                          <a:cs typeface="Calibri"/>
                          <a:sym typeface="Calibri"/>
                        </a:rPr>
                        <a:t>class</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InterceptorAutenticacion</a:t>
                      </a:r>
                      <a:r>
                        <a:rPr lang="es-ES" sz="11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val </a:t>
                      </a:r>
                      <a:r>
                        <a:rPr lang="es-ES" sz="1100" dirty="0" err="1">
                          <a:solidFill>
                            <a:srgbClr val="4F81BD"/>
                          </a:solidFill>
                          <a:latin typeface="Calibri"/>
                          <a:ea typeface="Calibri"/>
                          <a:cs typeface="Calibri"/>
                          <a:sym typeface="Calibri"/>
                        </a:rPr>
                        <a:t>gestorSesion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GestorSesion</a:t>
                      </a:r>
                      <a:endParaRPr lang="es-ES" sz="11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 Interceptor {</a:t>
                      </a:r>
                    </a:p>
                    <a:p>
                      <a:pPr marL="0" lvl="0" indent="0" algn="l" rtl="0">
                        <a:lnSpc>
                          <a:spcPct val="120000"/>
                        </a:lnSpc>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override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fun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intercept</a:t>
                      </a:r>
                      <a:r>
                        <a:rPr lang="es-ES" sz="1100" dirty="0">
                          <a:solidFill>
                            <a:srgbClr val="4F81BD"/>
                          </a:solidFill>
                          <a:latin typeface="Calibri"/>
                          <a:ea typeface="Calibri"/>
                          <a:cs typeface="Calibri"/>
                          <a:sym typeface="Calibri"/>
                        </a:rPr>
                        <a:t>(cadena: </a:t>
                      </a:r>
                      <a:r>
                        <a:rPr lang="es-ES" sz="1100" dirty="0" err="1">
                          <a:solidFill>
                            <a:srgbClr val="4F81BD"/>
                          </a:solidFill>
                          <a:latin typeface="Calibri"/>
                          <a:ea typeface="Calibri"/>
                          <a:cs typeface="Calibri"/>
                          <a:sym typeface="Calibri"/>
                        </a:rPr>
                        <a:t>Interceptor.Chain</a:t>
                      </a:r>
                      <a:r>
                        <a:rPr lang="es-ES" sz="1100" dirty="0">
                          <a:solidFill>
                            <a:srgbClr val="4F81BD"/>
                          </a:solidFill>
                          <a:latin typeface="Calibri"/>
                          <a:ea typeface="Calibri"/>
                          <a:cs typeface="Calibri"/>
                          <a:sym typeface="Calibri"/>
                        </a:rPr>
                        <a:t>): Response {</a:t>
                      </a: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val token = </a:t>
                      </a:r>
                      <a:r>
                        <a:rPr lang="es-ES" sz="1100" dirty="0" err="1">
                          <a:solidFill>
                            <a:srgbClr val="4F81BD"/>
                          </a:solidFill>
                          <a:latin typeface="Calibri"/>
                          <a:ea typeface="Calibri"/>
                          <a:cs typeface="Calibri"/>
                          <a:sym typeface="Calibri"/>
                        </a:rPr>
                        <a:t>gestorSesion.obtenerToken</a:t>
                      </a:r>
                      <a:r>
                        <a:rPr lang="es-ES" sz="11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val </a:t>
                      </a:r>
                      <a:r>
                        <a:rPr lang="es-ES" sz="1100" dirty="0" err="1">
                          <a:solidFill>
                            <a:srgbClr val="4F81BD"/>
                          </a:solidFill>
                          <a:latin typeface="Calibri"/>
                          <a:ea typeface="Calibri"/>
                          <a:cs typeface="Calibri"/>
                          <a:sym typeface="Calibri"/>
                        </a:rPr>
                        <a:t>peticion</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if</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token.isNullOrBlank</a:t>
                      </a:r>
                      <a:r>
                        <a:rPr lang="es-ES" sz="11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cadena.request</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newBuilder</a:t>
                      </a:r>
                      <a:r>
                        <a:rPr lang="es-ES" sz="11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header</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Constantes.CABECERA_AUTORIZACION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Constantes.PREFIJO_BEARER</a:t>
                      </a:r>
                      <a:r>
                        <a:rPr lang="es-ES" sz="1100" dirty="0">
                          <a:solidFill>
                            <a:srgbClr val="4F81BD"/>
                          </a:solidFill>
                          <a:latin typeface="Calibri"/>
                          <a:ea typeface="Calibri"/>
                          <a:cs typeface="Calibri"/>
                          <a:sym typeface="Calibri"/>
                        </a:rPr>
                        <a:t> + token)</a:t>
                      </a: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build</a:t>
                      </a:r>
                      <a:r>
                        <a:rPr lang="es-ES" sz="11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else</a:t>
                      </a:r>
                      <a:r>
                        <a:rPr lang="es-ES" sz="11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cadena.request</a:t>
                      </a:r>
                      <a:r>
                        <a:rPr lang="es-ES" sz="11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cadena.proceed</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peticion</a:t>
                      </a:r>
                      <a:r>
                        <a:rPr lang="es-ES" sz="11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60" name="Google Shape;660;p8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61" name="Google Shape;661;p8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4" name="Google Shape;319;p40">
            <a:extLst>
              <a:ext uri="{FF2B5EF4-FFF2-40B4-BE49-F238E27FC236}">
                <a16:creationId xmlns:a16="http://schemas.microsoft.com/office/drawing/2014/main" id="{9A9551A8-D9D7-F278-5223-55A702F913A3}"/>
              </a:ext>
            </a:extLst>
          </p:cNvPr>
          <p:cNvSpPr txBox="1">
            <a:spLocks/>
          </p:cNvSpPr>
          <p:nvPr/>
        </p:nvSpPr>
        <p:spPr>
          <a:xfrm>
            <a:off x="-1" y="1837551"/>
            <a:ext cx="1940435" cy="44479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8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68" name="Google Shape;668;p82"/>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solidFill>
                <a:schemeClr val="dk1"/>
              </a:solidFill>
            </a:endParaRPr>
          </a:p>
        </p:txBody>
      </p:sp>
      <p:sp>
        <p:nvSpPr>
          <p:cNvPr id="669" name="Google Shape;669;p82"/>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5" name="Picture 4">
            <a:extLst>
              <a:ext uri="{FF2B5EF4-FFF2-40B4-BE49-F238E27FC236}">
                <a16:creationId xmlns:a16="http://schemas.microsoft.com/office/drawing/2014/main" id="{C131F9B4-E4FC-30D2-83FA-1FE2C502EE51}"/>
              </a:ext>
            </a:extLst>
          </p:cNvPr>
          <p:cNvPicPr>
            <a:picLocks noChangeAspect="1"/>
          </p:cNvPicPr>
          <p:nvPr/>
        </p:nvPicPr>
        <p:blipFill>
          <a:blip r:embed="rId3"/>
          <a:stretch>
            <a:fillRect/>
          </a:stretch>
        </p:blipFill>
        <p:spPr>
          <a:xfrm>
            <a:off x="3814923" y="2137329"/>
            <a:ext cx="2077626" cy="4644401"/>
          </a:xfrm>
          <a:prstGeom prst="rect">
            <a:avLst/>
          </a:prstGeom>
          <a:ln>
            <a:solidFill>
              <a:schemeClr val="tx1"/>
            </a:solid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8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76" name="Google Shape;676;p83"/>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solidFill>
                <a:schemeClr val="dk1"/>
              </a:solidFill>
            </a:endParaRPr>
          </a:p>
        </p:txBody>
      </p:sp>
      <p:sp>
        <p:nvSpPr>
          <p:cNvPr id="677" name="Google Shape;677;p83"/>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Conversor de unidades</a:t>
            </a:r>
            <a:endParaRPr sz="2000" b="0" i="0" u="none" strike="noStrike" cap="none">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15E4874F-9F6B-38C4-9F7B-8337A7C375F9}"/>
              </a:ext>
            </a:extLst>
          </p:cNvPr>
          <p:cNvPicPr>
            <a:picLocks noChangeAspect="1"/>
          </p:cNvPicPr>
          <p:nvPr/>
        </p:nvPicPr>
        <p:blipFill>
          <a:blip r:embed="rId3"/>
          <a:stretch>
            <a:fillRect/>
          </a:stretch>
        </p:blipFill>
        <p:spPr>
          <a:xfrm>
            <a:off x="4488041" y="2154939"/>
            <a:ext cx="2848518" cy="4185026"/>
          </a:xfrm>
          <a:prstGeom prst="rect">
            <a:avLst/>
          </a:prstGeom>
          <a:ln>
            <a:solidFill>
              <a:schemeClr val="tx1"/>
            </a:solid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8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84" name="Google Shape;684;p84"/>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solidFill>
                <a:schemeClr val="dk1"/>
              </a:solidFill>
            </a:endParaRPr>
          </a:p>
        </p:txBody>
      </p:sp>
      <p:sp>
        <p:nvSpPr>
          <p:cNvPr id="685" name="Google Shape;685;p84"/>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Conversión realizada</a:t>
            </a:r>
            <a:endParaRPr sz="2000" b="0" i="0" u="none" strike="noStrike" cap="none" dirty="0">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436EB5F3-E297-6F61-8BED-E259E91FBF70}"/>
              </a:ext>
            </a:extLst>
          </p:cNvPr>
          <p:cNvPicPr>
            <a:picLocks noChangeAspect="1"/>
          </p:cNvPicPr>
          <p:nvPr/>
        </p:nvPicPr>
        <p:blipFill>
          <a:blip r:embed="rId3"/>
          <a:stretch>
            <a:fillRect/>
          </a:stretch>
        </p:blipFill>
        <p:spPr>
          <a:xfrm>
            <a:off x="4634655" y="2321287"/>
            <a:ext cx="3109229" cy="4244708"/>
          </a:xfrm>
          <a:prstGeom prst="rect">
            <a:avLst/>
          </a:prstGeom>
          <a:ln>
            <a:solidFill>
              <a:schemeClr val="tx1"/>
            </a:solid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8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CONCLUSIONES</a:t>
            </a:r>
            <a:endParaRPr/>
          </a:p>
        </p:txBody>
      </p:sp>
      <p:sp>
        <p:nvSpPr>
          <p:cNvPr id="692" name="Google Shape;692;p85"/>
          <p:cNvSpPr txBox="1">
            <a:spLocks noGrp="1"/>
          </p:cNvSpPr>
          <p:nvPr>
            <p:ph type="body" idx="1"/>
          </p:nvPr>
        </p:nvSpPr>
        <p:spPr>
          <a:xfrm>
            <a:off x="581192" y="2180496"/>
            <a:ext cx="8589300" cy="3678300"/>
          </a:xfrm>
          <a:prstGeom prst="rect">
            <a:avLst/>
          </a:prstGeom>
          <a:noFill/>
          <a:ln>
            <a:noFill/>
          </a:ln>
        </p:spPr>
        <p:txBody>
          <a:bodyPr spcFirstLastPara="1" wrap="square" lIns="91425" tIns="45700" rIns="91425" bIns="45700" anchor="ctr" anchorCtr="0">
            <a:normAutofit/>
          </a:bodyPr>
          <a:lstStyle/>
          <a:p>
            <a:pPr marL="0" marR="0" lvl="0" indent="0" algn="just" rtl="0">
              <a:lnSpc>
                <a:spcPct val="107000"/>
              </a:lnSpc>
              <a:spcBef>
                <a:spcPts val="0"/>
              </a:spcBef>
              <a:spcAft>
                <a:spcPts val="0"/>
              </a:spcAft>
              <a:buSzPts val="1656"/>
              <a:buNone/>
            </a:pPr>
            <a:r>
              <a:rPr lang="es-ES" sz="1900" dirty="0">
                <a:latin typeface="Cambria"/>
                <a:ea typeface="Cambria"/>
                <a:cs typeface="Cambria"/>
                <a:sym typeface="Cambria"/>
              </a:rPr>
              <a:t>La culminación de este proyecto evidencia la efectividad de los principios REST al integrar exitosamente un servidor RESTFUL robusto, desarrollado en Java y alojado en Payara Server, con un ecosistema de clientes multiplataforma (web, móvil, escritorio y consola) mediante el uso de Java y el entorno </a:t>
            </a:r>
            <a:r>
              <a:rPr lang="es-ES" sz="1900" dirty="0" err="1">
                <a:latin typeface="Cambria"/>
                <a:ea typeface="Cambria"/>
                <a:cs typeface="Cambria"/>
                <a:sym typeface="Cambria"/>
              </a:rPr>
              <a:t>Netbeans</a:t>
            </a:r>
            <a:r>
              <a:rPr lang="es-ES" sz="1900" dirty="0">
                <a:latin typeface="Cambria"/>
                <a:ea typeface="Cambria"/>
                <a:cs typeface="Cambria"/>
                <a:sym typeface="Cambria"/>
              </a:rPr>
              <a:t> y Android Studio para el cliente móvil. Esta integración técnica se validó mediante la implementación de un sistema de seguridad desacoplado basado en tokens, junto con la aplicación del patrón </a:t>
            </a:r>
            <a:r>
              <a:rPr lang="es-ES" sz="1900" dirty="0" err="1">
                <a:latin typeface="Cambria"/>
                <a:ea typeface="Cambria"/>
                <a:cs typeface="Cambria"/>
                <a:sym typeface="Cambria"/>
              </a:rPr>
              <a:t>Strategy</a:t>
            </a:r>
            <a:r>
              <a:rPr lang="es-ES" sz="1900" dirty="0">
                <a:latin typeface="Cambria"/>
                <a:ea typeface="Cambria"/>
                <a:cs typeface="Cambria"/>
                <a:sym typeface="Cambria"/>
              </a:rPr>
              <a:t> en el cliente, lo que garantiza una solución de software interoperable, escalable y alineada con los estándares de desarrollo empresarial modernos.</a:t>
            </a:r>
            <a:endParaRPr sz="1900" dirty="0"/>
          </a:p>
        </p:txBody>
      </p:sp>
      <p:sp>
        <p:nvSpPr>
          <p:cNvPr id="693" name="Google Shape;693;p8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OBJETIVO</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lt1"/>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SERVIDOR RESTFUL</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MOVIL</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CONCLUSIONES</a:t>
            </a:r>
            <a:endParaRPr sz="1400" b="0" i="0" u="none" strike="noStrike" cap="none" dirty="0">
              <a:solidFill>
                <a:srgbClr val="FFFF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8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RECOMENDACIONES</a:t>
            </a:r>
            <a:endParaRPr/>
          </a:p>
        </p:txBody>
      </p:sp>
      <p:sp>
        <p:nvSpPr>
          <p:cNvPr id="699" name="Google Shape;699;p86"/>
          <p:cNvSpPr txBox="1">
            <a:spLocks noGrp="1"/>
          </p:cNvSpPr>
          <p:nvPr>
            <p:ph type="body" idx="1"/>
          </p:nvPr>
        </p:nvSpPr>
        <p:spPr>
          <a:xfrm>
            <a:off x="581200" y="2025325"/>
            <a:ext cx="8500800" cy="4291200"/>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None/>
            </a:pPr>
            <a:r>
              <a:rPr lang="es-ES" sz="1900" dirty="0">
                <a:latin typeface="Cambria"/>
                <a:ea typeface="Cambria"/>
                <a:cs typeface="Cambria"/>
                <a:sym typeface="Cambria"/>
              </a:rPr>
              <a:t>Integrar una base de datos (BDD) formal para reemplazar el manejo de credenciales quemadas en código y permitir el almacenamiento histórico personal de las conversiones de manera persistente y escalable.</a:t>
            </a:r>
            <a:endParaRPr sz="1900" dirty="0">
              <a:latin typeface="Cambria"/>
              <a:ea typeface="Cambria"/>
              <a:cs typeface="Cambria"/>
              <a:sym typeface="Cambria"/>
            </a:endParaRPr>
          </a:p>
          <a:p>
            <a:pPr marL="0" lvl="0" indent="0" algn="just" rtl="0">
              <a:lnSpc>
                <a:spcPct val="107000"/>
              </a:lnSpc>
              <a:spcBef>
                <a:spcPts val="0"/>
              </a:spcBef>
              <a:spcAft>
                <a:spcPts val="0"/>
              </a:spcAft>
              <a:buNone/>
            </a:pPr>
            <a:endParaRPr sz="1900" dirty="0">
              <a:latin typeface="Cambria"/>
              <a:ea typeface="Cambria"/>
              <a:cs typeface="Cambria"/>
              <a:sym typeface="Cambria"/>
            </a:endParaRPr>
          </a:p>
          <a:p>
            <a:pPr marL="0" lvl="0" indent="0" algn="just" rtl="0">
              <a:lnSpc>
                <a:spcPct val="107000"/>
              </a:lnSpc>
              <a:spcBef>
                <a:spcPts val="0"/>
              </a:spcBef>
              <a:spcAft>
                <a:spcPts val="0"/>
              </a:spcAft>
              <a:buNone/>
            </a:pPr>
            <a:r>
              <a:rPr lang="es-ES" sz="1900" dirty="0">
                <a:latin typeface="Cambria"/>
                <a:ea typeface="Cambria"/>
                <a:cs typeface="Cambria"/>
                <a:sym typeface="Cambria"/>
              </a:rPr>
              <a:t>Integrar protocolos de cifrado a nivel de mensaje (WS-Security) y el uso de HTTPS en entornos de producción para proteger la integridad del token de seguridad y los datos sensibles durante el tránsito en la red. </a:t>
            </a:r>
            <a:endParaRPr sz="1900" dirty="0">
              <a:latin typeface="Cambria"/>
              <a:ea typeface="Cambria"/>
              <a:cs typeface="Cambria"/>
              <a:sym typeface="Cambria"/>
            </a:endParaRPr>
          </a:p>
          <a:p>
            <a:pPr marL="0" lvl="0" indent="0" algn="just" rtl="0">
              <a:lnSpc>
                <a:spcPct val="107000"/>
              </a:lnSpc>
              <a:spcBef>
                <a:spcPts val="0"/>
              </a:spcBef>
              <a:spcAft>
                <a:spcPts val="0"/>
              </a:spcAft>
              <a:buNone/>
            </a:pPr>
            <a:r>
              <a:rPr lang="es-ES" sz="1900" dirty="0">
                <a:latin typeface="Cambria"/>
                <a:ea typeface="Cambria"/>
                <a:cs typeface="Cambria"/>
                <a:sym typeface="Cambria"/>
              </a:rPr>
              <a:t> </a:t>
            </a:r>
            <a:endParaRPr sz="1900" dirty="0">
              <a:latin typeface="Cambria"/>
              <a:ea typeface="Cambria"/>
              <a:cs typeface="Cambria"/>
              <a:sym typeface="Cambria"/>
            </a:endParaRPr>
          </a:p>
          <a:p>
            <a:pPr marL="0" lvl="0" indent="0" algn="just" rtl="0">
              <a:lnSpc>
                <a:spcPct val="107000"/>
              </a:lnSpc>
              <a:spcBef>
                <a:spcPts val="0"/>
              </a:spcBef>
              <a:spcAft>
                <a:spcPts val="0"/>
              </a:spcAft>
              <a:buNone/>
            </a:pPr>
            <a:r>
              <a:rPr lang="es-ES" sz="1900" dirty="0">
                <a:latin typeface="Cambria"/>
                <a:ea typeface="Cambria"/>
                <a:cs typeface="Cambria"/>
                <a:sym typeface="Cambria"/>
              </a:rPr>
              <a:t>Incorporar herramientas de análisis estático de código automatizadas como </a:t>
            </a:r>
            <a:r>
              <a:rPr lang="es-ES" sz="1900" dirty="0" err="1">
                <a:latin typeface="Cambria"/>
                <a:ea typeface="Cambria"/>
                <a:cs typeface="Cambria"/>
                <a:sym typeface="Cambria"/>
              </a:rPr>
              <a:t>Sonarqube</a:t>
            </a:r>
            <a:r>
              <a:rPr lang="es-ES" sz="1900" dirty="0">
                <a:latin typeface="Cambria"/>
                <a:ea typeface="Cambria"/>
                <a:cs typeface="Cambria"/>
                <a:sym typeface="Cambria"/>
              </a:rPr>
              <a:t> dentro del ciclo de vida de desarrollo para monitorear la calidad del software y asegurar que las nuevas funcionalidades no rompan la compatibilidad, así como el desarrollo de </a:t>
            </a:r>
            <a:r>
              <a:rPr lang="es-ES" sz="1900">
                <a:latin typeface="Cambria"/>
                <a:ea typeface="Cambria"/>
                <a:cs typeface="Cambria"/>
                <a:sym typeface="Cambria"/>
              </a:rPr>
              <a:t>pruebas unitarias y de carga</a:t>
            </a:r>
            <a:endParaRPr sz="1900" dirty="0">
              <a:latin typeface="Cambria"/>
              <a:ea typeface="Cambria"/>
              <a:cs typeface="Cambria"/>
              <a:sym typeface="Cambria"/>
            </a:endParaRPr>
          </a:p>
        </p:txBody>
      </p:sp>
      <p:sp>
        <p:nvSpPr>
          <p:cNvPr id="700" name="Google Shape;700;p8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OBJETIVO</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lt1"/>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SERVIDOR RESTFUL</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MOVIL</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RECOMENDACIONES</a:t>
            </a:r>
            <a:endParaRPr sz="1400" b="0" i="0" u="none" strike="noStrike" cap="none" dirty="0">
              <a:solidFill>
                <a:srgbClr val="FFFF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348</TotalTime>
  <Words>7618</Words>
  <Application>Microsoft Office PowerPoint</Application>
  <PresentationFormat>Widescreen</PresentationFormat>
  <Paragraphs>1402</Paragraphs>
  <Slides>53</Slides>
  <Notes>53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Cambria</vt:lpstr>
      <vt:lpstr>Gill Sans</vt:lpstr>
      <vt:lpstr>Calibri</vt:lpstr>
      <vt:lpstr>Arial</vt:lpstr>
      <vt:lpstr>Noto Sans Symbols</vt:lpstr>
      <vt:lpstr>Dividendo</vt:lpstr>
      <vt:lpstr>MANUAL CONVERSIÓN UNIDADES RESTFUL JAVA</vt:lpstr>
      <vt:lpstr>PowerPoint Presentation</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CONCLUSIONES</vt:lpstr>
      <vt:lpstr>RECOMENDACIONES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Mateo Medranda</cp:lastModifiedBy>
  <cp:revision>10</cp:revision>
  <dcterms:modified xsi:type="dcterms:W3CDTF">2026-10-26T00:56:25Z</dcterms:modified>
</cp:coreProperties>
</file>