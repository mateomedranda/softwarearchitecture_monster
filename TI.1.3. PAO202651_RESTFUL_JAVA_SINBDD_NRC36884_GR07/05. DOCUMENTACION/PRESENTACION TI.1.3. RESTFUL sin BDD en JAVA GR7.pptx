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330" r:id="rId16"/>
    <p:sldId id="270" r:id="rId17"/>
    <p:sldId id="271" r:id="rId18"/>
    <p:sldId id="273" r:id="rId19"/>
    <p:sldId id="274" r:id="rId20"/>
    <p:sldId id="275" r:id="rId21"/>
    <p:sldId id="276" r:id="rId22"/>
    <p:sldId id="277" r:id="rId23"/>
    <p:sldId id="280" r:id="rId24"/>
    <p:sldId id="281" r:id="rId25"/>
    <p:sldId id="282" r:id="rId26"/>
    <p:sldId id="283" r:id="rId27"/>
    <p:sldId id="284" r:id="rId28"/>
    <p:sldId id="285" r:id="rId29"/>
    <p:sldId id="286" r:id="rId30"/>
    <p:sldId id="287" r:id="rId31"/>
    <p:sldId id="288" r:id="rId32"/>
    <p:sldId id="289" r:id="rId33"/>
    <p:sldId id="309" r:id="rId34"/>
    <p:sldId id="310" r:id="rId35"/>
    <p:sldId id="311" r:id="rId36"/>
    <p:sldId id="312" r:id="rId37"/>
    <p:sldId id="313" r:id="rId38"/>
    <p:sldId id="314" r:id="rId39"/>
    <p:sldId id="315" r:id="rId40"/>
    <p:sldId id="316" r:id="rId41"/>
    <p:sldId id="317" r:id="rId42"/>
    <p:sldId id="318" r:id="rId43"/>
    <p:sldId id="319" r:id="rId44"/>
    <p:sldId id="320" r:id="rId45"/>
    <p:sldId id="321" r:id="rId46"/>
    <p:sldId id="322" r:id="rId47"/>
    <p:sldId id="323" r:id="rId48"/>
    <p:sldId id="324" r:id="rId49"/>
    <p:sldId id="325" r:id="rId50"/>
    <p:sldId id="326" r:id="rId51"/>
    <p:sldId id="327" r:id="rId52"/>
    <p:sldId id="328" r:id="rId53"/>
    <p:sldId id="329" r:id="rId54"/>
  </p:sldIdLst>
  <p:sldSz cx="12192000" cy="6858000"/>
  <p:notesSz cx="6858000" cy="9144000"/>
  <p:embeddedFontLst>
    <p:embeddedFont>
      <p:font typeface="Cambria" panose="02040503050406030204" pitchFamily="18" charset="0"/>
      <p:regular r:id="rId56"/>
      <p:bold r:id="rId57"/>
      <p:italic r:id="rId58"/>
      <p:boldItalic r:id="rId59"/>
    </p:embeddedFont>
    <p:embeddedFont>
      <p:font typeface="Gill Sans" panose="020B0604020202020204" charset="0"/>
      <p:regular r:id="rId60"/>
      <p:bold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F136021-7255-42B7-A7E7-87A8D8FFE9CA}">
  <a:tblStyle styleId="{BF136021-7255-42B7-A7E7-87A8D8FFE9CA}"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27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3.fntdata"/><Relationship Id="rId5" Type="http://schemas.openxmlformats.org/officeDocument/2006/relationships/slide" Target="slides/slide4.xml"/><Relationship Id="rId61" Type="http://schemas.openxmlformats.org/officeDocument/2006/relationships/font" Target="fonts/font6.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1.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5.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4" name="Google Shape;9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3" name="Google Shape;10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a8526227be_0_4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g3a8526227be_0_4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a8526227be_0_4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g3a8526227be_0_4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a8526227be_0_4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7" name="Google Shape;127;g3a8526227be_0_4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a8526227be_0_4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5" name="Google Shape;135;g3a8526227be_0_4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a8526227be_0_4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3" name="Google Shape;143;g3a8526227be_0_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a8526227be_0_4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1" name="Google Shape;151;g3a8526227be_0_4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a8526227be_0_4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0" name="Google Shape;160;g3a8526227be_0_4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a8526227be_0_4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8" name="Google Shape;168;g3a8526227be_0_4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a8526227be_0_4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7" name="Google Shape;177;g3a8526227be_0_4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a8526227be_0_4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5" name="Google Shape;185;g3a8526227be_0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a8526227be_0_49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4" name="Google Shape;194;g3a8526227be_0_4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a8526227be_0_5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2" name="Google Shape;202;g3a8526227be_0_5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a:extLst>
            <a:ext uri="{FF2B5EF4-FFF2-40B4-BE49-F238E27FC236}">
              <a16:creationId xmlns:a16="http://schemas.microsoft.com/office/drawing/2014/main" id="{A46F4767-3E52-FE11-8FDB-A76C52CD3EA2}"/>
            </a:ext>
          </a:extLst>
        </p:cNvPr>
        <p:cNvGrpSpPr/>
        <p:nvPr/>
      </p:nvGrpSpPr>
      <p:grpSpPr>
        <a:xfrm>
          <a:off x="0" y="0"/>
          <a:ext cx="0" cy="0"/>
          <a:chOff x="0" y="0"/>
          <a:chExt cx="0" cy="0"/>
        </a:xfrm>
      </p:grpSpPr>
      <p:sp>
        <p:nvSpPr>
          <p:cNvPr id="201" name="Google Shape;201;g3a8526227be_0_504:notes">
            <a:extLst>
              <a:ext uri="{FF2B5EF4-FFF2-40B4-BE49-F238E27FC236}">
                <a16:creationId xmlns:a16="http://schemas.microsoft.com/office/drawing/2014/main" id="{849837E9-9F91-3E0C-9792-4D34537E34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2" name="Google Shape;202;g3a8526227be_0_504:notes">
            <a:extLst>
              <a:ext uri="{FF2B5EF4-FFF2-40B4-BE49-F238E27FC236}">
                <a16:creationId xmlns:a16="http://schemas.microsoft.com/office/drawing/2014/main" id="{A03AD4A7-5A74-07A2-AF0D-AF9888C742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909538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a8526227be_0_5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g3a8526227be_0_5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a8526227be_0_5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8" name="Google Shape;218;g3a8526227be_0_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a8526227be_0_5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35" name="Google Shape;235;g3a8526227be_0_5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a8526227be_0_5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3" name="Google Shape;243;g3a8526227be_0_5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a8526227be_0_5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1" name="Google Shape;251;g3a8526227be_0_5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a8526227be_0_5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9" name="Google Shape;259;g3a8526227be_0_5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3a8526227be_0_5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7" name="Google Shape;267;g3a8526227be_0_5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a8526227be_0_5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1" name="Google Shape;291;g3a8526227be_0_5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a8526227be_0_5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9" name="Google Shape;299;g3a8526227be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a854632a9a_2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8" name="Google Shape;308;g3a854632a9a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g3a854632a9a_2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6" name="Google Shape;316;g3a854632a9a_2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g3a854632a9a_2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24" name="Google Shape;324;g3a854632a9a_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3a854632a9a_2_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32" name="Google Shape;332;g3a854632a9a_2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a854632a9a_2_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0" name="Google Shape;340;g3a854632a9a_2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a854632a9a_2_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9" name="Google Shape;349;g3a854632a9a_2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a854632a9a_2_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58" name="Google Shape;358;g3a854632a9a_2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a854632a9a_2_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67" name="Google Shape;367;g3a854632a9a_2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g3a854632a9a_2_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32" name="Google Shape;532;g3a854632a9a_2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a854632a9a_2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42" name="Google Shape;542;g3a854632a9a_2_2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3a854632a9a_2_2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50" name="Google Shape;550;g3a854632a9a_2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6"/>
        <p:cNvGrpSpPr/>
        <p:nvPr/>
      </p:nvGrpSpPr>
      <p:grpSpPr>
        <a:xfrm>
          <a:off x="0" y="0"/>
          <a:ext cx="0" cy="0"/>
          <a:chOff x="0" y="0"/>
          <a:chExt cx="0" cy="0"/>
        </a:xfrm>
      </p:grpSpPr>
      <p:sp>
        <p:nvSpPr>
          <p:cNvPr id="557" name="Google Shape;557;g3a854632a9a_2_2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58" name="Google Shape;558;g3a854632a9a_2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a854632a9a_2_2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66" name="Google Shape;566;g3a854632a9a_2_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g3a854632a9a_2_2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74" name="Google Shape;574;g3a854632a9a_2_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3a854632a9a_2_2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82" name="Google Shape;582;g3a854632a9a_2_2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a854632a9a_2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90" name="Google Shape;590;g3a854632a9a_2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3a854632a9a_2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99" name="Google Shape;599;g3a854632a9a_2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g3a854632a9a_2_2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07" name="Google Shape;607;g3a854632a9a_2_2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g3a854632a9a_2_2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15" name="Google Shape;615;g3a854632a9a_2_2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p:cNvGrpSpPr/>
        <p:nvPr/>
      </p:nvGrpSpPr>
      <p:grpSpPr>
        <a:xfrm>
          <a:off x="0" y="0"/>
          <a:ext cx="0" cy="0"/>
          <a:chOff x="0" y="0"/>
          <a:chExt cx="0" cy="0"/>
        </a:xfrm>
      </p:grpSpPr>
      <p:sp>
        <p:nvSpPr>
          <p:cNvPr id="622" name="Google Shape;622;g3a854632a9a_2_2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23" name="Google Shape;623;g3a854632a9a_2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a854632a9a_2_2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31" name="Google Shape;631;g3a854632a9a_2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3a8526227be_0_6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39" name="Google Shape;639;g3a8526227be_0_6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3a854632a9a_2_3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49" name="Google Shape;649;g3a854632a9a_2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g3a854632a9a_2_3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57" name="Google Shape;657;g3a854632a9a_2_3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g3a854632a9a_2_3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65" name="Google Shape;665;g3a854632a9a_2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3a854632a9a_2_3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73" name="Google Shape;673;g3a854632a9a_2_3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g3a854632a9a_2_3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81" name="Google Shape;681;g3a854632a9a_2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
        <p:cNvGrpSpPr/>
        <p:nvPr/>
      </p:nvGrpSpPr>
      <p:grpSpPr>
        <a:xfrm>
          <a:off x="0" y="0"/>
          <a:ext cx="0" cy="0"/>
          <a:chOff x="0" y="0"/>
          <a:chExt cx="0" cy="0"/>
        </a:xfrm>
      </p:grpSpPr>
      <p:sp>
        <p:nvSpPr>
          <p:cNvPr id="688" name="Google Shape;688;g3a8526227be_0_6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89" name="Google Shape;689;g3a8526227be_0_6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g3a8526227be_0_6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96" name="Google Shape;696;g3a8526227be_0_6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4"/>
        <p:cNvGrpSpPr/>
        <p:nvPr/>
      </p:nvGrpSpPr>
      <p:grpSpPr>
        <a:xfrm>
          <a:off x="0" y="0"/>
          <a:ext cx="0" cy="0"/>
          <a:chOff x="0" y="0"/>
          <a:chExt cx="0" cy="0"/>
        </a:xfrm>
      </p:grpSpPr>
      <p:sp>
        <p:nvSpPr>
          <p:cNvPr id="15" name="Google Shape;15;p2"/>
          <p:cNvSpPr/>
          <p:nvPr/>
        </p:nvSpPr>
        <p:spPr>
          <a:xfrm>
            <a:off x="446534" y="3085765"/>
            <a:ext cx="11262866" cy="33048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 name="Google Shape;16;p2"/>
          <p:cNvSpPr txBox="1">
            <a:spLocks noGrp="1"/>
          </p:cNvSpPr>
          <p:nvPr>
            <p:ph type="ctrTitle"/>
          </p:nvPr>
        </p:nvSpPr>
        <p:spPr>
          <a:xfrm>
            <a:off x="581191" y="1020431"/>
            <a:ext cx="10993549" cy="1475013"/>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accent1"/>
              </a:buClr>
              <a:buSzPts val="3600"/>
              <a:buFont typeface="Gill Sans"/>
              <a:buNone/>
              <a:defRPr sz="3600">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581194" y="2495445"/>
            <a:ext cx="10993546" cy="590321"/>
          </a:xfrm>
          <a:prstGeom prst="rect">
            <a:avLst/>
          </a:prstGeom>
          <a:noFill/>
          <a:ln>
            <a:noFill/>
          </a:ln>
        </p:spPr>
        <p:txBody>
          <a:bodyPr spcFirstLastPara="1" wrap="square" lIns="91425" tIns="45700" rIns="91425" bIns="45700" anchor="t" anchorCtr="0">
            <a:normAutofit/>
          </a:bodyPr>
          <a:lstStyle>
            <a:lvl1pPr lvl="0" algn="l">
              <a:lnSpc>
                <a:spcPct val="100000"/>
              </a:lnSpc>
              <a:spcBef>
                <a:spcPts val="320"/>
              </a:spcBef>
              <a:spcAft>
                <a:spcPts val="0"/>
              </a:spcAft>
              <a:buSzPts val="1472"/>
              <a:buNone/>
              <a:defRPr sz="1600" cap="none">
                <a:solidFill>
                  <a:schemeClr val="accent2"/>
                </a:solidFill>
              </a:defRPr>
            </a:lvl1pPr>
            <a:lvl2pPr lvl="1" algn="ctr">
              <a:lnSpc>
                <a:spcPct val="100000"/>
              </a:lnSpc>
              <a:spcBef>
                <a:spcPts val="600"/>
              </a:spcBef>
              <a:spcAft>
                <a:spcPts val="0"/>
              </a:spcAft>
              <a:buSzPts val="1472"/>
              <a:buNone/>
              <a:defRPr>
                <a:solidFill>
                  <a:srgbClr val="888888"/>
                </a:solidFill>
              </a:defRPr>
            </a:lvl2pPr>
            <a:lvl3pPr lvl="2" algn="ctr">
              <a:lnSpc>
                <a:spcPct val="100000"/>
              </a:lnSpc>
              <a:spcBef>
                <a:spcPts val="600"/>
              </a:spcBef>
              <a:spcAft>
                <a:spcPts val="0"/>
              </a:spcAft>
              <a:buSzPts val="1288"/>
              <a:buNone/>
              <a:defRPr>
                <a:solidFill>
                  <a:srgbClr val="888888"/>
                </a:solidFill>
              </a:defRPr>
            </a:lvl3pPr>
            <a:lvl4pPr lvl="3" algn="ctr">
              <a:lnSpc>
                <a:spcPct val="100000"/>
              </a:lnSpc>
              <a:spcBef>
                <a:spcPts val="600"/>
              </a:spcBef>
              <a:spcAft>
                <a:spcPts val="0"/>
              </a:spcAft>
              <a:buSzPts val="1104"/>
              <a:buNone/>
              <a:defRPr>
                <a:solidFill>
                  <a:srgbClr val="888888"/>
                </a:solidFill>
              </a:defRPr>
            </a:lvl4pPr>
            <a:lvl5pPr lvl="4" algn="ctr">
              <a:lnSpc>
                <a:spcPct val="100000"/>
              </a:lnSpc>
              <a:spcBef>
                <a:spcPts val="600"/>
              </a:spcBef>
              <a:spcAft>
                <a:spcPts val="0"/>
              </a:spcAft>
              <a:buSzPts val="1104"/>
              <a:buNone/>
              <a:defRPr>
                <a:solidFill>
                  <a:srgbClr val="888888"/>
                </a:solidFill>
              </a:defRPr>
            </a:lvl5pPr>
            <a:lvl6pPr lvl="5" algn="ctr">
              <a:lnSpc>
                <a:spcPct val="100000"/>
              </a:lnSpc>
              <a:spcBef>
                <a:spcPts val="600"/>
              </a:spcBef>
              <a:spcAft>
                <a:spcPts val="0"/>
              </a:spcAft>
              <a:buSzPts val="1104"/>
              <a:buNone/>
              <a:defRPr>
                <a:solidFill>
                  <a:srgbClr val="888888"/>
                </a:solidFill>
              </a:defRPr>
            </a:lvl6pPr>
            <a:lvl7pPr lvl="6" algn="ctr">
              <a:lnSpc>
                <a:spcPct val="100000"/>
              </a:lnSpc>
              <a:spcBef>
                <a:spcPts val="600"/>
              </a:spcBef>
              <a:spcAft>
                <a:spcPts val="0"/>
              </a:spcAft>
              <a:buSzPts val="1104"/>
              <a:buNone/>
              <a:defRPr>
                <a:solidFill>
                  <a:srgbClr val="888888"/>
                </a:solidFill>
              </a:defRPr>
            </a:lvl7pPr>
            <a:lvl8pPr lvl="7" algn="ctr">
              <a:lnSpc>
                <a:spcPct val="100000"/>
              </a:lnSpc>
              <a:spcBef>
                <a:spcPts val="600"/>
              </a:spcBef>
              <a:spcAft>
                <a:spcPts val="0"/>
              </a:spcAft>
              <a:buSzPts val="1104"/>
              <a:buNone/>
              <a:defRPr>
                <a:solidFill>
                  <a:srgbClr val="888888"/>
                </a:solidFill>
              </a:defRPr>
            </a:lvl8pPr>
            <a:lvl9pPr lvl="8" algn="ctr">
              <a:lnSpc>
                <a:spcPct val="100000"/>
              </a:lnSpc>
              <a:spcBef>
                <a:spcPts val="600"/>
              </a:spcBef>
              <a:spcAft>
                <a:spcPts val="600"/>
              </a:spcAft>
              <a:buSzPts val="1104"/>
              <a:buNone/>
              <a:defRPr>
                <a:solidFill>
                  <a:srgbClr val="888888"/>
                </a:solidFill>
              </a:defRPr>
            </a:lvl9pPr>
          </a:lstStyle>
          <a:p>
            <a:endParaRPr/>
          </a:p>
        </p:txBody>
      </p:sp>
      <p:sp>
        <p:nvSpPr>
          <p:cNvPr id="18" name="Google Shape;18;p2"/>
          <p:cNvSpPr txBox="1">
            <a:spLocks noGrp="1"/>
          </p:cNvSpPr>
          <p:nvPr>
            <p:ph type="dt" idx="10"/>
          </p:nvPr>
        </p:nvSpPr>
        <p:spPr>
          <a:xfrm>
            <a:off x="7605951" y="5956137"/>
            <a:ext cx="284480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0558300" y="5956137"/>
            <a:ext cx="101644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21"/>
        <p:cNvGrpSpPr/>
        <p:nvPr/>
      </p:nvGrpSpPr>
      <p:grpSpPr>
        <a:xfrm>
          <a:off x="0" y="0"/>
          <a:ext cx="0" cy="0"/>
          <a:chOff x="0" y="0"/>
          <a:chExt cx="0" cy="0"/>
        </a:xfrm>
      </p:grpSpPr>
      <p:sp>
        <p:nvSpPr>
          <p:cNvPr id="22" name="Google Shape;22;p3"/>
          <p:cNvSpPr/>
          <p:nvPr/>
        </p:nvSpPr>
        <p:spPr>
          <a:xfrm>
            <a:off x="440286" y="614407"/>
            <a:ext cx="11309338" cy="118929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3"/>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3"/>
          <p:cNvSpPr txBox="1">
            <a:spLocks noGrp="1"/>
          </p:cNvSpPr>
          <p:nvPr>
            <p:ph type="body" idx="1"/>
          </p:nvPr>
        </p:nvSpPr>
        <p:spPr>
          <a:xfrm>
            <a:off x="581192" y="2180496"/>
            <a:ext cx="11029615" cy="3678303"/>
          </a:xfrm>
          <a:prstGeom prst="rect">
            <a:avLst/>
          </a:prstGeom>
          <a:noFill/>
          <a:ln>
            <a:noFill/>
          </a:ln>
        </p:spPr>
        <p:txBody>
          <a:bodyPr spcFirstLastPara="1" wrap="square" lIns="91425" tIns="45700" rIns="91425" bIns="45700" anchor="ctr"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25" name="Google Shape;25;p3"/>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3"/>
          <p:cNvSpPr txBox="1">
            <a:spLocks noGrp="1"/>
          </p:cNvSpPr>
          <p:nvPr>
            <p:ph type="sldNum" idx="12"/>
          </p:nvPr>
        </p:nvSpPr>
        <p:spPr>
          <a:xfrm>
            <a:off x="10558300" y="5956137"/>
            <a:ext cx="1052508"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28"/>
        <p:cNvGrpSpPr/>
        <p:nvPr/>
      </p:nvGrpSpPr>
      <p:grpSpPr>
        <a:xfrm>
          <a:off x="0" y="0"/>
          <a:ext cx="0" cy="0"/>
          <a:chOff x="0" y="0"/>
          <a:chExt cx="0" cy="0"/>
        </a:xfrm>
      </p:grpSpPr>
      <p:sp>
        <p:nvSpPr>
          <p:cNvPr id="29" name="Google Shape;29;p4"/>
          <p:cNvSpPr/>
          <p:nvPr/>
        </p:nvSpPr>
        <p:spPr>
          <a:xfrm>
            <a:off x="447817" y="5141974"/>
            <a:ext cx="11290860"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 name="Google Shape;30;p4"/>
          <p:cNvSpPr txBox="1">
            <a:spLocks noGrp="1"/>
          </p:cNvSpPr>
          <p:nvPr>
            <p:ph type="title"/>
          </p:nvPr>
        </p:nvSpPr>
        <p:spPr>
          <a:xfrm>
            <a:off x="581193" y="3043910"/>
            <a:ext cx="11029615" cy="1497507"/>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accent1"/>
              </a:buClr>
              <a:buSzPts val="3600"/>
              <a:buFont typeface="Gill Sans"/>
              <a:buNone/>
              <a:defRPr sz="3600" b="0" cap="none">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581192" y="4541417"/>
            <a:ext cx="11029615" cy="600556"/>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1656"/>
              <a:buNone/>
              <a:defRPr sz="1800" cap="none">
                <a:solidFill>
                  <a:schemeClr val="accent2"/>
                </a:solidFill>
              </a:defRPr>
            </a:lvl1pPr>
            <a:lvl2pPr marL="914400" lvl="1" indent="-228600" algn="l">
              <a:lnSpc>
                <a:spcPct val="100000"/>
              </a:lnSpc>
              <a:spcBef>
                <a:spcPts val="600"/>
              </a:spcBef>
              <a:spcAft>
                <a:spcPts val="0"/>
              </a:spcAft>
              <a:buSzPts val="1656"/>
              <a:buNone/>
              <a:defRPr sz="1800">
                <a:solidFill>
                  <a:srgbClr val="888888"/>
                </a:solidFill>
              </a:defRPr>
            </a:lvl2pPr>
            <a:lvl3pPr marL="1371600" lvl="2" indent="-228600" algn="l">
              <a:lnSpc>
                <a:spcPct val="100000"/>
              </a:lnSpc>
              <a:spcBef>
                <a:spcPts val="600"/>
              </a:spcBef>
              <a:spcAft>
                <a:spcPts val="0"/>
              </a:spcAft>
              <a:buSzPts val="1472"/>
              <a:buNone/>
              <a:defRPr sz="1600">
                <a:solidFill>
                  <a:srgbClr val="888888"/>
                </a:solidFill>
              </a:defRPr>
            </a:lvl3pPr>
            <a:lvl4pPr marL="1828800" lvl="3" indent="-228600" algn="l">
              <a:lnSpc>
                <a:spcPct val="100000"/>
              </a:lnSpc>
              <a:spcBef>
                <a:spcPts val="600"/>
              </a:spcBef>
              <a:spcAft>
                <a:spcPts val="0"/>
              </a:spcAft>
              <a:buSzPts val="1288"/>
              <a:buNone/>
              <a:defRPr sz="1400">
                <a:solidFill>
                  <a:srgbClr val="888888"/>
                </a:solidFill>
              </a:defRPr>
            </a:lvl4pPr>
            <a:lvl5pPr marL="2286000" lvl="4" indent="-228600" algn="l">
              <a:lnSpc>
                <a:spcPct val="100000"/>
              </a:lnSpc>
              <a:spcBef>
                <a:spcPts val="600"/>
              </a:spcBef>
              <a:spcAft>
                <a:spcPts val="0"/>
              </a:spcAft>
              <a:buSzPts val="1288"/>
              <a:buNone/>
              <a:defRPr sz="1400">
                <a:solidFill>
                  <a:srgbClr val="888888"/>
                </a:solidFill>
              </a:defRPr>
            </a:lvl5pPr>
            <a:lvl6pPr marL="2743200" lvl="5" indent="-228600" algn="l">
              <a:lnSpc>
                <a:spcPct val="100000"/>
              </a:lnSpc>
              <a:spcBef>
                <a:spcPts val="600"/>
              </a:spcBef>
              <a:spcAft>
                <a:spcPts val="0"/>
              </a:spcAft>
              <a:buSzPts val="1288"/>
              <a:buNone/>
              <a:defRPr sz="1400">
                <a:solidFill>
                  <a:srgbClr val="888888"/>
                </a:solidFill>
              </a:defRPr>
            </a:lvl6pPr>
            <a:lvl7pPr marL="3200400" lvl="6" indent="-228600" algn="l">
              <a:lnSpc>
                <a:spcPct val="100000"/>
              </a:lnSpc>
              <a:spcBef>
                <a:spcPts val="600"/>
              </a:spcBef>
              <a:spcAft>
                <a:spcPts val="0"/>
              </a:spcAft>
              <a:buSzPts val="1288"/>
              <a:buNone/>
              <a:defRPr sz="1400">
                <a:solidFill>
                  <a:srgbClr val="888888"/>
                </a:solidFill>
              </a:defRPr>
            </a:lvl7pPr>
            <a:lvl8pPr marL="3657600" lvl="7" indent="-228600" algn="l">
              <a:lnSpc>
                <a:spcPct val="100000"/>
              </a:lnSpc>
              <a:spcBef>
                <a:spcPts val="600"/>
              </a:spcBef>
              <a:spcAft>
                <a:spcPts val="0"/>
              </a:spcAft>
              <a:buSzPts val="1288"/>
              <a:buNone/>
              <a:defRPr sz="1400">
                <a:solidFill>
                  <a:srgbClr val="888888"/>
                </a:solidFill>
              </a:defRPr>
            </a:lvl8pPr>
            <a:lvl9pPr marL="4114800" lvl="8" indent="-228600" algn="l">
              <a:lnSpc>
                <a:spcPct val="100000"/>
              </a:lnSpc>
              <a:spcBef>
                <a:spcPts val="600"/>
              </a:spcBef>
              <a:spcAft>
                <a:spcPts val="600"/>
              </a:spcAft>
              <a:buSzPts val="1288"/>
              <a:buNone/>
              <a:defRPr sz="1400">
                <a:solidFill>
                  <a:srgbClr val="888888"/>
                </a:solidFill>
              </a:defRPr>
            </a:lvl9pPr>
          </a:lstStyle>
          <a:p>
            <a:endParaRPr/>
          </a:p>
        </p:txBody>
      </p:sp>
      <p:sp>
        <p:nvSpPr>
          <p:cNvPr id="32" name="Google Shape;32;p4"/>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5"/>
        <p:cNvGrpSpPr/>
        <p:nvPr/>
      </p:nvGrpSpPr>
      <p:grpSpPr>
        <a:xfrm>
          <a:off x="0" y="0"/>
          <a:ext cx="0" cy="0"/>
          <a:chOff x="0" y="0"/>
          <a:chExt cx="0" cy="0"/>
        </a:xfrm>
      </p:grpSpPr>
      <p:sp>
        <p:nvSpPr>
          <p:cNvPr id="36" name="Google Shape;36;p5"/>
          <p:cNvSpPr/>
          <p:nvPr/>
        </p:nvSpPr>
        <p:spPr>
          <a:xfrm>
            <a:off x="445982" y="606554"/>
            <a:ext cx="11300036"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5"/>
          <p:cNvSpPr txBox="1">
            <a:spLocks noGrp="1"/>
          </p:cNvSpPr>
          <p:nvPr>
            <p:ph type="title"/>
          </p:nvPr>
        </p:nvSpPr>
        <p:spPr>
          <a:xfrm>
            <a:off x="581193"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581193" y="2228003"/>
            <a:ext cx="5422390" cy="3633047"/>
          </a:xfrm>
          <a:prstGeom prst="rect">
            <a:avLst/>
          </a:prstGeom>
          <a:noFill/>
          <a:ln>
            <a:noFill/>
          </a:ln>
        </p:spPr>
        <p:txBody>
          <a:bodyPr spcFirstLastPara="1" wrap="square" lIns="91425" tIns="45700" rIns="91425" bIns="45700" anchor="ctr"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39" name="Google Shape;39;p5"/>
          <p:cNvSpPr txBox="1">
            <a:spLocks noGrp="1"/>
          </p:cNvSpPr>
          <p:nvPr>
            <p:ph type="body" idx="2"/>
          </p:nvPr>
        </p:nvSpPr>
        <p:spPr>
          <a:xfrm>
            <a:off x="6188417" y="2228003"/>
            <a:ext cx="5422392" cy="3633047"/>
          </a:xfrm>
          <a:prstGeom prst="rect">
            <a:avLst/>
          </a:prstGeom>
          <a:noFill/>
          <a:ln>
            <a:noFill/>
          </a:ln>
        </p:spPr>
        <p:txBody>
          <a:bodyPr spcFirstLastPara="1" wrap="square" lIns="91425" tIns="45700" rIns="91425" bIns="45700" anchor="ctr"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40" name="Google Shape;40;p5"/>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3"/>
        <p:cNvGrpSpPr/>
        <p:nvPr/>
      </p:nvGrpSpPr>
      <p:grpSpPr>
        <a:xfrm>
          <a:off x="0" y="0"/>
          <a:ext cx="0" cy="0"/>
          <a:chOff x="0" y="0"/>
          <a:chExt cx="0" cy="0"/>
        </a:xfrm>
      </p:grpSpPr>
      <p:sp>
        <p:nvSpPr>
          <p:cNvPr id="44" name="Google Shape;44;p6"/>
          <p:cNvSpPr/>
          <p:nvPr/>
        </p:nvSpPr>
        <p:spPr>
          <a:xfrm>
            <a:off x="445982" y="606554"/>
            <a:ext cx="11300036"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45;p6"/>
          <p:cNvSpPr txBox="1">
            <a:spLocks noGrp="1"/>
          </p:cNvSpPr>
          <p:nvPr>
            <p:ph type="title"/>
          </p:nvPr>
        </p:nvSpPr>
        <p:spPr>
          <a:xfrm>
            <a:off x="581193"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6"/>
          <p:cNvSpPr txBox="1">
            <a:spLocks noGrp="1"/>
          </p:cNvSpPr>
          <p:nvPr>
            <p:ph type="body" idx="1"/>
          </p:nvPr>
        </p:nvSpPr>
        <p:spPr>
          <a:xfrm>
            <a:off x="887219" y="2250892"/>
            <a:ext cx="5087075" cy="536005"/>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40"/>
              </a:spcBef>
              <a:spcAft>
                <a:spcPts val="0"/>
              </a:spcAft>
              <a:buSzPts val="2024"/>
              <a:buNone/>
              <a:defRPr sz="2200" b="0">
                <a:solidFill>
                  <a:schemeClr val="accent2"/>
                </a:solidFill>
              </a:defRPr>
            </a:lvl1pPr>
            <a:lvl2pPr marL="914400" lvl="1" indent="-228600" algn="l">
              <a:lnSpc>
                <a:spcPct val="100000"/>
              </a:lnSpc>
              <a:spcBef>
                <a:spcPts val="600"/>
              </a:spcBef>
              <a:spcAft>
                <a:spcPts val="0"/>
              </a:spcAft>
              <a:buSzPts val="1840"/>
              <a:buNone/>
              <a:defRPr sz="2000" b="1"/>
            </a:lvl2pPr>
            <a:lvl3pPr marL="1371600" lvl="2" indent="-228600" algn="l">
              <a:lnSpc>
                <a:spcPct val="100000"/>
              </a:lnSpc>
              <a:spcBef>
                <a:spcPts val="600"/>
              </a:spcBef>
              <a:spcAft>
                <a:spcPts val="0"/>
              </a:spcAft>
              <a:buSzPts val="1656"/>
              <a:buNone/>
              <a:defRPr sz="1800" b="1"/>
            </a:lvl3pPr>
            <a:lvl4pPr marL="1828800" lvl="3" indent="-228600" algn="l">
              <a:lnSpc>
                <a:spcPct val="100000"/>
              </a:lnSpc>
              <a:spcBef>
                <a:spcPts val="600"/>
              </a:spcBef>
              <a:spcAft>
                <a:spcPts val="0"/>
              </a:spcAft>
              <a:buSzPts val="1472"/>
              <a:buNone/>
              <a:defRPr sz="1600" b="1"/>
            </a:lvl4pPr>
            <a:lvl5pPr marL="2286000" lvl="4" indent="-228600" algn="l">
              <a:lnSpc>
                <a:spcPct val="100000"/>
              </a:lnSpc>
              <a:spcBef>
                <a:spcPts val="600"/>
              </a:spcBef>
              <a:spcAft>
                <a:spcPts val="0"/>
              </a:spcAft>
              <a:buSzPts val="1472"/>
              <a:buNone/>
              <a:defRPr sz="1600" b="1"/>
            </a:lvl5pPr>
            <a:lvl6pPr marL="2743200" lvl="5" indent="-228600" algn="l">
              <a:lnSpc>
                <a:spcPct val="100000"/>
              </a:lnSpc>
              <a:spcBef>
                <a:spcPts val="600"/>
              </a:spcBef>
              <a:spcAft>
                <a:spcPts val="0"/>
              </a:spcAft>
              <a:buSzPts val="1472"/>
              <a:buNone/>
              <a:defRPr sz="1600" b="1"/>
            </a:lvl6pPr>
            <a:lvl7pPr marL="3200400" lvl="6" indent="-228600" algn="l">
              <a:lnSpc>
                <a:spcPct val="100000"/>
              </a:lnSpc>
              <a:spcBef>
                <a:spcPts val="600"/>
              </a:spcBef>
              <a:spcAft>
                <a:spcPts val="0"/>
              </a:spcAft>
              <a:buSzPts val="1472"/>
              <a:buNone/>
              <a:defRPr sz="1600" b="1"/>
            </a:lvl7pPr>
            <a:lvl8pPr marL="3657600" lvl="7" indent="-228600" algn="l">
              <a:lnSpc>
                <a:spcPct val="100000"/>
              </a:lnSpc>
              <a:spcBef>
                <a:spcPts val="600"/>
              </a:spcBef>
              <a:spcAft>
                <a:spcPts val="0"/>
              </a:spcAft>
              <a:buSzPts val="1472"/>
              <a:buNone/>
              <a:defRPr sz="1600" b="1"/>
            </a:lvl8pPr>
            <a:lvl9pPr marL="4114800" lvl="8" indent="-228600" algn="l">
              <a:lnSpc>
                <a:spcPct val="100000"/>
              </a:lnSpc>
              <a:spcBef>
                <a:spcPts val="600"/>
              </a:spcBef>
              <a:spcAft>
                <a:spcPts val="600"/>
              </a:spcAft>
              <a:buSzPts val="1472"/>
              <a:buNone/>
              <a:defRPr sz="1600" b="1"/>
            </a:lvl9pPr>
          </a:lstStyle>
          <a:p>
            <a:endParaRPr/>
          </a:p>
        </p:txBody>
      </p:sp>
      <p:sp>
        <p:nvSpPr>
          <p:cNvPr id="47" name="Google Shape;47;p6"/>
          <p:cNvSpPr txBox="1">
            <a:spLocks noGrp="1"/>
          </p:cNvSpPr>
          <p:nvPr>
            <p:ph type="body" idx="2"/>
          </p:nvPr>
        </p:nvSpPr>
        <p:spPr>
          <a:xfrm>
            <a:off x="581194" y="2926052"/>
            <a:ext cx="5393100" cy="2934999"/>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48" name="Google Shape;48;p6"/>
          <p:cNvSpPr txBox="1">
            <a:spLocks noGrp="1"/>
          </p:cNvSpPr>
          <p:nvPr>
            <p:ph type="body" idx="3"/>
          </p:nvPr>
        </p:nvSpPr>
        <p:spPr>
          <a:xfrm>
            <a:off x="6523735" y="2250892"/>
            <a:ext cx="5087073" cy="553373"/>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40"/>
              </a:spcBef>
              <a:spcAft>
                <a:spcPts val="0"/>
              </a:spcAft>
              <a:buSzPts val="2024"/>
              <a:buNone/>
              <a:defRPr sz="2200" b="0">
                <a:solidFill>
                  <a:schemeClr val="accent2"/>
                </a:solidFill>
              </a:defRPr>
            </a:lvl1pPr>
            <a:lvl2pPr marL="914400" lvl="1" indent="-228600" algn="l">
              <a:lnSpc>
                <a:spcPct val="100000"/>
              </a:lnSpc>
              <a:spcBef>
                <a:spcPts val="600"/>
              </a:spcBef>
              <a:spcAft>
                <a:spcPts val="0"/>
              </a:spcAft>
              <a:buSzPts val="1840"/>
              <a:buNone/>
              <a:defRPr sz="2000" b="1"/>
            </a:lvl2pPr>
            <a:lvl3pPr marL="1371600" lvl="2" indent="-228600" algn="l">
              <a:lnSpc>
                <a:spcPct val="100000"/>
              </a:lnSpc>
              <a:spcBef>
                <a:spcPts val="600"/>
              </a:spcBef>
              <a:spcAft>
                <a:spcPts val="0"/>
              </a:spcAft>
              <a:buSzPts val="1656"/>
              <a:buNone/>
              <a:defRPr sz="1800" b="1"/>
            </a:lvl3pPr>
            <a:lvl4pPr marL="1828800" lvl="3" indent="-228600" algn="l">
              <a:lnSpc>
                <a:spcPct val="100000"/>
              </a:lnSpc>
              <a:spcBef>
                <a:spcPts val="600"/>
              </a:spcBef>
              <a:spcAft>
                <a:spcPts val="0"/>
              </a:spcAft>
              <a:buSzPts val="1472"/>
              <a:buNone/>
              <a:defRPr sz="1600" b="1"/>
            </a:lvl4pPr>
            <a:lvl5pPr marL="2286000" lvl="4" indent="-228600" algn="l">
              <a:lnSpc>
                <a:spcPct val="100000"/>
              </a:lnSpc>
              <a:spcBef>
                <a:spcPts val="600"/>
              </a:spcBef>
              <a:spcAft>
                <a:spcPts val="0"/>
              </a:spcAft>
              <a:buSzPts val="1472"/>
              <a:buNone/>
              <a:defRPr sz="1600" b="1"/>
            </a:lvl5pPr>
            <a:lvl6pPr marL="2743200" lvl="5" indent="-228600" algn="l">
              <a:lnSpc>
                <a:spcPct val="100000"/>
              </a:lnSpc>
              <a:spcBef>
                <a:spcPts val="600"/>
              </a:spcBef>
              <a:spcAft>
                <a:spcPts val="0"/>
              </a:spcAft>
              <a:buSzPts val="1472"/>
              <a:buNone/>
              <a:defRPr sz="1600" b="1"/>
            </a:lvl6pPr>
            <a:lvl7pPr marL="3200400" lvl="6" indent="-228600" algn="l">
              <a:lnSpc>
                <a:spcPct val="100000"/>
              </a:lnSpc>
              <a:spcBef>
                <a:spcPts val="600"/>
              </a:spcBef>
              <a:spcAft>
                <a:spcPts val="0"/>
              </a:spcAft>
              <a:buSzPts val="1472"/>
              <a:buNone/>
              <a:defRPr sz="1600" b="1"/>
            </a:lvl7pPr>
            <a:lvl8pPr marL="3657600" lvl="7" indent="-228600" algn="l">
              <a:lnSpc>
                <a:spcPct val="100000"/>
              </a:lnSpc>
              <a:spcBef>
                <a:spcPts val="600"/>
              </a:spcBef>
              <a:spcAft>
                <a:spcPts val="0"/>
              </a:spcAft>
              <a:buSzPts val="1472"/>
              <a:buNone/>
              <a:defRPr sz="1600" b="1"/>
            </a:lvl8pPr>
            <a:lvl9pPr marL="4114800" lvl="8" indent="-228600" algn="l">
              <a:lnSpc>
                <a:spcPct val="100000"/>
              </a:lnSpc>
              <a:spcBef>
                <a:spcPts val="600"/>
              </a:spcBef>
              <a:spcAft>
                <a:spcPts val="600"/>
              </a:spcAft>
              <a:buSzPts val="1472"/>
              <a:buNone/>
              <a:defRPr sz="1600" b="1"/>
            </a:lvl9pPr>
          </a:lstStyle>
          <a:p>
            <a:endParaRPr/>
          </a:p>
        </p:txBody>
      </p:sp>
      <p:sp>
        <p:nvSpPr>
          <p:cNvPr id="49" name="Google Shape;49;p6"/>
          <p:cNvSpPr txBox="1">
            <a:spLocks noGrp="1"/>
          </p:cNvSpPr>
          <p:nvPr>
            <p:ph type="body" idx="4"/>
          </p:nvPr>
        </p:nvSpPr>
        <p:spPr>
          <a:xfrm>
            <a:off x="6217709" y="2926052"/>
            <a:ext cx="5393100" cy="2934999"/>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50" name="Google Shape;50;p6"/>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6"/>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3"/>
        <p:cNvGrpSpPr/>
        <p:nvPr/>
      </p:nvGrpSpPr>
      <p:grpSpPr>
        <a:xfrm>
          <a:off x="0" y="0"/>
          <a:ext cx="0" cy="0"/>
          <a:chOff x="0" y="0"/>
          <a:chExt cx="0" cy="0"/>
        </a:xfrm>
      </p:grpSpPr>
      <p:sp>
        <p:nvSpPr>
          <p:cNvPr id="54" name="Google Shape;54;p7"/>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
        <p:nvSpPr>
          <p:cNvPr id="57" name="Google Shape;57;p7"/>
          <p:cNvSpPr/>
          <p:nvPr/>
        </p:nvSpPr>
        <p:spPr>
          <a:xfrm>
            <a:off x="440683" y="606554"/>
            <a:ext cx="11300036" cy="125882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7"/>
          <p:cNvSpPr txBox="1">
            <a:spLocks noGrp="1"/>
          </p:cNvSpPr>
          <p:nvPr>
            <p:ph type="title"/>
          </p:nvPr>
        </p:nvSpPr>
        <p:spPr>
          <a:xfrm>
            <a:off x="575894" y="729658"/>
            <a:ext cx="11029616" cy="98833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59"/>
        <p:cNvGrpSpPr/>
        <p:nvPr/>
      </p:nvGrpSpPr>
      <p:grpSpPr>
        <a:xfrm>
          <a:off x="0" y="0"/>
          <a:ext cx="0" cy="0"/>
          <a:chOff x="0" y="0"/>
          <a:chExt cx="0" cy="0"/>
        </a:xfrm>
      </p:grpSpPr>
      <p:sp>
        <p:nvSpPr>
          <p:cNvPr id="60" name="Google Shape;60;p8"/>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8"/>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8"/>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63"/>
        <p:cNvGrpSpPr/>
        <p:nvPr/>
      </p:nvGrpSpPr>
      <p:grpSpPr>
        <a:xfrm>
          <a:off x="0" y="0"/>
          <a:ext cx="0" cy="0"/>
          <a:chOff x="0" y="0"/>
          <a:chExt cx="0" cy="0"/>
        </a:xfrm>
      </p:grpSpPr>
      <p:sp>
        <p:nvSpPr>
          <p:cNvPr id="64" name="Google Shape;64;p9"/>
          <p:cNvSpPr/>
          <p:nvPr/>
        </p:nvSpPr>
        <p:spPr>
          <a:xfrm>
            <a:off x="447817" y="5141973"/>
            <a:ext cx="11298200" cy="1274702"/>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9"/>
          <p:cNvSpPr txBox="1">
            <a:spLocks noGrp="1"/>
          </p:cNvSpPr>
          <p:nvPr>
            <p:ph type="title"/>
          </p:nvPr>
        </p:nvSpPr>
        <p:spPr>
          <a:xfrm>
            <a:off x="581192" y="5262296"/>
            <a:ext cx="4909445" cy="689514"/>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rgbClr val="2D58AC"/>
              </a:buClr>
              <a:buSzPts val="2000"/>
              <a:buFont typeface="Gill Sans"/>
              <a:buNone/>
              <a:defRPr sz="2000" b="0">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
          <p:cNvSpPr txBox="1">
            <a:spLocks noGrp="1"/>
          </p:cNvSpPr>
          <p:nvPr>
            <p:ph type="body" idx="1"/>
          </p:nvPr>
        </p:nvSpPr>
        <p:spPr>
          <a:xfrm>
            <a:off x="447816" y="601200"/>
            <a:ext cx="11292840" cy="4204800"/>
          </a:xfrm>
          <a:prstGeom prst="rect">
            <a:avLst/>
          </a:prstGeom>
          <a:noFill/>
          <a:ln>
            <a:noFill/>
          </a:ln>
        </p:spPr>
        <p:txBody>
          <a:bodyPr spcFirstLastPara="1" wrap="square" lIns="91425" tIns="45700" rIns="91425" bIns="45700" anchor="ctr" anchorCtr="0">
            <a:normAutofit/>
          </a:bodyPr>
          <a:lstStyle>
            <a:lvl1pPr marL="457200" lvl="0" indent="-345440" algn="l">
              <a:lnSpc>
                <a:spcPct val="100000"/>
              </a:lnSpc>
              <a:spcBef>
                <a:spcPts val="400"/>
              </a:spcBef>
              <a:spcAft>
                <a:spcPts val="0"/>
              </a:spcAft>
              <a:buSzPts val="1840"/>
              <a:buChar char="◼"/>
              <a:defRPr sz="2000">
                <a:solidFill>
                  <a:schemeClr val="dk2"/>
                </a:solidFill>
              </a:defRPr>
            </a:lvl1pPr>
            <a:lvl2pPr marL="914400" lvl="1" indent="-333756" algn="l">
              <a:lnSpc>
                <a:spcPct val="100000"/>
              </a:lnSpc>
              <a:spcBef>
                <a:spcPts val="600"/>
              </a:spcBef>
              <a:spcAft>
                <a:spcPts val="0"/>
              </a:spcAft>
              <a:buSzPts val="1656"/>
              <a:buChar char="◼"/>
              <a:defRPr sz="1800">
                <a:solidFill>
                  <a:schemeClr val="dk2"/>
                </a:solidFill>
              </a:defRPr>
            </a:lvl2pPr>
            <a:lvl3pPr marL="1371600" lvl="2" indent="-322072" algn="l">
              <a:lnSpc>
                <a:spcPct val="100000"/>
              </a:lnSpc>
              <a:spcBef>
                <a:spcPts val="600"/>
              </a:spcBef>
              <a:spcAft>
                <a:spcPts val="0"/>
              </a:spcAft>
              <a:buSzPts val="1472"/>
              <a:buChar char="◼"/>
              <a:defRPr sz="1600">
                <a:solidFill>
                  <a:schemeClr val="dk2"/>
                </a:solidFill>
              </a:defRPr>
            </a:lvl3pPr>
            <a:lvl4pPr marL="1828800" lvl="3" indent="-310388" algn="l">
              <a:lnSpc>
                <a:spcPct val="100000"/>
              </a:lnSpc>
              <a:spcBef>
                <a:spcPts val="600"/>
              </a:spcBef>
              <a:spcAft>
                <a:spcPts val="0"/>
              </a:spcAft>
              <a:buSzPts val="1288"/>
              <a:buChar char="◼"/>
              <a:defRPr sz="1400">
                <a:solidFill>
                  <a:schemeClr val="dk2"/>
                </a:solidFill>
              </a:defRPr>
            </a:lvl4pPr>
            <a:lvl5pPr marL="2286000" lvl="4" indent="-310388" algn="l">
              <a:lnSpc>
                <a:spcPct val="100000"/>
              </a:lnSpc>
              <a:spcBef>
                <a:spcPts val="600"/>
              </a:spcBef>
              <a:spcAft>
                <a:spcPts val="0"/>
              </a:spcAft>
              <a:buSzPts val="1288"/>
              <a:buChar char="◼"/>
              <a:defRPr sz="1400">
                <a:solidFill>
                  <a:schemeClr val="dk2"/>
                </a:solidFill>
              </a:defRPr>
            </a:lvl5pPr>
            <a:lvl6pPr marL="2743200" lvl="5" indent="-310388" algn="l">
              <a:lnSpc>
                <a:spcPct val="100000"/>
              </a:lnSpc>
              <a:spcBef>
                <a:spcPts val="600"/>
              </a:spcBef>
              <a:spcAft>
                <a:spcPts val="0"/>
              </a:spcAft>
              <a:buSzPts val="1288"/>
              <a:buChar char="◼"/>
              <a:defRPr sz="1400">
                <a:solidFill>
                  <a:schemeClr val="dk2"/>
                </a:solidFill>
              </a:defRPr>
            </a:lvl6pPr>
            <a:lvl7pPr marL="3200400" lvl="6" indent="-310388" algn="l">
              <a:lnSpc>
                <a:spcPct val="100000"/>
              </a:lnSpc>
              <a:spcBef>
                <a:spcPts val="600"/>
              </a:spcBef>
              <a:spcAft>
                <a:spcPts val="0"/>
              </a:spcAft>
              <a:buSzPts val="1288"/>
              <a:buChar char="◼"/>
              <a:defRPr sz="1400">
                <a:solidFill>
                  <a:schemeClr val="dk2"/>
                </a:solidFill>
              </a:defRPr>
            </a:lvl7pPr>
            <a:lvl8pPr marL="3657600" lvl="7" indent="-310388" algn="l">
              <a:lnSpc>
                <a:spcPct val="100000"/>
              </a:lnSpc>
              <a:spcBef>
                <a:spcPts val="600"/>
              </a:spcBef>
              <a:spcAft>
                <a:spcPts val="0"/>
              </a:spcAft>
              <a:buSzPts val="1288"/>
              <a:buChar char="◼"/>
              <a:defRPr sz="1400">
                <a:solidFill>
                  <a:schemeClr val="dk2"/>
                </a:solidFill>
              </a:defRPr>
            </a:lvl8pPr>
            <a:lvl9pPr marL="4114800" lvl="8" indent="-310388" algn="l">
              <a:lnSpc>
                <a:spcPct val="100000"/>
              </a:lnSpc>
              <a:spcBef>
                <a:spcPts val="600"/>
              </a:spcBef>
              <a:spcAft>
                <a:spcPts val="600"/>
              </a:spcAft>
              <a:buSzPts val="1288"/>
              <a:buChar char="◼"/>
              <a:defRPr sz="1400">
                <a:solidFill>
                  <a:schemeClr val="dk2"/>
                </a:solidFill>
              </a:defRPr>
            </a:lvl9pPr>
          </a:lstStyle>
          <a:p>
            <a:endParaRPr/>
          </a:p>
        </p:txBody>
      </p:sp>
      <p:sp>
        <p:nvSpPr>
          <p:cNvPr id="67" name="Google Shape;67;p9"/>
          <p:cNvSpPr txBox="1">
            <a:spLocks noGrp="1"/>
          </p:cNvSpPr>
          <p:nvPr>
            <p:ph type="body" idx="2"/>
          </p:nvPr>
        </p:nvSpPr>
        <p:spPr>
          <a:xfrm>
            <a:off x="5740823" y="5262296"/>
            <a:ext cx="5869987" cy="689515"/>
          </a:xfrm>
          <a:prstGeom prst="rect">
            <a:avLst/>
          </a:prstGeom>
          <a:noFill/>
          <a:ln>
            <a:noFill/>
          </a:ln>
        </p:spPr>
        <p:txBody>
          <a:bodyPr spcFirstLastPara="1" wrap="square" lIns="91425" tIns="45700" rIns="91425" bIns="45700" anchor="ctr" anchorCtr="0">
            <a:normAutofit/>
          </a:bodyPr>
          <a:lstStyle>
            <a:lvl1pPr marL="457200" lvl="0" indent="-228600" algn="r">
              <a:lnSpc>
                <a:spcPct val="100000"/>
              </a:lnSpc>
              <a:spcBef>
                <a:spcPts val="220"/>
              </a:spcBef>
              <a:spcAft>
                <a:spcPts val="0"/>
              </a:spcAft>
              <a:buSzPts val="1012"/>
              <a:buNone/>
              <a:defRPr sz="1100">
                <a:solidFill>
                  <a:schemeClr val="lt1"/>
                </a:solidFill>
              </a:defRPr>
            </a:lvl1pPr>
            <a:lvl2pPr marL="914400" lvl="1" indent="-228600" algn="l">
              <a:lnSpc>
                <a:spcPct val="100000"/>
              </a:lnSpc>
              <a:spcBef>
                <a:spcPts val="600"/>
              </a:spcBef>
              <a:spcAft>
                <a:spcPts val="0"/>
              </a:spcAft>
              <a:buSzPts val="1012"/>
              <a:buNone/>
              <a:defRPr sz="1100"/>
            </a:lvl2pPr>
            <a:lvl3pPr marL="1371600" lvl="2" indent="-228600" algn="l">
              <a:lnSpc>
                <a:spcPct val="100000"/>
              </a:lnSpc>
              <a:spcBef>
                <a:spcPts val="600"/>
              </a:spcBef>
              <a:spcAft>
                <a:spcPts val="0"/>
              </a:spcAft>
              <a:buSzPts val="920"/>
              <a:buNone/>
              <a:defRPr sz="1000"/>
            </a:lvl3pPr>
            <a:lvl4pPr marL="1828800" lvl="3" indent="-228600" algn="l">
              <a:lnSpc>
                <a:spcPct val="100000"/>
              </a:lnSpc>
              <a:spcBef>
                <a:spcPts val="600"/>
              </a:spcBef>
              <a:spcAft>
                <a:spcPts val="0"/>
              </a:spcAft>
              <a:buSzPts val="828"/>
              <a:buNone/>
              <a:defRPr sz="900"/>
            </a:lvl4pPr>
            <a:lvl5pPr marL="2286000" lvl="4" indent="-228600" algn="l">
              <a:lnSpc>
                <a:spcPct val="100000"/>
              </a:lnSpc>
              <a:spcBef>
                <a:spcPts val="600"/>
              </a:spcBef>
              <a:spcAft>
                <a:spcPts val="0"/>
              </a:spcAft>
              <a:buSzPts val="828"/>
              <a:buNone/>
              <a:defRPr sz="900"/>
            </a:lvl5pPr>
            <a:lvl6pPr marL="2743200" lvl="5" indent="-228600" algn="l">
              <a:lnSpc>
                <a:spcPct val="100000"/>
              </a:lnSpc>
              <a:spcBef>
                <a:spcPts val="600"/>
              </a:spcBef>
              <a:spcAft>
                <a:spcPts val="0"/>
              </a:spcAft>
              <a:buSzPts val="828"/>
              <a:buNone/>
              <a:defRPr sz="900"/>
            </a:lvl6pPr>
            <a:lvl7pPr marL="3200400" lvl="6" indent="-228600" algn="l">
              <a:lnSpc>
                <a:spcPct val="100000"/>
              </a:lnSpc>
              <a:spcBef>
                <a:spcPts val="600"/>
              </a:spcBef>
              <a:spcAft>
                <a:spcPts val="0"/>
              </a:spcAft>
              <a:buSzPts val="828"/>
              <a:buNone/>
              <a:defRPr sz="900"/>
            </a:lvl7pPr>
            <a:lvl8pPr marL="3657600" lvl="7" indent="-228600" algn="l">
              <a:lnSpc>
                <a:spcPct val="100000"/>
              </a:lnSpc>
              <a:spcBef>
                <a:spcPts val="600"/>
              </a:spcBef>
              <a:spcAft>
                <a:spcPts val="0"/>
              </a:spcAft>
              <a:buSzPts val="828"/>
              <a:buNone/>
              <a:defRPr sz="900"/>
            </a:lvl8pPr>
            <a:lvl9pPr marL="4114800" lvl="8" indent="-228600" algn="l">
              <a:lnSpc>
                <a:spcPct val="100000"/>
              </a:lnSpc>
              <a:spcBef>
                <a:spcPts val="600"/>
              </a:spcBef>
              <a:spcAft>
                <a:spcPts val="600"/>
              </a:spcAft>
              <a:buSzPts val="828"/>
              <a:buNone/>
              <a:defRPr sz="900"/>
            </a:lvl9pPr>
          </a:lstStyle>
          <a:p>
            <a:endParaRPr/>
          </a:p>
        </p:txBody>
      </p:sp>
      <p:sp>
        <p:nvSpPr>
          <p:cNvPr id="68" name="Google Shape;68;p9"/>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9"/>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1"/>
        <p:cNvGrpSpPr/>
        <p:nvPr/>
      </p:nvGrpSpPr>
      <p:grpSpPr>
        <a:xfrm>
          <a:off x="0" y="0"/>
          <a:ext cx="0" cy="0"/>
          <a:chOff x="0" y="0"/>
          <a:chExt cx="0" cy="0"/>
        </a:xfrm>
      </p:grpSpPr>
      <p:sp>
        <p:nvSpPr>
          <p:cNvPr id="72" name="Google Shape;72;p10"/>
          <p:cNvSpPr txBox="1">
            <a:spLocks noGrp="1"/>
          </p:cNvSpPr>
          <p:nvPr>
            <p:ph type="title"/>
          </p:nvPr>
        </p:nvSpPr>
        <p:spPr>
          <a:xfrm>
            <a:off x="581193" y="4693389"/>
            <a:ext cx="11029616"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accent1"/>
              </a:buClr>
              <a:buSzPts val="2400"/>
              <a:buFont typeface="Gill Sans"/>
              <a:buNone/>
              <a:defRPr sz="2400" b="0">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0"/>
          <p:cNvSpPr>
            <a:spLocks noGrp="1"/>
          </p:cNvSpPr>
          <p:nvPr>
            <p:ph type="pic" idx="2"/>
          </p:nvPr>
        </p:nvSpPr>
        <p:spPr>
          <a:xfrm>
            <a:off x="447817" y="599725"/>
            <a:ext cx="11290859" cy="3557252"/>
          </a:xfrm>
          <a:prstGeom prst="rect">
            <a:avLst/>
          </a:prstGeom>
          <a:noFill/>
          <a:ln>
            <a:noFill/>
          </a:ln>
        </p:spPr>
      </p:sp>
      <p:sp>
        <p:nvSpPr>
          <p:cNvPr id="74" name="Google Shape;74;p10"/>
          <p:cNvSpPr txBox="1">
            <a:spLocks noGrp="1"/>
          </p:cNvSpPr>
          <p:nvPr>
            <p:ph type="body" idx="1"/>
          </p:nvPr>
        </p:nvSpPr>
        <p:spPr>
          <a:xfrm>
            <a:off x="581192" y="5260127"/>
            <a:ext cx="11029617" cy="598671"/>
          </a:xfrm>
          <a:prstGeom prst="rect">
            <a:avLst/>
          </a:prstGeom>
          <a:noFill/>
          <a:ln>
            <a:noFill/>
          </a:ln>
        </p:spPr>
        <p:txBody>
          <a:bodyPr spcFirstLastPara="1" wrap="square" lIns="91425" tIns="45700" rIns="91425" bIns="45700" anchor="ctr" anchorCtr="0">
            <a:normAutofit/>
          </a:bodyPr>
          <a:lstStyle>
            <a:lvl1pPr marL="457200" lvl="0" indent="-228600" algn="l">
              <a:lnSpc>
                <a:spcPct val="100000"/>
              </a:lnSpc>
              <a:spcBef>
                <a:spcPts val="240"/>
              </a:spcBef>
              <a:spcAft>
                <a:spcPts val="0"/>
              </a:spcAft>
              <a:buSzPts val="1104"/>
              <a:buNone/>
              <a:defRPr sz="1200"/>
            </a:lvl1pPr>
            <a:lvl2pPr marL="914400" lvl="1" indent="-228600" algn="l">
              <a:lnSpc>
                <a:spcPct val="100000"/>
              </a:lnSpc>
              <a:spcBef>
                <a:spcPts val="600"/>
              </a:spcBef>
              <a:spcAft>
                <a:spcPts val="0"/>
              </a:spcAft>
              <a:buSzPts val="1104"/>
              <a:buNone/>
              <a:defRPr sz="1200"/>
            </a:lvl2pPr>
            <a:lvl3pPr marL="1371600" lvl="2" indent="-228600" algn="l">
              <a:lnSpc>
                <a:spcPct val="100000"/>
              </a:lnSpc>
              <a:spcBef>
                <a:spcPts val="600"/>
              </a:spcBef>
              <a:spcAft>
                <a:spcPts val="0"/>
              </a:spcAft>
              <a:buSzPts val="920"/>
              <a:buNone/>
              <a:defRPr sz="1000"/>
            </a:lvl3pPr>
            <a:lvl4pPr marL="1828800" lvl="3" indent="-228600" algn="l">
              <a:lnSpc>
                <a:spcPct val="100000"/>
              </a:lnSpc>
              <a:spcBef>
                <a:spcPts val="600"/>
              </a:spcBef>
              <a:spcAft>
                <a:spcPts val="0"/>
              </a:spcAft>
              <a:buSzPts val="828"/>
              <a:buNone/>
              <a:defRPr sz="900"/>
            </a:lvl4pPr>
            <a:lvl5pPr marL="2286000" lvl="4" indent="-228600" algn="l">
              <a:lnSpc>
                <a:spcPct val="100000"/>
              </a:lnSpc>
              <a:spcBef>
                <a:spcPts val="600"/>
              </a:spcBef>
              <a:spcAft>
                <a:spcPts val="0"/>
              </a:spcAft>
              <a:buSzPts val="828"/>
              <a:buNone/>
              <a:defRPr sz="900"/>
            </a:lvl5pPr>
            <a:lvl6pPr marL="2743200" lvl="5" indent="-228600" algn="l">
              <a:lnSpc>
                <a:spcPct val="100000"/>
              </a:lnSpc>
              <a:spcBef>
                <a:spcPts val="600"/>
              </a:spcBef>
              <a:spcAft>
                <a:spcPts val="0"/>
              </a:spcAft>
              <a:buSzPts val="828"/>
              <a:buNone/>
              <a:defRPr sz="900"/>
            </a:lvl6pPr>
            <a:lvl7pPr marL="3200400" lvl="6" indent="-228600" algn="l">
              <a:lnSpc>
                <a:spcPct val="100000"/>
              </a:lnSpc>
              <a:spcBef>
                <a:spcPts val="600"/>
              </a:spcBef>
              <a:spcAft>
                <a:spcPts val="0"/>
              </a:spcAft>
              <a:buSzPts val="828"/>
              <a:buNone/>
              <a:defRPr sz="900"/>
            </a:lvl7pPr>
            <a:lvl8pPr marL="3657600" lvl="7" indent="-228600" algn="l">
              <a:lnSpc>
                <a:spcPct val="100000"/>
              </a:lnSpc>
              <a:spcBef>
                <a:spcPts val="600"/>
              </a:spcBef>
              <a:spcAft>
                <a:spcPts val="0"/>
              </a:spcAft>
              <a:buSzPts val="828"/>
              <a:buNone/>
              <a:defRPr sz="900"/>
            </a:lvl8pPr>
            <a:lvl9pPr marL="4114800" lvl="8" indent="-228600" algn="l">
              <a:lnSpc>
                <a:spcPct val="100000"/>
              </a:lnSpc>
              <a:spcBef>
                <a:spcPts val="600"/>
              </a:spcBef>
              <a:spcAft>
                <a:spcPts val="600"/>
              </a:spcAft>
              <a:buSzPts val="828"/>
              <a:buNone/>
              <a:defRPr sz="900"/>
            </a:lvl9pPr>
          </a:lstStyle>
          <a:p>
            <a:endParaRPr/>
          </a:p>
        </p:txBody>
      </p:sp>
      <p:sp>
        <p:nvSpPr>
          <p:cNvPr id="75" name="Google Shape;75;p10"/>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0"/>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8"/>
        <p:cNvGrpSpPr/>
        <p:nvPr/>
      </p:nvGrpSpPr>
      <p:grpSpPr>
        <a:xfrm>
          <a:off x="0" y="0"/>
          <a:ext cx="0" cy="0"/>
          <a:chOff x="0" y="0"/>
          <a:chExt cx="0" cy="0"/>
        </a:xfrm>
      </p:grpSpPr>
      <p:sp>
        <p:nvSpPr>
          <p:cNvPr id="79" name="Google Shape;79;p11"/>
          <p:cNvSpPr/>
          <p:nvPr/>
        </p:nvSpPr>
        <p:spPr>
          <a:xfrm>
            <a:off x="440286" y="614407"/>
            <a:ext cx="11309338" cy="1189298"/>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1"/>
          <p:cNvSpPr txBox="1">
            <a:spLocks noGrp="1"/>
          </p:cNvSpPr>
          <p:nvPr>
            <p:ph type="title"/>
          </p:nvPr>
        </p:nvSpPr>
        <p:spPr>
          <a:xfrm>
            <a:off x="581192" y="702156"/>
            <a:ext cx="11029616" cy="1013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11"/>
          <p:cNvSpPr txBox="1">
            <a:spLocks noGrp="1"/>
          </p:cNvSpPr>
          <p:nvPr>
            <p:ph type="body" idx="1"/>
          </p:nvPr>
        </p:nvSpPr>
        <p:spPr>
          <a:xfrm rot="5400000">
            <a:off x="4334603" y="-1417408"/>
            <a:ext cx="3522794" cy="11029616"/>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22072" algn="l">
              <a:lnSpc>
                <a:spcPct val="100000"/>
              </a:lnSpc>
              <a:spcBef>
                <a:spcPts val="600"/>
              </a:spcBef>
              <a:spcAft>
                <a:spcPts val="0"/>
              </a:spcAft>
              <a:buSzPts val="1472"/>
              <a:buChar char="◼"/>
              <a:defRPr/>
            </a:lvl2pPr>
            <a:lvl3pPr marL="1371600" lvl="2" indent="-310388" algn="l">
              <a:lnSpc>
                <a:spcPct val="100000"/>
              </a:lnSpc>
              <a:spcBef>
                <a:spcPts val="600"/>
              </a:spcBef>
              <a:spcAft>
                <a:spcPts val="0"/>
              </a:spcAft>
              <a:buSzPts val="1288"/>
              <a:buChar char="◼"/>
              <a:defRPr/>
            </a:lvl3pPr>
            <a:lvl4pPr marL="1828800" lvl="3" indent="-298704" algn="l">
              <a:lnSpc>
                <a:spcPct val="100000"/>
              </a:lnSpc>
              <a:spcBef>
                <a:spcPts val="600"/>
              </a:spcBef>
              <a:spcAft>
                <a:spcPts val="0"/>
              </a:spcAft>
              <a:buSzPts val="1104"/>
              <a:buChar char="◼"/>
              <a:defRPr/>
            </a:lvl4pPr>
            <a:lvl5pPr marL="2286000" lvl="4" indent="-298704" algn="l">
              <a:lnSpc>
                <a:spcPct val="100000"/>
              </a:lnSpc>
              <a:spcBef>
                <a:spcPts val="600"/>
              </a:spcBef>
              <a:spcAft>
                <a:spcPts val="0"/>
              </a:spcAft>
              <a:buSzPts val="1104"/>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82" name="Google Shape;82;p11"/>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1"/>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11"/>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5"/>
        <p:cNvGrpSpPr/>
        <p:nvPr/>
      </p:nvGrpSpPr>
      <p:grpSpPr>
        <a:xfrm>
          <a:off x="0" y="0"/>
          <a:ext cx="0" cy="0"/>
          <a:chOff x="0" y="0"/>
          <a:chExt cx="0" cy="0"/>
        </a:xfrm>
      </p:grpSpPr>
      <p:sp>
        <p:nvSpPr>
          <p:cNvPr id="86" name="Google Shape;86;p12"/>
          <p:cNvSpPr/>
          <p:nvPr/>
        </p:nvSpPr>
        <p:spPr>
          <a:xfrm>
            <a:off x="8839201" y="599725"/>
            <a:ext cx="2906817" cy="581695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2"/>
          <p:cNvSpPr txBox="1">
            <a:spLocks noGrp="1"/>
          </p:cNvSpPr>
          <p:nvPr>
            <p:ph type="title"/>
          </p:nvPr>
        </p:nvSpPr>
        <p:spPr>
          <a:xfrm rot="5400000">
            <a:off x="7249746" y="2265181"/>
            <a:ext cx="5183073" cy="2004164"/>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131526" y="-680877"/>
            <a:ext cx="5183073" cy="7896279"/>
          </a:xfrm>
          <a:prstGeom prst="rect">
            <a:avLst/>
          </a:prstGeom>
          <a:noFill/>
          <a:ln>
            <a:noFill/>
          </a:ln>
        </p:spPr>
        <p:txBody>
          <a:bodyPr spcFirstLastPara="1" wrap="square" lIns="91425" tIns="45700" rIns="91425" bIns="45700" anchor="t" anchorCtr="0">
            <a:normAutofit/>
          </a:bodyPr>
          <a:lstStyle>
            <a:lvl1pPr marL="457200" lvl="0" indent="-333756" algn="l">
              <a:lnSpc>
                <a:spcPct val="100000"/>
              </a:lnSpc>
              <a:spcBef>
                <a:spcPts val="360"/>
              </a:spcBef>
              <a:spcAft>
                <a:spcPts val="0"/>
              </a:spcAft>
              <a:buSzPts val="1656"/>
              <a:buChar char="◼"/>
              <a:defRPr/>
            </a:lvl1pPr>
            <a:lvl2pPr marL="914400" lvl="1" indent="-333756" algn="l">
              <a:lnSpc>
                <a:spcPct val="100000"/>
              </a:lnSpc>
              <a:spcBef>
                <a:spcPts val="600"/>
              </a:spcBef>
              <a:spcAft>
                <a:spcPts val="0"/>
              </a:spcAft>
              <a:buSzPts val="1656"/>
              <a:buChar char="◼"/>
              <a:defRPr/>
            </a:lvl2pPr>
            <a:lvl3pPr marL="1371600" lvl="2" indent="-333756" algn="l">
              <a:lnSpc>
                <a:spcPct val="100000"/>
              </a:lnSpc>
              <a:spcBef>
                <a:spcPts val="600"/>
              </a:spcBef>
              <a:spcAft>
                <a:spcPts val="0"/>
              </a:spcAft>
              <a:buSzPts val="1656"/>
              <a:buChar char="◼"/>
              <a:defRPr/>
            </a:lvl3pPr>
            <a:lvl4pPr marL="1828800" lvl="3" indent="-333756" algn="l">
              <a:lnSpc>
                <a:spcPct val="100000"/>
              </a:lnSpc>
              <a:spcBef>
                <a:spcPts val="600"/>
              </a:spcBef>
              <a:spcAft>
                <a:spcPts val="0"/>
              </a:spcAft>
              <a:buSzPts val="1656"/>
              <a:buChar char="◼"/>
              <a:defRPr/>
            </a:lvl4pPr>
            <a:lvl5pPr marL="2286000" lvl="4" indent="-333756" algn="l">
              <a:lnSpc>
                <a:spcPct val="100000"/>
              </a:lnSpc>
              <a:spcBef>
                <a:spcPts val="600"/>
              </a:spcBef>
              <a:spcAft>
                <a:spcPts val="0"/>
              </a:spcAft>
              <a:buSzPts val="1656"/>
              <a:buChar char="◼"/>
              <a:defRPr/>
            </a:lvl5pPr>
            <a:lvl6pPr marL="2743200" lvl="5" indent="-333756" algn="l">
              <a:lnSpc>
                <a:spcPct val="100000"/>
              </a:lnSpc>
              <a:spcBef>
                <a:spcPts val="600"/>
              </a:spcBef>
              <a:spcAft>
                <a:spcPts val="0"/>
              </a:spcAft>
              <a:buSzPts val="1656"/>
              <a:buChar char="◼"/>
              <a:defRPr/>
            </a:lvl6pPr>
            <a:lvl7pPr marL="3200400" lvl="6" indent="-333756" algn="l">
              <a:lnSpc>
                <a:spcPct val="100000"/>
              </a:lnSpc>
              <a:spcBef>
                <a:spcPts val="600"/>
              </a:spcBef>
              <a:spcAft>
                <a:spcPts val="0"/>
              </a:spcAft>
              <a:buSzPts val="1656"/>
              <a:buChar char="◼"/>
              <a:defRPr/>
            </a:lvl7pPr>
            <a:lvl8pPr marL="3657600" lvl="7" indent="-333756" algn="l">
              <a:lnSpc>
                <a:spcPct val="100000"/>
              </a:lnSpc>
              <a:spcBef>
                <a:spcPts val="600"/>
              </a:spcBef>
              <a:spcAft>
                <a:spcPts val="0"/>
              </a:spcAft>
              <a:buSzPts val="1656"/>
              <a:buChar char="◼"/>
              <a:defRPr/>
            </a:lvl8pPr>
            <a:lvl9pPr marL="4114800" lvl="8" indent="-333756" algn="l">
              <a:lnSpc>
                <a:spcPct val="100000"/>
              </a:lnSpc>
              <a:spcBef>
                <a:spcPts val="600"/>
              </a:spcBef>
              <a:spcAft>
                <a:spcPts val="600"/>
              </a:spcAft>
              <a:buSzPts val="1656"/>
              <a:buChar char="◼"/>
              <a:defRPr/>
            </a:lvl9pPr>
          </a:lstStyle>
          <a:p>
            <a:endParaRPr/>
          </a:p>
        </p:txBody>
      </p:sp>
      <p:sp>
        <p:nvSpPr>
          <p:cNvPr id="89" name="Google Shape;89;p12"/>
          <p:cNvSpPr txBox="1">
            <a:spLocks noGrp="1"/>
          </p:cNvSpPr>
          <p:nvPr>
            <p:ph type="dt" idx="10"/>
          </p:nvPr>
        </p:nvSpPr>
        <p:spPr>
          <a:xfrm>
            <a:off x="8993673" y="5956137"/>
            <a:ext cx="1328141"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2"/>
          <p:cNvSpPr txBox="1">
            <a:spLocks noGrp="1"/>
          </p:cNvSpPr>
          <p:nvPr>
            <p:ph type="ftr" idx="11"/>
          </p:nvPr>
        </p:nvSpPr>
        <p:spPr>
          <a:xfrm>
            <a:off x="774923" y="5951811"/>
            <a:ext cx="7896279"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12"/>
          <p:cNvSpPr txBox="1">
            <a:spLocks noGrp="1"/>
          </p:cNvSpPr>
          <p:nvPr>
            <p:ph type="sldNum" idx="12"/>
          </p:nvPr>
        </p:nvSpPr>
        <p:spPr>
          <a:xfrm>
            <a:off x="10446615" y="5956137"/>
            <a:ext cx="1164195"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2D58AC"/>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81192" y="705124"/>
            <a:ext cx="11029616" cy="1189554"/>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chemeClr val="lt1"/>
              </a:buClr>
              <a:buSzPts val="2800"/>
              <a:buFont typeface="Gill Sans"/>
              <a:buNone/>
              <a:defRPr sz="2800" b="0" i="0" u="none" strike="noStrike" cap="none">
                <a:solidFill>
                  <a:schemeClr val="lt1"/>
                </a:solidFill>
                <a:latin typeface="Gill Sans"/>
                <a:ea typeface="Gill Sans"/>
                <a:cs typeface="Gill Sans"/>
                <a:sym typeface="Gill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2"/>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581192" y="2336003"/>
            <a:ext cx="11029616" cy="3522794"/>
          </a:xfrm>
          <a:prstGeom prst="rect">
            <a:avLst/>
          </a:prstGeom>
          <a:noFill/>
          <a:ln>
            <a:noFill/>
          </a:ln>
        </p:spPr>
        <p:txBody>
          <a:bodyPr spcFirstLastPara="1" wrap="square" lIns="91425" tIns="45700" rIns="91425" bIns="45700" anchor="ctr" anchorCtr="0">
            <a:normAutofit/>
          </a:bodyPr>
          <a:lstStyle>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22072" algn="l" rtl="0">
              <a:lnSpc>
                <a:spcPct val="100000"/>
              </a:lnSpc>
              <a:spcBef>
                <a:spcPts val="600"/>
              </a:spcBef>
              <a:spcAft>
                <a:spcPts val="0"/>
              </a:spcAft>
              <a:buClr>
                <a:schemeClr val="accent2"/>
              </a:buClr>
              <a:buSzPts val="1472"/>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10388" algn="l" rtl="0">
              <a:lnSpc>
                <a:spcPct val="100000"/>
              </a:lnSpc>
              <a:spcBef>
                <a:spcPts val="600"/>
              </a:spcBef>
              <a:spcAft>
                <a:spcPts val="0"/>
              </a:spcAft>
              <a:buClr>
                <a:schemeClr val="accent2"/>
              </a:buClr>
              <a:buSzPts val="1288"/>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298704" algn="l" rtl="0">
              <a:lnSpc>
                <a:spcPct val="100000"/>
              </a:lnSpc>
              <a:spcBef>
                <a:spcPts val="600"/>
              </a:spcBef>
              <a:spcAft>
                <a:spcPts val="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298704" algn="l" rtl="0">
              <a:lnSpc>
                <a:spcPct val="100000"/>
              </a:lnSpc>
              <a:spcBef>
                <a:spcPts val="600"/>
              </a:spcBef>
              <a:spcAft>
                <a:spcPts val="600"/>
              </a:spcAft>
              <a:buClr>
                <a:schemeClr val="accent2"/>
              </a:buClr>
              <a:buSzPts val="1104"/>
              <a:buFont typeface="Noto Sans Symbols"/>
              <a:buChar char="◼"/>
              <a:defRPr sz="1200" b="0" i="0" u="none" strike="noStrike" cap="none">
                <a:solidFill>
                  <a:schemeClr val="dk2"/>
                </a:solidFill>
                <a:latin typeface="Gill Sans"/>
                <a:ea typeface="Gill Sans"/>
                <a:cs typeface="Gill Sans"/>
                <a:sym typeface="Gill Sans"/>
              </a:defRPr>
            </a:lvl9pPr>
          </a:lstStyle>
          <a:p>
            <a:endParaRPr/>
          </a:p>
        </p:txBody>
      </p:sp>
      <p:sp>
        <p:nvSpPr>
          <p:cNvPr id="8" name="Google Shape;8;p1"/>
          <p:cNvSpPr txBox="1">
            <a:spLocks noGrp="1"/>
          </p:cNvSpPr>
          <p:nvPr>
            <p:ph type="dt" idx="10"/>
          </p:nvPr>
        </p:nvSpPr>
        <p:spPr>
          <a:xfrm>
            <a:off x="7605951" y="5956137"/>
            <a:ext cx="2844799" cy="365125"/>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900" b="0" i="0" u="none" strike="noStrike" cap="none">
                <a:solidFill>
                  <a:schemeClr val="accent2"/>
                </a:solidFill>
                <a:latin typeface="Gill Sans"/>
                <a:ea typeface="Gill Sans"/>
                <a:cs typeface="Gill Sans"/>
                <a:sym typeface="Gill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9pPr>
          </a:lstStyle>
          <a:p>
            <a:endParaRPr/>
          </a:p>
        </p:txBody>
      </p:sp>
      <p:sp>
        <p:nvSpPr>
          <p:cNvPr id="9" name="Google Shape;9;p1"/>
          <p:cNvSpPr txBox="1">
            <a:spLocks noGrp="1"/>
          </p:cNvSpPr>
          <p:nvPr>
            <p:ph type="ftr" idx="11"/>
          </p:nvPr>
        </p:nvSpPr>
        <p:spPr>
          <a:xfrm>
            <a:off x="581192" y="5951811"/>
            <a:ext cx="691721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chemeClr val="accent2"/>
                </a:solidFill>
                <a:latin typeface="Gill Sans"/>
                <a:ea typeface="Gill Sans"/>
                <a:cs typeface="Gill Sans"/>
                <a:sym typeface="Gill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Gill Sans"/>
                <a:ea typeface="Gill Sans"/>
                <a:cs typeface="Gill Sans"/>
                <a:sym typeface="Gill Sans"/>
              </a:defRPr>
            </a:lvl9pPr>
          </a:lstStyle>
          <a:p>
            <a:endParaRPr/>
          </a:p>
        </p:txBody>
      </p:sp>
      <p:sp>
        <p:nvSpPr>
          <p:cNvPr id="10" name="Google Shape;10;p1"/>
          <p:cNvSpPr txBox="1">
            <a:spLocks noGrp="1"/>
          </p:cNvSpPr>
          <p:nvPr>
            <p:ph type="sldNum" idx="12"/>
          </p:nvPr>
        </p:nvSpPr>
        <p:spPr>
          <a:xfrm>
            <a:off x="10558300" y="5956137"/>
            <a:ext cx="105251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chemeClr val="accent2"/>
                </a:solidFill>
                <a:latin typeface="Gill Sans"/>
                <a:ea typeface="Gill Sans"/>
                <a:cs typeface="Gill Sans"/>
                <a:sym typeface="Gill Sans"/>
              </a:defRPr>
            </a:lvl9pPr>
          </a:lstStyle>
          <a:p>
            <a:pPr marL="0" lvl="0" indent="0" algn="r" rtl="0">
              <a:spcBef>
                <a:spcPts val="0"/>
              </a:spcBef>
              <a:spcAft>
                <a:spcPts val="0"/>
              </a:spcAft>
              <a:buNone/>
            </a:pPr>
            <a:fld id="{00000000-1234-1234-1234-123412341234}" type="slidenum">
              <a:rPr lang="es-ES"/>
              <a:t>‹#›</a:t>
            </a:fld>
            <a:endParaRPr/>
          </a:p>
        </p:txBody>
      </p:sp>
      <p:sp>
        <p:nvSpPr>
          <p:cNvPr id="11" name="Google Shape;11;p1"/>
          <p:cNvSpPr/>
          <p:nvPr/>
        </p:nvSpPr>
        <p:spPr>
          <a:xfrm>
            <a:off x="446534" y="457200"/>
            <a:ext cx="3703320" cy="94997"/>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1"/>
          <p:cNvSpPr/>
          <p:nvPr/>
        </p:nvSpPr>
        <p:spPr>
          <a:xfrm>
            <a:off x="8042147" y="453643"/>
            <a:ext cx="3703320" cy="98554"/>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4241830" y="457200"/>
            <a:ext cx="3703320" cy="9144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ec.edu"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3"/>
          <p:cNvSpPr txBox="1">
            <a:spLocks noGrp="1"/>
          </p:cNvSpPr>
          <p:nvPr>
            <p:ph type="ctrTitle"/>
          </p:nvPr>
        </p:nvSpPr>
        <p:spPr>
          <a:xfrm>
            <a:off x="599226" y="3158569"/>
            <a:ext cx="10993549" cy="1578409"/>
          </a:xfrm>
          <a:prstGeom prst="rect">
            <a:avLst/>
          </a:prstGeom>
          <a:noFill/>
          <a:ln>
            <a:noFill/>
          </a:ln>
        </p:spPr>
        <p:txBody>
          <a:bodyPr spcFirstLastPara="1" wrap="square" lIns="91425" tIns="45700" rIns="91425" bIns="45700" anchor="b" anchorCtr="0">
            <a:normAutofit/>
          </a:bodyPr>
          <a:lstStyle/>
          <a:p>
            <a:pPr marL="0" lvl="0" indent="0" algn="ctr" rtl="0">
              <a:lnSpc>
                <a:spcPct val="100000"/>
              </a:lnSpc>
              <a:spcBef>
                <a:spcPts val="0"/>
              </a:spcBef>
              <a:spcAft>
                <a:spcPts val="0"/>
              </a:spcAft>
              <a:buClr>
                <a:schemeClr val="lt1"/>
              </a:buClr>
              <a:buSzPts val="3600"/>
              <a:buFont typeface="Gill Sans"/>
              <a:buNone/>
            </a:pPr>
            <a:r>
              <a:rPr lang="es-ES" dirty="0">
                <a:solidFill>
                  <a:schemeClr val="lt1"/>
                </a:solidFill>
              </a:rPr>
              <a:t>MANUAL</a:t>
            </a:r>
            <a:br>
              <a:rPr lang="es-ES" dirty="0">
                <a:solidFill>
                  <a:schemeClr val="lt1"/>
                </a:solidFill>
              </a:rPr>
            </a:br>
            <a:r>
              <a:rPr lang="es-ES" dirty="0">
                <a:solidFill>
                  <a:schemeClr val="lt1"/>
                </a:solidFill>
              </a:rPr>
              <a:t>CONVERSIÓN UNIDADES RESTFUL JAVA</a:t>
            </a:r>
            <a:endParaRPr dirty="0"/>
          </a:p>
        </p:txBody>
      </p:sp>
      <p:sp>
        <p:nvSpPr>
          <p:cNvPr id="97" name="Google Shape;97;p13"/>
          <p:cNvSpPr txBox="1">
            <a:spLocks noGrp="1"/>
          </p:cNvSpPr>
          <p:nvPr>
            <p:ph type="subTitle" idx="1"/>
          </p:nvPr>
        </p:nvSpPr>
        <p:spPr>
          <a:xfrm>
            <a:off x="599225" y="4530055"/>
            <a:ext cx="4261531" cy="1812758"/>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1472"/>
              <a:buNone/>
            </a:pPr>
            <a:endParaRPr b="1" dirty="0">
              <a:solidFill>
                <a:schemeClr val="lt1"/>
              </a:solidFill>
            </a:endParaRPr>
          </a:p>
          <a:p>
            <a:pPr marL="0" lvl="0" indent="0" algn="l" rtl="0">
              <a:lnSpc>
                <a:spcPct val="100000"/>
              </a:lnSpc>
              <a:spcBef>
                <a:spcPts val="920"/>
              </a:spcBef>
              <a:spcAft>
                <a:spcPts val="0"/>
              </a:spcAft>
              <a:buSzPts val="1472"/>
              <a:buNone/>
            </a:pPr>
            <a:r>
              <a:rPr lang="es-ES" b="1" dirty="0">
                <a:solidFill>
                  <a:schemeClr val="lt1"/>
                </a:solidFill>
              </a:rPr>
              <a:t>INTEGRANTES:</a:t>
            </a:r>
            <a:r>
              <a:rPr lang="es-ES" dirty="0">
                <a:solidFill>
                  <a:schemeClr val="lt1"/>
                </a:solidFill>
              </a:rPr>
              <a:t> 	</a:t>
            </a:r>
          </a:p>
          <a:p>
            <a:pPr marL="0" lvl="0" indent="0" algn="l" rtl="0">
              <a:lnSpc>
                <a:spcPct val="100000"/>
              </a:lnSpc>
              <a:spcBef>
                <a:spcPts val="920"/>
              </a:spcBef>
              <a:spcAft>
                <a:spcPts val="0"/>
              </a:spcAft>
              <a:buSzPts val="1472"/>
              <a:buNone/>
            </a:pPr>
            <a:r>
              <a:rPr lang="es-ES" dirty="0">
                <a:solidFill>
                  <a:schemeClr val="lt1"/>
                </a:solidFill>
              </a:rPr>
              <a:t>	López Gabriel</a:t>
            </a:r>
          </a:p>
          <a:p>
            <a:pPr marL="0" lvl="0" indent="0" algn="l" rtl="0">
              <a:lnSpc>
                <a:spcPct val="100000"/>
              </a:lnSpc>
              <a:spcBef>
                <a:spcPts val="920"/>
              </a:spcBef>
              <a:spcAft>
                <a:spcPts val="0"/>
              </a:spcAft>
              <a:buSzPts val="1472"/>
              <a:buNone/>
            </a:pPr>
            <a:r>
              <a:rPr lang="es-ES" dirty="0">
                <a:solidFill>
                  <a:schemeClr val="lt1"/>
                </a:solidFill>
              </a:rPr>
              <a:t>	Medranda Mateo</a:t>
            </a:r>
          </a:p>
          <a:p>
            <a:pPr marL="0" lvl="0" indent="0" algn="l" rtl="0">
              <a:lnSpc>
                <a:spcPct val="100000"/>
              </a:lnSpc>
              <a:spcBef>
                <a:spcPts val="920"/>
              </a:spcBef>
              <a:spcAft>
                <a:spcPts val="0"/>
              </a:spcAft>
              <a:buSzPts val="1472"/>
              <a:buNone/>
            </a:pPr>
            <a:r>
              <a:rPr lang="es-MX" dirty="0">
                <a:solidFill>
                  <a:schemeClr val="lt1"/>
                </a:solidFill>
              </a:rPr>
              <a:t>	Pareja Marcelo</a:t>
            </a:r>
            <a:endParaRPr dirty="0">
              <a:solidFill>
                <a:schemeClr val="lt1"/>
              </a:solidFill>
            </a:endParaRPr>
          </a:p>
        </p:txBody>
      </p:sp>
      <p:pic>
        <p:nvPicPr>
          <p:cNvPr id="98" name="Google Shape;98;p13" descr="Resultado de imagen para espe"/>
          <p:cNvPicPr preferRelativeResize="0"/>
          <p:nvPr/>
        </p:nvPicPr>
        <p:blipFill rotWithShape="1">
          <a:blip r:embed="rId3">
            <a:alphaModFix/>
          </a:blip>
          <a:srcRect/>
          <a:stretch/>
        </p:blipFill>
        <p:spPr>
          <a:xfrm>
            <a:off x="319597" y="716302"/>
            <a:ext cx="11647502" cy="2193925"/>
          </a:xfrm>
          <a:prstGeom prst="rect">
            <a:avLst/>
          </a:prstGeom>
          <a:noFill/>
          <a:ln>
            <a:noFill/>
          </a:ln>
        </p:spPr>
      </p:pic>
      <p:sp>
        <p:nvSpPr>
          <p:cNvPr id="99" name="Google Shape;99;p13"/>
          <p:cNvSpPr txBox="1"/>
          <p:nvPr/>
        </p:nvSpPr>
        <p:spPr>
          <a:xfrm>
            <a:off x="9037063" y="5301801"/>
            <a:ext cx="4261531" cy="1235358"/>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rgbClr val="4590B8"/>
              </a:buClr>
              <a:buSzPts val="1472"/>
              <a:buFont typeface="Noto Sans Symbols"/>
              <a:buNone/>
            </a:pPr>
            <a:r>
              <a:rPr lang="es-ES" sz="1600" b="1" i="0" u="none" strike="noStrike" cap="none" dirty="0">
                <a:solidFill>
                  <a:srgbClr val="FFFFFF"/>
                </a:solidFill>
                <a:latin typeface="Gill Sans"/>
                <a:ea typeface="Gill Sans"/>
                <a:cs typeface="Gill Sans"/>
                <a:sym typeface="Gill Sans"/>
              </a:rPr>
              <a:t>FECHA:  21</a:t>
            </a:r>
            <a:r>
              <a:rPr lang="es-ES" sz="1600" b="1" dirty="0">
                <a:solidFill>
                  <a:srgbClr val="FFFFFF"/>
                </a:solidFill>
                <a:latin typeface="Gill Sans"/>
                <a:ea typeface="Gill Sans"/>
                <a:cs typeface="Gill Sans"/>
                <a:sym typeface="Gill Sans"/>
              </a:rPr>
              <a:t>/10/2026</a:t>
            </a:r>
            <a:endParaRPr sz="1600" b="0" i="0" u="none" strike="noStrike" cap="none" dirty="0">
              <a:solidFill>
                <a:srgbClr val="FFFFFF"/>
              </a:solidFill>
              <a:latin typeface="Gill Sans"/>
              <a:ea typeface="Gill Sans"/>
              <a:cs typeface="Gill Sans"/>
              <a:sym typeface="Gill Sans"/>
            </a:endParaRPr>
          </a:p>
          <a:p>
            <a:pPr marL="0" marR="0" lvl="0" indent="0" algn="l" rtl="0">
              <a:lnSpc>
                <a:spcPct val="100000"/>
              </a:lnSpc>
              <a:spcBef>
                <a:spcPts val="920"/>
              </a:spcBef>
              <a:spcAft>
                <a:spcPts val="0"/>
              </a:spcAft>
              <a:buClr>
                <a:srgbClr val="4590B8"/>
              </a:buClr>
              <a:buSzPts val="1472"/>
              <a:buFont typeface="Noto Sans Symbols"/>
              <a:buNone/>
            </a:pPr>
            <a:r>
              <a:rPr lang="es-ES" sz="1600" b="1" i="0" u="none" strike="noStrike" cap="none" dirty="0">
                <a:solidFill>
                  <a:srgbClr val="FFFFFF"/>
                </a:solidFill>
                <a:latin typeface="Gill Sans"/>
                <a:ea typeface="Gill Sans"/>
                <a:cs typeface="Gill Sans"/>
                <a:sym typeface="Gill Sans"/>
              </a:rPr>
              <a:t>ING: </a:t>
            </a:r>
            <a:r>
              <a:rPr lang="es-ES" sz="1600" b="0" i="0" u="none" strike="noStrike" cap="none" dirty="0">
                <a:solidFill>
                  <a:srgbClr val="FFFFFF"/>
                </a:solidFill>
                <a:latin typeface="Gill Sans"/>
                <a:ea typeface="Gill Sans"/>
                <a:cs typeface="Gill Sans"/>
                <a:sym typeface="Gill Sans"/>
              </a:rPr>
              <a:t>CAMPAÑA MAURICIO</a:t>
            </a:r>
            <a:endParaRPr sz="1600" b="1" i="0" u="none" strike="noStrike" cap="none" dirty="0">
              <a:solidFill>
                <a:srgbClr val="FFFFFF"/>
              </a:solidFill>
              <a:latin typeface="Gill Sans"/>
              <a:ea typeface="Gill Sans"/>
              <a:cs typeface="Gill Sans"/>
              <a:sym typeface="Gill Sans"/>
            </a:endParaRPr>
          </a:p>
        </p:txBody>
      </p:sp>
      <p:sp>
        <p:nvSpPr>
          <p:cNvPr id="100" name="Google Shape;100;p13"/>
          <p:cNvSpPr txBox="1"/>
          <p:nvPr/>
        </p:nvSpPr>
        <p:spPr>
          <a:xfrm>
            <a:off x="11817675" y="6474048"/>
            <a:ext cx="374325"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Gill Sans"/>
              <a:buNone/>
            </a:pPr>
            <a:r>
              <a:rPr lang="es-ES" sz="2000" b="0" i="0" u="none" strike="noStrike" cap="none">
                <a:solidFill>
                  <a:srgbClr val="000000"/>
                </a:solidFill>
                <a:latin typeface="Gill Sans"/>
                <a:ea typeface="Gill Sans"/>
                <a:cs typeface="Gill Sans"/>
                <a:sym typeface="Gill Sans"/>
              </a:rPr>
              <a:t>1</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4"/>
        <p:cNvGrpSpPr/>
        <p:nvPr/>
      </p:nvGrpSpPr>
      <p:grpSpPr>
        <a:xfrm>
          <a:off x="0" y="0"/>
          <a:ext cx="0" cy="0"/>
          <a:chOff x="0" y="0"/>
          <a:chExt cx="0" cy="0"/>
        </a:xfrm>
      </p:grpSpPr>
      <p:sp>
        <p:nvSpPr>
          <p:cNvPr id="105" name="Google Shape;105;p14"/>
          <p:cNvSpPr/>
          <p:nvPr/>
        </p:nvSpPr>
        <p:spPr>
          <a:xfrm>
            <a:off x="0" y="614406"/>
            <a:ext cx="12192000" cy="6243593"/>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Gill Sans"/>
              <a:buNone/>
            </a:pPr>
            <a:endParaRPr sz="1800" b="0" i="0" u="none" strike="noStrike" cap="none">
              <a:solidFill>
                <a:srgbClr val="FFFFFF"/>
              </a:solidFill>
              <a:latin typeface="Gill Sans"/>
              <a:ea typeface="Gill Sans"/>
              <a:cs typeface="Gill Sans"/>
              <a:sym typeface="Gill Sans"/>
            </a:endParaRPr>
          </a:p>
        </p:txBody>
      </p:sp>
      <p:sp>
        <p:nvSpPr>
          <p:cNvPr id="106" name="Google Shape;106;p14"/>
          <p:cNvSpPr/>
          <p:nvPr/>
        </p:nvSpPr>
        <p:spPr>
          <a:xfrm>
            <a:off x="442377" y="614407"/>
            <a:ext cx="3707477" cy="5611772"/>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Gill Sans"/>
              <a:ea typeface="Gill Sans"/>
              <a:cs typeface="Gill Sans"/>
              <a:sym typeface="Gill Sans"/>
            </a:endParaRPr>
          </a:p>
        </p:txBody>
      </p:sp>
      <p:sp>
        <p:nvSpPr>
          <p:cNvPr id="107" name="Google Shape;107;p14"/>
          <p:cNvSpPr txBox="1">
            <a:spLocks noGrp="1"/>
          </p:cNvSpPr>
          <p:nvPr>
            <p:ph type="body" idx="1"/>
          </p:nvPr>
        </p:nvSpPr>
        <p:spPr>
          <a:xfrm>
            <a:off x="596348" y="701336"/>
            <a:ext cx="3389726" cy="5424255"/>
          </a:xfrm>
          <a:prstGeom prst="rect">
            <a:avLst/>
          </a:prstGeom>
          <a:noFill/>
          <a:ln>
            <a:noFill/>
          </a:ln>
        </p:spPr>
        <p:txBody>
          <a:bodyPr spcFirstLastPara="1" wrap="square" lIns="91425" tIns="45700" rIns="91425" bIns="45700" anchor="ctr" anchorCtr="0">
            <a:normAutofit lnSpcReduction="10000"/>
          </a:bodyPr>
          <a:lstStyle/>
          <a:p>
            <a:pPr marL="306000" lvl="0" indent="-306000" algn="l" rtl="0">
              <a:lnSpc>
                <a:spcPct val="100000"/>
              </a:lnSpc>
              <a:spcBef>
                <a:spcPts val="0"/>
              </a:spcBef>
              <a:spcAft>
                <a:spcPts val="0"/>
              </a:spcAft>
              <a:buSzPts val="1656"/>
              <a:buChar char="◼"/>
            </a:pPr>
            <a:r>
              <a:rPr lang="es-ES" dirty="0">
                <a:solidFill>
                  <a:schemeClr val="lt1"/>
                </a:solidFill>
              </a:rPr>
              <a:t>DESARROLLO</a:t>
            </a:r>
            <a:endParaRPr dirty="0"/>
          </a:p>
          <a:p>
            <a:pPr marL="630000" lvl="1" indent="-320020" algn="l" rtl="0">
              <a:lnSpc>
                <a:spcPct val="100000"/>
              </a:lnSpc>
              <a:spcBef>
                <a:spcPts val="872"/>
              </a:spcBef>
              <a:spcAft>
                <a:spcPts val="0"/>
              </a:spcAft>
              <a:buSzPts val="1472"/>
              <a:buChar char="◼"/>
            </a:pPr>
            <a:r>
              <a:rPr lang="es-ES" dirty="0">
                <a:solidFill>
                  <a:schemeClr val="lt1"/>
                </a:solidFill>
              </a:rPr>
              <a:t>OBJETIVO</a:t>
            </a:r>
            <a:endParaRPr dirty="0"/>
          </a:p>
          <a:p>
            <a:pPr marL="630000" lvl="1" indent="-320020" algn="l" rtl="0">
              <a:lnSpc>
                <a:spcPct val="100000"/>
              </a:lnSpc>
              <a:spcBef>
                <a:spcPts val="872"/>
              </a:spcBef>
              <a:spcAft>
                <a:spcPts val="0"/>
              </a:spcAft>
              <a:buSzPts val="1472"/>
              <a:buChar char="◼"/>
            </a:pPr>
            <a:r>
              <a:rPr lang="es-ES" dirty="0">
                <a:solidFill>
                  <a:schemeClr val="lt1"/>
                </a:solidFill>
              </a:rPr>
              <a:t>CREACIÓN DEL SERVIDOR RESTFUL EN JAVA</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CONSOLA</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ESCRITORIO</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WEB</a:t>
            </a:r>
            <a:endParaRPr dirty="0"/>
          </a:p>
          <a:p>
            <a:pPr marL="630000" lvl="1" indent="-320020" algn="l" rtl="0">
              <a:lnSpc>
                <a:spcPct val="100000"/>
              </a:lnSpc>
              <a:spcBef>
                <a:spcPts val="872"/>
              </a:spcBef>
              <a:spcAft>
                <a:spcPts val="0"/>
              </a:spcAft>
              <a:buSzPts val="1472"/>
              <a:buChar char="◼"/>
            </a:pPr>
            <a:r>
              <a:rPr lang="es-ES" sz="1800" dirty="0">
                <a:solidFill>
                  <a:schemeClr val="lt1"/>
                </a:solidFill>
              </a:rPr>
              <a:t>CREACIÓN DEL PROYECTO – CLIENTE MÓVIL</a:t>
            </a:r>
            <a:endParaRPr dirty="0"/>
          </a:p>
          <a:p>
            <a:pPr marL="306000" marR="0" lvl="0" indent="-306000" algn="l" rtl="0">
              <a:lnSpc>
                <a:spcPct val="100000"/>
              </a:lnSpc>
              <a:spcBef>
                <a:spcPts val="906"/>
              </a:spcBef>
              <a:spcAft>
                <a:spcPts val="0"/>
              </a:spcAft>
              <a:buSzPts val="1656"/>
              <a:buChar char="◼"/>
            </a:pPr>
            <a:r>
              <a:rPr lang="es-ES" dirty="0">
                <a:solidFill>
                  <a:schemeClr val="lt1"/>
                </a:solidFill>
              </a:rPr>
              <a:t>CONCLUSIONES</a:t>
            </a:r>
            <a:endParaRPr dirty="0"/>
          </a:p>
          <a:p>
            <a:pPr marL="306000" marR="0" lvl="0" indent="-306000" algn="l" rtl="0">
              <a:lnSpc>
                <a:spcPct val="100000"/>
              </a:lnSpc>
              <a:spcBef>
                <a:spcPts val="906"/>
              </a:spcBef>
              <a:spcAft>
                <a:spcPts val="0"/>
              </a:spcAft>
              <a:buSzPts val="1656"/>
              <a:buChar char="◼"/>
            </a:pPr>
            <a:r>
              <a:rPr lang="es-ES" dirty="0">
                <a:solidFill>
                  <a:schemeClr val="lt1"/>
                </a:solidFill>
              </a:rPr>
              <a:t>RECOMENDACIONES</a:t>
            </a:r>
            <a:endParaRPr dirty="0"/>
          </a:p>
        </p:txBody>
      </p:sp>
      <p:pic>
        <p:nvPicPr>
          <p:cNvPr id="108" name="Google Shape;108;p14" descr="Resultado de imagen para AGENDA PNG"/>
          <p:cNvPicPr preferRelativeResize="0"/>
          <p:nvPr/>
        </p:nvPicPr>
        <p:blipFill rotWithShape="1">
          <a:blip r:embed="rId3">
            <a:alphaModFix/>
          </a:blip>
          <a:srcRect/>
          <a:stretch/>
        </p:blipFill>
        <p:spPr>
          <a:xfrm>
            <a:off x="4791522" y="1935576"/>
            <a:ext cx="6489819" cy="3007477"/>
          </a:xfrm>
          <a:prstGeom prst="rect">
            <a:avLst/>
          </a:prstGeom>
          <a:noFill/>
          <a:ln>
            <a:noFill/>
          </a:ln>
        </p:spPr>
      </p:pic>
      <p:sp>
        <p:nvSpPr>
          <p:cNvPr id="109" name="Google Shape;109;p14"/>
          <p:cNvSpPr txBox="1"/>
          <p:nvPr/>
        </p:nvSpPr>
        <p:spPr>
          <a:xfrm>
            <a:off x="11817675" y="6474048"/>
            <a:ext cx="374325"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Gill Sans"/>
              <a:buNone/>
            </a:pPr>
            <a:r>
              <a:rPr lang="es-ES" sz="2000" b="0" i="0" u="none" strike="noStrike" cap="none">
                <a:solidFill>
                  <a:srgbClr val="000000"/>
                </a:solidFill>
                <a:latin typeface="Gill Sans"/>
                <a:ea typeface="Gill Sans"/>
                <a:cs typeface="Gill Sans"/>
                <a:sym typeface="Gill Sans"/>
              </a:rPr>
              <a:t>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5"/>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15" name="Google Shape;115;p15"/>
          <p:cNvSpPr txBox="1">
            <a:spLocks noGrp="1"/>
          </p:cNvSpPr>
          <p:nvPr>
            <p:ph type="body" idx="1"/>
          </p:nvPr>
        </p:nvSpPr>
        <p:spPr>
          <a:xfrm>
            <a:off x="581192" y="2180496"/>
            <a:ext cx="8589300" cy="36783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656"/>
              <a:buChar char="∙"/>
            </a:pPr>
            <a:r>
              <a:rPr lang="es-ES" b="1" dirty="0">
                <a:latin typeface="Cambria"/>
                <a:ea typeface="Cambria"/>
                <a:cs typeface="Cambria"/>
                <a:sym typeface="Cambria"/>
              </a:rPr>
              <a:t>1</a:t>
            </a:r>
            <a:r>
              <a:rPr lang="es-ES" sz="1800" b="1" dirty="0">
                <a:latin typeface="Cambria"/>
                <a:ea typeface="Cambria"/>
                <a:cs typeface="Cambria"/>
                <a:sym typeface="Cambria"/>
              </a:rPr>
              <a:t>.1	OBJETIVO</a:t>
            </a:r>
            <a:endParaRPr b="1" dirty="0"/>
          </a:p>
          <a:p>
            <a:pPr marL="342900" marR="0" lvl="0" indent="-237744"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a:p>
            <a:pPr marL="457200" lvl="0" indent="-333756" algn="just" rtl="0">
              <a:lnSpc>
                <a:spcPct val="107000"/>
              </a:lnSpc>
              <a:spcBef>
                <a:spcPts val="0"/>
              </a:spcBef>
              <a:spcAft>
                <a:spcPts val="0"/>
              </a:spcAft>
              <a:buSzPts val="1656"/>
              <a:buChar char="∙"/>
            </a:pPr>
            <a:r>
              <a:rPr lang="es-ES" dirty="0">
                <a:latin typeface="Cambria"/>
                <a:ea typeface="Cambria"/>
                <a:cs typeface="Cambria"/>
                <a:sym typeface="Cambria"/>
              </a:rPr>
              <a:t>Desarrollar e implementar un Web </a:t>
            </a:r>
            <a:r>
              <a:rPr lang="es-ES" dirty="0" err="1">
                <a:latin typeface="Cambria"/>
                <a:ea typeface="Cambria"/>
                <a:cs typeface="Cambria"/>
                <a:sym typeface="Cambria"/>
              </a:rPr>
              <a:t>Service</a:t>
            </a:r>
            <a:r>
              <a:rPr lang="es-ES" dirty="0">
                <a:latin typeface="Cambria"/>
                <a:ea typeface="Cambria"/>
                <a:cs typeface="Cambria"/>
                <a:sym typeface="Cambria"/>
              </a:rPr>
              <a:t> utilizando RESTFUL mediante JAVA para realizar conversiones de unidades y 4 clientes: consola, escritorio, web y móvil</a:t>
            </a:r>
            <a:endParaRPr dirty="0">
              <a:latin typeface="Cambria"/>
              <a:ea typeface="Cambria"/>
              <a:cs typeface="Cambria"/>
              <a:sym typeface="Cambria"/>
            </a:endParaRPr>
          </a:p>
        </p:txBody>
      </p:sp>
      <p:sp>
        <p:nvSpPr>
          <p:cNvPr id="116" name="Google Shape;116;p15"/>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OBJETIVO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SERVIDOR RESTFUL</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200" b="1" i="0" u="none" strike="noStrike" cap="none" dirty="0">
              <a:solidFill>
                <a:schemeClr val="lt1"/>
              </a:solidFill>
              <a:latin typeface="Gill Sans"/>
              <a:ea typeface="Gill Sans"/>
              <a:cs typeface="Gill Sans"/>
              <a:sym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MÓVIL</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22" name="Google Shape;122;p16"/>
          <p:cNvSpPr txBox="1">
            <a:spLocks noGrp="1"/>
          </p:cNvSpPr>
          <p:nvPr>
            <p:ph type="body" idx="1"/>
          </p:nvPr>
        </p:nvSpPr>
        <p:spPr>
          <a:xfrm>
            <a:off x="581192" y="2037887"/>
            <a:ext cx="8589300" cy="16335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785"/>
              <a:buChar char="∙"/>
            </a:pPr>
            <a:r>
              <a:rPr lang="es-ES" b="1" dirty="0">
                <a:latin typeface="Cambria"/>
                <a:ea typeface="Cambria"/>
                <a:cs typeface="Cambria"/>
                <a:sym typeface="Cambria"/>
              </a:rPr>
              <a:t>1.2.1 	Servidor Payara</a:t>
            </a:r>
            <a:endParaRPr b="1" dirty="0">
              <a:latin typeface="Cambria"/>
              <a:ea typeface="Cambria"/>
              <a:cs typeface="Cambria"/>
              <a:sym typeface="Cambria"/>
            </a:endParaRPr>
          </a:p>
          <a:p>
            <a:pPr marL="0" marR="0" lvl="0" indent="0" algn="just" rtl="0">
              <a:lnSpc>
                <a:spcPct val="107000"/>
              </a:lnSpc>
              <a:spcBef>
                <a:spcPts val="0"/>
              </a:spcBef>
              <a:spcAft>
                <a:spcPts val="0"/>
              </a:spcAft>
              <a:buSzPts val="1948"/>
              <a:buNone/>
            </a:pPr>
            <a:endParaRPr dirty="0">
              <a:latin typeface="Cambria"/>
              <a:ea typeface="Cambria"/>
              <a:cs typeface="Cambria"/>
              <a:sym typeface="Cambria"/>
            </a:endParaRPr>
          </a:p>
          <a:p>
            <a:pPr marL="342900" marR="0" lvl="0" indent="-342900" algn="just" rtl="0">
              <a:lnSpc>
                <a:spcPct val="107000"/>
              </a:lnSpc>
              <a:spcBef>
                <a:spcPts val="0"/>
              </a:spcBef>
              <a:spcAft>
                <a:spcPts val="0"/>
              </a:spcAft>
              <a:buSzPts val="1656"/>
              <a:buFont typeface="Noto Sans Symbols"/>
              <a:buChar char="∙"/>
            </a:pPr>
            <a:r>
              <a:rPr lang="es-ES" dirty="0">
                <a:latin typeface="Cambria"/>
                <a:ea typeface="Cambria"/>
                <a:cs typeface="Cambria"/>
                <a:sym typeface="Cambria"/>
              </a:rPr>
              <a:t>En primer lugar, en NetBeans 31, en la sección de Servicios se crea un servidor, específicamente Payara.</a:t>
            </a:r>
            <a:endParaRPr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p:txBody>
      </p:sp>
      <p:sp>
        <p:nvSpPr>
          <p:cNvPr id="123" name="Google Shape;123;p16"/>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3" name="Picture 2">
            <a:extLst>
              <a:ext uri="{FF2B5EF4-FFF2-40B4-BE49-F238E27FC236}">
                <a16:creationId xmlns:a16="http://schemas.microsoft.com/office/drawing/2014/main" id="{99B9A032-6EC0-388B-DD21-3A8CA9C69F34}"/>
              </a:ext>
            </a:extLst>
          </p:cNvPr>
          <p:cNvPicPr>
            <a:picLocks noChangeAspect="1"/>
          </p:cNvPicPr>
          <p:nvPr/>
        </p:nvPicPr>
        <p:blipFill>
          <a:blip r:embed="rId3"/>
          <a:stretch>
            <a:fillRect/>
          </a:stretch>
        </p:blipFill>
        <p:spPr>
          <a:xfrm>
            <a:off x="2581373" y="3429000"/>
            <a:ext cx="4890346" cy="32950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7"/>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30" name="Google Shape;130;p17"/>
          <p:cNvSpPr txBox="1">
            <a:spLocks noGrp="1"/>
          </p:cNvSpPr>
          <p:nvPr>
            <p:ph type="body" idx="1"/>
          </p:nvPr>
        </p:nvSpPr>
        <p:spPr>
          <a:xfrm>
            <a:off x="581200" y="1781575"/>
            <a:ext cx="8589300" cy="16335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656"/>
              <a:buFont typeface="Noto Sans Symbols"/>
              <a:buChar char="∙"/>
            </a:pPr>
            <a:r>
              <a:rPr lang="es-ES" dirty="0">
                <a:latin typeface="Cambria"/>
                <a:ea typeface="Cambria"/>
                <a:cs typeface="Cambria"/>
                <a:sym typeface="Cambria"/>
              </a:rPr>
              <a:t>Se selecciona la versión 7.2026.9, se aceptan los términos de condiciones y se selecciona un directorio donde instalar el servidor.</a:t>
            </a:r>
            <a:endParaRPr dirty="0">
              <a:latin typeface="Cambria"/>
              <a:ea typeface="Cambria"/>
              <a:cs typeface="Cambria"/>
              <a:sym typeface="Cambria"/>
            </a:endParaRPr>
          </a:p>
        </p:txBody>
      </p:sp>
      <p:sp>
        <p:nvSpPr>
          <p:cNvPr id="131" name="Google Shape;131;p17"/>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3" name="Picture 2">
            <a:extLst>
              <a:ext uri="{FF2B5EF4-FFF2-40B4-BE49-F238E27FC236}">
                <a16:creationId xmlns:a16="http://schemas.microsoft.com/office/drawing/2014/main" id="{2E2DD057-D086-593E-BBB4-4D719D68A423}"/>
              </a:ext>
            </a:extLst>
          </p:cNvPr>
          <p:cNvPicPr>
            <a:picLocks noChangeAspect="1"/>
          </p:cNvPicPr>
          <p:nvPr/>
        </p:nvPicPr>
        <p:blipFill>
          <a:blip r:embed="rId3"/>
          <a:stretch>
            <a:fillRect/>
          </a:stretch>
        </p:blipFill>
        <p:spPr>
          <a:xfrm>
            <a:off x="2269773" y="3173475"/>
            <a:ext cx="5050902" cy="343358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18"/>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38" name="Google Shape;138;p18"/>
          <p:cNvSpPr txBox="1">
            <a:spLocks noGrp="1"/>
          </p:cNvSpPr>
          <p:nvPr>
            <p:ph type="body" idx="1"/>
          </p:nvPr>
        </p:nvSpPr>
        <p:spPr>
          <a:xfrm>
            <a:off x="581192" y="1793712"/>
            <a:ext cx="8589300" cy="1248600"/>
          </a:xfrm>
          <a:prstGeom prst="rect">
            <a:avLst/>
          </a:prstGeom>
          <a:noFill/>
          <a:ln>
            <a:noFill/>
          </a:ln>
        </p:spPr>
        <p:txBody>
          <a:bodyPr spcFirstLastPara="1" wrap="square" lIns="91425" tIns="45700" rIns="91425" bIns="45700" anchor="ctr" anchorCtr="0">
            <a:normAutofit/>
          </a:bodyPr>
          <a:lstStyle/>
          <a:p>
            <a:pPr marL="457200" lvl="0" indent="-333756" algn="just" rtl="0">
              <a:lnSpc>
                <a:spcPct val="107000"/>
              </a:lnSpc>
              <a:spcBef>
                <a:spcPts val="0"/>
              </a:spcBef>
              <a:spcAft>
                <a:spcPts val="0"/>
              </a:spcAft>
              <a:buSzPts val="1656"/>
              <a:buChar char="∙"/>
            </a:pPr>
            <a:r>
              <a:rPr lang="es-ES" dirty="0">
                <a:latin typeface="Cambria"/>
                <a:ea typeface="Cambria"/>
                <a:cs typeface="Cambria"/>
                <a:sym typeface="Cambria"/>
              </a:rPr>
              <a:t>Una vez configurado correctamente, se podrá observar en la sección </a:t>
            </a:r>
            <a:r>
              <a:rPr lang="es-ES" dirty="0" err="1">
                <a:latin typeface="Cambria"/>
                <a:ea typeface="Cambria"/>
                <a:cs typeface="Cambria"/>
                <a:sym typeface="Cambria"/>
              </a:rPr>
              <a:t>tools</a:t>
            </a:r>
            <a:r>
              <a:rPr lang="es-ES" dirty="0">
                <a:latin typeface="Cambria"/>
                <a:ea typeface="Cambria"/>
                <a:cs typeface="Cambria"/>
                <a:sym typeface="Cambria"/>
              </a:rPr>
              <a:t>/servers, si se decidió utilizar payara en un contenedor de Docker se puede colocar como remoto para usar payara</a:t>
            </a:r>
            <a:endParaRPr dirty="0">
              <a:latin typeface="Cambria"/>
              <a:ea typeface="Cambria"/>
              <a:cs typeface="Cambria"/>
              <a:sym typeface="Cambria"/>
            </a:endParaRPr>
          </a:p>
        </p:txBody>
      </p:sp>
      <p:sp>
        <p:nvSpPr>
          <p:cNvPr id="139" name="Google Shape;139;p18"/>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3" name="Picture 2">
            <a:extLst>
              <a:ext uri="{FF2B5EF4-FFF2-40B4-BE49-F238E27FC236}">
                <a16:creationId xmlns:a16="http://schemas.microsoft.com/office/drawing/2014/main" id="{67D28D41-CA09-2DFC-1F94-619845A0A94F}"/>
              </a:ext>
            </a:extLst>
          </p:cNvPr>
          <p:cNvPicPr>
            <a:picLocks noChangeAspect="1"/>
          </p:cNvPicPr>
          <p:nvPr/>
        </p:nvPicPr>
        <p:blipFill>
          <a:blip r:embed="rId3"/>
          <a:stretch>
            <a:fillRect/>
          </a:stretch>
        </p:blipFill>
        <p:spPr>
          <a:xfrm>
            <a:off x="2067876" y="3036815"/>
            <a:ext cx="5373948" cy="36992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9"/>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46" name="Google Shape;146;p19"/>
          <p:cNvSpPr txBox="1">
            <a:spLocks noGrp="1"/>
          </p:cNvSpPr>
          <p:nvPr>
            <p:ph type="body" idx="1"/>
          </p:nvPr>
        </p:nvSpPr>
        <p:spPr>
          <a:xfrm>
            <a:off x="581192" y="1941603"/>
            <a:ext cx="8589300" cy="16335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785"/>
              <a:buChar char="∙"/>
            </a:pPr>
            <a:r>
              <a:rPr lang="es-ES" b="1" dirty="0">
                <a:latin typeface="Cambria"/>
                <a:ea typeface="Cambria"/>
                <a:cs typeface="Cambria"/>
                <a:sym typeface="Cambria"/>
              </a:rPr>
              <a:t>1.2.2 	Creación del Proyecto</a:t>
            </a:r>
            <a:endParaRPr b="1" dirty="0">
              <a:latin typeface="Cambria"/>
              <a:ea typeface="Cambria"/>
              <a:cs typeface="Cambria"/>
              <a:sym typeface="Cambria"/>
            </a:endParaRPr>
          </a:p>
          <a:p>
            <a:pPr marL="0" marR="0" lvl="0" indent="0" algn="just" rtl="0">
              <a:lnSpc>
                <a:spcPct val="107000"/>
              </a:lnSpc>
              <a:spcBef>
                <a:spcPts val="0"/>
              </a:spcBef>
              <a:spcAft>
                <a:spcPts val="0"/>
              </a:spcAft>
              <a:buSzPts val="1948"/>
              <a:buNone/>
            </a:pPr>
            <a:endParaRPr dirty="0">
              <a:latin typeface="Cambria"/>
              <a:ea typeface="Cambria"/>
              <a:cs typeface="Cambria"/>
              <a:sym typeface="Cambria"/>
            </a:endParaRPr>
          </a:p>
          <a:p>
            <a:pPr marL="342900" marR="0" lvl="0" indent="-342900" algn="just" rtl="0">
              <a:lnSpc>
                <a:spcPct val="107000"/>
              </a:lnSpc>
              <a:spcBef>
                <a:spcPts val="0"/>
              </a:spcBef>
              <a:spcAft>
                <a:spcPts val="0"/>
              </a:spcAft>
              <a:buSzPts val="1656"/>
              <a:buFont typeface="Noto Sans Symbols"/>
              <a:buChar char="∙"/>
            </a:pPr>
            <a:r>
              <a:rPr lang="es-ES" dirty="0">
                <a:latin typeface="Cambria"/>
                <a:ea typeface="Cambria"/>
                <a:cs typeface="Cambria"/>
                <a:sym typeface="Cambria"/>
              </a:rPr>
              <a:t>Una vez creado el servidor, se crea un proyecto Java, Web </a:t>
            </a:r>
            <a:r>
              <a:rPr lang="es-ES" dirty="0" err="1">
                <a:latin typeface="Cambria"/>
                <a:ea typeface="Cambria"/>
                <a:cs typeface="Cambria"/>
                <a:sym typeface="Cambria"/>
              </a:rPr>
              <a:t>Application</a:t>
            </a:r>
            <a:r>
              <a:rPr lang="es-ES" dirty="0">
                <a:latin typeface="Cambria"/>
                <a:ea typeface="Cambria"/>
                <a:cs typeface="Cambria"/>
                <a:sym typeface="Cambria"/>
              </a:rPr>
              <a:t> </a:t>
            </a:r>
            <a:endParaRPr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p:txBody>
      </p:sp>
      <p:sp>
        <p:nvSpPr>
          <p:cNvPr id="147" name="Google Shape;147;p19"/>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3" name="Picture 2">
            <a:extLst>
              <a:ext uri="{FF2B5EF4-FFF2-40B4-BE49-F238E27FC236}">
                <a16:creationId xmlns:a16="http://schemas.microsoft.com/office/drawing/2014/main" id="{DE87177D-CBC1-1478-CF53-CDB90CCC8862}"/>
              </a:ext>
            </a:extLst>
          </p:cNvPr>
          <p:cNvPicPr>
            <a:picLocks noChangeAspect="1"/>
          </p:cNvPicPr>
          <p:nvPr/>
        </p:nvPicPr>
        <p:blipFill>
          <a:blip r:embed="rId3"/>
          <a:stretch>
            <a:fillRect/>
          </a:stretch>
        </p:blipFill>
        <p:spPr>
          <a:xfrm>
            <a:off x="2606751" y="3346621"/>
            <a:ext cx="4751387" cy="326724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0"/>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54" name="Google Shape;154;p20"/>
          <p:cNvSpPr txBox="1">
            <a:spLocks noGrp="1"/>
          </p:cNvSpPr>
          <p:nvPr>
            <p:ph type="body" idx="1"/>
          </p:nvPr>
        </p:nvSpPr>
        <p:spPr>
          <a:xfrm>
            <a:off x="463956" y="1966545"/>
            <a:ext cx="8744040" cy="1165731"/>
          </a:xfrm>
          <a:prstGeom prst="rect">
            <a:avLst/>
          </a:prstGeom>
          <a:noFill/>
          <a:ln>
            <a:noFill/>
          </a:ln>
        </p:spPr>
        <p:txBody>
          <a:bodyPr spcFirstLastPara="1" wrap="square" lIns="91425" tIns="45700" rIns="91425" bIns="45700" anchor="ctr" anchorCtr="0">
            <a:noAutofit/>
          </a:bodyPr>
          <a:lstStyle/>
          <a:p>
            <a:pPr marL="457200" lvl="0" indent="-333756" algn="just" rtl="0">
              <a:lnSpc>
                <a:spcPct val="107000"/>
              </a:lnSpc>
              <a:spcBef>
                <a:spcPts val="0"/>
              </a:spcBef>
              <a:spcAft>
                <a:spcPts val="0"/>
              </a:spcAft>
              <a:buSzPts val="1656"/>
              <a:buChar char="∙"/>
            </a:pPr>
            <a:r>
              <a:rPr lang="es-ES" dirty="0">
                <a:latin typeface="Cambria"/>
                <a:ea typeface="Cambria"/>
                <a:cs typeface="Cambria"/>
                <a:sym typeface="Cambria"/>
              </a:rPr>
              <a:t>Se aplica el nombre del proyecto como ‘WS_CON_UNI_JAVA_RESTFUL’, y se configura el grupo como ‘</a:t>
            </a:r>
            <a:r>
              <a:rPr lang="es-ES" u="sng" dirty="0" err="1">
                <a:solidFill>
                  <a:schemeClr val="hlink"/>
                </a:solidFill>
                <a:latin typeface="Cambria"/>
                <a:ea typeface="Cambria"/>
                <a:cs typeface="Cambria"/>
                <a:sym typeface="Cambria"/>
                <a:hlinkClick r:id="rId3"/>
              </a:rPr>
              <a:t>ec.edu</a:t>
            </a:r>
            <a:r>
              <a:rPr lang="es-ES" dirty="0" err="1">
                <a:latin typeface="Cambria"/>
                <a:ea typeface="Cambria"/>
                <a:cs typeface="Cambria"/>
                <a:sym typeface="Cambria"/>
              </a:rPr>
              <a:t>.monster</a:t>
            </a:r>
            <a:r>
              <a:rPr lang="es-ES" dirty="0">
                <a:latin typeface="Cambria"/>
                <a:ea typeface="Cambria"/>
                <a:cs typeface="Cambria"/>
                <a:sym typeface="Cambria"/>
              </a:rPr>
              <a:t>’</a:t>
            </a:r>
            <a:endParaRPr dirty="0">
              <a:latin typeface="Cambria"/>
              <a:ea typeface="Cambria"/>
              <a:cs typeface="Cambria"/>
              <a:sym typeface="Cambria"/>
            </a:endParaRPr>
          </a:p>
          <a:p>
            <a:pPr marL="457200" lvl="0" indent="-311150" algn="just" rtl="0">
              <a:lnSpc>
                <a:spcPct val="107000"/>
              </a:lnSpc>
              <a:spcBef>
                <a:spcPts val="0"/>
              </a:spcBef>
              <a:spcAft>
                <a:spcPts val="0"/>
              </a:spcAft>
              <a:buSzPts val="1300"/>
              <a:buFont typeface="Cambria"/>
              <a:buChar char="∙"/>
            </a:pPr>
            <a:r>
              <a:rPr lang="es-ES" dirty="0">
                <a:latin typeface="Cambria"/>
                <a:ea typeface="Cambria"/>
                <a:cs typeface="Cambria"/>
                <a:sym typeface="Cambria"/>
              </a:rPr>
              <a:t>Se selecciona nuestro Servidor Payara creado y </a:t>
            </a:r>
            <a:r>
              <a:rPr lang="es-ES" dirty="0" err="1">
                <a:latin typeface="Cambria"/>
                <a:ea typeface="Cambria"/>
                <a:cs typeface="Cambria"/>
                <a:sym typeface="Cambria"/>
              </a:rPr>
              <a:t>Jakarta</a:t>
            </a:r>
            <a:r>
              <a:rPr lang="es-ES" dirty="0">
                <a:latin typeface="Cambria"/>
                <a:ea typeface="Cambria"/>
                <a:cs typeface="Cambria"/>
                <a:sym typeface="Cambria"/>
              </a:rPr>
              <a:t> EE 11 como conjunto de desarrollo de aplicaciones Java.</a:t>
            </a:r>
            <a:endParaRPr dirty="0">
              <a:latin typeface="Cambria"/>
              <a:ea typeface="Cambria"/>
              <a:cs typeface="Cambria"/>
              <a:sym typeface="Cambria"/>
            </a:endParaRPr>
          </a:p>
        </p:txBody>
      </p:sp>
      <p:sp>
        <p:nvSpPr>
          <p:cNvPr id="155" name="Google Shape;155;p20"/>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3" name="Picture 2">
            <a:extLst>
              <a:ext uri="{FF2B5EF4-FFF2-40B4-BE49-F238E27FC236}">
                <a16:creationId xmlns:a16="http://schemas.microsoft.com/office/drawing/2014/main" id="{F96D408B-E38A-11FD-402B-0C1A9AC8FB3F}"/>
              </a:ext>
            </a:extLst>
          </p:cNvPr>
          <p:cNvPicPr>
            <a:picLocks noChangeAspect="1"/>
          </p:cNvPicPr>
          <p:nvPr/>
        </p:nvPicPr>
        <p:blipFill>
          <a:blip r:embed="rId4"/>
          <a:stretch>
            <a:fillRect/>
          </a:stretch>
        </p:blipFill>
        <p:spPr>
          <a:xfrm>
            <a:off x="463956" y="3382966"/>
            <a:ext cx="4316766" cy="2564753"/>
          </a:xfrm>
          <a:prstGeom prst="rect">
            <a:avLst/>
          </a:prstGeom>
        </p:spPr>
      </p:pic>
      <p:pic>
        <p:nvPicPr>
          <p:cNvPr id="5" name="Picture 4">
            <a:extLst>
              <a:ext uri="{FF2B5EF4-FFF2-40B4-BE49-F238E27FC236}">
                <a16:creationId xmlns:a16="http://schemas.microsoft.com/office/drawing/2014/main" id="{14FE4D6D-52C3-8FF9-9629-3421AF39A6D5}"/>
              </a:ext>
            </a:extLst>
          </p:cNvPr>
          <p:cNvPicPr>
            <a:picLocks noChangeAspect="1"/>
          </p:cNvPicPr>
          <p:nvPr/>
        </p:nvPicPr>
        <p:blipFill>
          <a:blip r:embed="rId5"/>
          <a:stretch>
            <a:fillRect/>
          </a:stretch>
        </p:blipFill>
        <p:spPr>
          <a:xfrm>
            <a:off x="5023352" y="3234649"/>
            <a:ext cx="4147140" cy="286138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1"/>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63" name="Google Shape;163;p21"/>
          <p:cNvSpPr txBox="1">
            <a:spLocks noGrp="1"/>
          </p:cNvSpPr>
          <p:nvPr>
            <p:ph type="body" idx="1"/>
          </p:nvPr>
        </p:nvSpPr>
        <p:spPr>
          <a:xfrm>
            <a:off x="317589" y="2143663"/>
            <a:ext cx="4557900" cy="38700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677"/>
              <a:buChar char="∙"/>
            </a:pPr>
            <a:r>
              <a:rPr lang="es-ES" b="1" dirty="0">
                <a:latin typeface="Cambria"/>
                <a:ea typeface="Cambria"/>
                <a:cs typeface="Cambria"/>
                <a:sym typeface="Cambria"/>
              </a:rPr>
              <a:t>ESTRUCTURA MVC</a:t>
            </a:r>
            <a:endParaRPr b="1" dirty="0">
              <a:latin typeface="Cambria"/>
              <a:ea typeface="Cambria"/>
              <a:cs typeface="Cambria"/>
              <a:sym typeface="Cambria"/>
            </a:endParaRPr>
          </a:p>
          <a:p>
            <a:pPr marL="457200" marR="0" lvl="0" indent="0" algn="just" rtl="0">
              <a:lnSpc>
                <a:spcPct val="107000"/>
              </a:lnSpc>
              <a:spcBef>
                <a:spcPts val="0"/>
              </a:spcBef>
              <a:spcAft>
                <a:spcPts val="0"/>
              </a:spcAft>
              <a:buSzPts val="1790"/>
              <a:buNone/>
            </a:pPr>
            <a:endParaRPr b="1" dirty="0">
              <a:latin typeface="Cambria"/>
              <a:ea typeface="Cambria"/>
              <a:cs typeface="Cambria"/>
              <a:sym typeface="Cambria"/>
            </a:endParaRPr>
          </a:p>
          <a:p>
            <a:pPr marL="457200" lvl="0" indent="-335090" algn="just" rtl="0">
              <a:lnSpc>
                <a:spcPct val="107000"/>
              </a:lnSpc>
              <a:spcBef>
                <a:spcPts val="0"/>
              </a:spcBef>
              <a:spcAft>
                <a:spcPts val="0"/>
              </a:spcAft>
              <a:buSzPts val="1677"/>
              <a:buFont typeface="Cambria"/>
              <a:buChar char="∙"/>
            </a:pPr>
            <a:r>
              <a:rPr lang="es-ES" dirty="0">
                <a:latin typeface="Cambria"/>
                <a:ea typeface="Cambria"/>
                <a:cs typeface="Cambria"/>
                <a:sym typeface="Cambria"/>
              </a:rPr>
              <a:t>Aplicando un patrón arquitectónico MVC junto a otras capas se configuran los paquetes principales.</a:t>
            </a:r>
            <a:endParaRPr b="1" dirty="0">
              <a:latin typeface="Cambria"/>
              <a:ea typeface="Cambria"/>
              <a:cs typeface="Cambria"/>
              <a:sym typeface="Cambria"/>
            </a:endParaRPr>
          </a:p>
          <a:p>
            <a:pPr marL="0" lvl="0" indent="0" algn="just" rtl="0">
              <a:lnSpc>
                <a:spcPct val="107000"/>
              </a:lnSpc>
              <a:spcBef>
                <a:spcPts val="0"/>
              </a:spcBef>
              <a:spcAft>
                <a:spcPts val="0"/>
              </a:spcAft>
              <a:buSzPts val="1656"/>
              <a:buNone/>
            </a:pPr>
            <a:endParaRPr sz="1677" b="1" dirty="0">
              <a:latin typeface="Cambria"/>
              <a:ea typeface="Cambria"/>
              <a:cs typeface="Cambria"/>
              <a:sym typeface="Cambria"/>
            </a:endParaRPr>
          </a:p>
          <a:p>
            <a:pPr marL="457200" marR="0" lvl="0" indent="0" algn="just" rtl="0">
              <a:lnSpc>
                <a:spcPct val="107000"/>
              </a:lnSpc>
              <a:spcBef>
                <a:spcPts val="0"/>
              </a:spcBef>
              <a:spcAft>
                <a:spcPts val="0"/>
              </a:spcAft>
              <a:buSzPts val="1790"/>
              <a:buNone/>
            </a:pPr>
            <a:endParaRPr sz="1591"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p:txBody>
      </p:sp>
      <p:sp>
        <p:nvSpPr>
          <p:cNvPr id="164" name="Google Shape;164;p21"/>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4" name="Picture 3">
            <a:extLst>
              <a:ext uri="{FF2B5EF4-FFF2-40B4-BE49-F238E27FC236}">
                <a16:creationId xmlns:a16="http://schemas.microsoft.com/office/drawing/2014/main" id="{8E7E0E18-7D5F-50A7-172B-AC80F03C72D2}"/>
              </a:ext>
            </a:extLst>
          </p:cNvPr>
          <p:cNvPicPr>
            <a:picLocks noChangeAspect="1"/>
          </p:cNvPicPr>
          <p:nvPr/>
        </p:nvPicPr>
        <p:blipFill>
          <a:blip r:embed="rId3"/>
          <a:stretch>
            <a:fillRect/>
          </a:stretch>
        </p:blipFill>
        <p:spPr>
          <a:xfrm>
            <a:off x="4850775" y="2679841"/>
            <a:ext cx="4435224" cy="306350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2"/>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a:t>
            </a:r>
            <a:endParaRPr dirty="0"/>
          </a:p>
        </p:txBody>
      </p:sp>
      <p:sp>
        <p:nvSpPr>
          <p:cNvPr id="171" name="Google Shape;171;p22"/>
          <p:cNvSpPr txBox="1">
            <a:spLocks noGrp="1"/>
          </p:cNvSpPr>
          <p:nvPr>
            <p:ph type="body" idx="1"/>
          </p:nvPr>
        </p:nvSpPr>
        <p:spPr>
          <a:xfrm>
            <a:off x="573339" y="2056933"/>
            <a:ext cx="8589300" cy="16335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785"/>
              <a:buChar char="∙"/>
            </a:pPr>
            <a:r>
              <a:rPr lang="es-ES" b="1" dirty="0">
                <a:latin typeface="Cambria"/>
                <a:ea typeface="Cambria"/>
                <a:cs typeface="Cambria"/>
                <a:sym typeface="Cambria"/>
              </a:rPr>
              <a:t>1.2.3 	Creación de la clase que expone /api</a:t>
            </a:r>
            <a:endParaRPr dirty="0">
              <a:latin typeface="Cambria"/>
              <a:ea typeface="Cambria"/>
              <a:cs typeface="Cambria"/>
              <a:sym typeface="Cambria"/>
            </a:endParaRPr>
          </a:p>
          <a:p>
            <a:pPr marL="342900" marR="0" lvl="0" indent="-342900" algn="just" rtl="0">
              <a:lnSpc>
                <a:spcPct val="107000"/>
              </a:lnSpc>
              <a:spcBef>
                <a:spcPts val="0"/>
              </a:spcBef>
              <a:spcAft>
                <a:spcPts val="0"/>
              </a:spcAft>
              <a:buSzPts val="1656"/>
              <a:buFont typeface="Noto Sans Symbols"/>
              <a:buChar char="∙"/>
            </a:pPr>
            <a:r>
              <a:rPr lang="es-ES" dirty="0">
                <a:latin typeface="Cambria"/>
                <a:ea typeface="Cambria"/>
                <a:cs typeface="Cambria"/>
                <a:sym typeface="Cambria"/>
              </a:rPr>
              <a:t>Dentro del paquete de configuración, se crea una clase de java que permitirá configurar el web </a:t>
            </a:r>
            <a:r>
              <a:rPr lang="es-ES" dirty="0" err="1">
                <a:latin typeface="Cambria"/>
                <a:ea typeface="Cambria"/>
                <a:cs typeface="Cambria"/>
                <a:sym typeface="Cambria"/>
              </a:rPr>
              <a:t>service</a:t>
            </a:r>
            <a:r>
              <a:rPr lang="es-ES" dirty="0">
                <a:latin typeface="Cambria"/>
                <a:ea typeface="Cambria"/>
                <a:cs typeface="Cambria"/>
                <a:sym typeface="Cambria"/>
              </a:rPr>
              <a:t> con su nombre </a:t>
            </a:r>
            <a:r>
              <a:rPr lang="es-ES" dirty="0" err="1">
                <a:latin typeface="Cambria"/>
                <a:ea typeface="Cambria"/>
                <a:cs typeface="Cambria"/>
                <a:sym typeface="Cambria"/>
              </a:rPr>
              <a:t>ConfiguracionJersey</a:t>
            </a:r>
            <a:r>
              <a:rPr lang="es-ES" dirty="0">
                <a:latin typeface="Cambria"/>
                <a:ea typeface="Cambria"/>
                <a:cs typeface="Cambria"/>
                <a:sym typeface="Cambria"/>
              </a:rPr>
              <a:t>.</a:t>
            </a:r>
            <a:endParaRPr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dirty="0">
              <a:latin typeface="Cambria"/>
              <a:ea typeface="Cambria"/>
              <a:cs typeface="Cambria"/>
              <a:sym typeface="Cambria"/>
            </a:endParaRPr>
          </a:p>
        </p:txBody>
      </p:sp>
      <p:sp>
        <p:nvSpPr>
          <p:cNvPr id="172" name="Google Shape;172;p22"/>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3" name="Picture 2">
            <a:extLst>
              <a:ext uri="{FF2B5EF4-FFF2-40B4-BE49-F238E27FC236}">
                <a16:creationId xmlns:a16="http://schemas.microsoft.com/office/drawing/2014/main" id="{D828487E-C932-3724-C2DD-5CFD06BC21F1}"/>
              </a:ext>
            </a:extLst>
          </p:cNvPr>
          <p:cNvPicPr>
            <a:picLocks noChangeAspect="1"/>
          </p:cNvPicPr>
          <p:nvPr/>
        </p:nvPicPr>
        <p:blipFill>
          <a:blip r:embed="rId3"/>
          <a:stretch>
            <a:fillRect/>
          </a:stretch>
        </p:blipFill>
        <p:spPr>
          <a:xfrm>
            <a:off x="2631325" y="3429000"/>
            <a:ext cx="4473328" cy="28729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3"/>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a:t>
            </a:r>
            <a:endParaRPr dirty="0"/>
          </a:p>
        </p:txBody>
      </p:sp>
      <p:sp>
        <p:nvSpPr>
          <p:cNvPr id="180" name="Google Shape;180;p23"/>
          <p:cNvSpPr txBox="1">
            <a:spLocks noGrp="1"/>
          </p:cNvSpPr>
          <p:nvPr>
            <p:ph type="body" idx="1"/>
          </p:nvPr>
        </p:nvSpPr>
        <p:spPr>
          <a:xfrm>
            <a:off x="581199" y="2180500"/>
            <a:ext cx="2821028" cy="2961645"/>
          </a:xfrm>
          <a:prstGeom prst="rect">
            <a:avLst/>
          </a:prstGeom>
          <a:noFill/>
          <a:ln>
            <a:noFill/>
          </a:ln>
        </p:spPr>
        <p:txBody>
          <a:bodyPr spcFirstLastPara="1" wrap="square" lIns="91425" tIns="45700" rIns="91425" bIns="45700" anchor="ctr" anchorCtr="0">
            <a:noAutofit/>
          </a:bodyPr>
          <a:lstStyle/>
          <a:p>
            <a:pPr marL="457200" lvl="0" indent="-335090" rtl="0">
              <a:lnSpc>
                <a:spcPct val="107000"/>
              </a:lnSpc>
              <a:spcBef>
                <a:spcPts val="0"/>
              </a:spcBef>
              <a:spcAft>
                <a:spcPts val="0"/>
              </a:spcAft>
              <a:buSzPts val="1677"/>
              <a:buFont typeface="Cambria"/>
              <a:buChar char="∙"/>
            </a:pPr>
            <a:r>
              <a:rPr lang="es-ES" sz="1400" b="1" dirty="0">
                <a:latin typeface="Cambria"/>
                <a:ea typeface="Cambria"/>
                <a:cs typeface="Cambria"/>
                <a:sym typeface="Cambria"/>
              </a:rPr>
              <a:t>Se codifica la clase bajo los siguientes lineamientos</a:t>
            </a:r>
            <a:endParaRPr sz="1400" b="1" dirty="0">
              <a:latin typeface="Cambria"/>
              <a:ea typeface="Cambria"/>
              <a:cs typeface="Cambria"/>
              <a:sym typeface="Cambria"/>
            </a:endParaRPr>
          </a:p>
          <a:p>
            <a:pPr marL="457200" lvl="0" indent="0" rtl="0">
              <a:lnSpc>
                <a:spcPct val="107000"/>
              </a:lnSpc>
              <a:spcBef>
                <a:spcPts val="0"/>
              </a:spcBef>
              <a:spcAft>
                <a:spcPts val="0"/>
              </a:spcAft>
              <a:buNone/>
            </a:pPr>
            <a:endParaRPr sz="1400" b="1" dirty="0">
              <a:latin typeface="Cambria"/>
              <a:ea typeface="Cambria"/>
              <a:cs typeface="Cambria"/>
              <a:sym typeface="Cambria"/>
            </a:endParaRPr>
          </a:p>
          <a:p>
            <a:pPr marL="457200" lvl="0" indent="-335090" rtl="0">
              <a:lnSpc>
                <a:spcPct val="107000"/>
              </a:lnSpc>
              <a:spcBef>
                <a:spcPts val="0"/>
              </a:spcBef>
              <a:spcAft>
                <a:spcPts val="0"/>
              </a:spcAft>
              <a:buSzPts val="1677"/>
              <a:buFont typeface="Cambria"/>
              <a:buChar char="∙"/>
            </a:pPr>
            <a:r>
              <a:rPr lang="es-ES" sz="1400" dirty="0">
                <a:latin typeface="Cambria"/>
                <a:ea typeface="Cambria"/>
                <a:cs typeface="Cambria"/>
                <a:sym typeface="Cambria"/>
              </a:rPr>
              <a:t>1.	Se dejan preparadas las siguientes importaciones que se encargarán de gestionar toda la lógica.</a:t>
            </a:r>
            <a:endParaRPr sz="1400" dirty="0">
              <a:latin typeface="Cambria"/>
              <a:ea typeface="Cambria"/>
              <a:cs typeface="Cambria"/>
              <a:sym typeface="Cambria"/>
            </a:endParaRPr>
          </a:p>
        </p:txBody>
      </p:sp>
      <p:sp>
        <p:nvSpPr>
          <p:cNvPr id="181" name="Google Shape;181;p23"/>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182" name="Google Shape;182;p23"/>
          <p:cNvGraphicFramePr/>
          <p:nvPr>
            <p:extLst>
              <p:ext uri="{D42A27DB-BD31-4B8C-83A1-F6EECF244321}">
                <p14:modId xmlns:p14="http://schemas.microsoft.com/office/powerpoint/2010/main" val="3177660500"/>
              </p:ext>
            </p:extLst>
          </p:nvPr>
        </p:nvGraphicFramePr>
        <p:xfrm>
          <a:off x="3549376" y="3111376"/>
          <a:ext cx="5400050" cy="1635760"/>
        </p:xfrm>
        <a:graphic>
          <a:graphicData uri="http://schemas.openxmlformats.org/drawingml/2006/table">
            <a:tbl>
              <a:tblPr>
                <a:noFill/>
                <a:tableStyleId>{BF136021-7255-42B7-A7E7-87A8D8FFE9CA}</a:tableStyleId>
              </a:tblPr>
              <a:tblGrid>
                <a:gridCol w="5400050">
                  <a:extLst>
                    <a:ext uri="{9D8B030D-6E8A-4147-A177-3AD203B41FA5}">
                      <a16:colId xmlns:a16="http://schemas.microsoft.com/office/drawing/2014/main" val="20000"/>
                    </a:ext>
                  </a:extLst>
                </a:gridCol>
              </a:tblGrid>
              <a:tr h="0">
                <a:tc>
                  <a:txBody>
                    <a:bodyPr/>
                    <a:lstStyle/>
                    <a:p>
                      <a:pPr marL="0" lvl="0" indent="0" algn="l" rtl="0">
                        <a:spcBef>
                          <a:spcPts val="0"/>
                        </a:spcBef>
                        <a:spcAft>
                          <a:spcPts val="0"/>
                        </a:spcAft>
                        <a:buNone/>
                      </a:pPr>
                      <a:r>
                        <a:rPr lang="es-ES" sz="1100" dirty="0" err="1">
                          <a:solidFill>
                            <a:srgbClr val="4F81BD"/>
                          </a:solidFill>
                          <a:latin typeface="Calibri"/>
                          <a:ea typeface="Calibri"/>
                          <a:cs typeface="Calibri"/>
                          <a:sym typeface="Calibri"/>
                        </a:rPr>
                        <a:t>package</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ec.edu.monster.config</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org.eclipse.microprofile.openapi.annotations.OpenAPIDefinition</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org.eclipse.microprofile.openapi.annotations.info.Contact</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org.eclipse.microprofile.openapi.annotations.info.Info</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jakarta.ws.rs.core.Application</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jakarta.ws.rs.ApplicationPath</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org.eclipse.microprofile.openapi.annotations.enums.SecuritySchemeType;</a:t>
                      </a:r>
                    </a:p>
                    <a:p>
                      <a:pPr marL="0" lvl="0" indent="0" algn="l" rtl="0">
                        <a:spcBef>
                          <a:spcPts val="0"/>
                        </a:spcBef>
                        <a:spcAft>
                          <a:spcPts val="0"/>
                        </a:spcAft>
                        <a:buNone/>
                      </a:pPr>
                      <a:r>
                        <a:rPr lang="es-ES" sz="1100" dirty="0" err="1">
                          <a:solidFill>
                            <a:srgbClr val="4F81BD"/>
                          </a:solidFill>
                          <a:latin typeface="Calibri"/>
                          <a:ea typeface="Calibri"/>
                          <a:cs typeface="Calibri"/>
                          <a:sym typeface="Calibri"/>
                        </a:rPr>
                        <a:t>import</a:t>
                      </a:r>
                      <a:r>
                        <a:rPr lang="es-ES" sz="1100" dirty="0">
                          <a:solidFill>
                            <a:srgbClr val="4F81BD"/>
                          </a:solidFill>
                          <a:latin typeface="Calibri"/>
                          <a:ea typeface="Calibri"/>
                          <a:cs typeface="Calibri"/>
                          <a:sym typeface="Calibri"/>
                        </a:rPr>
                        <a:t> org.eclipse.microprofile.openapi.annotations.security.SecurityScheme;</a:t>
                      </a: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4"/>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88" name="Google Shape;188;p24"/>
          <p:cNvSpPr txBox="1">
            <a:spLocks noGrp="1"/>
          </p:cNvSpPr>
          <p:nvPr>
            <p:ph type="body" idx="1"/>
          </p:nvPr>
        </p:nvSpPr>
        <p:spPr>
          <a:xfrm>
            <a:off x="440100" y="2299082"/>
            <a:ext cx="3120251" cy="1987846"/>
          </a:xfrm>
          <a:prstGeom prst="rect">
            <a:avLst/>
          </a:prstGeom>
          <a:noFill/>
          <a:ln>
            <a:noFill/>
          </a:ln>
        </p:spPr>
        <p:txBody>
          <a:bodyPr spcFirstLastPara="1" wrap="square" lIns="91425" tIns="45700" rIns="91425" bIns="45700" anchor="ctr" anchorCtr="0">
            <a:normAutofit/>
          </a:bodyPr>
          <a:lstStyle/>
          <a:p>
            <a:pPr marL="457200" lvl="0" indent="-335090" rtl="0">
              <a:lnSpc>
                <a:spcPct val="107000"/>
              </a:lnSpc>
              <a:spcBef>
                <a:spcPts val="0"/>
              </a:spcBef>
              <a:spcAft>
                <a:spcPts val="0"/>
              </a:spcAft>
              <a:buSzPts val="1677"/>
              <a:buFont typeface="Cambria"/>
              <a:buChar char="∙"/>
            </a:pPr>
            <a:r>
              <a:rPr lang="es-ES" sz="1400" dirty="0">
                <a:latin typeface="Cambria"/>
                <a:ea typeface="Cambria"/>
                <a:cs typeface="Cambria"/>
                <a:sym typeface="Cambria"/>
              </a:rPr>
              <a:t>2.	Se configura el </a:t>
            </a:r>
            <a:r>
              <a:rPr lang="es-ES" sz="1400" dirty="0" err="1">
                <a:latin typeface="Cambria"/>
                <a:ea typeface="Cambria"/>
                <a:cs typeface="Cambria"/>
                <a:sym typeface="Cambria"/>
              </a:rPr>
              <a:t>endpoint</a:t>
            </a:r>
            <a:r>
              <a:rPr lang="es-ES" sz="1400" dirty="0">
                <a:latin typeface="Cambria"/>
                <a:ea typeface="Cambria"/>
                <a:cs typeface="Cambria"/>
                <a:sym typeface="Cambria"/>
              </a:rPr>
              <a:t> de nuestro servicio web.</a:t>
            </a:r>
            <a:endParaRPr sz="1400" dirty="0">
              <a:latin typeface="Cambria"/>
              <a:ea typeface="Cambria"/>
              <a:cs typeface="Cambria"/>
              <a:sym typeface="Cambria"/>
            </a:endParaRPr>
          </a:p>
          <a:p>
            <a:pPr marL="457200" lvl="0" indent="-335090" rtl="0">
              <a:lnSpc>
                <a:spcPct val="107000"/>
              </a:lnSpc>
              <a:spcBef>
                <a:spcPts val="0"/>
              </a:spcBef>
              <a:spcAft>
                <a:spcPts val="0"/>
              </a:spcAft>
              <a:buSzPts val="1677"/>
              <a:buFont typeface="Cambria"/>
              <a:buChar char="∙"/>
            </a:pPr>
            <a:r>
              <a:rPr lang="es-ES" sz="1400" dirty="0">
                <a:latin typeface="Cambria"/>
                <a:ea typeface="Cambria"/>
                <a:cs typeface="Cambria"/>
                <a:sym typeface="Cambria"/>
              </a:rPr>
              <a:t>3.	Se crean los </a:t>
            </a:r>
            <a:r>
              <a:rPr lang="es-ES" sz="1400" dirty="0" err="1">
                <a:latin typeface="Cambria"/>
                <a:ea typeface="Cambria"/>
                <a:cs typeface="Cambria"/>
                <a:sym typeface="Cambria"/>
              </a:rPr>
              <a:t>atributosde</a:t>
            </a:r>
            <a:r>
              <a:rPr lang="es-ES" sz="1400" dirty="0">
                <a:latin typeface="Cambria"/>
                <a:ea typeface="Cambria"/>
                <a:cs typeface="Cambria"/>
                <a:sym typeface="Cambria"/>
              </a:rPr>
              <a:t> seguridad respectivos.</a:t>
            </a:r>
            <a:endParaRPr sz="1400" b="1" dirty="0">
              <a:latin typeface="Cambria"/>
              <a:ea typeface="Cambria"/>
              <a:cs typeface="Cambria"/>
              <a:sym typeface="Cambria"/>
            </a:endParaRPr>
          </a:p>
        </p:txBody>
      </p:sp>
      <p:sp>
        <p:nvSpPr>
          <p:cNvPr id="189" name="Google Shape;189;p24"/>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190" name="Google Shape;190;p24"/>
          <p:cNvGraphicFramePr/>
          <p:nvPr>
            <p:extLst>
              <p:ext uri="{D42A27DB-BD31-4B8C-83A1-F6EECF244321}">
                <p14:modId xmlns:p14="http://schemas.microsoft.com/office/powerpoint/2010/main" val="2690093226"/>
              </p:ext>
            </p:extLst>
          </p:nvPr>
        </p:nvGraphicFramePr>
        <p:xfrm>
          <a:off x="3701450" y="2180500"/>
          <a:ext cx="5400050" cy="1468120"/>
        </p:xfrm>
        <a:graphic>
          <a:graphicData uri="http://schemas.openxmlformats.org/drawingml/2006/table">
            <a:tbl>
              <a:tblPr>
                <a:noFill/>
                <a:tableStyleId>{BF136021-7255-42B7-A7E7-87A8D8FFE9CA}</a:tableStyleId>
              </a:tblPr>
              <a:tblGrid>
                <a:gridCol w="5400050">
                  <a:extLst>
                    <a:ext uri="{9D8B030D-6E8A-4147-A177-3AD203B41FA5}">
                      <a16:colId xmlns:a16="http://schemas.microsoft.com/office/drawing/2014/main" val="20000"/>
                    </a:ext>
                  </a:extLst>
                </a:gridCol>
              </a:tblGrid>
              <a:tr h="0">
                <a:tc>
                  <a:txBody>
                    <a:bodyPr/>
                    <a:lstStyle/>
                    <a:p>
                      <a:pPr marL="0" lvl="0" indent="0" algn="l" rtl="0">
                        <a:spcBef>
                          <a:spcPts val="0"/>
                        </a:spcBef>
                        <a:spcAft>
                          <a:spcPts val="0"/>
                        </a:spcAft>
                        <a:buNone/>
                      </a:pPr>
                      <a:r>
                        <a:rPr lang="es-ES" sz="1100" dirty="0">
                          <a:solidFill>
                            <a:srgbClr val="4F81BD"/>
                          </a:solidFill>
                          <a:latin typeface="Calibri"/>
                          <a:ea typeface="Calibri"/>
                          <a:cs typeface="Calibri"/>
                          <a:sym typeface="Calibri"/>
                        </a:rPr>
                        <a:t>@ApplicationPath("/api")</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@OpenAPIDefinition(</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info</a:t>
                      </a:r>
                      <a:r>
                        <a:rPr lang="es-ES" sz="1100" dirty="0">
                          <a:solidFill>
                            <a:srgbClr val="4F81BD"/>
                          </a:solidFill>
                          <a:latin typeface="Calibri"/>
                          <a:ea typeface="Calibri"/>
                          <a:cs typeface="Calibri"/>
                          <a:sym typeface="Calibri"/>
                        </a:rPr>
                        <a:t> = @Info(</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title</a:t>
                      </a:r>
                      <a:r>
                        <a:rPr lang="es-ES" sz="1100" dirty="0">
                          <a:solidFill>
                            <a:srgbClr val="4F81BD"/>
                          </a:solidFill>
                          <a:latin typeface="Calibri"/>
                          <a:ea typeface="Calibri"/>
                          <a:cs typeface="Calibri"/>
                          <a:sym typeface="Calibri"/>
                        </a:rPr>
                        <a:t> = "Convertidor de Unidades Monster </a:t>
                      </a:r>
                      <a:r>
                        <a:rPr lang="es-ES" sz="1100" dirty="0" err="1">
                          <a:solidFill>
                            <a:srgbClr val="4F81BD"/>
                          </a:solidFill>
                          <a:latin typeface="Calibri"/>
                          <a:ea typeface="Calibri"/>
                          <a:cs typeface="Calibri"/>
                          <a:sym typeface="Calibri"/>
                        </a:rPr>
                        <a:t>RESTful</a:t>
                      </a:r>
                      <a:r>
                        <a:rPr lang="es-ES" sz="1100" dirty="0">
                          <a:solidFill>
                            <a:srgbClr val="4F81BD"/>
                          </a:solidFill>
                          <a:latin typeface="Calibri"/>
                          <a:ea typeface="Calibri"/>
                          <a:cs typeface="Calibri"/>
                          <a:sym typeface="Calibri"/>
                        </a:rPr>
                        <a:t> JAVA",</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version</a:t>
                      </a:r>
                      <a:r>
                        <a:rPr lang="es-ES" sz="1100" dirty="0">
                          <a:solidFill>
                            <a:srgbClr val="4F81BD"/>
                          </a:solidFill>
                          <a:latin typeface="Calibri"/>
                          <a:ea typeface="Calibri"/>
                          <a:cs typeface="Calibri"/>
                          <a:sym typeface="Calibri"/>
                        </a:rPr>
                        <a:t> = "1.0.0",</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description</a:t>
                      </a:r>
                      <a:r>
                        <a:rPr lang="es-ES" sz="1100" dirty="0">
                          <a:solidFill>
                            <a:srgbClr val="4F81BD"/>
                          </a:solidFill>
                          <a:latin typeface="Calibri"/>
                          <a:ea typeface="Calibri"/>
                          <a:cs typeface="Calibri"/>
                          <a:sym typeface="Calibri"/>
                        </a:rPr>
                        <a:t> = "Servicio web </a:t>
                      </a:r>
                      <a:r>
                        <a:rPr lang="es-ES" sz="1100" dirty="0" err="1">
                          <a:solidFill>
                            <a:srgbClr val="4F81BD"/>
                          </a:solidFill>
                          <a:latin typeface="Calibri"/>
                          <a:ea typeface="Calibri"/>
                          <a:cs typeface="Calibri"/>
                          <a:sym typeface="Calibri"/>
                        </a:rPr>
                        <a:t>RESTful</a:t>
                      </a:r>
                      <a:r>
                        <a:rPr lang="es-ES" sz="1100" dirty="0">
                          <a:solidFill>
                            <a:srgbClr val="4F81BD"/>
                          </a:solidFill>
                          <a:latin typeface="Calibri"/>
                          <a:ea typeface="Calibri"/>
                          <a:cs typeface="Calibri"/>
                          <a:sym typeface="Calibri"/>
                        </a:rPr>
                        <a:t> en Java para conversión de unidades de temperatura", </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contact</a:t>
                      </a:r>
                      <a:r>
                        <a:rPr lang="es-ES" sz="1100" dirty="0">
                          <a:solidFill>
                            <a:srgbClr val="4F81BD"/>
                          </a:solidFill>
                          <a:latin typeface="Calibri"/>
                          <a:ea typeface="Calibri"/>
                          <a:cs typeface="Calibri"/>
                          <a:sym typeface="Calibri"/>
                        </a:rPr>
                        <a:t> = @Contact(name= "Grupo 7 Arquitectura")))</a:t>
                      </a:r>
                      <a:endParaRPr sz="11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graphicFrame>
        <p:nvGraphicFramePr>
          <p:cNvPr id="191" name="Google Shape;191;p24"/>
          <p:cNvGraphicFramePr/>
          <p:nvPr>
            <p:extLst>
              <p:ext uri="{D42A27DB-BD31-4B8C-83A1-F6EECF244321}">
                <p14:modId xmlns:p14="http://schemas.microsoft.com/office/powerpoint/2010/main" val="573590187"/>
              </p:ext>
            </p:extLst>
          </p:nvPr>
        </p:nvGraphicFramePr>
        <p:xfrm>
          <a:off x="3701450" y="3935448"/>
          <a:ext cx="5400050" cy="965200"/>
        </p:xfrm>
        <a:graphic>
          <a:graphicData uri="http://schemas.openxmlformats.org/drawingml/2006/table">
            <a:tbl>
              <a:tblPr>
                <a:noFill/>
                <a:tableStyleId>{BF136021-7255-42B7-A7E7-87A8D8FFE9CA}</a:tableStyleId>
              </a:tblPr>
              <a:tblGrid>
                <a:gridCol w="5400050">
                  <a:extLst>
                    <a:ext uri="{9D8B030D-6E8A-4147-A177-3AD203B41FA5}">
                      <a16:colId xmlns:a16="http://schemas.microsoft.com/office/drawing/2014/main" val="20000"/>
                    </a:ext>
                  </a:extLst>
                </a:gridCol>
              </a:tblGrid>
              <a:tr h="0">
                <a:tc>
                  <a:txBody>
                    <a:bodyPr/>
                    <a:lstStyle/>
                    <a:p>
                      <a:pPr marL="0" lvl="0" indent="0" algn="l" rtl="0">
                        <a:spcBef>
                          <a:spcPts val="0"/>
                        </a:spcBef>
                        <a:spcAft>
                          <a:spcPts val="0"/>
                        </a:spcAft>
                        <a:buNone/>
                      </a:pPr>
                      <a:r>
                        <a:rPr lang="es-ES" sz="1100" dirty="0">
                          <a:solidFill>
                            <a:srgbClr val="4F81BD"/>
                          </a:solidFill>
                          <a:latin typeface="Calibri"/>
                          <a:ea typeface="Calibri"/>
                          <a:cs typeface="Calibri"/>
                          <a:sym typeface="Calibri"/>
                        </a:rPr>
                        <a:t>@SecurityScheme(</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securitySchemeName</a:t>
                      </a:r>
                      <a:r>
                        <a:rPr lang="es-ES" sz="1100" dirty="0">
                          <a:solidFill>
                            <a:srgbClr val="4F81BD"/>
                          </a:solidFill>
                          <a:latin typeface="Calibri"/>
                          <a:ea typeface="Calibri"/>
                          <a:cs typeface="Calibri"/>
                          <a:sym typeface="Calibri"/>
                        </a:rPr>
                        <a:t>  = "</a:t>
                      </a:r>
                      <a:r>
                        <a:rPr lang="es-ES" sz="1100" dirty="0" err="1">
                          <a:solidFill>
                            <a:srgbClr val="4F81BD"/>
                          </a:solidFill>
                          <a:latin typeface="Calibri"/>
                          <a:ea typeface="Calibri"/>
                          <a:cs typeface="Calibri"/>
                          <a:sym typeface="Calibri"/>
                        </a:rPr>
                        <a:t>bearerAuth</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type</a:t>
                      </a:r>
                      <a:r>
                        <a:rPr lang="es-ES" sz="1100" dirty="0">
                          <a:solidFill>
                            <a:srgbClr val="4F81BD"/>
                          </a:solidFill>
                          <a:latin typeface="Calibri"/>
                          <a:ea typeface="Calibri"/>
                          <a:cs typeface="Calibri"/>
                          <a:sym typeface="Calibri"/>
                        </a:rPr>
                        <a:t> = </a:t>
                      </a:r>
                      <a:r>
                        <a:rPr lang="es-ES" sz="1100" dirty="0" err="1">
                          <a:solidFill>
                            <a:srgbClr val="4F81BD"/>
                          </a:solidFill>
                          <a:latin typeface="Calibri"/>
                          <a:ea typeface="Calibri"/>
                          <a:cs typeface="Calibri"/>
                          <a:sym typeface="Calibri"/>
                        </a:rPr>
                        <a:t>SecuritySchemeType.HTTP</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scheme</a:t>
                      </a:r>
                      <a:r>
                        <a:rPr lang="es-ES" sz="1100" dirty="0">
                          <a:solidFill>
                            <a:srgbClr val="4F81BD"/>
                          </a:solidFill>
                          <a:latin typeface="Calibri"/>
                          <a:ea typeface="Calibri"/>
                          <a:cs typeface="Calibri"/>
                          <a:sym typeface="Calibri"/>
                        </a:rPr>
                        <a:t> = "</a:t>
                      </a:r>
                      <a:r>
                        <a:rPr lang="es-ES" sz="1100" dirty="0" err="1">
                          <a:solidFill>
                            <a:srgbClr val="4F81BD"/>
                          </a:solidFill>
                          <a:latin typeface="Calibri"/>
                          <a:ea typeface="Calibri"/>
                          <a:cs typeface="Calibri"/>
                          <a:sym typeface="Calibri"/>
                        </a:rPr>
                        <a:t>bearer</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bearerFormat</a:t>
                      </a:r>
                      <a:r>
                        <a:rPr lang="es-ES" sz="1100" dirty="0">
                          <a:solidFill>
                            <a:srgbClr val="4F81BD"/>
                          </a:solidFill>
                          <a:latin typeface="Calibri"/>
                          <a:ea typeface="Calibri"/>
                          <a:cs typeface="Calibri"/>
                          <a:sym typeface="Calibri"/>
                        </a:rPr>
                        <a:t> = "JWT")</a:t>
                      </a:r>
                      <a:endParaRPr sz="11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5"/>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197" name="Google Shape;197;p25"/>
          <p:cNvSpPr txBox="1">
            <a:spLocks noGrp="1"/>
          </p:cNvSpPr>
          <p:nvPr>
            <p:ph type="body" idx="1"/>
          </p:nvPr>
        </p:nvSpPr>
        <p:spPr>
          <a:xfrm>
            <a:off x="581200" y="2180500"/>
            <a:ext cx="2402100" cy="3965700"/>
          </a:xfrm>
          <a:prstGeom prst="rect">
            <a:avLst/>
          </a:prstGeom>
          <a:noFill/>
          <a:ln>
            <a:noFill/>
          </a:ln>
        </p:spPr>
        <p:txBody>
          <a:bodyPr spcFirstLastPara="1" wrap="square" lIns="91425" tIns="45700" rIns="91425" bIns="45700" anchor="ctr" anchorCtr="0">
            <a:normAutofit/>
          </a:bodyPr>
          <a:lstStyle/>
          <a:p>
            <a:pPr marL="457200" lvl="0" indent="-335090" algn="just" rtl="0">
              <a:lnSpc>
                <a:spcPct val="107000"/>
              </a:lnSpc>
              <a:spcBef>
                <a:spcPts val="0"/>
              </a:spcBef>
              <a:spcAft>
                <a:spcPts val="0"/>
              </a:spcAft>
              <a:buSzPts val="1677"/>
              <a:buFont typeface="Cambria"/>
              <a:buChar char="∙"/>
            </a:pPr>
            <a:r>
              <a:rPr lang="es-ES" sz="1400" dirty="0">
                <a:latin typeface="Cambria"/>
                <a:ea typeface="Cambria"/>
                <a:cs typeface="Cambria"/>
                <a:sym typeface="Cambria"/>
              </a:rPr>
              <a:t>4. Se crean los métodos respectivos, incluyendo el de autenticación</a:t>
            </a:r>
            <a:endParaRPr sz="1400" b="1" dirty="0">
              <a:latin typeface="Cambria"/>
              <a:ea typeface="Cambria"/>
              <a:cs typeface="Cambria"/>
              <a:sym typeface="Cambria"/>
            </a:endParaRPr>
          </a:p>
          <a:p>
            <a:pPr marL="457200" marR="0" lvl="0" indent="0" algn="just" rtl="0">
              <a:lnSpc>
                <a:spcPct val="107000"/>
              </a:lnSpc>
              <a:spcBef>
                <a:spcPts val="0"/>
              </a:spcBef>
              <a:spcAft>
                <a:spcPts val="0"/>
              </a:spcAft>
              <a:buSzPts val="1790"/>
              <a:buNone/>
            </a:pPr>
            <a:endParaRPr sz="1400"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sz="1400" dirty="0">
              <a:latin typeface="Cambria"/>
              <a:ea typeface="Cambria"/>
              <a:cs typeface="Cambria"/>
              <a:sym typeface="Cambria"/>
            </a:endParaRPr>
          </a:p>
        </p:txBody>
      </p:sp>
      <p:sp>
        <p:nvSpPr>
          <p:cNvPr id="198" name="Google Shape;198;p25"/>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199" name="Google Shape;199;p25"/>
          <p:cNvGraphicFramePr/>
          <p:nvPr>
            <p:extLst>
              <p:ext uri="{D42A27DB-BD31-4B8C-83A1-F6EECF244321}">
                <p14:modId xmlns:p14="http://schemas.microsoft.com/office/powerpoint/2010/main" val="1407895350"/>
              </p:ext>
            </p:extLst>
          </p:nvPr>
        </p:nvGraphicFramePr>
        <p:xfrm>
          <a:off x="3272427" y="1887151"/>
          <a:ext cx="5647030" cy="4919980"/>
        </p:xfrm>
        <a:graphic>
          <a:graphicData uri="http://schemas.openxmlformats.org/drawingml/2006/table">
            <a:tbl>
              <a:tblPr>
                <a:noFill/>
                <a:tableStyleId>{BF136021-7255-42B7-A7E7-87A8D8FFE9CA}</a:tableStyleId>
              </a:tblPr>
              <a:tblGrid>
                <a:gridCol w="5647030">
                  <a:extLst>
                    <a:ext uri="{9D8B030D-6E8A-4147-A177-3AD203B41FA5}">
                      <a16:colId xmlns:a16="http://schemas.microsoft.com/office/drawing/2014/main" val="20000"/>
                    </a:ext>
                  </a:extLst>
                </a:gridCol>
              </a:tblGrid>
              <a:tr h="4653692">
                <a:tc>
                  <a:txBody>
                    <a:bodyPr/>
                    <a:lstStyle/>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@Path("/autenticacion")</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@Produces(MediaType.APPLICATION_JSON)</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@Consumes(MediaType.APPLICATION_JSON)</a:t>
                      </a:r>
                    </a:p>
                    <a:p>
                      <a:pPr marL="0" lvl="0" indent="0" algn="l" rtl="0">
                        <a:lnSpc>
                          <a:spcPct val="100000"/>
                        </a:lnSpc>
                        <a:spcBef>
                          <a:spcPts val="0"/>
                        </a:spcBef>
                        <a:spcAft>
                          <a:spcPts val="0"/>
                        </a:spcAft>
                        <a:buNone/>
                      </a:pPr>
                      <a:r>
                        <a:rPr lang="es-EC" sz="850" dirty="0" err="1">
                          <a:solidFill>
                            <a:srgbClr val="4F81BD"/>
                          </a:solidFill>
                          <a:latin typeface="Calibri"/>
                          <a:ea typeface="Calibri"/>
                          <a:cs typeface="Calibri"/>
                          <a:sym typeface="Calibri"/>
                        </a:rPr>
                        <a:t>public</a:t>
                      </a: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class</a:t>
                      </a: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ControladorAutenticacion</a:t>
                      </a: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private</a:t>
                      </a:r>
                      <a:r>
                        <a:rPr lang="es-EC" sz="850" dirty="0">
                          <a:solidFill>
                            <a:srgbClr val="4F81BD"/>
                          </a:solidFill>
                          <a:latin typeface="Calibri"/>
                          <a:ea typeface="Calibri"/>
                          <a:cs typeface="Calibri"/>
                          <a:sym typeface="Calibri"/>
                        </a:rPr>
                        <a:t> final </a:t>
                      </a:r>
                      <a:r>
                        <a:rPr lang="es-EC" sz="850" dirty="0" err="1">
                          <a:solidFill>
                            <a:srgbClr val="4F81BD"/>
                          </a:solidFill>
                          <a:latin typeface="Calibri"/>
                          <a:ea typeface="Calibri"/>
                          <a:cs typeface="Calibri"/>
                          <a:sym typeface="Calibri"/>
                        </a:rPr>
                        <a:t>ServicioAutenticacion</a:t>
                      </a: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servicioAutenticacion</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@Inject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public</a:t>
                      </a: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ControladorAutenticacion</a:t>
                      </a:r>
                      <a:r>
                        <a:rPr lang="es-EC" sz="850" dirty="0">
                          <a:solidFill>
                            <a:srgbClr val="4F81BD"/>
                          </a:solidFill>
                          <a:latin typeface="Calibri"/>
                          <a:ea typeface="Calibri"/>
                          <a:cs typeface="Calibri"/>
                          <a:sym typeface="Calibri"/>
                        </a:rPr>
                        <a:t>(</a:t>
                      </a:r>
                      <a:r>
                        <a:rPr lang="es-EC" sz="850" dirty="0" err="1">
                          <a:solidFill>
                            <a:srgbClr val="4F81BD"/>
                          </a:solidFill>
                          <a:latin typeface="Calibri"/>
                          <a:ea typeface="Calibri"/>
                          <a:cs typeface="Calibri"/>
                          <a:sym typeface="Calibri"/>
                        </a:rPr>
                        <a:t>ServicioAutenticacion</a:t>
                      </a: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servicioAutenticacion</a:t>
                      </a: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this.servicioAutenticacion</a:t>
                      </a:r>
                      <a:r>
                        <a:rPr lang="es-EC" sz="850" dirty="0">
                          <a:solidFill>
                            <a:srgbClr val="4F81BD"/>
                          </a:solidFill>
                          <a:latin typeface="Calibri"/>
                          <a:ea typeface="Calibri"/>
                          <a:cs typeface="Calibri"/>
                          <a:sym typeface="Calibri"/>
                        </a:rPr>
                        <a:t> = </a:t>
                      </a:r>
                      <a:r>
                        <a:rPr lang="es-EC" sz="850" dirty="0" err="1">
                          <a:solidFill>
                            <a:srgbClr val="4F81BD"/>
                          </a:solidFill>
                          <a:latin typeface="Calibri"/>
                          <a:ea typeface="Calibri"/>
                          <a:cs typeface="Calibri"/>
                          <a:sym typeface="Calibri"/>
                        </a:rPr>
                        <a:t>servicioAutenticacion</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@POST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@Path("/iniciar-sesion")</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@Operation(</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summary</a:t>
                      </a:r>
                      <a:r>
                        <a:rPr lang="es-EC" sz="850" dirty="0">
                          <a:solidFill>
                            <a:srgbClr val="4F81BD"/>
                          </a:solidFill>
                          <a:latin typeface="Calibri"/>
                          <a:ea typeface="Calibri"/>
                          <a:cs typeface="Calibri"/>
                          <a:sym typeface="Calibri"/>
                        </a:rPr>
                        <a:t> = "Inicio de sesión",</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description</a:t>
                      </a:r>
                      <a:r>
                        <a:rPr lang="es-EC" sz="850" dirty="0">
                          <a:solidFill>
                            <a:srgbClr val="4F81BD"/>
                          </a:solidFill>
                          <a:latin typeface="Calibri"/>
                          <a:ea typeface="Calibri"/>
                          <a:cs typeface="Calibri"/>
                          <a:sym typeface="Calibri"/>
                        </a:rPr>
                        <a:t> = "Recibe credenciales y autentica para devolver token de sesión."</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@APIResponses({</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@APIResponse(</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responseCode</a:t>
                      </a:r>
                      <a:r>
                        <a:rPr lang="es-EC" sz="850" dirty="0">
                          <a:solidFill>
                            <a:srgbClr val="4F81BD"/>
                          </a:solidFill>
                          <a:latin typeface="Calibri"/>
                          <a:ea typeface="Calibri"/>
                          <a:cs typeface="Calibri"/>
                          <a:sym typeface="Calibri"/>
                        </a:rPr>
                        <a:t> = "200",</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description</a:t>
                      </a:r>
                      <a:r>
                        <a:rPr lang="es-EC" sz="850" dirty="0">
                          <a:solidFill>
                            <a:srgbClr val="4F81BD"/>
                          </a:solidFill>
                          <a:latin typeface="Calibri"/>
                          <a:ea typeface="Calibri"/>
                          <a:cs typeface="Calibri"/>
                          <a:sym typeface="Calibri"/>
                        </a:rPr>
                        <a:t> = "Inicio de Sesión realizado exitosamente",</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content</a:t>
                      </a:r>
                      <a:r>
                        <a:rPr lang="es-EC" sz="850" dirty="0">
                          <a:solidFill>
                            <a:srgbClr val="4F81BD"/>
                          </a:solidFill>
                          <a:latin typeface="Calibri"/>
                          <a:ea typeface="Calibri"/>
                          <a:cs typeface="Calibri"/>
                          <a:sym typeface="Calibri"/>
                        </a:rPr>
                        <a:t> = @Content(mediaType = </a:t>
                      </a:r>
                      <a:r>
                        <a:rPr lang="es-EC" sz="850" dirty="0" err="1">
                          <a:solidFill>
                            <a:srgbClr val="4F81BD"/>
                          </a:solidFill>
                          <a:latin typeface="Calibri"/>
                          <a:ea typeface="Calibri"/>
                          <a:cs typeface="Calibri"/>
                          <a:sym typeface="Calibri"/>
                        </a:rPr>
                        <a:t>MediaType.APPLICATION_JSON</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schema</a:t>
                      </a:r>
                      <a:r>
                        <a:rPr lang="es-EC" sz="850" dirty="0">
                          <a:solidFill>
                            <a:srgbClr val="4F81BD"/>
                          </a:solidFill>
                          <a:latin typeface="Calibri"/>
                          <a:ea typeface="Calibri"/>
                          <a:cs typeface="Calibri"/>
                          <a:sym typeface="Calibri"/>
                        </a:rPr>
                        <a:t> = @Schema(implementation = </a:t>
                      </a:r>
                      <a:r>
                        <a:rPr lang="es-EC" sz="850" dirty="0" err="1">
                          <a:solidFill>
                            <a:srgbClr val="4F81BD"/>
                          </a:solidFill>
                          <a:latin typeface="Calibri"/>
                          <a:ea typeface="Calibri"/>
                          <a:cs typeface="Calibri"/>
                          <a:sym typeface="Calibri"/>
                        </a:rPr>
                        <a:t>RespuestaLogin.class</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@APIResponse(</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responseCode</a:t>
                      </a:r>
                      <a:r>
                        <a:rPr lang="es-EC" sz="850" dirty="0">
                          <a:solidFill>
                            <a:srgbClr val="4F81BD"/>
                          </a:solidFill>
                          <a:latin typeface="Calibri"/>
                          <a:ea typeface="Calibri"/>
                          <a:cs typeface="Calibri"/>
                          <a:sym typeface="Calibri"/>
                        </a:rPr>
                        <a:t> = "401",</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description</a:t>
                      </a:r>
                      <a:r>
                        <a:rPr lang="es-EC" sz="850" dirty="0">
                          <a:solidFill>
                            <a:srgbClr val="4F81BD"/>
                          </a:solidFill>
                          <a:latin typeface="Calibri"/>
                          <a:ea typeface="Calibri"/>
                          <a:cs typeface="Calibri"/>
                          <a:sym typeface="Calibri"/>
                        </a:rPr>
                        <a:t> = "Credenciales inválidas",</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content</a:t>
                      </a:r>
                      <a:r>
                        <a:rPr lang="es-EC" sz="850" dirty="0">
                          <a:solidFill>
                            <a:srgbClr val="4F81BD"/>
                          </a:solidFill>
                          <a:latin typeface="Calibri"/>
                          <a:ea typeface="Calibri"/>
                          <a:cs typeface="Calibri"/>
                          <a:sym typeface="Calibri"/>
                        </a:rPr>
                        <a:t> = @Content(mediaType = </a:t>
                      </a:r>
                      <a:r>
                        <a:rPr lang="es-EC" sz="850" dirty="0" err="1">
                          <a:solidFill>
                            <a:srgbClr val="4F81BD"/>
                          </a:solidFill>
                          <a:latin typeface="Calibri"/>
                          <a:ea typeface="Calibri"/>
                          <a:cs typeface="Calibri"/>
                          <a:sym typeface="Calibri"/>
                        </a:rPr>
                        <a:t>MediaType.APPLICATION_JSON</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schema</a:t>
                      </a:r>
                      <a:r>
                        <a:rPr lang="es-EC" sz="850" dirty="0">
                          <a:solidFill>
                            <a:srgbClr val="4F81BD"/>
                          </a:solidFill>
                          <a:latin typeface="Calibri"/>
                          <a:ea typeface="Calibri"/>
                          <a:cs typeface="Calibri"/>
                          <a:sym typeface="Calibri"/>
                        </a:rPr>
                        <a:t> = @Schema(implementation = </a:t>
                      </a:r>
                      <a:r>
                        <a:rPr lang="es-EC" sz="850" dirty="0" err="1">
                          <a:solidFill>
                            <a:srgbClr val="4F81BD"/>
                          </a:solidFill>
                          <a:latin typeface="Calibri"/>
                          <a:ea typeface="Calibri"/>
                          <a:cs typeface="Calibri"/>
                          <a:sym typeface="Calibri"/>
                        </a:rPr>
                        <a:t>RespuestaError.class</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public</a:t>
                      </a:r>
                      <a:r>
                        <a:rPr lang="es-EC" sz="850" dirty="0">
                          <a:solidFill>
                            <a:srgbClr val="4F81BD"/>
                          </a:solidFill>
                          <a:latin typeface="Calibri"/>
                          <a:ea typeface="Calibri"/>
                          <a:cs typeface="Calibri"/>
                          <a:sym typeface="Calibri"/>
                        </a:rPr>
                        <a:t> Response </a:t>
                      </a:r>
                      <a:r>
                        <a:rPr lang="es-EC" sz="850" dirty="0" err="1">
                          <a:solidFill>
                            <a:srgbClr val="4F81BD"/>
                          </a:solidFill>
                          <a:latin typeface="Calibri"/>
                          <a:ea typeface="Calibri"/>
                          <a:cs typeface="Calibri"/>
                          <a:sym typeface="Calibri"/>
                        </a:rPr>
                        <a:t>iniciarSesion</a:t>
                      </a:r>
                      <a:r>
                        <a:rPr lang="es-EC" sz="850" dirty="0">
                          <a:solidFill>
                            <a:srgbClr val="4F81BD"/>
                          </a:solidFill>
                          <a:latin typeface="Calibri"/>
                          <a:ea typeface="Calibri"/>
                          <a:cs typeface="Calibri"/>
                          <a:sym typeface="Calibri"/>
                        </a:rPr>
                        <a:t>(@RequestBody(description = "Credenciales de inicio de sesión", </a:t>
                      </a:r>
                      <a:r>
                        <a:rPr lang="es-EC" sz="850" dirty="0" err="1">
                          <a:solidFill>
                            <a:srgbClr val="4F81BD"/>
                          </a:solidFill>
                          <a:latin typeface="Calibri"/>
                          <a:ea typeface="Calibri"/>
                          <a:cs typeface="Calibri"/>
                          <a:sym typeface="Calibri"/>
                        </a:rPr>
                        <a:t>required</a:t>
                      </a:r>
                      <a:r>
                        <a:rPr lang="es-EC" sz="850" dirty="0">
                          <a:solidFill>
                            <a:srgbClr val="4F81BD"/>
                          </a:solidFill>
                          <a:latin typeface="Calibri"/>
                          <a:ea typeface="Calibri"/>
                          <a:cs typeface="Calibri"/>
                          <a:sym typeface="Calibri"/>
                        </a:rPr>
                        <a:t> = true)</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@Valid </a:t>
                      </a:r>
                      <a:r>
                        <a:rPr lang="es-EC" sz="850" dirty="0" err="1">
                          <a:solidFill>
                            <a:srgbClr val="4F81BD"/>
                          </a:solidFill>
                          <a:latin typeface="Calibri"/>
                          <a:ea typeface="Calibri"/>
                          <a:cs typeface="Calibri"/>
                          <a:sym typeface="Calibri"/>
                        </a:rPr>
                        <a:t>SolicitudLogin</a:t>
                      </a:r>
                      <a:r>
                        <a:rPr lang="es-EC" sz="850" dirty="0">
                          <a:solidFill>
                            <a:srgbClr val="4F81BD"/>
                          </a:solidFill>
                          <a:latin typeface="Calibri"/>
                          <a:ea typeface="Calibri"/>
                          <a:cs typeface="Calibri"/>
                          <a:sym typeface="Calibri"/>
                        </a:rPr>
                        <a:t> solicitud)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RespuestaLogin</a:t>
                      </a:r>
                      <a:r>
                        <a:rPr lang="es-EC" sz="850" dirty="0">
                          <a:solidFill>
                            <a:srgbClr val="4F81BD"/>
                          </a:solidFill>
                          <a:latin typeface="Calibri"/>
                          <a:ea typeface="Calibri"/>
                          <a:cs typeface="Calibri"/>
                          <a:sym typeface="Calibri"/>
                        </a:rPr>
                        <a:t> respuesta = </a:t>
                      </a:r>
                      <a:r>
                        <a:rPr lang="es-EC" sz="850" dirty="0" err="1">
                          <a:solidFill>
                            <a:srgbClr val="4F81BD"/>
                          </a:solidFill>
                          <a:latin typeface="Calibri"/>
                          <a:ea typeface="Calibri"/>
                          <a:cs typeface="Calibri"/>
                          <a:sym typeface="Calibri"/>
                        </a:rPr>
                        <a:t>servicioAutenticacion.iniciarSesion</a:t>
                      </a:r>
                      <a:r>
                        <a:rPr lang="es-EC" sz="850" dirty="0">
                          <a:solidFill>
                            <a:srgbClr val="4F81BD"/>
                          </a:solidFill>
                          <a:latin typeface="Calibri"/>
                          <a:ea typeface="Calibri"/>
                          <a:cs typeface="Calibri"/>
                          <a:sym typeface="Calibri"/>
                        </a:rPr>
                        <a:t>(solicitud);</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return</a:t>
                      </a:r>
                      <a:r>
                        <a:rPr lang="es-EC" sz="850" dirty="0">
                          <a:solidFill>
                            <a:srgbClr val="4F81BD"/>
                          </a:solidFill>
                          <a:latin typeface="Calibri"/>
                          <a:ea typeface="Calibri"/>
                          <a:cs typeface="Calibri"/>
                          <a:sym typeface="Calibri"/>
                        </a:rPr>
                        <a:t> </a:t>
                      </a:r>
                      <a:r>
                        <a:rPr lang="es-EC" sz="850" dirty="0" err="1">
                          <a:solidFill>
                            <a:srgbClr val="4F81BD"/>
                          </a:solidFill>
                          <a:latin typeface="Calibri"/>
                          <a:ea typeface="Calibri"/>
                          <a:cs typeface="Calibri"/>
                          <a:sym typeface="Calibri"/>
                        </a:rPr>
                        <a:t>Response.ok</a:t>
                      </a:r>
                      <a:r>
                        <a:rPr lang="es-EC" sz="850" dirty="0">
                          <a:solidFill>
                            <a:srgbClr val="4F81BD"/>
                          </a:solidFill>
                          <a:latin typeface="Calibri"/>
                          <a:ea typeface="Calibri"/>
                          <a:cs typeface="Calibri"/>
                          <a:sym typeface="Calibri"/>
                        </a:rPr>
                        <a:t>(respuesta).</a:t>
                      </a:r>
                      <a:r>
                        <a:rPr lang="es-EC" sz="850" dirty="0" err="1">
                          <a:solidFill>
                            <a:srgbClr val="4F81BD"/>
                          </a:solidFill>
                          <a:latin typeface="Calibri"/>
                          <a:ea typeface="Calibri"/>
                          <a:cs typeface="Calibri"/>
                          <a:sym typeface="Calibri"/>
                        </a:rPr>
                        <a:t>build</a:t>
                      </a:r>
                      <a:r>
                        <a:rPr lang="es-EC" sz="85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None/>
                      </a:pPr>
                      <a:r>
                        <a:rPr lang="es-EC" sz="850" dirty="0">
                          <a:solidFill>
                            <a:srgbClr val="4F81BD"/>
                          </a:solidFill>
                          <a:latin typeface="Calibri"/>
                          <a:ea typeface="Calibri"/>
                          <a:cs typeface="Calibri"/>
                          <a:sym typeface="Calibri"/>
                        </a:rPr>
                        <a:t>}</a:t>
                      </a:r>
                      <a:endParaRPr sz="85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graphicFrame>
        <p:nvGraphicFramePr>
          <p:cNvPr id="204" name="Google Shape;204;p26"/>
          <p:cNvGraphicFramePr/>
          <p:nvPr>
            <p:extLst>
              <p:ext uri="{D42A27DB-BD31-4B8C-83A1-F6EECF244321}">
                <p14:modId xmlns:p14="http://schemas.microsoft.com/office/powerpoint/2010/main" val="180185893"/>
              </p:ext>
            </p:extLst>
          </p:nvPr>
        </p:nvGraphicFramePr>
        <p:xfrm>
          <a:off x="3060864" y="1868632"/>
          <a:ext cx="5951332" cy="4663973"/>
        </p:xfrm>
        <a:graphic>
          <a:graphicData uri="http://schemas.openxmlformats.org/drawingml/2006/table">
            <a:tbl>
              <a:tblPr>
                <a:noFill/>
                <a:tableStyleId>{BF136021-7255-42B7-A7E7-87A8D8FFE9CA}</a:tableStyleId>
              </a:tblPr>
              <a:tblGrid>
                <a:gridCol w="5951332">
                  <a:extLst>
                    <a:ext uri="{9D8B030D-6E8A-4147-A177-3AD203B41FA5}">
                      <a16:colId xmlns:a16="http://schemas.microsoft.com/office/drawing/2014/main" val="20000"/>
                    </a:ext>
                  </a:extLst>
                </a:gridCol>
              </a:tblGrid>
              <a:tr h="4663973">
                <a:tc>
                  <a:txBody>
                    <a:bodyPr/>
                    <a:lstStyle/>
                    <a:p>
                      <a:pPr marL="0" lvl="0" indent="0" algn="l" rtl="0">
                        <a:spcBef>
                          <a:spcPts val="0"/>
                        </a:spcBef>
                        <a:spcAft>
                          <a:spcPts val="0"/>
                        </a:spcAft>
                        <a:buNone/>
                      </a:pPr>
                      <a:r>
                        <a:rPr lang="es-ES" sz="800" dirty="0">
                          <a:solidFill>
                            <a:srgbClr val="4F81BD"/>
                          </a:solidFill>
                          <a:latin typeface="Calibri"/>
                          <a:ea typeface="Calibri"/>
                          <a:cs typeface="Calibri"/>
                          <a:sym typeface="Calibri"/>
                        </a:rPr>
                        <a:t>@Path("/conversion/longitud")</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@Produces(MediaType.APPLICATION_JSON)</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@Consumes(MediaType.APPLICATION_JSON)</a:t>
                      </a:r>
                    </a:p>
                    <a:p>
                      <a:pPr marL="0" lvl="0" indent="0" algn="l" rtl="0">
                        <a:spcBef>
                          <a:spcPts val="0"/>
                        </a:spcBef>
                        <a:spcAft>
                          <a:spcPts val="0"/>
                        </a:spcAft>
                        <a:buNone/>
                      </a:pP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class</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ControladorLongitud</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final </a:t>
                      </a:r>
                      <a:r>
                        <a:rPr lang="es-ES" sz="800" dirty="0" err="1">
                          <a:solidFill>
                            <a:srgbClr val="4F81BD"/>
                          </a:solidFill>
                          <a:latin typeface="Calibri"/>
                          <a:ea typeface="Calibri"/>
                          <a:cs typeface="Calibri"/>
                          <a:sym typeface="Calibri"/>
                        </a:rPr>
                        <a:t>ServicioLongitud</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servicioLongitud</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@Inject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ControladorLongitud</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ServicioLongitud</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servicioLongitud</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this.servicioLongitud</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servicioLongitud</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@POST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@SecurityRequirement(name = "</a:t>
                      </a:r>
                      <a:r>
                        <a:rPr lang="es-ES" sz="800" dirty="0" err="1">
                          <a:solidFill>
                            <a:srgbClr val="4F81BD"/>
                          </a:solidFill>
                          <a:latin typeface="Calibri"/>
                          <a:ea typeface="Calibri"/>
                          <a:cs typeface="Calibri"/>
                          <a:sym typeface="Calibri"/>
                        </a:rPr>
                        <a:t>bearerAuth</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@Operation(</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operationId</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convertirLpngitud</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summary</a:t>
                      </a:r>
                      <a:r>
                        <a:rPr lang="es-ES" sz="800" dirty="0">
                          <a:solidFill>
                            <a:srgbClr val="4F81BD"/>
                          </a:solidFill>
                          <a:latin typeface="Calibri"/>
                          <a:ea typeface="Calibri"/>
                          <a:cs typeface="Calibri"/>
                          <a:sym typeface="Calibri"/>
                        </a:rPr>
                        <a:t> = "Convertir unidades de longitud",</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description</a:t>
                      </a:r>
                      <a:r>
                        <a:rPr lang="es-ES" sz="800" dirty="0">
                          <a:solidFill>
                            <a:srgbClr val="4F81BD"/>
                          </a:solidFill>
                          <a:latin typeface="Calibri"/>
                          <a:ea typeface="Calibri"/>
                          <a:cs typeface="Calibri"/>
                          <a:sym typeface="Calibri"/>
                        </a:rPr>
                        <a:t> = "Convierte un valor de una unidad de longitud a otra."</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@APIResponses({</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@APIResponse(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responseCode</a:t>
                      </a:r>
                      <a:r>
                        <a:rPr lang="es-ES" sz="800" dirty="0">
                          <a:solidFill>
                            <a:srgbClr val="4F81BD"/>
                          </a:solidFill>
                          <a:latin typeface="Calibri"/>
                          <a:ea typeface="Calibri"/>
                          <a:cs typeface="Calibri"/>
                          <a:sym typeface="Calibri"/>
                        </a:rPr>
                        <a:t> = "200",</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description</a:t>
                      </a:r>
                      <a:r>
                        <a:rPr lang="es-ES" sz="800" dirty="0">
                          <a:solidFill>
                            <a:srgbClr val="4F81BD"/>
                          </a:solidFill>
                          <a:latin typeface="Calibri"/>
                          <a:ea typeface="Calibri"/>
                          <a:cs typeface="Calibri"/>
                          <a:sym typeface="Calibri"/>
                        </a:rPr>
                        <a:t> = "Conversión realizada exitosamente",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content</a:t>
                      </a:r>
                      <a:r>
                        <a:rPr lang="es-ES" sz="800" dirty="0">
                          <a:solidFill>
                            <a:srgbClr val="4F81BD"/>
                          </a:solidFill>
                          <a:latin typeface="Calibri"/>
                          <a:ea typeface="Calibri"/>
                          <a:cs typeface="Calibri"/>
                          <a:sym typeface="Calibri"/>
                        </a:rPr>
                        <a:t> = @Content(mediaType = </a:t>
                      </a:r>
                      <a:r>
                        <a:rPr lang="es-ES" sz="800" dirty="0" err="1">
                          <a:solidFill>
                            <a:srgbClr val="4F81BD"/>
                          </a:solidFill>
                          <a:latin typeface="Calibri"/>
                          <a:ea typeface="Calibri"/>
                          <a:cs typeface="Calibri"/>
                          <a:sym typeface="Calibri"/>
                        </a:rPr>
                        <a:t>MediaType.APPLICATION_JSON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schema</a:t>
                      </a:r>
                      <a:r>
                        <a:rPr lang="es-ES" sz="800" dirty="0">
                          <a:solidFill>
                            <a:srgbClr val="4F81BD"/>
                          </a:solidFill>
                          <a:latin typeface="Calibri"/>
                          <a:ea typeface="Calibri"/>
                          <a:cs typeface="Calibri"/>
                          <a:sym typeface="Calibri"/>
                        </a:rPr>
                        <a:t> = @Schema(implementation = </a:t>
                      </a:r>
                      <a:r>
                        <a:rPr lang="es-ES" sz="800" dirty="0" err="1">
                          <a:solidFill>
                            <a:srgbClr val="4F81BD"/>
                          </a:solidFill>
                          <a:latin typeface="Calibri"/>
                          <a:ea typeface="Calibri"/>
                          <a:cs typeface="Calibri"/>
                          <a:sym typeface="Calibri"/>
                        </a:rPr>
                        <a:t>RespuestaConversion.class</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Response convertir(@RequestBody(</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description</a:t>
                      </a:r>
                      <a:r>
                        <a:rPr lang="es-ES" sz="800" dirty="0">
                          <a:solidFill>
                            <a:srgbClr val="4F81BD"/>
                          </a:solidFill>
                          <a:latin typeface="Calibri"/>
                          <a:ea typeface="Calibri"/>
                          <a:cs typeface="Calibri"/>
                          <a:sym typeface="Calibri"/>
                        </a:rPr>
                        <a:t> = "Datos para la conversión de longitud",</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required</a:t>
                      </a:r>
                      <a:r>
                        <a:rPr lang="es-ES" sz="800" dirty="0">
                          <a:solidFill>
                            <a:srgbClr val="4F81BD"/>
                          </a:solidFill>
                          <a:latin typeface="Calibri"/>
                          <a:ea typeface="Calibri"/>
                          <a:cs typeface="Calibri"/>
                          <a:sym typeface="Calibri"/>
                        </a:rPr>
                        <a:t> = true,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content</a:t>
                      </a:r>
                      <a:r>
                        <a:rPr lang="es-ES" sz="800" dirty="0">
                          <a:solidFill>
                            <a:srgbClr val="4F81BD"/>
                          </a:solidFill>
                          <a:latin typeface="Calibri"/>
                          <a:ea typeface="Calibri"/>
                          <a:cs typeface="Calibri"/>
                          <a:sym typeface="Calibri"/>
                        </a:rPr>
                        <a:t> = @Content(mediaType = </a:t>
                      </a:r>
                      <a:r>
                        <a:rPr lang="es-ES" sz="800" dirty="0" err="1">
                          <a:solidFill>
                            <a:srgbClr val="4F81BD"/>
                          </a:solidFill>
                          <a:latin typeface="Calibri"/>
                          <a:ea typeface="Calibri"/>
                          <a:cs typeface="Calibri"/>
                          <a:sym typeface="Calibri"/>
                        </a:rPr>
                        <a:t>MediaType.APPLICATION_JSON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schema</a:t>
                      </a:r>
                      <a:r>
                        <a:rPr lang="es-ES" sz="800" dirty="0">
                          <a:solidFill>
                            <a:srgbClr val="4F81BD"/>
                          </a:solidFill>
                          <a:latin typeface="Calibri"/>
                          <a:ea typeface="Calibri"/>
                          <a:cs typeface="Calibri"/>
                          <a:sym typeface="Calibri"/>
                        </a:rPr>
                        <a:t> = @Schema(implementation = </a:t>
                      </a:r>
                      <a:r>
                        <a:rPr lang="es-ES" sz="800" dirty="0" err="1">
                          <a:solidFill>
                            <a:srgbClr val="4F81BD"/>
                          </a:solidFill>
                          <a:latin typeface="Calibri"/>
                          <a:ea typeface="Calibri"/>
                          <a:cs typeface="Calibri"/>
                          <a:sym typeface="Calibri"/>
                        </a:rPr>
                        <a:t>SolicitudConversion.class</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 @Valid </a:t>
                      </a:r>
                      <a:r>
                        <a:rPr lang="es-ES" sz="800" dirty="0" err="1">
                          <a:solidFill>
                            <a:srgbClr val="4F81BD"/>
                          </a:solidFill>
                          <a:latin typeface="Calibri"/>
                          <a:ea typeface="Calibri"/>
                          <a:cs typeface="Calibri"/>
                          <a:sym typeface="Calibri"/>
                        </a:rPr>
                        <a:t>SolicitudConversion</a:t>
                      </a:r>
                      <a:r>
                        <a:rPr lang="es-ES" sz="800" dirty="0">
                          <a:solidFill>
                            <a:srgbClr val="4F81BD"/>
                          </a:solidFill>
                          <a:latin typeface="Calibri"/>
                          <a:ea typeface="Calibri"/>
                          <a:cs typeface="Calibri"/>
                          <a:sym typeface="Calibri"/>
                        </a:rPr>
                        <a:t> solicitud)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RespuestaConversion</a:t>
                      </a:r>
                      <a:r>
                        <a:rPr lang="es-ES" sz="800" dirty="0">
                          <a:solidFill>
                            <a:srgbClr val="4F81BD"/>
                          </a:solidFill>
                          <a:latin typeface="Calibri"/>
                          <a:ea typeface="Calibri"/>
                          <a:cs typeface="Calibri"/>
                          <a:sym typeface="Calibri"/>
                        </a:rPr>
                        <a:t> respuesta = </a:t>
                      </a:r>
                      <a:r>
                        <a:rPr lang="es-ES" sz="800" dirty="0" err="1">
                          <a:solidFill>
                            <a:srgbClr val="4F81BD"/>
                          </a:solidFill>
                          <a:latin typeface="Calibri"/>
                          <a:ea typeface="Calibri"/>
                          <a:cs typeface="Calibri"/>
                          <a:sym typeface="Calibri"/>
                        </a:rPr>
                        <a:t>servicioLongitud.convertir</a:t>
                      </a:r>
                      <a:r>
                        <a:rPr lang="es-ES" sz="800" dirty="0">
                          <a:solidFill>
                            <a:srgbClr val="4F81BD"/>
                          </a:solidFill>
                          <a:latin typeface="Calibri"/>
                          <a:ea typeface="Calibri"/>
                          <a:cs typeface="Calibri"/>
                          <a:sym typeface="Calibri"/>
                        </a:rPr>
                        <a:t>(solicitud);</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Response.ok</a:t>
                      </a:r>
                      <a:r>
                        <a:rPr lang="es-ES" sz="800" dirty="0">
                          <a:solidFill>
                            <a:srgbClr val="4F81BD"/>
                          </a:solidFill>
                          <a:latin typeface="Calibri"/>
                          <a:ea typeface="Calibri"/>
                          <a:cs typeface="Calibri"/>
                          <a:sym typeface="Calibri"/>
                        </a:rPr>
                        <a:t>(respuesta).</a:t>
                      </a:r>
                      <a:r>
                        <a:rPr lang="es-ES" sz="800" dirty="0" err="1">
                          <a:solidFill>
                            <a:srgbClr val="4F81BD"/>
                          </a:solidFill>
                          <a:latin typeface="Calibri"/>
                          <a:ea typeface="Calibri"/>
                          <a:cs typeface="Calibri"/>
                          <a:sym typeface="Calibri"/>
                        </a:rPr>
                        <a:t>build</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a:t>
                      </a:r>
                    </a:p>
                  </a:txBody>
                  <a:tcPr marL="63500" marR="63500" marT="63500" marB="63500"/>
                </a:tc>
                <a:extLst>
                  <a:ext uri="{0D108BD9-81ED-4DB2-BD59-A6C34878D82A}">
                    <a16:rowId xmlns:a16="http://schemas.microsoft.com/office/drawing/2014/main" val="10000"/>
                  </a:ext>
                </a:extLst>
              </a:tr>
            </a:tbl>
          </a:graphicData>
        </a:graphic>
      </p:graphicFrame>
      <p:sp>
        <p:nvSpPr>
          <p:cNvPr id="205" name="Google Shape;205;p2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06" name="Google Shape;206;p26"/>
          <p:cNvSpPr txBox="1">
            <a:spLocks noGrp="1"/>
          </p:cNvSpPr>
          <p:nvPr>
            <p:ph type="body" idx="1"/>
          </p:nvPr>
        </p:nvSpPr>
        <p:spPr>
          <a:xfrm>
            <a:off x="581200" y="2180500"/>
            <a:ext cx="2402100" cy="3965700"/>
          </a:xfrm>
          <a:prstGeom prst="rect">
            <a:avLst/>
          </a:prstGeom>
          <a:noFill/>
          <a:ln>
            <a:noFill/>
          </a:ln>
        </p:spPr>
        <p:txBody>
          <a:bodyPr spcFirstLastPara="1" wrap="square" lIns="91425" tIns="45700" rIns="91425" bIns="45700" anchor="ctr" anchorCtr="0">
            <a:normAutofit/>
          </a:bodyPr>
          <a:lstStyle/>
          <a:p>
            <a:pPr marL="457200" lvl="0" indent="-335090" algn="just" rtl="0">
              <a:lnSpc>
                <a:spcPct val="107000"/>
              </a:lnSpc>
              <a:spcBef>
                <a:spcPts val="0"/>
              </a:spcBef>
              <a:spcAft>
                <a:spcPts val="0"/>
              </a:spcAft>
              <a:buSzPts val="1677"/>
              <a:buFont typeface="Cambria"/>
              <a:buChar char="∙"/>
            </a:pPr>
            <a:r>
              <a:rPr lang="es-ES" sz="1677" dirty="0">
                <a:latin typeface="Cambria"/>
                <a:ea typeface="Cambria"/>
                <a:cs typeface="Cambria"/>
                <a:sym typeface="Cambria"/>
              </a:rPr>
              <a:t>4. Se crean los métodos respectivos, incluyendo el de autenticación</a:t>
            </a:r>
            <a:endParaRPr sz="1677" b="1" dirty="0">
              <a:latin typeface="Cambria"/>
              <a:ea typeface="Cambria"/>
              <a:cs typeface="Cambria"/>
              <a:sym typeface="Cambria"/>
            </a:endParaRPr>
          </a:p>
          <a:p>
            <a:pPr marL="457200" marR="0" lvl="0" indent="0" algn="just" rtl="0">
              <a:lnSpc>
                <a:spcPct val="107000"/>
              </a:lnSpc>
              <a:spcBef>
                <a:spcPts val="0"/>
              </a:spcBef>
              <a:spcAft>
                <a:spcPts val="0"/>
              </a:spcAft>
              <a:buSzPts val="1790"/>
              <a:buNone/>
            </a:pPr>
            <a:endParaRPr sz="1591"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p:txBody>
      </p:sp>
      <p:sp>
        <p:nvSpPr>
          <p:cNvPr id="207" name="Google Shape;207;p26"/>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3">
          <a:extLst>
            <a:ext uri="{FF2B5EF4-FFF2-40B4-BE49-F238E27FC236}">
              <a16:creationId xmlns:a16="http://schemas.microsoft.com/office/drawing/2014/main" id="{A620FEAD-21BF-7EC6-9E29-05FBB08593F8}"/>
            </a:ext>
          </a:extLst>
        </p:cNvPr>
        <p:cNvGrpSpPr/>
        <p:nvPr/>
      </p:nvGrpSpPr>
      <p:grpSpPr>
        <a:xfrm>
          <a:off x="0" y="0"/>
          <a:ext cx="0" cy="0"/>
          <a:chOff x="0" y="0"/>
          <a:chExt cx="0" cy="0"/>
        </a:xfrm>
      </p:grpSpPr>
      <p:graphicFrame>
        <p:nvGraphicFramePr>
          <p:cNvPr id="204" name="Google Shape;204;p26">
            <a:extLst>
              <a:ext uri="{FF2B5EF4-FFF2-40B4-BE49-F238E27FC236}">
                <a16:creationId xmlns:a16="http://schemas.microsoft.com/office/drawing/2014/main" id="{EF4A4FF5-7F25-57CB-FAD5-6B4E3B511076}"/>
              </a:ext>
            </a:extLst>
          </p:cNvPr>
          <p:cNvGraphicFramePr/>
          <p:nvPr>
            <p:extLst>
              <p:ext uri="{D42A27DB-BD31-4B8C-83A1-F6EECF244321}">
                <p14:modId xmlns:p14="http://schemas.microsoft.com/office/powerpoint/2010/main" val="3448789674"/>
              </p:ext>
            </p:extLst>
          </p:nvPr>
        </p:nvGraphicFramePr>
        <p:xfrm>
          <a:off x="3449998" y="1896483"/>
          <a:ext cx="4776817" cy="4759960"/>
        </p:xfrm>
        <a:graphic>
          <a:graphicData uri="http://schemas.openxmlformats.org/drawingml/2006/table">
            <a:tbl>
              <a:tblPr>
                <a:noFill/>
                <a:tableStyleId>{BF136021-7255-42B7-A7E7-87A8D8FFE9CA}</a:tableStyleId>
              </a:tblPr>
              <a:tblGrid>
                <a:gridCol w="4776817">
                  <a:extLst>
                    <a:ext uri="{9D8B030D-6E8A-4147-A177-3AD203B41FA5}">
                      <a16:colId xmlns:a16="http://schemas.microsoft.com/office/drawing/2014/main" val="20000"/>
                    </a:ext>
                  </a:extLst>
                </a:gridCol>
              </a:tblGrid>
              <a:tr h="2856749">
                <a:tc>
                  <a:txBody>
                    <a:bodyPr/>
                    <a:lstStyle/>
                    <a:p>
                      <a:pPr marL="0" lvl="0" indent="0" algn="l" rtl="0">
                        <a:spcBef>
                          <a:spcPts val="0"/>
                        </a:spcBef>
                        <a:spcAft>
                          <a:spcPts val="0"/>
                        </a:spcAft>
                        <a:buNone/>
                      </a:pPr>
                      <a:r>
                        <a:rPr lang="es-ES" sz="800" dirty="0">
                          <a:solidFill>
                            <a:srgbClr val="4F81BD"/>
                          </a:solidFill>
                          <a:latin typeface="Calibri"/>
                          <a:ea typeface="Calibri"/>
                          <a:cs typeface="Calibri"/>
                          <a:sym typeface="Calibri"/>
                        </a:rPr>
                        <a:t>@Path("/conversion/temperatura")</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@Produces(MediaType.APPLICATION_JSON)</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@Consumes(MediaType.APPLICATION_JSON)</a:t>
                      </a:r>
                    </a:p>
                    <a:p>
                      <a:pPr marL="0" lvl="0" indent="0" algn="l" rtl="0">
                        <a:spcBef>
                          <a:spcPts val="0"/>
                        </a:spcBef>
                        <a:spcAft>
                          <a:spcPts val="0"/>
                        </a:spcAft>
                        <a:buNone/>
                      </a:pP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class</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ControladorTemperatura</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final </a:t>
                      </a:r>
                      <a:r>
                        <a:rPr lang="es-ES" sz="800" dirty="0" err="1">
                          <a:solidFill>
                            <a:srgbClr val="4F81BD"/>
                          </a:solidFill>
                          <a:latin typeface="Calibri"/>
                          <a:ea typeface="Calibri"/>
                          <a:cs typeface="Calibri"/>
                          <a:sym typeface="Calibri"/>
                        </a:rPr>
                        <a:t>ServicioTemperatura</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servicioTemperatura</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@Inject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ControladorTemperatura</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ServicioTemperatura</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servicioTemperatura</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this.servicioTemperatura</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servicioTemperatura</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@POST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@SecurityRequirement(name = "</a:t>
                      </a:r>
                      <a:r>
                        <a:rPr lang="es-ES" sz="800" dirty="0" err="1">
                          <a:solidFill>
                            <a:srgbClr val="4F81BD"/>
                          </a:solidFill>
                          <a:latin typeface="Calibri"/>
                          <a:ea typeface="Calibri"/>
                          <a:cs typeface="Calibri"/>
                          <a:sym typeface="Calibri"/>
                        </a:rPr>
                        <a:t>bearerAuth</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@Operation(</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operationId</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convertirTemperatura</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summary</a:t>
                      </a:r>
                      <a:r>
                        <a:rPr lang="es-ES" sz="800" dirty="0">
                          <a:solidFill>
                            <a:srgbClr val="4F81BD"/>
                          </a:solidFill>
                          <a:latin typeface="Calibri"/>
                          <a:ea typeface="Calibri"/>
                          <a:cs typeface="Calibri"/>
                          <a:sym typeface="Calibri"/>
                        </a:rPr>
                        <a:t> = "Convertir unidades de temperatura",</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description</a:t>
                      </a:r>
                      <a:r>
                        <a:rPr lang="es-ES" sz="800" dirty="0">
                          <a:solidFill>
                            <a:srgbClr val="4F81BD"/>
                          </a:solidFill>
                          <a:latin typeface="Calibri"/>
                          <a:ea typeface="Calibri"/>
                          <a:cs typeface="Calibri"/>
                          <a:sym typeface="Calibri"/>
                        </a:rPr>
                        <a:t> = "Convierte un valor de una unidad de temperatura a otra."</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@APIResponses({</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@APIResponse(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responseCode</a:t>
                      </a:r>
                      <a:r>
                        <a:rPr lang="es-ES" sz="800" dirty="0">
                          <a:solidFill>
                            <a:srgbClr val="4F81BD"/>
                          </a:solidFill>
                          <a:latin typeface="Calibri"/>
                          <a:ea typeface="Calibri"/>
                          <a:cs typeface="Calibri"/>
                          <a:sym typeface="Calibri"/>
                        </a:rPr>
                        <a:t> = "200",</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description</a:t>
                      </a:r>
                      <a:r>
                        <a:rPr lang="es-ES" sz="800" dirty="0">
                          <a:solidFill>
                            <a:srgbClr val="4F81BD"/>
                          </a:solidFill>
                          <a:latin typeface="Calibri"/>
                          <a:ea typeface="Calibri"/>
                          <a:cs typeface="Calibri"/>
                          <a:sym typeface="Calibri"/>
                        </a:rPr>
                        <a:t> = "Conversión realizada exitosamente",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content</a:t>
                      </a:r>
                      <a:r>
                        <a:rPr lang="es-ES" sz="800" dirty="0">
                          <a:solidFill>
                            <a:srgbClr val="4F81BD"/>
                          </a:solidFill>
                          <a:latin typeface="Calibri"/>
                          <a:ea typeface="Calibri"/>
                          <a:cs typeface="Calibri"/>
                          <a:sym typeface="Calibri"/>
                        </a:rPr>
                        <a:t> = @Content(mediaType = </a:t>
                      </a:r>
                      <a:r>
                        <a:rPr lang="es-ES" sz="800" dirty="0" err="1">
                          <a:solidFill>
                            <a:srgbClr val="4F81BD"/>
                          </a:solidFill>
                          <a:latin typeface="Calibri"/>
                          <a:ea typeface="Calibri"/>
                          <a:cs typeface="Calibri"/>
                          <a:sym typeface="Calibri"/>
                        </a:rPr>
                        <a:t>MediaType.APPLICATION_JSON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schema</a:t>
                      </a:r>
                      <a:r>
                        <a:rPr lang="es-ES" sz="800" dirty="0">
                          <a:solidFill>
                            <a:srgbClr val="4F81BD"/>
                          </a:solidFill>
                          <a:latin typeface="Calibri"/>
                          <a:ea typeface="Calibri"/>
                          <a:cs typeface="Calibri"/>
                          <a:sym typeface="Calibri"/>
                        </a:rPr>
                        <a:t> = @Schema(implementation = </a:t>
                      </a:r>
                      <a:r>
                        <a:rPr lang="es-ES" sz="800" dirty="0" err="1">
                          <a:solidFill>
                            <a:srgbClr val="4F81BD"/>
                          </a:solidFill>
                          <a:latin typeface="Calibri"/>
                          <a:ea typeface="Calibri"/>
                          <a:cs typeface="Calibri"/>
                          <a:sym typeface="Calibri"/>
                        </a:rPr>
                        <a:t>RespuestaConversion.class</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Response convertir(@RequestBody(</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description</a:t>
                      </a:r>
                      <a:r>
                        <a:rPr lang="es-ES" sz="800" dirty="0">
                          <a:solidFill>
                            <a:srgbClr val="4F81BD"/>
                          </a:solidFill>
                          <a:latin typeface="Calibri"/>
                          <a:ea typeface="Calibri"/>
                          <a:cs typeface="Calibri"/>
                          <a:sym typeface="Calibri"/>
                        </a:rPr>
                        <a:t> = "Datos para la conversión de temperatura",</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required</a:t>
                      </a:r>
                      <a:r>
                        <a:rPr lang="es-ES" sz="800" dirty="0">
                          <a:solidFill>
                            <a:srgbClr val="4F81BD"/>
                          </a:solidFill>
                          <a:latin typeface="Calibri"/>
                          <a:ea typeface="Calibri"/>
                          <a:cs typeface="Calibri"/>
                          <a:sym typeface="Calibri"/>
                        </a:rPr>
                        <a:t> = true,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content</a:t>
                      </a:r>
                      <a:r>
                        <a:rPr lang="es-ES" sz="800" dirty="0">
                          <a:solidFill>
                            <a:srgbClr val="4F81BD"/>
                          </a:solidFill>
                          <a:latin typeface="Calibri"/>
                          <a:ea typeface="Calibri"/>
                          <a:cs typeface="Calibri"/>
                          <a:sym typeface="Calibri"/>
                        </a:rPr>
                        <a:t> = @Content(mediaType = </a:t>
                      </a:r>
                      <a:r>
                        <a:rPr lang="es-ES" sz="800" dirty="0" err="1">
                          <a:solidFill>
                            <a:srgbClr val="4F81BD"/>
                          </a:solidFill>
                          <a:latin typeface="Calibri"/>
                          <a:ea typeface="Calibri"/>
                          <a:cs typeface="Calibri"/>
                          <a:sym typeface="Calibri"/>
                        </a:rPr>
                        <a:t>MediaType.APPLICATION_JSON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schema</a:t>
                      </a:r>
                      <a:r>
                        <a:rPr lang="es-ES" sz="800" dirty="0">
                          <a:solidFill>
                            <a:srgbClr val="4F81BD"/>
                          </a:solidFill>
                          <a:latin typeface="Calibri"/>
                          <a:ea typeface="Calibri"/>
                          <a:cs typeface="Calibri"/>
                          <a:sym typeface="Calibri"/>
                        </a:rPr>
                        <a:t> = @Schema(implementation = </a:t>
                      </a:r>
                      <a:r>
                        <a:rPr lang="es-ES" sz="800" dirty="0" err="1">
                          <a:solidFill>
                            <a:srgbClr val="4F81BD"/>
                          </a:solidFill>
                          <a:latin typeface="Calibri"/>
                          <a:ea typeface="Calibri"/>
                          <a:cs typeface="Calibri"/>
                          <a:sym typeface="Calibri"/>
                        </a:rPr>
                        <a:t>SolicitudConversion.class</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 @Valid </a:t>
                      </a:r>
                      <a:r>
                        <a:rPr lang="es-ES" sz="800" dirty="0" err="1">
                          <a:solidFill>
                            <a:srgbClr val="4F81BD"/>
                          </a:solidFill>
                          <a:latin typeface="Calibri"/>
                          <a:ea typeface="Calibri"/>
                          <a:cs typeface="Calibri"/>
                          <a:sym typeface="Calibri"/>
                        </a:rPr>
                        <a:t>SolicitudConversion</a:t>
                      </a:r>
                      <a:r>
                        <a:rPr lang="es-ES" sz="800" dirty="0">
                          <a:solidFill>
                            <a:srgbClr val="4F81BD"/>
                          </a:solidFill>
                          <a:latin typeface="Calibri"/>
                          <a:ea typeface="Calibri"/>
                          <a:cs typeface="Calibri"/>
                          <a:sym typeface="Calibri"/>
                        </a:rPr>
                        <a:t> solicitud)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RespuestaConversion</a:t>
                      </a:r>
                      <a:r>
                        <a:rPr lang="es-ES" sz="800" dirty="0">
                          <a:solidFill>
                            <a:srgbClr val="4F81BD"/>
                          </a:solidFill>
                          <a:latin typeface="Calibri"/>
                          <a:ea typeface="Calibri"/>
                          <a:cs typeface="Calibri"/>
                          <a:sym typeface="Calibri"/>
                        </a:rPr>
                        <a:t> respuesta = </a:t>
                      </a:r>
                      <a:r>
                        <a:rPr lang="es-ES" sz="800" dirty="0" err="1">
                          <a:solidFill>
                            <a:srgbClr val="4F81BD"/>
                          </a:solidFill>
                          <a:latin typeface="Calibri"/>
                          <a:ea typeface="Calibri"/>
                          <a:cs typeface="Calibri"/>
                          <a:sym typeface="Calibri"/>
                        </a:rPr>
                        <a:t>servicioTemperatura.convertir</a:t>
                      </a:r>
                      <a:r>
                        <a:rPr lang="es-ES" sz="800" dirty="0">
                          <a:solidFill>
                            <a:srgbClr val="4F81BD"/>
                          </a:solidFill>
                          <a:latin typeface="Calibri"/>
                          <a:ea typeface="Calibri"/>
                          <a:cs typeface="Calibri"/>
                          <a:sym typeface="Calibri"/>
                        </a:rPr>
                        <a:t>(solicitud);</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Response.ok</a:t>
                      </a:r>
                      <a:r>
                        <a:rPr lang="es-ES" sz="800" dirty="0">
                          <a:solidFill>
                            <a:srgbClr val="4F81BD"/>
                          </a:solidFill>
                          <a:latin typeface="Calibri"/>
                          <a:ea typeface="Calibri"/>
                          <a:cs typeface="Calibri"/>
                          <a:sym typeface="Calibri"/>
                        </a:rPr>
                        <a:t>(respuesta).</a:t>
                      </a:r>
                      <a:r>
                        <a:rPr lang="es-ES" sz="800" dirty="0" err="1">
                          <a:solidFill>
                            <a:srgbClr val="4F81BD"/>
                          </a:solidFill>
                          <a:latin typeface="Calibri"/>
                          <a:ea typeface="Calibri"/>
                          <a:cs typeface="Calibri"/>
                          <a:sym typeface="Calibri"/>
                        </a:rPr>
                        <a:t>build</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a:t>
                      </a:r>
                    </a:p>
                  </a:txBody>
                  <a:tcPr marL="63500" marR="63500" marT="63500" marB="63500"/>
                </a:tc>
                <a:extLst>
                  <a:ext uri="{0D108BD9-81ED-4DB2-BD59-A6C34878D82A}">
                    <a16:rowId xmlns:a16="http://schemas.microsoft.com/office/drawing/2014/main" val="10000"/>
                  </a:ext>
                </a:extLst>
              </a:tr>
            </a:tbl>
          </a:graphicData>
        </a:graphic>
      </p:graphicFrame>
      <p:sp>
        <p:nvSpPr>
          <p:cNvPr id="205" name="Google Shape;205;p26">
            <a:extLst>
              <a:ext uri="{FF2B5EF4-FFF2-40B4-BE49-F238E27FC236}">
                <a16:creationId xmlns:a16="http://schemas.microsoft.com/office/drawing/2014/main" id="{0BB75406-6C66-9320-FE11-0B2B917ECAAF}"/>
              </a:ext>
            </a:extLst>
          </p:cNvPr>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06" name="Google Shape;206;p26">
            <a:extLst>
              <a:ext uri="{FF2B5EF4-FFF2-40B4-BE49-F238E27FC236}">
                <a16:creationId xmlns:a16="http://schemas.microsoft.com/office/drawing/2014/main" id="{8759F4C1-C2A7-07E7-0E56-86B5A66D60C1}"/>
              </a:ext>
            </a:extLst>
          </p:cNvPr>
          <p:cNvSpPr txBox="1">
            <a:spLocks noGrp="1"/>
          </p:cNvSpPr>
          <p:nvPr>
            <p:ph type="body" idx="1"/>
          </p:nvPr>
        </p:nvSpPr>
        <p:spPr>
          <a:xfrm>
            <a:off x="581200" y="2180500"/>
            <a:ext cx="2402100" cy="3965700"/>
          </a:xfrm>
          <a:prstGeom prst="rect">
            <a:avLst/>
          </a:prstGeom>
          <a:noFill/>
          <a:ln>
            <a:noFill/>
          </a:ln>
        </p:spPr>
        <p:txBody>
          <a:bodyPr spcFirstLastPara="1" wrap="square" lIns="91425" tIns="45700" rIns="91425" bIns="45700" anchor="ctr" anchorCtr="0">
            <a:normAutofit/>
          </a:bodyPr>
          <a:lstStyle/>
          <a:p>
            <a:pPr marL="457200" lvl="0" indent="-335090" algn="just" rtl="0">
              <a:lnSpc>
                <a:spcPct val="107000"/>
              </a:lnSpc>
              <a:spcBef>
                <a:spcPts val="0"/>
              </a:spcBef>
              <a:spcAft>
                <a:spcPts val="0"/>
              </a:spcAft>
              <a:buSzPts val="1677"/>
              <a:buFont typeface="Cambria"/>
              <a:buChar char="∙"/>
            </a:pPr>
            <a:r>
              <a:rPr lang="es-ES" sz="1677" dirty="0">
                <a:latin typeface="Cambria"/>
                <a:ea typeface="Cambria"/>
                <a:cs typeface="Cambria"/>
                <a:sym typeface="Cambria"/>
              </a:rPr>
              <a:t>4. Se crean los métodos respectivos, incluyendo el de autenticación</a:t>
            </a:r>
            <a:endParaRPr sz="1677" b="1" dirty="0">
              <a:latin typeface="Cambria"/>
              <a:ea typeface="Cambria"/>
              <a:cs typeface="Cambria"/>
              <a:sym typeface="Cambria"/>
            </a:endParaRPr>
          </a:p>
          <a:p>
            <a:pPr marL="457200" marR="0" lvl="0" indent="0" algn="just" rtl="0">
              <a:lnSpc>
                <a:spcPct val="107000"/>
              </a:lnSpc>
              <a:spcBef>
                <a:spcPts val="0"/>
              </a:spcBef>
              <a:spcAft>
                <a:spcPts val="0"/>
              </a:spcAft>
              <a:buSzPts val="1790"/>
              <a:buNone/>
            </a:pPr>
            <a:endParaRPr sz="1591" dirty="0">
              <a:latin typeface="Cambria"/>
              <a:ea typeface="Cambria"/>
              <a:cs typeface="Cambria"/>
              <a:sym typeface="Cambria"/>
            </a:endParaRPr>
          </a:p>
          <a:p>
            <a:pPr marL="342900" marR="0" lvl="0" indent="-245629" algn="just" rtl="0">
              <a:lnSpc>
                <a:spcPct val="107000"/>
              </a:lnSpc>
              <a:spcBef>
                <a:spcPts val="0"/>
              </a:spcBef>
              <a:spcAft>
                <a:spcPts val="0"/>
              </a:spcAft>
              <a:buSzPts val="1656"/>
              <a:buFont typeface="Noto Sans Symbols"/>
              <a:buNone/>
            </a:pPr>
            <a:endParaRPr sz="1800" dirty="0">
              <a:latin typeface="Cambria"/>
              <a:ea typeface="Cambria"/>
              <a:cs typeface="Cambria"/>
              <a:sym typeface="Cambria"/>
            </a:endParaRPr>
          </a:p>
        </p:txBody>
      </p:sp>
      <p:sp>
        <p:nvSpPr>
          <p:cNvPr id="207" name="Google Shape;207;p26">
            <a:extLst>
              <a:ext uri="{FF2B5EF4-FFF2-40B4-BE49-F238E27FC236}">
                <a16:creationId xmlns:a16="http://schemas.microsoft.com/office/drawing/2014/main" id="{D66BCFA1-82AF-B690-12B6-3F708D59EF61}"/>
              </a:ext>
            </a:extLst>
          </p:cNvPr>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Tree>
    <p:extLst>
      <p:ext uri="{BB962C8B-B14F-4D97-AF65-F5344CB8AC3E}">
        <p14:creationId xmlns:p14="http://schemas.microsoft.com/office/powerpoint/2010/main" val="845104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27"/>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13" name="Google Shape;213;p27"/>
          <p:cNvSpPr txBox="1">
            <a:spLocks noGrp="1"/>
          </p:cNvSpPr>
          <p:nvPr>
            <p:ph type="body" idx="1"/>
          </p:nvPr>
        </p:nvSpPr>
        <p:spPr>
          <a:xfrm>
            <a:off x="455658" y="1977587"/>
            <a:ext cx="8630677" cy="16335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785"/>
              <a:buChar char="∙"/>
            </a:pPr>
            <a:r>
              <a:rPr lang="es-ES" sz="1700" b="1" dirty="0">
                <a:latin typeface="Cambria"/>
                <a:ea typeface="Cambria"/>
                <a:cs typeface="Cambria"/>
                <a:sym typeface="Cambria"/>
              </a:rPr>
              <a:t>1.2.4 	Autenticación</a:t>
            </a:r>
            <a:endParaRPr sz="1700" dirty="0">
              <a:latin typeface="Cambria"/>
              <a:ea typeface="Cambria"/>
              <a:cs typeface="Cambria"/>
              <a:sym typeface="Cambria"/>
            </a:endParaRPr>
          </a:p>
          <a:p>
            <a:pPr marL="342900" marR="0" lvl="0" indent="-323850" algn="just" rtl="0">
              <a:lnSpc>
                <a:spcPct val="107000"/>
              </a:lnSpc>
              <a:spcBef>
                <a:spcPts val="0"/>
              </a:spcBef>
              <a:spcAft>
                <a:spcPts val="0"/>
              </a:spcAft>
              <a:buSzPts val="1356"/>
              <a:buFont typeface="Cambria"/>
              <a:buChar char="∙"/>
            </a:pPr>
            <a:r>
              <a:rPr lang="es-ES" sz="1700" dirty="0">
                <a:latin typeface="Cambria"/>
                <a:ea typeface="Cambria"/>
                <a:cs typeface="Cambria"/>
                <a:sym typeface="Cambria"/>
              </a:rPr>
              <a:t>Una clase importante a mencionar es el </a:t>
            </a:r>
            <a:r>
              <a:rPr lang="es-ES" sz="1700" dirty="0" err="1">
                <a:latin typeface="Cambria"/>
                <a:ea typeface="Cambria"/>
                <a:cs typeface="Cambria"/>
                <a:sym typeface="Cambria"/>
              </a:rPr>
              <a:t>FiltroAutenticacionJWT</a:t>
            </a:r>
            <a:r>
              <a:rPr lang="es-ES" sz="1700" dirty="0">
                <a:latin typeface="Cambria"/>
                <a:ea typeface="Cambria"/>
                <a:cs typeface="Cambria"/>
                <a:sym typeface="Cambria"/>
              </a:rPr>
              <a:t> y el </a:t>
            </a:r>
            <a:r>
              <a:rPr lang="es-ES" sz="1700" dirty="0" err="1">
                <a:latin typeface="Cambria"/>
                <a:ea typeface="Cambria"/>
                <a:cs typeface="Cambria"/>
                <a:sym typeface="Cambria"/>
              </a:rPr>
              <a:t>ProveedorTokenJWT</a:t>
            </a:r>
            <a:r>
              <a:rPr lang="es-ES" sz="1700" dirty="0">
                <a:latin typeface="Cambria"/>
                <a:ea typeface="Cambria"/>
                <a:cs typeface="Cambria"/>
                <a:sym typeface="Cambria"/>
              </a:rPr>
              <a:t>, que sirve como un middleware en servicios RESTFUL con el fin de autenticar debidamente antes de permitir el paso a los métodos de cada uno de los </a:t>
            </a:r>
            <a:r>
              <a:rPr lang="es-ES" sz="1700" dirty="0" err="1">
                <a:latin typeface="Cambria"/>
                <a:ea typeface="Cambria"/>
                <a:cs typeface="Cambria"/>
                <a:sym typeface="Cambria"/>
              </a:rPr>
              <a:t>endpoints</a:t>
            </a:r>
            <a:r>
              <a:rPr lang="es-ES" sz="1700" dirty="0">
                <a:latin typeface="Cambria"/>
                <a:ea typeface="Cambria"/>
                <a:cs typeface="Cambria"/>
                <a:sym typeface="Cambria"/>
              </a:rPr>
              <a:t> del web </a:t>
            </a:r>
            <a:r>
              <a:rPr lang="es-ES" sz="1700" dirty="0" err="1">
                <a:latin typeface="Cambria"/>
                <a:ea typeface="Cambria"/>
                <a:cs typeface="Cambria"/>
                <a:sym typeface="Cambria"/>
              </a:rPr>
              <a:t>service</a:t>
            </a:r>
            <a:r>
              <a:rPr lang="es-ES" sz="1700" dirty="0">
                <a:latin typeface="Cambria"/>
                <a:ea typeface="Cambria"/>
                <a:cs typeface="Cambria"/>
                <a:sym typeface="Cambria"/>
              </a:rPr>
              <a:t>.</a:t>
            </a:r>
            <a:endParaRPr sz="1700" dirty="0">
              <a:latin typeface="Cambria"/>
              <a:ea typeface="Cambria"/>
              <a:cs typeface="Cambria"/>
              <a:sym typeface="Cambria"/>
            </a:endParaRPr>
          </a:p>
        </p:txBody>
      </p:sp>
      <p:sp>
        <p:nvSpPr>
          <p:cNvPr id="214" name="Google Shape;214;p27"/>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4" name="Picture 3">
            <a:extLst>
              <a:ext uri="{FF2B5EF4-FFF2-40B4-BE49-F238E27FC236}">
                <a16:creationId xmlns:a16="http://schemas.microsoft.com/office/drawing/2014/main" id="{A8337B89-5C78-D8D3-EBC0-AB41E5DE979B}"/>
              </a:ext>
            </a:extLst>
          </p:cNvPr>
          <p:cNvPicPr>
            <a:picLocks noChangeAspect="1"/>
          </p:cNvPicPr>
          <p:nvPr/>
        </p:nvPicPr>
        <p:blipFill>
          <a:blip r:embed="rId3"/>
          <a:stretch>
            <a:fillRect/>
          </a:stretch>
        </p:blipFill>
        <p:spPr>
          <a:xfrm>
            <a:off x="2181552" y="3944018"/>
            <a:ext cx="6250811" cy="221182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8"/>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21" name="Google Shape;221;p28"/>
          <p:cNvSpPr txBox="1">
            <a:spLocks noGrp="1"/>
          </p:cNvSpPr>
          <p:nvPr>
            <p:ph type="body" idx="1"/>
          </p:nvPr>
        </p:nvSpPr>
        <p:spPr>
          <a:xfrm>
            <a:off x="581192" y="1876272"/>
            <a:ext cx="8589300" cy="1248600"/>
          </a:xfrm>
          <a:prstGeom prst="rect">
            <a:avLst/>
          </a:prstGeom>
          <a:noFill/>
          <a:ln>
            <a:noFill/>
          </a:ln>
        </p:spPr>
        <p:txBody>
          <a:bodyPr spcFirstLastPara="1" wrap="square" lIns="91425" tIns="45700" rIns="91425" bIns="45700" anchor="ctr" anchorCtr="0">
            <a:normAutofit/>
          </a:bodyPr>
          <a:lstStyle/>
          <a:p>
            <a:pPr marL="457200" lvl="0" indent="-327406" algn="just" rtl="0">
              <a:lnSpc>
                <a:spcPct val="107000"/>
              </a:lnSpc>
              <a:spcBef>
                <a:spcPts val="0"/>
              </a:spcBef>
              <a:spcAft>
                <a:spcPts val="0"/>
              </a:spcAft>
              <a:buSzPts val="1556"/>
              <a:buChar char="∙"/>
            </a:pPr>
            <a:r>
              <a:rPr lang="es-ES" sz="1400" dirty="0">
                <a:latin typeface="Cambria"/>
                <a:ea typeface="Cambria"/>
                <a:cs typeface="Cambria"/>
                <a:sym typeface="Cambria"/>
              </a:rPr>
              <a:t>Por otro lado, la clase del </a:t>
            </a:r>
            <a:r>
              <a:rPr lang="es-ES" sz="1400" dirty="0" err="1">
                <a:latin typeface="Cambria"/>
                <a:ea typeface="Cambria"/>
                <a:cs typeface="Cambria"/>
                <a:sym typeface="Cambria"/>
              </a:rPr>
              <a:t>ServicioAutenticacion</a:t>
            </a:r>
            <a:r>
              <a:rPr lang="es-ES" sz="1400" dirty="0">
                <a:latin typeface="Cambria"/>
                <a:ea typeface="Cambria"/>
                <a:cs typeface="Cambria"/>
                <a:sym typeface="Cambria"/>
              </a:rPr>
              <a:t> contiene la lógica que se puede observar en la Tabla junto a la complementaria para gestionar la autenticación con tokens y la autenticación que maneja credenciales </a:t>
            </a:r>
            <a:r>
              <a:rPr lang="es-ES" sz="1400" dirty="0" err="1">
                <a:latin typeface="Cambria"/>
                <a:ea typeface="Cambria"/>
                <a:cs typeface="Cambria"/>
                <a:sym typeface="Cambria"/>
              </a:rPr>
              <a:t>hardcodeadas</a:t>
            </a:r>
            <a:r>
              <a:rPr lang="es-ES" sz="1400" dirty="0">
                <a:latin typeface="Cambria"/>
                <a:ea typeface="Cambria"/>
                <a:cs typeface="Cambria"/>
                <a:sym typeface="Cambria"/>
              </a:rPr>
              <a:t> en código (Usuario: </a:t>
            </a:r>
            <a:r>
              <a:rPr lang="es-ES" sz="1400" b="1" dirty="0">
                <a:latin typeface="Cambria"/>
                <a:ea typeface="Cambria"/>
                <a:cs typeface="Cambria"/>
                <a:sym typeface="Cambria"/>
              </a:rPr>
              <a:t>MONSTER</a:t>
            </a:r>
            <a:r>
              <a:rPr lang="es-ES" sz="1400" dirty="0">
                <a:latin typeface="Cambria"/>
                <a:ea typeface="Cambria"/>
                <a:cs typeface="Cambria"/>
                <a:sym typeface="Cambria"/>
              </a:rPr>
              <a:t>, Contraseña: </a:t>
            </a:r>
            <a:r>
              <a:rPr lang="es-ES" sz="1400" b="1" dirty="0">
                <a:latin typeface="Cambria"/>
                <a:ea typeface="Cambria"/>
                <a:cs typeface="Cambria"/>
                <a:sym typeface="Cambria"/>
              </a:rPr>
              <a:t>MONSTER9</a:t>
            </a:r>
            <a:r>
              <a:rPr lang="es-ES" sz="1400" dirty="0">
                <a:latin typeface="Cambria"/>
                <a:ea typeface="Cambria"/>
                <a:cs typeface="Cambria"/>
                <a:sym typeface="Cambria"/>
              </a:rPr>
              <a:t>)</a:t>
            </a:r>
            <a:endParaRPr sz="1400" dirty="0">
              <a:latin typeface="Cambria"/>
              <a:ea typeface="Cambria"/>
              <a:cs typeface="Cambria"/>
              <a:sym typeface="Cambria"/>
            </a:endParaRPr>
          </a:p>
        </p:txBody>
      </p:sp>
      <p:sp>
        <p:nvSpPr>
          <p:cNvPr id="222" name="Google Shape;222;p28"/>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4" name="Picture 3">
            <a:extLst>
              <a:ext uri="{FF2B5EF4-FFF2-40B4-BE49-F238E27FC236}">
                <a16:creationId xmlns:a16="http://schemas.microsoft.com/office/drawing/2014/main" id="{C1979A88-E978-84A1-47FE-2FEAA16583C7}"/>
              </a:ext>
            </a:extLst>
          </p:cNvPr>
          <p:cNvPicPr>
            <a:picLocks noChangeAspect="1"/>
          </p:cNvPicPr>
          <p:nvPr/>
        </p:nvPicPr>
        <p:blipFill>
          <a:blip r:embed="rId3"/>
          <a:stretch>
            <a:fillRect/>
          </a:stretch>
        </p:blipFill>
        <p:spPr>
          <a:xfrm>
            <a:off x="811605" y="3124873"/>
            <a:ext cx="4246427" cy="1367494"/>
          </a:xfrm>
          <a:prstGeom prst="rect">
            <a:avLst/>
          </a:prstGeom>
        </p:spPr>
      </p:pic>
      <p:pic>
        <p:nvPicPr>
          <p:cNvPr id="6" name="Picture 5">
            <a:extLst>
              <a:ext uri="{FF2B5EF4-FFF2-40B4-BE49-F238E27FC236}">
                <a16:creationId xmlns:a16="http://schemas.microsoft.com/office/drawing/2014/main" id="{97527A59-669F-8DB9-4C82-C5F78A399303}"/>
              </a:ext>
            </a:extLst>
          </p:cNvPr>
          <p:cNvPicPr>
            <a:picLocks noChangeAspect="1"/>
          </p:cNvPicPr>
          <p:nvPr/>
        </p:nvPicPr>
        <p:blipFill>
          <a:blip r:embed="rId4"/>
          <a:stretch>
            <a:fillRect/>
          </a:stretch>
        </p:blipFill>
        <p:spPr>
          <a:xfrm>
            <a:off x="3735057" y="4492367"/>
            <a:ext cx="5066270" cy="22610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0"/>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38" name="Google Shape;238;p30"/>
          <p:cNvSpPr txBox="1">
            <a:spLocks noGrp="1"/>
          </p:cNvSpPr>
          <p:nvPr>
            <p:ph type="body" idx="1"/>
          </p:nvPr>
        </p:nvSpPr>
        <p:spPr>
          <a:xfrm>
            <a:off x="581200" y="1876275"/>
            <a:ext cx="2132400" cy="4701300"/>
          </a:xfrm>
          <a:prstGeom prst="rect">
            <a:avLst/>
          </a:prstGeom>
          <a:noFill/>
          <a:ln>
            <a:noFill/>
          </a:ln>
        </p:spPr>
        <p:txBody>
          <a:bodyPr spcFirstLastPara="1" wrap="square" lIns="91425" tIns="45700" rIns="91425" bIns="45700" anchor="ctr" anchorCtr="0">
            <a:normAutofit/>
          </a:bodyPr>
          <a:lstStyle/>
          <a:p>
            <a:pPr marL="457200" lvl="0" indent="-327406" algn="just" rtl="0">
              <a:lnSpc>
                <a:spcPct val="107000"/>
              </a:lnSpc>
              <a:spcBef>
                <a:spcPts val="0"/>
              </a:spcBef>
              <a:spcAft>
                <a:spcPts val="0"/>
              </a:spcAft>
              <a:buSzPts val="1556"/>
              <a:buChar char="∙"/>
            </a:pPr>
            <a:r>
              <a:rPr lang="es-ES" sz="1400" dirty="0">
                <a:latin typeface="Cambria"/>
                <a:ea typeface="Cambria"/>
                <a:cs typeface="Cambria"/>
                <a:sym typeface="Cambria"/>
              </a:rPr>
              <a:t>Esta clase contiene la lógica que se puede observar en la Tabla junto a la complementaria para gestionar la autenticación con tokens y la autenticación que maneja credenciales quemadas en código.</a:t>
            </a:r>
            <a:endParaRPr sz="1400" dirty="0">
              <a:latin typeface="Cambria"/>
              <a:ea typeface="Cambria"/>
              <a:cs typeface="Cambria"/>
              <a:sym typeface="Cambria"/>
            </a:endParaRPr>
          </a:p>
        </p:txBody>
      </p:sp>
      <p:sp>
        <p:nvSpPr>
          <p:cNvPr id="239" name="Google Shape;239;p30"/>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240" name="Google Shape;240;p30"/>
          <p:cNvGraphicFramePr/>
          <p:nvPr>
            <p:extLst>
              <p:ext uri="{D42A27DB-BD31-4B8C-83A1-F6EECF244321}">
                <p14:modId xmlns:p14="http://schemas.microsoft.com/office/powerpoint/2010/main" val="1943742787"/>
              </p:ext>
            </p:extLst>
          </p:nvPr>
        </p:nvGraphicFramePr>
        <p:xfrm>
          <a:off x="3017311" y="1876275"/>
          <a:ext cx="6062675" cy="500380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1951625">
                <a:tc>
                  <a:txBody>
                    <a:bodyPr/>
                    <a:lstStyle/>
                    <a:p>
                      <a:pPr marL="0" lvl="0" indent="0" algn="l" rtl="0">
                        <a:spcBef>
                          <a:spcPts val="0"/>
                        </a:spcBef>
                        <a:spcAft>
                          <a:spcPts val="0"/>
                        </a:spcAft>
                        <a:buNone/>
                      </a:pPr>
                      <a:r>
                        <a:rPr lang="es-ES" sz="800" dirty="0">
                          <a:solidFill>
                            <a:srgbClr val="4F81BD"/>
                          </a:solidFill>
                          <a:latin typeface="Calibri"/>
                          <a:ea typeface="Calibri"/>
                          <a:cs typeface="Calibri"/>
                          <a:sym typeface="Calibri"/>
                        </a:rPr>
                        <a:t> @Provider</a:t>
                      </a:r>
                    </a:p>
                    <a:p>
                      <a:pPr marL="0" lvl="0" indent="0" algn="l" rtl="0">
                        <a:spcBef>
                          <a:spcPts val="0"/>
                        </a:spcBef>
                        <a:spcAft>
                          <a:spcPts val="0"/>
                        </a:spcAft>
                        <a:buNone/>
                      </a:pP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class</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FiltroAutenticacionJwt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implements</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ContainerRequestFilter</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static</a:t>
                      </a:r>
                      <a:r>
                        <a:rPr lang="es-ES" sz="800" dirty="0">
                          <a:solidFill>
                            <a:srgbClr val="4F81BD"/>
                          </a:solidFill>
                          <a:latin typeface="Calibri"/>
                          <a:ea typeface="Calibri"/>
                          <a:cs typeface="Calibri"/>
                          <a:sym typeface="Calibri"/>
                        </a:rPr>
                        <a:t> final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ENCABEZADO_AUTH = "</a:t>
                      </a:r>
                      <a:r>
                        <a:rPr lang="es-ES" sz="800" dirty="0" err="1">
                          <a:solidFill>
                            <a:srgbClr val="4F81BD"/>
                          </a:solidFill>
                          <a:latin typeface="Calibri"/>
                          <a:ea typeface="Calibri"/>
                          <a:cs typeface="Calibri"/>
                          <a:sym typeface="Calibri"/>
                        </a:rPr>
                        <a:t>Authorization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static</a:t>
                      </a:r>
                      <a:r>
                        <a:rPr lang="es-ES" sz="800" dirty="0">
                          <a:solidFill>
                            <a:srgbClr val="4F81BD"/>
                          </a:solidFill>
                          <a:latin typeface="Calibri"/>
                          <a:ea typeface="Calibri"/>
                          <a:cs typeface="Calibri"/>
                          <a:sym typeface="Calibri"/>
                        </a:rPr>
                        <a:t> final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PREFIJO_BEARER = "</a:t>
                      </a:r>
                      <a:r>
                        <a:rPr lang="es-ES" sz="800" dirty="0" err="1">
                          <a:solidFill>
                            <a:srgbClr val="4F81BD"/>
                          </a:solidFill>
                          <a:latin typeface="Calibri"/>
                          <a:ea typeface="Calibri"/>
                          <a:cs typeface="Calibri"/>
                          <a:sym typeface="Calibri"/>
                        </a:rPr>
                        <a:t>Bearer</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static</a:t>
                      </a:r>
                      <a:r>
                        <a:rPr lang="es-ES" sz="800" dirty="0">
                          <a:solidFill>
                            <a:srgbClr val="4F81BD"/>
                          </a:solidFill>
                          <a:latin typeface="Calibri"/>
                          <a:ea typeface="Calibri"/>
                          <a:cs typeface="Calibri"/>
                          <a:sym typeface="Calibri"/>
                        </a:rPr>
                        <a:t> final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RUTAS_PROTEGIDAS = {"</a:t>
                      </a:r>
                      <a:r>
                        <a:rPr lang="es-ES" sz="800" dirty="0" err="1">
                          <a:solidFill>
                            <a:srgbClr val="4F81BD"/>
                          </a:solidFill>
                          <a:latin typeface="Calibri"/>
                          <a:ea typeface="Calibri"/>
                          <a:cs typeface="Calibri"/>
                          <a:sym typeface="Calibri"/>
                        </a:rPr>
                        <a:t>conversion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@Inject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ProveedorTokenJwt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proveedorTokenJwt</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@Override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void</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filter</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ContainerRequestContext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requestContext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throws</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IOException</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ruta = </a:t>
                      </a:r>
                      <a:r>
                        <a:rPr lang="es-ES" sz="800" dirty="0" err="1">
                          <a:solidFill>
                            <a:srgbClr val="4F81BD"/>
                          </a:solidFill>
                          <a:latin typeface="Calibri"/>
                          <a:ea typeface="Calibri"/>
                          <a:cs typeface="Calibri"/>
                          <a:sym typeface="Calibri"/>
                        </a:rPr>
                        <a:t>requestContext.getUriInfo</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getPath</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if</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esRutaProtegida</a:t>
                      </a:r>
                      <a:r>
                        <a:rPr lang="es-ES" sz="800" dirty="0">
                          <a:solidFill>
                            <a:srgbClr val="4F81BD"/>
                          </a:solidFill>
                          <a:latin typeface="Calibri"/>
                          <a:ea typeface="Calibri"/>
                          <a:cs typeface="Calibri"/>
                          <a:sym typeface="Calibri"/>
                        </a:rPr>
                        <a:t>(ruta))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authHeader</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requestContext.getHeaderString</a:t>
                      </a:r>
                      <a:r>
                        <a:rPr lang="es-ES" sz="800" dirty="0">
                          <a:solidFill>
                            <a:srgbClr val="4F81BD"/>
                          </a:solidFill>
                          <a:latin typeface="Calibri"/>
                          <a:ea typeface="Calibri"/>
                          <a:cs typeface="Calibri"/>
                          <a:sym typeface="Calibri"/>
                        </a:rPr>
                        <a:t>(ENCABEZADO_AUTH);</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if</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authHeader</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null</a:t>
                      </a:r>
                      <a:r>
                        <a:rPr lang="es-ES" sz="800" dirty="0">
                          <a:solidFill>
                            <a:srgbClr val="4F81BD"/>
                          </a:solidFill>
                          <a:latin typeface="Calibri"/>
                          <a:ea typeface="Calibri"/>
                          <a:cs typeface="Calibri"/>
                          <a:sym typeface="Calibri"/>
                        </a:rPr>
                        <a:t> || !</a:t>
                      </a:r>
                      <a:r>
                        <a:rPr lang="es-ES" sz="800" dirty="0" err="1">
                          <a:solidFill>
                            <a:srgbClr val="4F81BD"/>
                          </a:solidFill>
                          <a:latin typeface="Calibri"/>
                          <a:ea typeface="Calibri"/>
                          <a:cs typeface="Calibri"/>
                          <a:sym typeface="Calibri"/>
                        </a:rPr>
                        <a:t>authHeader.startsWith</a:t>
                      </a:r>
                      <a:r>
                        <a:rPr lang="es-ES" sz="800" dirty="0">
                          <a:solidFill>
                            <a:srgbClr val="4F81BD"/>
                          </a:solidFill>
                          <a:latin typeface="Calibri"/>
                          <a:ea typeface="Calibri"/>
                          <a:cs typeface="Calibri"/>
                          <a:sym typeface="Calibri"/>
                        </a:rPr>
                        <a:t>(PREFIJO_BEARER))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abortarConError</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requestContext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Response.Status.UNAUTHORIZED</a:t>
                      </a:r>
                      <a:r>
                        <a:rPr lang="es-ES" sz="800" dirty="0">
                          <a:solidFill>
                            <a:srgbClr val="4F81BD"/>
                          </a:solidFill>
                          <a:latin typeface="Calibri"/>
                          <a:ea typeface="Calibri"/>
                          <a:cs typeface="Calibri"/>
                          <a:sym typeface="Calibri"/>
                        </a:rPr>
                        <a:t>, "Encabezado </a:t>
                      </a:r>
                      <a:r>
                        <a:rPr lang="es-ES" sz="800" dirty="0" err="1">
                          <a:solidFill>
                            <a:srgbClr val="4F81BD"/>
                          </a:solidFill>
                          <a:latin typeface="Calibri"/>
                          <a:ea typeface="Calibri"/>
                          <a:cs typeface="Calibri"/>
                          <a:sym typeface="Calibri"/>
                        </a:rPr>
                        <a:t>Authorization</a:t>
                      </a:r>
                      <a:r>
                        <a:rPr lang="es-ES" sz="800" dirty="0">
                          <a:solidFill>
                            <a:srgbClr val="4F81BD"/>
                          </a:solidFill>
                          <a:latin typeface="Calibri"/>
                          <a:ea typeface="Calibri"/>
                          <a:cs typeface="Calibri"/>
                          <a:sym typeface="Calibri"/>
                        </a:rPr>
                        <a:t> faltante o inválido");</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token = </a:t>
                      </a:r>
                      <a:r>
                        <a:rPr lang="es-ES" sz="800" dirty="0" err="1">
                          <a:solidFill>
                            <a:srgbClr val="4F81BD"/>
                          </a:solidFill>
                          <a:latin typeface="Calibri"/>
                          <a:ea typeface="Calibri"/>
                          <a:cs typeface="Calibri"/>
                          <a:sym typeface="Calibri"/>
                        </a:rPr>
                        <a:t>authHeader.substring</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PREFIJO_BEARER.length</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trim</a:t>
                      </a:r>
                      <a:r>
                        <a:rPr lang="es-ES" sz="8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if</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proveedorTokenJwt.validarToken</a:t>
                      </a:r>
                      <a:r>
                        <a:rPr lang="es-ES" sz="800" dirty="0">
                          <a:solidFill>
                            <a:srgbClr val="4F81BD"/>
                          </a:solidFill>
                          <a:latin typeface="Calibri"/>
                          <a:ea typeface="Calibri"/>
                          <a:cs typeface="Calibri"/>
                          <a:sym typeface="Calibri"/>
                        </a:rPr>
                        <a:t>(token))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abortarConError</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requestContext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Response.Status.UNAUTHORIZED</a:t>
                      </a:r>
                      <a:r>
                        <a:rPr lang="es-ES" sz="800" dirty="0">
                          <a:solidFill>
                            <a:srgbClr val="4F81BD"/>
                          </a:solidFill>
                          <a:latin typeface="Calibri"/>
                          <a:ea typeface="Calibri"/>
                          <a:cs typeface="Calibri"/>
                          <a:sym typeface="Calibri"/>
                        </a:rPr>
                        <a:t>, "Token inválido o expirado");</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boolean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esRutaProtegida</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ruta)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for</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rutaProtegida</a:t>
                      </a:r>
                      <a:r>
                        <a:rPr lang="es-ES" sz="800" dirty="0">
                          <a:solidFill>
                            <a:srgbClr val="4F81BD"/>
                          </a:solidFill>
                          <a:latin typeface="Calibri"/>
                          <a:ea typeface="Calibri"/>
                          <a:cs typeface="Calibri"/>
                          <a:sym typeface="Calibri"/>
                        </a:rPr>
                        <a:t> : RUTAS_PROTEGIDAS)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if</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ruta.startsWith</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rutaProtegida</a:t>
                      </a: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true;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false;</a:t>
                      </a:r>
                    </a:p>
                    <a:p>
                      <a:pPr marL="0" lvl="0" indent="0" algn="l" rtl="0">
                        <a:spcBef>
                          <a:spcPts val="0"/>
                        </a:spcBef>
                        <a:spcAft>
                          <a:spcPts val="0"/>
                        </a:spcAft>
                        <a:buNone/>
                      </a:pPr>
                      <a:r>
                        <a:rPr lang="es-ES" sz="800" dirty="0">
                          <a:solidFill>
                            <a:srgbClr val="4F81BD"/>
                          </a:solidFill>
                          <a:latin typeface="Calibri"/>
                          <a:ea typeface="Calibri"/>
                          <a:cs typeface="Calibri"/>
                          <a:sym typeface="Calibri"/>
                        </a:rPr>
                        <a:t>    }</a:t>
                      </a: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1"/>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46" name="Google Shape;246;p31"/>
          <p:cNvSpPr txBox="1">
            <a:spLocks noGrp="1"/>
          </p:cNvSpPr>
          <p:nvPr>
            <p:ph type="body" idx="1"/>
          </p:nvPr>
        </p:nvSpPr>
        <p:spPr>
          <a:xfrm>
            <a:off x="581192" y="1867767"/>
            <a:ext cx="8014948" cy="1808733"/>
          </a:xfrm>
          <a:prstGeom prst="rect">
            <a:avLst/>
          </a:prstGeom>
          <a:noFill/>
          <a:ln>
            <a:noFill/>
          </a:ln>
        </p:spPr>
        <p:txBody>
          <a:bodyPr spcFirstLastPara="1" wrap="square" lIns="91425" tIns="45700" rIns="91425" bIns="45700" anchor="ctr" anchorCtr="0">
            <a:noAutofit/>
          </a:bodyPr>
          <a:lstStyle/>
          <a:p>
            <a:pPr marL="342900" lvl="0" indent="-342900" algn="just" rtl="0">
              <a:lnSpc>
                <a:spcPct val="107000"/>
              </a:lnSpc>
              <a:spcBef>
                <a:spcPts val="0"/>
              </a:spcBef>
              <a:spcAft>
                <a:spcPts val="0"/>
              </a:spcAft>
              <a:buSzPts val="1785"/>
              <a:buChar char="∙"/>
            </a:pPr>
            <a:r>
              <a:rPr lang="es-ES" sz="1600" b="1" dirty="0">
                <a:latin typeface="Cambria"/>
                <a:ea typeface="Cambria"/>
                <a:cs typeface="Cambria"/>
                <a:sym typeface="Cambria"/>
              </a:rPr>
              <a:t>1.2.5	Lógica</a:t>
            </a:r>
            <a:endParaRPr sz="1600" dirty="0">
              <a:latin typeface="Cambria"/>
              <a:ea typeface="Cambria"/>
              <a:cs typeface="Cambria"/>
              <a:sym typeface="Cambria"/>
            </a:endParaRPr>
          </a:p>
          <a:p>
            <a:pPr marL="0" lvl="0" indent="0" algn="just" rtl="0">
              <a:lnSpc>
                <a:spcPct val="107000"/>
              </a:lnSpc>
              <a:spcBef>
                <a:spcPts val="0"/>
              </a:spcBef>
              <a:spcAft>
                <a:spcPts val="0"/>
              </a:spcAft>
              <a:buNone/>
            </a:pPr>
            <a:endParaRPr sz="1600" dirty="0">
              <a:latin typeface="Cambria"/>
              <a:ea typeface="Cambria"/>
              <a:cs typeface="Cambria"/>
              <a:sym typeface="Cambria"/>
            </a:endParaRPr>
          </a:p>
          <a:p>
            <a:pPr marL="0" lvl="0" indent="0" algn="just" rtl="0">
              <a:lnSpc>
                <a:spcPct val="107000"/>
              </a:lnSpc>
              <a:spcBef>
                <a:spcPts val="0"/>
              </a:spcBef>
              <a:spcAft>
                <a:spcPts val="0"/>
              </a:spcAft>
              <a:buNone/>
            </a:pPr>
            <a:r>
              <a:rPr lang="es-ES" sz="1600" dirty="0">
                <a:latin typeface="Cambria"/>
                <a:ea typeface="Cambria"/>
                <a:cs typeface="Cambria"/>
                <a:sym typeface="Cambria"/>
              </a:rPr>
              <a:t>Ahora se procede a completar el resto de la lógica, donde las utilidades exponen la lógica (utilizando factores de conversión y fórmulas)</a:t>
            </a:r>
            <a:endParaRPr sz="1600" dirty="0">
              <a:latin typeface="Cambria"/>
              <a:ea typeface="Cambria"/>
              <a:cs typeface="Cambria"/>
              <a:sym typeface="Cambria"/>
            </a:endParaRPr>
          </a:p>
        </p:txBody>
      </p:sp>
      <p:sp>
        <p:nvSpPr>
          <p:cNvPr id="247" name="Google Shape;247;p31"/>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248" name="Google Shape;248;p31"/>
          <p:cNvGraphicFramePr/>
          <p:nvPr>
            <p:extLst>
              <p:ext uri="{D42A27DB-BD31-4B8C-83A1-F6EECF244321}">
                <p14:modId xmlns:p14="http://schemas.microsoft.com/office/powerpoint/2010/main" val="566969591"/>
              </p:ext>
            </p:extLst>
          </p:nvPr>
        </p:nvGraphicFramePr>
        <p:xfrm>
          <a:off x="751907" y="3676500"/>
          <a:ext cx="6062675" cy="140716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1160900">
                <a:tc>
                  <a:txBody>
                    <a:bodyPr/>
                    <a:lstStyle/>
                    <a:p>
                      <a:pPr marL="0" lvl="0" indent="0" algn="l" rtl="0">
                        <a:spcBef>
                          <a:spcPts val="0"/>
                        </a:spcBef>
                        <a:spcAft>
                          <a:spcPts val="0"/>
                        </a:spcAft>
                        <a:buNone/>
                      </a:pPr>
                      <a:r>
                        <a:rPr lang="es-ES" sz="1200" dirty="0" err="1">
                          <a:solidFill>
                            <a:srgbClr val="4F81BD"/>
                          </a:solidFill>
                          <a:latin typeface="Calibri"/>
                          <a:ea typeface="Calibri"/>
                          <a:cs typeface="Calibri"/>
                          <a:sym typeface="Calibri"/>
                        </a:rPr>
                        <a:t>public</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RespuestaConversion</a:t>
                      </a:r>
                      <a:r>
                        <a:rPr lang="es-ES" sz="1200" dirty="0">
                          <a:solidFill>
                            <a:srgbClr val="4F81BD"/>
                          </a:solidFill>
                          <a:latin typeface="Calibri"/>
                          <a:ea typeface="Calibri"/>
                          <a:cs typeface="Calibri"/>
                          <a:sym typeface="Calibri"/>
                        </a:rPr>
                        <a:t>(</a:t>
                      </a:r>
                      <a:r>
                        <a:rPr lang="es-ES" sz="1200" dirty="0" err="1">
                          <a:solidFill>
                            <a:srgbClr val="4F81BD"/>
                          </a:solidFill>
                          <a:latin typeface="Calibri"/>
                          <a:ea typeface="Calibri"/>
                          <a:cs typeface="Calibri"/>
                          <a:sym typeface="Calibri"/>
                        </a:rPr>
                        <a:t>Double</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valorOriginal</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Double</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valorConvertido</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String</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unidadOrigen</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String</a:t>
                      </a: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unidadDestino</a:t>
                      </a:r>
                      <a:r>
                        <a:rPr lang="es-ES" sz="12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this.valorOriginal</a:t>
                      </a:r>
                      <a:r>
                        <a:rPr lang="es-ES" sz="1200" dirty="0">
                          <a:solidFill>
                            <a:srgbClr val="4F81BD"/>
                          </a:solidFill>
                          <a:latin typeface="Calibri"/>
                          <a:ea typeface="Calibri"/>
                          <a:cs typeface="Calibri"/>
                          <a:sym typeface="Calibri"/>
                        </a:rPr>
                        <a:t> = </a:t>
                      </a:r>
                      <a:r>
                        <a:rPr lang="es-ES" sz="1200" dirty="0" err="1">
                          <a:solidFill>
                            <a:srgbClr val="4F81BD"/>
                          </a:solidFill>
                          <a:latin typeface="Calibri"/>
                          <a:ea typeface="Calibri"/>
                          <a:cs typeface="Calibri"/>
                          <a:sym typeface="Calibri"/>
                        </a:rPr>
                        <a:t>valorOriginal</a:t>
                      </a:r>
                      <a:r>
                        <a:rPr lang="es-ES" sz="12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this.valorConvertido</a:t>
                      </a:r>
                      <a:r>
                        <a:rPr lang="es-ES" sz="1200" dirty="0">
                          <a:solidFill>
                            <a:srgbClr val="4F81BD"/>
                          </a:solidFill>
                          <a:latin typeface="Calibri"/>
                          <a:ea typeface="Calibri"/>
                          <a:cs typeface="Calibri"/>
                          <a:sym typeface="Calibri"/>
                        </a:rPr>
                        <a:t> = </a:t>
                      </a:r>
                      <a:r>
                        <a:rPr lang="es-ES" sz="1200" dirty="0" err="1">
                          <a:solidFill>
                            <a:srgbClr val="4F81BD"/>
                          </a:solidFill>
                          <a:latin typeface="Calibri"/>
                          <a:ea typeface="Calibri"/>
                          <a:cs typeface="Calibri"/>
                          <a:sym typeface="Calibri"/>
                        </a:rPr>
                        <a:t>valorConvertido</a:t>
                      </a:r>
                      <a:r>
                        <a:rPr lang="es-ES" sz="12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this.unidadOrigen</a:t>
                      </a:r>
                      <a:r>
                        <a:rPr lang="es-ES" sz="1200" dirty="0">
                          <a:solidFill>
                            <a:srgbClr val="4F81BD"/>
                          </a:solidFill>
                          <a:latin typeface="Calibri"/>
                          <a:ea typeface="Calibri"/>
                          <a:cs typeface="Calibri"/>
                          <a:sym typeface="Calibri"/>
                        </a:rPr>
                        <a:t> = </a:t>
                      </a:r>
                      <a:r>
                        <a:rPr lang="es-ES" sz="1200" dirty="0" err="1">
                          <a:solidFill>
                            <a:srgbClr val="4F81BD"/>
                          </a:solidFill>
                          <a:latin typeface="Calibri"/>
                          <a:ea typeface="Calibri"/>
                          <a:cs typeface="Calibri"/>
                          <a:sym typeface="Calibri"/>
                        </a:rPr>
                        <a:t>unidadOrigen</a:t>
                      </a:r>
                      <a:r>
                        <a:rPr lang="es-ES" sz="12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200" dirty="0">
                          <a:solidFill>
                            <a:srgbClr val="4F81BD"/>
                          </a:solidFill>
                          <a:latin typeface="Calibri"/>
                          <a:ea typeface="Calibri"/>
                          <a:cs typeface="Calibri"/>
                          <a:sym typeface="Calibri"/>
                        </a:rPr>
                        <a:t>        </a:t>
                      </a:r>
                      <a:r>
                        <a:rPr lang="es-ES" sz="1200" dirty="0" err="1">
                          <a:solidFill>
                            <a:srgbClr val="4F81BD"/>
                          </a:solidFill>
                          <a:latin typeface="Calibri"/>
                          <a:ea typeface="Calibri"/>
                          <a:cs typeface="Calibri"/>
                          <a:sym typeface="Calibri"/>
                        </a:rPr>
                        <a:t>this.unidadDestino</a:t>
                      </a:r>
                      <a:r>
                        <a:rPr lang="es-ES" sz="1200" dirty="0">
                          <a:solidFill>
                            <a:srgbClr val="4F81BD"/>
                          </a:solidFill>
                          <a:latin typeface="Calibri"/>
                          <a:ea typeface="Calibri"/>
                          <a:cs typeface="Calibri"/>
                          <a:sym typeface="Calibri"/>
                        </a:rPr>
                        <a:t> = </a:t>
                      </a:r>
                      <a:r>
                        <a:rPr lang="es-ES" sz="1200" dirty="0" err="1">
                          <a:solidFill>
                            <a:srgbClr val="4F81BD"/>
                          </a:solidFill>
                          <a:latin typeface="Calibri"/>
                          <a:ea typeface="Calibri"/>
                          <a:cs typeface="Calibri"/>
                          <a:sym typeface="Calibri"/>
                        </a:rPr>
                        <a:t>unidadDestino</a:t>
                      </a:r>
                      <a:r>
                        <a:rPr lang="es-ES" sz="12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200" dirty="0">
                          <a:solidFill>
                            <a:srgbClr val="4F81BD"/>
                          </a:solidFill>
                          <a:latin typeface="Calibri"/>
                          <a:ea typeface="Calibri"/>
                          <a:cs typeface="Calibri"/>
                          <a:sym typeface="Calibri"/>
                        </a:rPr>
                        <a:t>    }</a:t>
                      </a:r>
                      <a:endParaRPr sz="9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2"/>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54" name="Google Shape;254;p32"/>
          <p:cNvSpPr txBox="1">
            <a:spLocks noGrp="1"/>
          </p:cNvSpPr>
          <p:nvPr>
            <p:ph type="body" idx="1"/>
          </p:nvPr>
        </p:nvSpPr>
        <p:spPr>
          <a:xfrm>
            <a:off x="581200" y="3037175"/>
            <a:ext cx="2132400" cy="2605800"/>
          </a:xfrm>
          <a:prstGeom prst="rect">
            <a:avLst/>
          </a:prstGeom>
          <a:noFill/>
          <a:ln>
            <a:noFill/>
          </a:ln>
        </p:spPr>
        <p:txBody>
          <a:bodyPr spcFirstLastPara="1" wrap="square" lIns="91425" tIns="45700" rIns="91425" bIns="45700" anchor="ctr" anchorCtr="0">
            <a:noAutofit/>
          </a:bodyPr>
          <a:lstStyle/>
          <a:p>
            <a:pPr marL="0" lvl="0" indent="0" algn="just" rtl="0">
              <a:lnSpc>
                <a:spcPct val="107000"/>
              </a:lnSpc>
              <a:spcBef>
                <a:spcPts val="0"/>
              </a:spcBef>
              <a:spcAft>
                <a:spcPts val="0"/>
              </a:spcAft>
              <a:buNone/>
            </a:pPr>
            <a:r>
              <a:rPr lang="es-ES" sz="1400" dirty="0">
                <a:latin typeface="Cambria"/>
                <a:ea typeface="Cambria"/>
                <a:cs typeface="Cambria"/>
                <a:sym typeface="Cambria"/>
              </a:rPr>
              <a:t>Ahora se procede a completar el resto de la lógica, donde las utilidades exponen la lógica (utilizando factores de conversión y fórmulas) como se puede ver en las tablas aplicando una interfaz con el fin de hacer que los servicios puedan inyectar cualquier tipo de conversión sin limitarse a uno en concreto como se puede ver en la Tabla del Servicio</a:t>
            </a:r>
            <a:endParaRPr sz="1400" dirty="0">
              <a:latin typeface="Cambria"/>
              <a:ea typeface="Cambria"/>
              <a:cs typeface="Cambria"/>
              <a:sym typeface="Cambria"/>
            </a:endParaRPr>
          </a:p>
        </p:txBody>
      </p:sp>
      <p:sp>
        <p:nvSpPr>
          <p:cNvPr id="255" name="Google Shape;255;p32"/>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256" name="Google Shape;256;p32"/>
          <p:cNvGraphicFramePr/>
          <p:nvPr>
            <p:extLst>
              <p:ext uri="{D42A27DB-BD31-4B8C-83A1-F6EECF244321}">
                <p14:modId xmlns:p14="http://schemas.microsoft.com/office/powerpoint/2010/main" val="464605970"/>
              </p:ext>
            </p:extLst>
          </p:nvPr>
        </p:nvGraphicFramePr>
        <p:xfrm>
          <a:off x="3017311" y="2357158"/>
          <a:ext cx="6062675" cy="408940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1160900">
                <a:tc>
                  <a:txBody>
                    <a:bodyPr/>
                    <a:lstStyle/>
                    <a:p>
                      <a:pPr marL="0" lvl="0" indent="0" algn="l" rtl="0">
                        <a:spcBef>
                          <a:spcPts val="0"/>
                        </a:spcBef>
                        <a:spcAft>
                          <a:spcPts val="0"/>
                        </a:spcAft>
                        <a:buNone/>
                      </a:pPr>
                      <a:r>
                        <a:rPr lang="es-ES" sz="1000" dirty="0">
                          <a:solidFill>
                            <a:srgbClr val="4F81BD"/>
                          </a:solidFill>
                          <a:latin typeface="Calibri"/>
                          <a:ea typeface="Calibri"/>
                          <a:cs typeface="Calibri"/>
                          <a:sym typeface="Calibri"/>
                        </a:rPr>
                        <a:t>@ApplicationScoped</a:t>
                      </a:r>
                    </a:p>
                    <a:p>
                      <a:pPr marL="0" lvl="0" indent="0" algn="l" rtl="0">
                        <a:spcBef>
                          <a:spcPts val="0"/>
                        </a:spcBef>
                        <a:spcAft>
                          <a:spcPts val="0"/>
                        </a:spcAft>
                        <a:buNone/>
                      </a:pP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class</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ServicioLongitud</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RespuestaConversion</a:t>
                      </a:r>
                      <a:r>
                        <a:rPr lang="es-ES" sz="1000" dirty="0">
                          <a:solidFill>
                            <a:srgbClr val="4F81BD"/>
                          </a:solidFill>
                          <a:latin typeface="Calibri"/>
                          <a:ea typeface="Calibri"/>
                          <a:cs typeface="Calibri"/>
                          <a:sym typeface="Calibri"/>
                        </a:rPr>
                        <a:t> convertir(</a:t>
                      </a:r>
                      <a:r>
                        <a:rPr lang="es-ES" sz="1000" dirty="0" err="1">
                          <a:solidFill>
                            <a:srgbClr val="4F81BD"/>
                          </a:solidFill>
                          <a:latin typeface="Calibri"/>
                          <a:ea typeface="Calibri"/>
                          <a:cs typeface="Calibri"/>
                          <a:sym typeface="Calibri"/>
                        </a:rPr>
                        <a:t>SolicitudConversion</a:t>
                      </a:r>
                      <a:r>
                        <a:rPr lang="es-ES" sz="1000" dirty="0">
                          <a:solidFill>
                            <a:srgbClr val="4F81BD"/>
                          </a:solidFill>
                          <a:latin typeface="Calibri"/>
                          <a:ea typeface="Calibri"/>
                          <a:cs typeface="Calibri"/>
                          <a:sym typeface="Calibri"/>
                        </a:rPr>
                        <a:t> solicitud)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UnidadLongitud</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UnidadLongitud.desdeString</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solicitud.getUnidadOrigen</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UnidadLongitud</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unidadDestino</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UnidadLongitud.desdeString</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solicitud.getUnidadDestino</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 </a:t>
                      </a:r>
                      <a:r>
                        <a:rPr lang="es-ES" sz="1000" dirty="0" err="1">
                          <a:solidFill>
                            <a:srgbClr val="4F81BD"/>
                          </a:solidFill>
                          <a:latin typeface="Calibri"/>
                          <a:ea typeface="Calibri"/>
                          <a:cs typeface="Calibri"/>
                          <a:sym typeface="Calibri"/>
                        </a:rPr>
                        <a:t>solicitud.getValor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if</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Double.isFinite</a:t>
                      </a:r>
                      <a:r>
                        <a:rPr lang="es-ES" sz="1000" dirty="0">
                          <a:solidFill>
                            <a:srgbClr val="4F81BD"/>
                          </a:solidFill>
                          <a:latin typeface="Calibri"/>
                          <a:ea typeface="Calibri"/>
                          <a:cs typeface="Calibri"/>
                          <a:sym typeface="Calibri"/>
                        </a:rPr>
                        <a:t>(valor) || valor&lt;0)</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throw</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ExcepcionLongitudInvalida</a:t>
                      </a:r>
                      <a:r>
                        <a:rPr lang="es-ES" sz="1000" dirty="0">
                          <a:solidFill>
                            <a:srgbClr val="4F81BD"/>
                          </a:solidFill>
                          <a:latin typeface="Calibri"/>
                          <a:ea typeface="Calibri"/>
                          <a:cs typeface="Calibri"/>
                          <a:sym typeface="Calibri"/>
                        </a:rPr>
                        <a:t>("No se permite ingresar valores negativos");</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valorConvertido</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calcularConversion</a:t>
                      </a:r>
                      <a:r>
                        <a:rPr lang="es-ES" sz="1000" dirty="0">
                          <a:solidFill>
                            <a:srgbClr val="4F81BD"/>
                          </a:solidFill>
                          <a:latin typeface="Calibri"/>
                          <a:ea typeface="Calibri"/>
                          <a:cs typeface="Calibri"/>
                          <a:sym typeface="Calibri"/>
                        </a:rPr>
                        <a:t>(valor,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unidadDestino</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RespuestaConversion</a:t>
                      </a:r>
                      <a:r>
                        <a:rPr lang="es-ES" sz="1000" dirty="0">
                          <a:solidFill>
                            <a:srgbClr val="4F81BD"/>
                          </a:solidFill>
                          <a:latin typeface="Calibri"/>
                          <a:ea typeface="Calibri"/>
                          <a:cs typeface="Calibri"/>
                          <a:sym typeface="Calibri"/>
                        </a:rPr>
                        <a:t>(valor, </a:t>
                      </a:r>
                      <a:r>
                        <a:rPr lang="es-ES" sz="1000" dirty="0" err="1">
                          <a:solidFill>
                            <a:srgbClr val="4F81BD"/>
                          </a:solidFill>
                          <a:latin typeface="Calibri"/>
                          <a:ea typeface="Calibri"/>
                          <a:cs typeface="Calibri"/>
                          <a:sym typeface="Calibri"/>
                        </a:rPr>
                        <a:t>valorConvertido</a:t>
                      </a:r>
                      <a:r>
                        <a:rPr lang="es-ES" sz="1000" dirty="0">
                          <a:solidFill>
                            <a:srgbClr val="4F81BD"/>
                          </a:solidFill>
                          <a:latin typeface="Calibri"/>
                          <a:ea typeface="Calibri"/>
                          <a:cs typeface="Calibri"/>
                          <a:sym typeface="Calibri"/>
                        </a:rPr>
                        <a:t>, unidadOrigen.name(), unidadDestino.name());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calcularConversion</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a:t>
                      </a:r>
                      <a:r>
                        <a:rPr lang="es-ES" sz="1000" dirty="0" err="1">
                          <a:solidFill>
                            <a:srgbClr val="4F81BD"/>
                          </a:solidFill>
                          <a:latin typeface="Calibri"/>
                          <a:ea typeface="Calibri"/>
                          <a:cs typeface="Calibri"/>
                          <a:sym typeface="Calibri"/>
                        </a:rPr>
                        <a:t>UnidadLongitud</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UnidadLongitud</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unidadFinal</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valorABase</a:t>
                      </a:r>
                      <a:r>
                        <a:rPr lang="es-ES" sz="1000" dirty="0">
                          <a:solidFill>
                            <a:srgbClr val="4F81BD"/>
                          </a:solidFill>
                          <a:latin typeface="Calibri"/>
                          <a:ea typeface="Calibri"/>
                          <a:cs typeface="Calibri"/>
                          <a:sym typeface="Calibri"/>
                        </a:rPr>
                        <a:t> = valor * </a:t>
                      </a:r>
                      <a:r>
                        <a:rPr lang="es-ES" sz="1000" dirty="0" err="1">
                          <a:solidFill>
                            <a:srgbClr val="4F81BD"/>
                          </a:solidFill>
                          <a:latin typeface="Calibri"/>
                          <a:ea typeface="Calibri"/>
                          <a:cs typeface="Calibri"/>
                          <a:sym typeface="Calibri"/>
                        </a:rPr>
                        <a:t>unidadOrigen.getFactor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valorDesdeBase</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valorABase</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unidadFinal.getFactor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valorDesdeBase</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a:t>
                      </a:r>
                      <a:endParaRPr sz="10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3"/>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62" name="Google Shape;262;p33"/>
          <p:cNvSpPr txBox="1">
            <a:spLocks noGrp="1"/>
          </p:cNvSpPr>
          <p:nvPr>
            <p:ph type="body" idx="1"/>
          </p:nvPr>
        </p:nvSpPr>
        <p:spPr>
          <a:xfrm>
            <a:off x="581200" y="3037175"/>
            <a:ext cx="2132400" cy="2605800"/>
          </a:xfrm>
          <a:prstGeom prst="rect">
            <a:avLst/>
          </a:prstGeom>
          <a:noFill/>
          <a:ln>
            <a:noFill/>
          </a:ln>
        </p:spPr>
        <p:txBody>
          <a:bodyPr spcFirstLastPara="1" wrap="square" lIns="91425" tIns="45700" rIns="91425" bIns="45700" anchor="ctr" anchorCtr="0">
            <a:noAutofit/>
          </a:bodyPr>
          <a:lstStyle/>
          <a:p>
            <a:pPr marL="0" lvl="0" indent="0" algn="just" rtl="0">
              <a:lnSpc>
                <a:spcPct val="107000"/>
              </a:lnSpc>
              <a:spcBef>
                <a:spcPts val="0"/>
              </a:spcBef>
              <a:spcAft>
                <a:spcPts val="0"/>
              </a:spcAft>
              <a:buNone/>
            </a:pPr>
            <a:r>
              <a:rPr lang="es-ES" sz="1400" dirty="0">
                <a:latin typeface="Cambria"/>
                <a:ea typeface="Cambria"/>
                <a:cs typeface="Cambria"/>
                <a:sym typeface="Cambria"/>
              </a:rPr>
              <a:t>Ahora se procede a completar el resto de la lógica, donde las utilidades exponen la lógica (utilizando factores de conversión y fórmulas) como se puede ver en las tablas aplicando una interfaz con el fin de hacer que los servicios puedan inyectar cualquier tipo de conversión sin limitarse a uno en concreto como se puede ver en la Tabla del Servicio</a:t>
            </a:r>
            <a:endParaRPr sz="1400" dirty="0">
              <a:latin typeface="Cambria"/>
              <a:ea typeface="Cambria"/>
              <a:cs typeface="Cambria"/>
              <a:sym typeface="Cambria"/>
            </a:endParaRPr>
          </a:p>
        </p:txBody>
      </p:sp>
      <p:sp>
        <p:nvSpPr>
          <p:cNvPr id="263" name="Google Shape;263;p33"/>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264" name="Google Shape;264;p33"/>
          <p:cNvGraphicFramePr/>
          <p:nvPr>
            <p:extLst>
              <p:ext uri="{D42A27DB-BD31-4B8C-83A1-F6EECF244321}">
                <p14:modId xmlns:p14="http://schemas.microsoft.com/office/powerpoint/2010/main" val="564869277"/>
              </p:ext>
            </p:extLst>
          </p:nvPr>
        </p:nvGraphicFramePr>
        <p:xfrm>
          <a:off x="2893745" y="2418012"/>
          <a:ext cx="6062675" cy="378460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1160900">
                <a:tc>
                  <a:txBody>
                    <a:bodyPr/>
                    <a:lstStyle/>
                    <a:p>
                      <a:pPr marL="0" lvl="0" indent="0" algn="l" rtl="0">
                        <a:spcBef>
                          <a:spcPts val="0"/>
                        </a:spcBef>
                        <a:spcAft>
                          <a:spcPts val="0"/>
                        </a:spcAft>
                        <a:buNone/>
                      </a:pPr>
                      <a:r>
                        <a:rPr lang="es-ES" sz="1000" dirty="0">
                          <a:solidFill>
                            <a:srgbClr val="4F81BD"/>
                          </a:solidFill>
                          <a:latin typeface="Calibri"/>
                          <a:ea typeface="Calibri"/>
                          <a:cs typeface="Calibri"/>
                          <a:sym typeface="Calibri"/>
                        </a:rPr>
                        <a:t>@ApplicationScoped</a:t>
                      </a:r>
                    </a:p>
                    <a:p>
                      <a:pPr marL="0" lvl="0" indent="0" algn="l" rtl="0">
                        <a:spcBef>
                          <a:spcPts val="0"/>
                        </a:spcBef>
                        <a:spcAft>
                          <a:spcPts val="0"/>
                        </a:spcAft>
                        <a:buNone/>
                      </a:pP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class</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ServicioMasa</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RespuestaConversion</a:t>
                      </a:r>
                      <a:r>
                        <a:rPr lang="es-ES" sz="1000" dirty="0">
                          <a:solidFill>
                            <a:srgbClr val="4F81BD"/>
                          </a:solidFill>
                          <a:latin typeface="Calibri"/>
                          <a:ea typeface="Calibri"/>
                          <a:cs typeface="Calibri"/>
                          <a:sym typeface="Calibri"/>
                        </a:rPr>
                        <a:t> convertir(</a:t>
                      </a:r>
                      <a:r>
                        <a:rPr lang="es-ES" sz="1000" dirty="0" err="1">
                          <a:solidFill>
                            <a:srgbClr val="4F81BD"/>
                          </a:solidFill>
                          <a:latin typeface="Calibri"/>
                          <a:ea typeface="Calibri"/>
                          <a:cs typeface="Calibri"/>
                          <a:sym typeface="Calibri"/>
                        </a:rPr>
                        <a:t>SolicitudConversion</a:t>
                      </a:r>
                      <a:r>
                        <a:rPr lang="es-ES" sz="1000" dirty="0">
                          <a:solidFill>
                            <a:srgbClr val="4F81BD"/>
                          </a:solidFill>
                          <a:latin typeface="Calibri"/>
                          <a:ea typeface="Calibri"/>
                          <a:cs typeface="Calibri"/>
                          <a:sym typeface="Calibri"/>
                        </a:rPr>
                        <a:t> solicitud)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UnidadMasa</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UnidadMasa.desdeString</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solicitud.getUnidadOrigen</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UnidadMasa</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unidadDestino</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UnidadMasa.desdeString</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solicitud.getUnidadDestino</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 </a:t>
                      </a:r>
                      <a:r>
                        <a:rPr lang="es-ES" sz="1000" dirty="0" err="1">
                          <a:solidFill>
                            <a:srgbClr val="4F81BD"/>
                          </a:solidFill>
                          <a:latin typeface="Calibri"/>
                          <a:ea typeface="Calibri"/>
                          <a:cs typeface="Calibri"/>
                          <a:sym typeface="Calibri"/>
                        </a:rPr>
                        <a:t>solicitud.getValor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if</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Double.isFinite</a:t>
                      </a:r>
                      <a:r>
                        <a:rPr lang="es-ES" sz="1000" dirty="0">
                          <a:solidFill>
                            <a:srgbClr val="4F81BD"/>
                          </a:solidFill>
                          <a:latin typeface="Calibri"/>
                          <a:ea typeface="Calibri"/>
                          <a:cs typeface="Calibri"/>
                          <a:sym typeface="Calibri"/>
                        </a:rPr>
                        <a:t>(valor) || valor&lt;0)</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throw</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ExcepcionMasaInvalida</a:t>
                      </a:r>
                      <a:r>
                        <a:rPr lang="es-ES" sz="1000" dirty="0">
                          <a:solidFill>
                            <a:srgbClr val="4F81BD"/>
                          </a:solidFill>
                          <a:latin typeface="Calibri"/>
                          <a:ea typeface="Calibri"/>
                          <a:cs typeface="Calibri"/>
                          <a:sym typeface="Calibri"/>
                        </a:rPr>
                        <a:t>("No se permite ingresar valores negativos");</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valorConvertido</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calcularConversion</a:t>
                      </a:r>
                      <a:r>
                        <a:rPr lang="es-ES" sz="1000" dirty="0">
                          <a:solidFill>
                            <a:srgbClr val="4F81BD"/>
                          </a:solidFill>
                          <a:latin typeface="Calibri"/>
                          <a:ea typeface="Calibri"/>
                          <a:cs typeface="Calibri"/>
                          <a:sym typeface="Calibri"/>
                        </a:rPr>
                        <a:t>(valor,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unidadDestino</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RespuestaConversion</a:t>
                      </a:r>
                      <a:r>
                        <a:rPr lang="es-ES" sz="1000" dirty="0">
                          <a:solidFill>
                            <a:srgbClr val="4F81BD"/>
                          </a:solidFill>
                          <a:latin typeface="Calibri"/>
                          <a:ea typeface="Calibri"/>
                          <a:cs typeface="Calibri"/>
                          <a:sym typeface="Calibri"/>
                        </a:rPr>
                        <a:t>(valor, </a:t>
                      </a:r>
                      <a:r>
                        <a:rPr lang="es-ES" sz="1000" dirty="0" err="1">
                          <a:solidFill>
                            <a:srgbClr val="4F81BD"/>
                          </a:solidFill>
                          <a:latin typeface="Calibri"/>
                          <a:ea typeface="Calibri"/>
                          <a:cs typeface="Calibri"/>
                          <a:sym typeface="Calibri"/>
                        </a:rPr>
                        <a:t>valorConvertido</a:t>
                      </a:r>
                      <a:r>
                        <a:rPr lang="es-ES" sz="1000" dirty="0">
                          <a:solidFill>
                            <a:srgbClr val="4F81BD"/>
                          </a:solidFill>
                          <a:latin typeface="Calibri"/>
                          <a:ea typeface="Calibri"/>
                          <a:cs typeface="Calibri"/>
                          <a:sym typeface="Calibri"/>
                        </a:rPr>
                        <a:t>, unidadOrigen.name(), unidadDestino.name());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calcularConversion</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a:t>
                      </a:r>
                      <a:r>
                        <a:rPr lang="es-ES" sz="1000" dirty="0" err="1">
                          <a:solidFill>
                            <a:srgbClr val="4F81BD"/>
                          </a:solidFill>
                          <a:latin typeface="Calibri"/>
                          <a:ea typeface="Calibri"/>
                          <a:cs typeface="Calibri"/>
                          <a:sym typeface="Calibri"/>
                        </a:rPr>
                        <a:t>UnidadMasa</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UnidadMasa</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unidadFinal</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valorABase</a:t>
                      </a:r>
                      <a:r>
                        <a:rPr lang="es-ES" sz="1000" dirty="0">
                          <a:solidFill>
                            <a:srgbClr val="4F81BD"/>
                          </a:solidFill>
                          <a:latin typeface="Calibri"/>
                          <a:ea typeface="Calibri"/>
                          <a:cs typeface="Calibri"/>
                          <a:sym typeface="Calibri"/>
                        </a:rPr>
                        <a:t> = valor * </a:t>
                      </a:r>
                      <a:r>
                        <a:rPr lang="es-ES" sz="1000" dirty="0" err="1">
                          <a:solidFill>
                            <a:srgbClr val="4F81BD"/>
                          </a:solidFill>
                          <a:latin typeface="Calibri"/>
                          <a:ea typeface="Calibri"/>
                          <a:cs typeface="Calibri"/>
                          <a:sym typeface="Calibri"/>
                        </a:rPr>
                        <a:t>unidadOrigen.getFactor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valorDesdeBase</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valorABase</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unidadFinal.getFactor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valorDesdeBase</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a:t>
                      </a:r>
                      <a:endParaRPr sz="10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4"/>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70" name="Google Shape;270;p34"/>
          <p:cNvSpPr txBox="1">
            <a:spLocks noGrp="1"/>
          </p:cNvSpPr>
          <p:nvPr>
            <p:ph type="body" idx="1"/>
          </p:nvPr>
        </p:nvSpPr>
        <p:spPr>
          <a:xfrm>
            <a:off x="581200" y="3037175"/>
            <a:ext cx="2132400" cy="2605800"/>
          </a:xfrm>
          <a:prstGeom prst="rect">
            <a:avLst/>
          </a:prstGeom>
          <a:noFill/>
          <a:ln>
            <a:noFill/>
          </a:ln>
        </p:spPr>
        <p:txBody>
          <a:bodyPr spcFirstLastPara="1" wrap="square" lIns="91425" tIns="45700" rIns="91425" bIns="45700" anchor="ctr" anchorCtr="0">
            <a:noAutofit/>
          </a:bodyPr>
          <a:lstStyle/>
          <a:p>
            <a:pPr marL="0" lvl="0" indent="0" algn="just" rtl="0">
              <a:lnSpc>
                <a:spcPct val="107000"/>
              </a:lnSpc>
              <a:spcBef>
                <a:spcPts val="0"/>
              </a:spcBef>
              <a:spcAft>
                <a:spcPts val="0"/>
              </a:spcAft>
              <a:buNone/>
            </a:pPr>
            <a:r>
              <a:rPr lang="es-ES" sz="1400" dirty="0">
                <a:latin typeface="Cambria"/>
                <a:ea typeface="Cambria"/>
                <a:cs typeface="Cambria"/>
                <a:sym typeface="Cambria"/>
              </a:rPr>
              <a:t>Ahora se procede a completar el resto de la lógica, donde las utilidades exponen la lógica (utilizando factores de conversión y fórmulas) como se puede ver en las tablas aplicando una interfaz con el fin de hacer que los servicios puedan inyectar cualquier tipo de conversión sin limitarse a uno en concreto como se puede ver en la Tabla del Servicio</a:t>
            </a:r>
            <a:endParaRPr sz="1400" dirty="0">
              <a:latin typeface="Cambria"/>
              <a:ea typeface="Cambria"/>
              <a:cs typeface="Cambria"/>
              <a:sym typeface="Cambria"/>
            </a:endParaRPr>
          </a:p>
        </p:txBody>
      </p:sp>
      <p:sp>
        <p:nvSpPr>
          <p:cNvPr id="271" name="Google Shape;271;p34"/>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272" name="Google Shape;272;p34"/>
          <p:cNvGraphicFramePr/>
          <p:nvPr>
            <p:extLst>
              <p:ext uri="{D42A27DB-BD31-4B8C-83A1-F6EECF244321}">
                <p14:modId xmlns:p14="http://schemas.microsoft.com/office/powerpoint/2010/main" val="714546080"/>
              </p:ext>
            </p:extLst>
          </p:nvPr>
        </p:nvGraphicFramePr>
        <p:xfrm>
          <a:off x="2883275" y="1863661"/>
          <a:ext cx="6062675" cy="485140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1160900">
                <a:tc>
                  <a:txBody>
                    <a:bodyPr/>
                    <a:lstStyle/>
                    <a:p>
                      <a:pPr marL="0" lvl="0" indent="0" algn="l" rtl="0">
                        <a:spcBef>
                          <a:spcPts val="0"/>
                        </a:spcBef>
                        <a:spcAft>
                          <a:spcPts val="0"/>
                        </a:spcAft>
                        <a:buNone/>
                      </a:pPr>
                      <a:r>
                        <a:rPr lang="es-ES" sz="1000" dirty="0">
                          <a:solidFill>
                            <a:srgbClr val="4F81BD"/>
                          </a:solidFill>
                          <a:latin typeface="Calibri"/>
                          <a:ea typeface="Calibri"/>
                          <a:cs typeface="Calibri"/>
                          <a:sym typeface="Calibri"/>
                        </a:rPr>
                        <a:t>@ApplicationScoped</a:t>
                      </a:r>
                    </a:p>
                    <a:p>
                      <a:pPr marL="0" lvl="0" indent="0" algn="l" rtl="0">
                        <a:spcBef>
                          <a:spcPts val="0"/>
                        </a:spcBef>
                        <a:spcAft>
                          <a:spcPts val="0"/>
                        </a:spcAft>
                        <a:buNone/>
                      </a:pP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class</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ServicioTemperatura</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ServicioTemperatura</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RespuestaConversion</a:t>
                      </a:r>
                      <a:r>
                        <a:rPr lang="es-ES" sz="1000" dirty="0">
                          <a:solidFill>
                            <a:srgbClr val="4F81BD"/>
                          </a:solidFill>
                          <a:latin typeface="Calibri"/>
                          <a:ea typeface="Calibri"/>
                          <a:cs typeface="Calibri"/>
                          <a:sym typeface="Calibri"/>
                        </a:rPr>
                        <a:t> convertir(</a:t>
                      </a:r>
                      <a:r>
                        <a:rPr lang="es-ES" sz="1000" dirty="0" err="1">
                          <a:solidFill>
                            <a:srgbClr val="4F81BD"/>
                          </a:solidFill>
                          <a:latin typeface="Calibri"/>
                          <a:ea typeface="Calibri"/>
                          <a:cs typeface="Calibri"/>
                          <a:sym typeface="Calibri"/>
                        </a:rPr>
                        <a:t>SolicitudConversion</a:t>
                      </a:r>
                      <a:r>
                        <a:rPr lang="es-ES" sz="1000" dirty="0">
                          <a:solidFill>
                            <a:srgbClr val="4F81BD"/>
                          </a:solidFill>
                          <a:latin typeface="Calibri"/>
                          <a:ea typeface="Calibri"/>
                          <a:cs typeface="Calibri"/>
                          <a:sym typeface="Calibri"/>
                        </a:rPr>
                        <a:t> solicitud)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UnidadTemperatura</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UnidadTemperatura.desdeString</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solicitud.getUnidadOrigen</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UnidadTemperatura</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unidadDestino</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UnidadTemperatura.desdeString</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solicitud.getUnidadDestino</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 </a:t>
                      </a:r>
                      <a:r>
                        <a:rPr lang="es-ES" sz="1000" dirty="0" err="1">
                          <a:solidFill>
                            <a:srgbClr val="4F81BD"/>
                          </a:solidFill>
                          <a:latin typeface="Calibri"/>
                          <a:ea typeface="Calibri"/>
                          <a:cs typeface="Calibri"/>
                          <a:sym typeface="Calibri"/>
                        </a:rPr>
                        <a:t>solicitud.getValor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unidadOrigen.validar</a:t>
                      </a:r>
                      <a:r>
                        <a:rPr lang="es-ES" sz="1000" dirty="0">
                          <a:solidFill>
                            <a:srgbClr val="4F81BD"/>
                          </a:solidFill>
                          <a:latin typeface="Calibri"/>
                          <a:ea typeface="Calibri"/>
                          <a:cs typeface="Calibri"/>
                          <a:sym typeface="Calibri"/>
                        </a:rPr>
                        <a:t>(valor);</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valorEnKelvin</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aKelvin</a:t>
                      </a:r>
                      <a:r>
                        <a:rPr lang="es-ES" sz="1000" dirty="0">
                          <a:solidFill>
                            <a:srgbClr val="4F81BD"/>
                          </a:solidFill>
                          <a:latin typeface="Calibri"/>
                          <a:ea typeface="Calibri"/>
                          <a:cs typeface="Calibri"/>
                          <a:sym typeface="Calibri"/>
                        </a:rPr>
                        <a:t>(valor, </a:t>
                      </a:r>
                      <a:r>
                        <a:rPr lang="es-ES" sz="1000" dirty="0" err="1">
                          <a:solidFill>
                            <a:srgbClr val="4F81BD"/>
                          </a:solidFill>
                          <a:latin typeface="Calibri"/>
                          <a:ea typeface="Calibri"/>
                          <a:cs typeface="Calibri"/>
                          <a:sym typeface="Calibri"/>
                        </a:rPr>
                        <a:t>unidadOrigen</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valorConvertido</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desdeKelvin</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valorEnKelvin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unidadDestino</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RespuestaConversion</a:t>
                      </a:r>
                      <a:r>
                        <a:rPr lang="es-ES" sz="1000" dirty="0">
                          <a:solidFill>
                            <a:srgbClr val="4F81BD"/>
                          </a:solidFill>
                          <a:latin typeface="Calibri"/>
                          <a:ea typeface="Calibri"/>
                          <a:cs typeface="Calibri"/>
                          <a:sym typeface="Calibri"/>
                        </a:rPr>
                        <a:t>(valor, </a:t>
                      </a:r>
                      <a:r>
                        <a:rPr lang="es-ES" sz="1000" dirty="0" err="1">
                          <a:solidFill>
                            <a:srgbClr val="4F81BD"/>
                          </a:solidFill>
                          <a:latin typeface="Calibri"/>
                          <a:ea typeface="Calibri"/>
                          <a:cs typeface="Calibri"/>
                          <a:sym typeface="Calibri"/>
                        </a:rPr>
                        <a:t>valorConvertido</a:t>
                      </a:r>
                      <a:r>
                        <a:rPr lang="es-ES" sz="1000" dirty="0">
                          <a:solidFill>
                            <a:srgbClr val="4F81BD"/>
                          </a:solidFill>
                          <a:latin typeface="Calibri"/>
                          <a:ea typeface="Calibri"/>
                          <a:cs typeface="Calibri"/>
                          <a:sym typeface="Calibri"/>
                        </a:rPr>
                        <a:t>, unidadOrigen.name(), unidadDestino.name());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aKelvin</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a:t>
                      </a:r>
                      <a:r>
                        <a:rPr lang="es-ES" sz="1000" dirty="0" err="1">
                          <a:solidFill>
                            <a:srgbClr val="4F81BD"/>
                          </a:solidFill>
                          <a:latin typeface="Calibri"/>
                          <a:ea typeface="Calibri"/>
                          <a:cs typeface="Calibri"/>
                          <a:sym typeface="Calibri"/>
                        </a:rPr>
                        <a:t>UnidadTemperatura</a:t>
                      </a:r>
                      <a:r>
                        <a:rPr lang="es-ES" sz="1000" dirty="0">
                          <a:solidFill>
                            <a:srgbClr val="4F81BD"/>
                          </a:solidFill>
                          <a:latin typeface="Calibri"/>
                          <a:ea typeface="Calibri"/>
                          <a:cs typeface="Calibri"/>
                          <a:sym typeface="Calibri"/>
                        </a:rPr>
                        <a:t> unidad)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switch (unidad)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CELSIUS -&gt; valor + 273.15;</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FAHRENHEIT -&gt; (valor + 459.67) * 5.0 / 9.0;</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KELVIN -&gt; valor;</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RANKINE -&gt; valor * 5.0 / 9.0;</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desdeKelvin</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kelvin, </a:t>
                      </a:r>
                      <a:r>
                        <a:rPr lang="es-ES" sz="1000" dirty="0" err="1">
                          <a:solidFill>
                            <a:srgbClr val="4F81BD"/>
                          </a:solidFill>
                          <a:latin typeface="Calibri"/>
                          <a:ea typeface="Calibri"/>
                          <a:cs typeface="Calibri"/>
                          <a:sym typeface="Calibri"/>
                        </a:rPr>
                        <a:t>UnidadTemperatura</a:t>
                      </a:r>
                      <a:r>
                        <a:rPr lang="es-ES" sz="1000" dirty="0">
                          <a:solidFill>
                            <a:srgbClr val="4F81BD"/>
                          </a:solidFill>
                          <a:latin typeface="Calibri"/>
                          <a:ea typeface="Calibri"/>
                          <a:cs typeface="Calibri"/>
                          <a:sym typeface="Calibri"/>
                        </a:rPr>
                        <a:t> unidad)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switch (unidad)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CELSIUS -&gt; kelvin - 273.15;</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FAHRENHEIT -&gt; kelvin * 9.0 / 5.0 - 459.67;</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KELVIN -&gt; kelvin;</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case RANKINE -&gt; kelvin * 9.0 / 5.0;</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a:t>
                      </a:r>
                      <a:endParaRPr sz="7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37"/>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294" name="Google Shape;294;p37"/>
          <p:cNvSpPr txBox="1">
            <a:spLocks noGrp="1"/>
          </p:cNvSpPr>
          <p:nvPr>
            <p:ph type="body" idx="1"/>
          </p:nvPr>
        </p:nvSpPr>
        <p:spPr>
          <a:xfrm>
            <a:off x="490582" y="2007528"/>
            <a:ext cx="3323537" cy="4558800"/>
          </a:xfrm>
          <a:prstGeom prst="rect">
            <a:avLst/>
          </a:prstGeom>
          <a:noFill/>
          <a:ln>
            <a:noFill/>
          </a:ln>
        </p:spPr>
        <p:txBody>
          <a:bodyPr spcFirstLastPara="1" wrap="square" lIns="91425" tIns="45700" rIns="91425" bIns="45700" anchor="ctr" anchorCtr="0">
            <a:normAutofit/>
          </a:bodyPr>
          <a:lstStyle/>
          <a:p>
            <a:pPr marL="342900" marR="0" lvl="0" indent="-342900" algn="just" rtl="0">
              <a:lnSpc>
                <a:spcPct val="107000"/>
              </a:lnSpc>
              <a:spcBef>
                <a:spcPts val="0"/>
              </a:spcBef>
              <a:spcAft>
                <a:spcPts val="0"/>
              </a:spcAft>
              <a:buSzPts val="1785"/>
              <a:buChar char="∙"/>
            </a:pPr>
            <a:r>
              <a:rPr lang="es-ES" sz="1600" b="1" dirty="0">
                <a:latin typeface="Cambria"/>
                <a:ea typeface="Cambria"/>
                <a:cs typeface="Cambria"/>
                <a:sym typeface="Cambria"/>
              </a:rPr>
              <a:t>1.2.6 	Ejecución en Servidor</a:t>
            </a:r>
            <a:endParaRPr sz="1600" dirty="0">
              <a:latin typeface="Cambria"/>
              <a:ea typeface="Cambria"/>
              <a:cs typeface="Cambria"/>
              <a:sym typeface="Cambria"/>
            </a:endParaRPr>
          </a:p>
          <a:p>
            <a:pPr marL="342900" lvl="0" indent="-323850" algn="just">
              <a:lnSpc>
                <a:spcPct val="107000"/>
              </a:lnSpc>
              <a:spcBef>
                <a:spcPts val="0"/>
              </a:spcBef>
              <a:buSzPts val="1356"/>
              <a:buFont typeface="Cambria"/>
              <a:buChar char="∙"/>
            </a:pPr>
            <a:r>
              <a:rPr lang="es-ES" sz="1600" dirty="0">
                <a:latin typeface="Cambria"/>
                <a:ea typeface="Cambria"/>
                <a:cs typeface="Cambria"/>
                <a:sym typeface="Cambria"/>
              </a:rPr>
              <a:t>Se ejecuta el programa corriendo en nuestro servidor payara y se comprueba el funcionamiento correcto en la ruta (En los puertos de Docker se configuro 9080 para payara): </a:t>
            </a:r>
          </a:p>
          <a:p>
            <a:pPr marL="342900" lvl="0" indent="-323850" algn="just">
              <a:lnSpc>
                <a:spcPct val="107000"/>
              </a:lnSpc>
              <a:spcBef>
                <a:spcPts val="0"/>
              </a:spcBef>
              <a:buSzPts val="1356"/>
              <a:buFont typeface="Cambria"/>
              <a:buChar char="∙"/>
            </a:pPr>
            <a:endParaRPr lang="es-ES" sz="1600" dirty="0">
              <a:latin typeface="Cambria"/>
              <a:ea typeface="Cambria"/>
              <a:cs typeface="Cambria"/>
              <a:sym typeface="Cambria"/>
            </a:endParaRPr>
          </a:p>
          <a:p>
            <a:pPr marL="342900" lvl="0" indent="-323850" algn="just">
              <a:lnSpc>
                <a:spcPct val="107000"/>
              </a:lnSpc>
              <a:spcBef>
                <a:spcPts val="0"/>
              </a:spcBef>
              <a:buSzPts val="1356"/>
              <a:buFont typeface="Cambria"/>
              <a:buChar char="∙"/>
            </a:pPr>
            <a:r>
              <a:rPr lang="es-ES" sz="1600" i="1" dirty="0">
                <a:solidFill>
                  <a:schemeClr val="accent1">
                    <a:lumMod val="60000"/>
                    <a:lumOff val="40000"/>
                  </a:schemeClr>
                </a:solidFill>
                <a:latin typeface="Cambria"/>
                <a:ea typeface="Cambria"/>
                <a:cs typeface="Cambria"/>
                <a:sym typeface="Cambria"/>
              </a:rPr>
              <a:t>http://localhost:9080/CONV_REST_JAVA/docs.html</a:t>
            </a:r>
            <a:endParaRPr sz="1800" dirty="0">
              <a:latin typeface="Cambria"/>
              <a:ea typeface="Cambria"/>
              <a:cs typeface="Cambria"/>
              <a:sym typeface="Cambria"/>
            </a:endParaRPr>
          </a:p>
        </p:txBody>
      </p:sp>
      <p:sp>
        <p:nvSpPr>
          <p:cNvPr id="295" name="Google Shape;295;p37"/>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SERVIDOR RESTFUL</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7" name="Picture 6">
            <a:extLst>
              <a:ext uri="{FF2B5EF4-FFF2-40B4-BE49-F238E27FC236}">
                <a16:creationId xmlns:a16="http://schemas.microsoft.com/office/drawing/2014/main" id="{40CFD15C-EAEE-FBE5-07DF-D19B8F6C5ECB}"/>
              </a:ext>
            </a:extLst>
          </p:cNvPr>
          <p:cNvPicPr>
            <a:picLocks noChangeAspect="1"/>
          </p:cNvPicPr>
          <p:nvPr/>
        </p:nvPicPr>
        <p:blipFill>
          <a:blip r:embed="rId3"/>
          <a:stretch>
            <a:fillRect/>
          </a:stretch>
        </p:blipFill>
        <p:spPr>
          <a:xfrm>
            <a:off x="4128288" y="2270717"/>
            <a:ext cx="4697107" cy="403242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38"/>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OBJETIVO</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chemeClr val="accent2"/>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SERVIDOR RESTFUL</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rgbClr val="FFFF00"/>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MOVIL</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02" name="Google Shape;302;p38"/>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a:t>
            </a:r>
            <a:endParaRPr dirty="0"/>
          </a:p>
        </p:txBody>
      </p:sp>
      <p:sp>
        <p:nvSpPr>
          <p:cNvPr id="303" name="Google Shape;303;p38"/>
          <p:cNvSpPr txBox="1">
            <a:spLocks noGrp="1"/>
          </p:cNvSpPr>
          <p:nvPr>
            <p:ph type="body" idx="1"/>
          </p:nvPr>
        </p:nvSpPr>
        <p:spPr>
          <a:xfrm>
            <a:off x="498873" y="2079535"/>
            <a:ext cx="8581500" cy="1471595"/>
          </a:xfrm>
          <a:prstGeom prst="rect">
            <a:avLst/>
          </a:prstGeom>
          <a:noFill/>
          <a:ln>
            <a:noFill/>
          </a:ln>
        </p:spPr>
        <p:txBody>
          <a:bodyPr spcFirstLastPara="1" wrap="square" lIns="91425" tIns="45700" rIns="91425" bIns="45700" anchor="ctr" anchorCtr="0">
            <a:noAutofit/>
          </a:bodyPr>
          <a:lstStyle/>
          <a:p>
            <a:pPr marL="0" lvl="0" indent="0" algn="just" rtl="0">
              <a:lnSpc>
                <a:spcPct val="115000"/>
              </a:lnSpc>
              <a:spcBef>
                <a:spcPts val="1200"/>
              </a:spcBef>
              <a:spcAft>
                <a:spcPts val="0"/>
              </a:spcAft>
              <a:buClr>
                <a:schemeClr val="dk1"/>
              </a:buClr>
              <a:buSzPct val="70332"/>
              <a:buFont typeface="Arial"/>
              <a:buNone/>
            </a:pPr>
            <a:r>
              <a:rPr lang="es-MX" sz="1400" b="1" dirty="0">
                <a:latin typeface="Cambria"/>
                <a:ea typeface="Cambria"/>
                <a:cs typeface="Cambria"/>
                <a:sym typeface="Cambria"/>
              </a:rPr>
              <a:t>1.3  CREACIÓN DEL PROYECTO CLIENTE CONSOLA</a:t>
            </a:r>
          </a:p>
          <a:p>
            <a:pPr marL="422426" lvl="0" indent="-285750" algn="just" rtl="0">
              <a:lnSpc>
                <a:spcPct val="115000"/>
              </a:lnSpc>
              <a:spcBef>
                <a:spcPts val="0"/>
              </a:spcBef>
              <a:spcAft>
                <a:spcPts val="0"/>
              </a:spcAft>
              <a:buSzPct val="100064"/>
              <a:buFont typeface="Arial" panose="020B0604020202020204" pitchFamily="34" charset="0"/>
              <a:buChar char="•"/>
            </a:pPr>
            <a:r>
              <a:rPr lang="es-MX" sz="1400" dirty="0">
                <a:latin typeface="Cambria"/>
                <a:ea typeface="Cambria"/>
                <a:cs typeface="Cambria"/>
                <a:sym typeface="Cambria"/>
              </a:rPr>
              <a:t>Para el cliente consola se uso NetBeans en el cual se debe crear un nuevo proyecto para ello se seleccionó el gestor de proyectos Java </a:t>
            </a:r>
            <a:r>
              <a:rPr lang="es-MX" sz="1400" dirty="0" err="1">
                <a:latin typeface="Cambria"/>
                <a:ea typeface="Cambria"/>
                <a:cs typeface="Cambria"/>
                <a:sym typeface="Cambria"/>
              </a:rPr>
              <a:t>with</a:t>
            </a:r>
            <a:r>
              <a:rPr lang="es-MX" sz="1400" dirty="0">
                <a:latin typeface="Cambria"/>
                <a:ea typeface="Cambria"/>
                <a:cs typeface="Cambria"/>
                <a:sym typeface="Cambria"/>
              </a:rPr>
              <a:t> Maven, el tipo de aplicativo que se usa es Java </a:t>
            </a:r>
            <a:r>
              <a:rPr lang="es-MX" sz="1400" dirty="0" err="1">
                <a:latin typeface="Cambria"/>
                <a:ea typeface="Cambria"/>
                <a:cs typeface="Cambria"/>
                <a:sym typeface="Cambria"/>
              </a:rPr>
              <a:t>Application</a:t>
            </a:r>
            <a:r>
              <a:rPr lang="es-MX" sz="1400" dirty="0">
                <a:latin typeface="Cambria"/>
                <a:ea typeface="Cambria"/>
                <a:cs typeface="Cambria"/>
                <a:sym typeface="Cambria"/>
              </a:rPr>
              <a:t>.</a:t>
            </a:r>
          </a:p>
          <a:p>
            <a:pPr marL="422426" lvl="0" indent="-285750" algn="just" rtl="0">
              <a:lnSpc>
                <a:spcPct val="115000"/>
              </a:lnSpc>
              <a:spcBef>
                <a:spcPts val="0"/>
              </a:spcBef>
              <a:spcAft>
                <a:spcPts val="0"/>
              </a:spcAft>
              <a:buSzPct val="100064"/>
              <a:buFont typeface="Arial" panose="020B0604020202020204" pitchFamily="34" charset="0"/>
              <a:buChar char="•"/>
            </a:pPr>
            <a:r>
              <a:rPr lang="es-MX" sz="1400" dirty="0">
                <a:latin typeface="Cambria"/>
                <a:ea typeface="Cambria"/>
                <a:cs typeface="Cambria"/>
                <a:sym typeface="Cambria"/>
              </a:rPr>
              <a:t>Se asigna un nombre al proyecto, se da una ubicación, y se configura el </a:t>
            </a:r>
            <a:r>
              <a:rPr lang="es-MX" sz="1400" dirty="0" err="1">
                <a:latin typeface="Cambria"/>
                <a:ea typeface="Cambria"/>
                <a:cs typeface="Cambria"/>
                <a:sym typeface="Cambria"/>
              </a:rPr>
              <a:t>group</a:t>
            </a:r>
            <a:r>
              <a:rPr lang="es-MX" sz="1400" dirty="0">
                <a:latin typeface="Cambria"/>
                <a:ea typeface="Cambria"/>
                <a:cs typeface="Cambria"/>
                <a:sym typeface="Cambria"/>
              </a:rPr>
              <a:t> id con el que se quiere nombrar.</a:t>
            </a:r>
          </a:p>
          <a:p>
            <a:pPr marL="0" lvl="0" indent="0" algn="l" rtl="0">
              <a:lnSpc>
                <a:spcPct val="115000"/>
              </a:lnSpc>
              <a:spcBef>
                <a:spcPts val="1200"/>
              </a:spcBef>
              <a:spcAft>
                <a:spcPts val="1200"/>
              </a:spcAft>
              <a:buSzPct val="99162"/>
              <a:buNone/>
            </a:pPr>
            <a:endParaRPr sz="1400" dirty="0">
              <a:latin typeface="Cambria"/>
              <a:ea typeface="Cambria"/>
              <a:cs typeface="Cambria"/>
              <a:sym typeface="Cambria"/>
            </a:endParaRPr>
          </a:p>
        </p:txBody>
      </p:sp>
      <p:pic>
        <p:nvPicPr>
          <p:cNvPr id="3" name="Picture 2">
            <a:extLst>
              <a:ext uri="{FF2B5EF4-FFF2-40B4-BE49-F238E27FC236}">
                <a16:creationId xmlns:a16="http://schemas.microsoft.com/office/drawing/2014/main" id="{D21FD43A-51C3-C83D-9282-DAFC6FBE4777}"/>
              </a:ext>
            </a:extLst>
          </p:cNvPr>
          <p:cNvPicPr>
            <a:picLocks noChangeAspect="1"/>
          </p:cNvPicPr>
          <p:nvPr/>
        </p:nvPicPr>
        <p:blipFill>
          <a:blip r:embed="rId3"/>
          <a:stretch>
            <a:fillRect/>
          </a:stretch>
        </p:blipFill>
        <p:spPr>
          <a:xfrm>
            <a:off x="450353" y="3728330"/>
            <a:ext cx="4339270" cy="2928165"/>
          </a:xfrm>
          <a:prstGeom prst="rect">
            <a:avLst/>
          </a:prstGeom>
        </p:spPr>
      </p:pic>
      <p:pic>
        <p:nvPicPr>
          <p:cNvPr id="4" name="Picture 3">
            <a:extLst>
              <a:ext uri="{FF2B5EF4-FFF2-40B4-BE49-F238E27FC236}">
                <a16:creationId xmlns:a16="http://schemas.microsoft.com/office/drawing/2014/main" id="{46DAEA48-5A54-159F-1966-D07BEAB95796}"/>
              </a:ext>
            </a:extLst>
          </p:cNvPr>
          <p:cNvPicPr>
            <a:picLocks noChangeAspect="1"/>
          </p:cNvPicPr>
          <p:nvPr/>
        </p:nvPicPr>
        <p:blipFill>
          <a:blip r:embed="rId4"/>
          <a:stretch>
            <a:fillRect/>
          </a:stretch>
        </p:blipFill>
        <p:spPr>
          <a:xfrm>
            <a:off x="4948473" y="3884887"/>
            <a:ext cx="4131900" cy="211564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9"/>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OBJETIVO</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chemeClr val="accent2"/>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SERVIDOR RESTFUL</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rgbClr val="FFFF00"/>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MOVIL</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311" name="Google Shape;311;p39"/>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12" name="Google Shape;312;p39"/>
          <p:cNvSpPr txBox="1">
            <a:spLocks noGrp="1"/>
          </p:cNvSpPr>
          <p:nvPr>
            <p:ph type="body" idx="1"/>
          </p:nvPr>
        </p:nvSpPr>
        <p:spPr>
          <a:xfrm>
            <a:off x="581192" y="1785292"/>
            <a:ext cx="8581500" cy="2149500"/>
          </a:xfrm>
          <a:prstGeom prst="rect">
            <a:avLst/>
          </a:prstGeom>
          <a:noFill/>
          <a:ln>
            <a:noFill/>
          </a:ln>
        </p:spPr>
        <p:txBody>
          <a:bodyPr spcFirstLastPara="1" wrap="square" lIns="91425" tIns="45700" rIns="91425" bIns="45700" anchor="ctr" anchorCtr="0">
            <a:normAutofit/>
          </a:bodyPr>
          <a:lstStyle/>
          <a:p>
            <a:pPr marL="415036" indent="-285750">
              <a:lnSpc>
                <a:spcPct val="115000"/>
              </a:lnSpc>
              <a:spcBef>
                <a:spcPts val="0"/>
              </a:spcBef>
              <a:buSzPts val="1564"/>
              <a:buFont typeface="Arial" panose="020B0604020202020204" pitchFamily="34" charset="0"/>
              <a:buChar char="•"/>
            </a:pPr>
            <a:r>
              <a:rPr lang="es-ES" sz="1564" dirty="0">
                <a:latin typeface="Cambria"/>
                <a:ea typeface="Cambria"/>
                <a:cs typeface="Cambria"/>
                <a:sym typeface="Cambria"/>
              </a:rPr>
              <a:t>Una vez que se creó el proyecto se debe generar los diferentes paquetes, donde se colocarán los archivos con código fuente, se deberá ejecutar desde el archivo principal que se va a crear</a:t>
            </a:r>
            <a:endParaRPr sz="1564" dirty="0">
              <a:latin typeface="Cambria"/>
              <a:ea typeface="Cambria"/>
              <a:cs typeface="Cambria"/>
              <a:sym typeface="Cambria"/>
            </a:endParaRPr>
          </a:p>
          <a:p>
            <a:pPr marL="0" lvl="0" indent="0" algn="l" rtl="0">
              <a:lnSpc>
                <a:spcPct val="115000"/>
              </a:lnSpc>
              <a:spcBef>
                <a:spcPts val="1200"/>
              </a:spcBef>
              <a:spcAft>
                <a:spcPts val="1200"/>
              </a:spcAft>
              <a:buSzPts val="1656"/>
              <a:buNone/>
            </a:pPr>
            <a:endParaRPr sz="1670" dirty="0">
              <a:latin typeface="Cambria"/>
              <a:ea typeface="Cambria"/>
              <a:cs typeface="Cambria"/>
              <a:sym typeface="Cambria"/>
            </a:endParaRPr>
          </a:p>
        </p:txBody>
      </p:sp>
      <p:pic>
        <p:nvPicPr>
          <p:cNvPr id="4" name="Picture 3">
            <a:extLst>
              <a:ext uri="{FF2B5EF4-FFF2-40B4-BE49-F238E27FC236}">
                <a16:creationId xmlns:a16="http://schemas.microsoft.com/office/drawing/2014/main" id="{5B51430F-2561-CFC8-657A-05C1447BE061}"/>
              </a:ext>
            </a:extLst>
          </p:cNvPr>
          <p:cNvPicPr>
            <a:picLocks noChangeAspect="1"/>
          </p:cNvPicPr>
          <p:nvPr/>
        </p:nvPicPr>
        <p:blipFill>
          <a:blip r:embed="rId3"/>
          <a:stretch>
            <a:fillRect/>
          </a:stretch>
        </p:blipFill>
        <p:spPr>
          <a:xfrm>
            <a:off x="3722541" y="3105664"/>
            <a:ext cx="2809965" cy="354391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p40"/>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19" name="Google Shape;319;p40"/>
          <p:cNvSpPr txBox="1">
            <a:spLocks noGrp="1"/>
          </p:cNvSpPr>
          <p:nvPr>
            <p:ph type="body" idx="1"/>
          </p:nvPr>
        </p:nvSpPr>
        <p:spPr>
          <a:xfrm>
            <a:off x="581200" y="1876275"/>
            <a:ext cx="2132400" cy="4701300"/>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400" dirty="0">
                <a:solidFill>
                  <a:schemeClr val="dk1"/>
                </a:solidFill>
                <a:latin typeface="Calibri"/>
                <a:ea typeface="Calibri"/>
                <a:cs typeface="Calibri"/>
                <a:sym typeface="Calibri"/>
              </a:rPr>
              <a:t>A continuación se detallarán las clases principales con su código fuente.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sp>
        <p:nvSpPr>
          <p:cNvPr id="320" name="Google Shape;320;p40"/>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321" name="Google Shape;321;p40"/>
          <p:cNvGraphicFramePr/>
          <p:nvPr>
            <p:extLst>
              <p:ext uri="{D42A27DB-BD31-4B8C-83A1-F6EECF244321}">
                <p14:modId xmlns:p14="http://schemas.microsoft.com/office/powerpoint/2010/main" val="2710148170"/>
              </p:ext>
            </p:extLst>
          </p:nvPr>
        </p:nvGraphicFramePr>
        <p:xfrm>
          <a:off x="2964625" y="1876275"/>
          <a:ext cx="6062675" cy="492760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4701300">
                <a:tc>
                  <a:txBody>
                    <a:bodyPr/>
                    <a:lstStyle/>
                    <a:p>
                      <a:pPr marL="0" lvl="0" indent="0" algn="l" rtl="0">
                        <a:spcBef>
                          <a:spcPts val="0"/>
                        </a:spcBef>
                        <a:spcAft>
                          <a:spcPts val="0"/>
                        </a:spcAft>
                        <a:buClr>
                          <a:schemeClr val="dk1"/>
                        </a:buClr>
                        <a:buSzPts val="1100"/>
                        <a:buFont typeface="Arial"/>
                        <a:buNone/>
                      </a:pPr>
                      <a:r>
                        <a:rPr lang="es-ES" sz="900" dirty="0" err="1">
                          <a:solidFill>
                            <a:srgbClr val="4F81BD"/>
                          </a:solidFill>
                          <a:latin typeface="Calibri"/>
                          <a:ea typeface="Calibri"/>
                          <a:cs typeface="Calibri"/>
                          <a:sym typeface="Calibri"/>
                        </a:rPr>
                        <a:t>package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ec.edu.monster.configuracion</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900" dirty="0" err="1">
                          <a:solidFill>
                            <a:srgbClr val="4F81BD"/>
                          </a:solidFill>
                          <a:latin typeface="Calibri"/>
                          <a:ea typeface="Calibri"/>
                          <a:cs typeface="Calibri"/>
                          <a:sym typeface="Calibri"/>
                        </a:rPr>
                        <a:t>import</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io.github.cdimascio.dotenv.Dotenv</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err="1">
                          <a:solidFill>
                            <a:srgbClr val="4F81BD"/>
                          </a:solidFill>
                          <a:latin typeface="Calibri"/>
                          <a:ea typeface="Calibri"/>
                          <a:cs typeface="Calibri"/>
                          <a:sym typeface="Calibri"/>
                        </a:rPr>
                        <a:t>import</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java.io.File</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err="1">
                          <a:solidFill>
                            <a:srgbClr val="4F81BD"/>
                          </a:solidFill>
                          <a:latin typeface="Calibri"/>
                          <a:ea typeface="Calibri"/>
                          <a:cs typeface="Calibri"/>
                          <a:sym typeface="Calibri"/>
                        </a:rPr>
                        <a:t>import</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java.net.URISyntaxException</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Lee la configuración del servicio </a:t>
                      </a:r>
                      <a:r>
                        <a:rPr lang="es-ES" sz="900" dirty="0" err="1">
                          <a:solidFill>
                            <a:srgbClr val="4F81BD"/>
                          </a:solidFill>
                          <a:latin typeface="Calibri"/>
                          <a:ea typeface="Calibri"/>
                          <a:cs typeface="Calibri"/>
                          <a:sym typeface="Calibri"/>
                        </a:rPr>
                        <a:t>RESTful</a:t>
                      </a:r>
                      <a:r>
                        <a:rPr lang="es-ES" sz="900" dirty="0">
                          <a:solidFill>
                            <a:srgbClr val="4F81BD"/>
                          </a:solidFill>
                          <a:latin typeface="Calibri"/>
                          <a:ea typeface="Calibri"/>
                          <a:cs typeface="Calibri"/>
                          <a:sym typeface="Calibri"/>
                        </a:rPr>
                        <a:t> sin dejar direcciones dentro del código. */</a:t>
                      </a:r>
                    </a:p>
                    <a:p>
                      <a:pPr marL="0" lvl="0" indent="0" algn="l" rtl="0">
                        <a:spcBef>
                          <a:spcPts val="0"/>
                        </a:spcBef>
                        <a:spcAft>
                          <a:spcPts val="0"/>
                        </a:spcAft>
                        <a:buClr>
                          <a:schemeClr val="dk1"/>
                        </a:buClr>
                        <a:buSzPts val="1100"/>
                        <a:buFont typeface="Arial"/>
                        <a:buNone/>
                      </a:pPr>
                      <a:r>
                        <a:rPr lang="es-ES" sz="900" dirty="0" err="1">
                          <a:solidFill>
                            <a:srgbClr val="4F81BD"/>
                          </a:solidFill>
                          <a:latin typeface="Calibri"/>
                          <a:ea typeface="Calibri"/>
                          <a:cs typeface="Calibri"/>
                          <a:sym typeface="Calibri"/>
                        </a:rPr>
                        <a:t>public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class</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RestConfig</a:t>
                      </a:r>
                      <a:r>
                        <a:rPr lang="es-ES" sz="9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ARCHIVO_ENV = "</a:t>
                      </a:r>
                      <a:r>
                        <a:rPr lang="es-ES" sz="900" dirty="0" err="1">
                          <a:solidFill>
                            <a:srgbClr val="4F81BD"/>
                          </a:solidFill>
                          <a:latin typeface="Calibri"/>
                          <a:ea typeface="Calibri"/>
                          <a:cs typeface="Calibri"/>
                          <a:sym typeface="Calibri"/>
                        </a:rPr>
                        <a:t>development.env</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RUTAS_ENV = {</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src</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main</a:t>
                      </a:r>
                      <a:r>
                        <a:rPr lang="es-ES" sz="900" dirty="0">
                          <a:solidFill>
                            <a:srgbClr val="4F81BD"/>
                          </a:solidFill>
                          <a:latin typeface="Calibri"/>
                          <a:ea typeface="Calibri"/>
                          <a:cs typeface="Calibri"/>
                          <a:sym typeface="Calibri"/>
                        </a:rPr>
                        <a:t>/java/</a:t>
                      </a:r>
                      <a:r>
                        <a:rPr lang="es-ES" sz="900" dirty="0" err="1">
                          <a:solidFill>
                            <a:srgbClr val="4F81BD"/>
                          </a:solidFill>
                          <a:latin typeface="Calibri"/>
                          <a:ea typeface="Calibri"/>
                          <a:cs typeface="Calibri"/>
                          <a:sym typeface="Calibri"/>
                        </a:rPr>
                        <a:t>ec</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edu</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monster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clicon_uni_java_restful</a:t>
                      </a:r>
                      <a:r>
                        <a:rPr lang="es-ES" sz="900" dirty="0">
                          <a:solidFill>
                            <a:srgbClr val="4F81BD"/>
                          </a:solidFill>
                          <a:latin typeface="Calibri"/>
                          <a:ea typeface="Calibri"/>
                          <a:cs typeface="Calibri"/>
                          <a:sym typeface="Calibri"/>
                        </a:rPr>
                        <a:t>/" + ARCHIVO_ENV,</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src</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main</a:t>
                      </a:r>
                      <a:r>
                        <a:rPr lang="es-ES" sz="900" dirty="0">
                          <a:solidFill>
                            <a:srgbClr val="4F81BD"/>
                          </a:solidFill>
                          <a:latin typeface="Calibri"/>
                          <a:ea typeface="Calibri"/>
                          <a:cs typeface="Calibri"/>
                          <a:sym typeface="Calibri"/>
                        </a:rPr>
                        <a:t>/recursos/" + ARCHIVO_ENV</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Dotenv</a:t>
                      </a:r>
                      <a:r>
                        <a:rPr lang="es-ES" sz="900" dirty="0">
                          <a:solidFill>
                            <a:srgbClr val="4F81BD"/>
                          </a:solidFill>
                          <a:latin typeface="Calibri"/>
                          <a:ea typeface="Calibri"/>
                          <a:cs typeface="Calibri"/>
                          <a:sym typeface="Calibri"/>
                        </a:rPr>
                        <a:t> ENV = cargar();</a:t>
                      </a:r>
                    </a:p>
                    <a:p>
                      <a:pPr marL="0" lvl="0" indent="0" algn="l" rtl="0">
                        <a:spcBef>
                          <a:spcPts val="0"/>
                        </a:spcBef>
                        <a:spcAft>
                          <a:spcPts val="0"/>
                        </a:spcAft>
                        <a:buClr>
                          <a:schemeClr val="dk1"/>
                        </a:buClr>
                        <a:buSzPts val="1100"/>
                        <a:buFont typeface="Arial"/>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RestConfig</a:t>
                      </a:r>
                      <a:r>
                        <a:rPr lang="es-ES" sz="900" dirty="0">
                          <a:solidFill>
                            <a:srgbClr val="4F81BD"/>
                          </a:solidFill>
                          <a:latin typeface="Calibri"/>
                          <a:ea typeface="Calibri"/>
                          <a:cs typeface="Calibri"/>
                          <a:sym typeface="Calibri"/>
                        </a:rPr>
                        <a:t>() { }</a:t>
                      </a:r>
                    </a:p>
                    <a:p>
                      <a:pPr marL="0" lvl="0" indent="0" algn="l" rtl="0">
                        <a:spcBef>
                          <a:spcPts val="0"/>
                        </a:spcBef>
                        <a:spcAft>
                          <a:spcPts val="0"/>
                        </a:spcAft>
                        <a:buClr>
                          <a:schemeClr val="dk1"/>
                        </a:buClr>
                        <a:buSzPts val="1100"/>
                        <a:buFont typeface="Arial"/>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Dotenv</a:t>
                      </a:r>
                      <a:r>
                        <a:rPr lang="es-ES" sz="900" dirty="0">
                          <a:solidFill>
                            <a:srgbClr val="4F81BD"/>
                          </a:solidFill>
                          <a:latin typeface="Calibri"/>
                          <a:ea typeface="Calibri"/>
                          <a:cs typeface="Calibri"/>
                          <a:sym typeface="Calibri"/>
                        </a:rPr>
                        <a:t> cargar() {</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File archivo = </a:t>
                      </a:r>
                      <a:r>
                        <a:rPr lang="es-ES" sz="900" dirty="0" err="1">
                          <a:solidFill>
                            <a:srgbClr val="4F81BD"/>
                          </a:solidFill>
                          <a:latin typeface="Calibri"/>
                          <a:ea typeface="Calibri"/>
                          <a:cs typeface="Calibri"/>
                          <a:sym typeface="Calibri"/>
                        </a:rPr>
                        <a:t>ubicarArchivo</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(archivo != </a:t>
                      </a:r>
                      <a:r>
                        <a:rPr lang="es-ES" sz="900" dirty="0" err="1">
                          <a:solidFill>
                            <a:srgbClr val="4F81BD"/>
                          </a:solidFill>
                          <a:latin typeface="Calibri"/>
                          <a:ea typeface="Calibri"/>
                          <a:cs typeface="Calibri"/>
                          <a:sym typeface="Calibri"/>
                        </a:rPr>
                        <a:t>null</a:t>
                      </a:r>
                      <a:r>
                        <a:rPr lang="es-ES" sz="9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Dotenv.configure</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 </a:t>
                      </a:r>
                      <a:r>
                        <a:rPr lang="es-ES" sz="900" dirty="0" err="1">
                          <a:solidFill>
                            <a:srgbClr val="4F81BD"/>
                          </a:solidFill>
                          <a:latin typeface="Calibri"/>
                          <a:ea typeface="Calibri"/>
                          <a:cs typeface="Calibri"/>
                          <a:sym typeface="Calibri"/>
                        </a:rPr>
                        <a:t>getParent</a:t>
                      </a:r>
                      <a:r>
                        <a:rPr lang="es-ES" sz="900" dirty="0">
                          <a:solidFill>
                            <a:srgbClr val="4F81BD"/>
                          </a:solidFill>
                          <a:latin typeface="Calibri"/>
                          <a:ea typeface="Calibri"/>
                          <a:cs typeface="Calibri"/>
                          <a:sym typeface="Calibri"/>
                        </a:rPr>
                        <a:t>() es </a:t>
                      </a:r>
                      <a:r>
                        <a:rPr lang="es-ES" sz="900" dirty="0" err="1">
                          <a:solidFill>
                            <a:srgbClr val="4F81BD"/>
                          </a:solidFill>
                          <a:latin typeface="Calibri"/>
                          <a:ea typeface="Calibri"/>
                          <a:cs typeface="Calibri"/>
                          <a:sym typeface="Calibri"/>
                        </a:rPr>
                        <a:t>null</a:t>
                      </a:r>
                      <a:r>
                        <a:rPr lang="es-ES" sz="900" dirty="0">
                          <a:solidFill>
                            <a:srgbClr val="4F81BD"/>
                          </a:solidFill>
                          <a:latin typeface="Calibri"/>
                          <a:ea typeface="Calibri"/>
                          <a:cs typeface="Calibri"/>
                          <a:sym typeface="Calibri"/>
                        </a:rPr>
                        <a:t> si el archivo se encuentra en el</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 directorio actual y fue creado con una ruta relativa.</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directory</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archivo.getAbsoluteFile</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getParent</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filename</a:t>
                      </a:r>
                      <a:r>
                        <a:rPr lang="es-ES" sz="900" dirty="0">
                          <a:solidFill>
                            <a:srgbClr val="4F81BD"/>
                          </a:solidFill>
                          <a:latin typeface="Calibri"/>
                          <a:ea typeface="Calibri"/>
                          <a:cs typeface="Calibri"/>
                          <a:sym typeface="Calibri"/>
                        </a:rPr>
                        <a:t>(ARCHIVO_ENV)</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ignoreIfMissing</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.load();</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Dotenv.configure</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filename</a:t>
                      </a:r>
                      <a:r>
                        <a:rPr lang="es-ES" sz="900" dirty="0">
                          <a:solidFill>
                            <a:srgbClr val="4F81BD"/>
                          </a:solidFill>
                          <a:latin typeface="Calibri"/>
                          <a:ea typeface="Calibri"/>
                          <a:cs typeface="Calibri"/>
                          <a:sym typeface="Calibri"/>
                        </a:rPr>
                        <a:t>(ARCHIVO_ENV)</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ignoreIfMissing</a:t>
                      </a:r>
                      <a:r>
                        <a:rPr lang="es-ES" sz="9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.load();</a:t>
                      </a: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900" dirty="0">
                          <a:solidFill>
                            <a:srgbClr val="4F81BD"/>
                          </a:solidFill>
                          <a:latin typeface="Calibri"/>
                          <a:ea typeface="Calibri"/>
                          <a:cs typeface="Calibri"/>
                          <a:sym typeface="Calibri"/>
                        </a:rPr>
                        <a:t>    </a:t>
                      </a: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41"/>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28" name="Google Shape;328;p41"/>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329" name="Google Shape;329;p41"/>
          <p:cNvGraphicFramePr/>
          <p:nvPr>
            <p:extLst>
              <p:ext uri="{D42A27DB-BD31-4B8C-83A1-F6EECF244321}">
                <p14:modId xmlns:p14="http://schemas.microsoft.com/office/powerpoint/2010/main" val="1719195741"/>
              </p:ext>
            </p:extLst>
          </p:nvPr>
        </p:nvGraphicFramePr>
        <p:xfrm>
          <a:off x="2964625" y="1876275"/>
          <a:ext cx="6062675" cy="5003800"/>
        </p:xfrm>
        <a:graphic>
          <a:graphicData uri="http://schemas.openxmlformats.org/drawingml/2006/table">
            <a:tbl>
              <a:tblPr>
                <a:noFill/>
                <a:tableStyleId>{BF136021-7255-42B7-A7E7-87A8D8FFE9CA}</a:tableStyleId>
              </a:tblPr>
              <a:tblGrid>
                <a:gridCol w="6062675">
                  <a:extLst>
                    <a:ext uri="{9D8B030D-6E8A-4147-A177-3AD203B41FA5}">
                      <a16:colId xmlns:a16="http://schemas.microsoft.com/office/drawing/2014/main" val="20000"/>
                    </a:ext>
                  </a:extLst>
                </a:gridCol>
              </a:tblGrid>
              <a:tr h="3566293">
                <a:tc>
                  <a:txBody>
                    <a:bodyPr/>
                    <a:lstStyle/>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requerido(</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clave)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valor = </a:t>
                      </a:r>
                      <a:r>
                        <a:rPr lang="es-ES" sz="1000" dirty="0" err="1">
                          <a:solidFill>
                            <a:srgbClr val="4F81BD"/>
                          </a:solidFill>
                          <a:latin typeface="Calibri"/>
                          <a:ea typeface="Calibri"/>
                          <a:cs typeface="Calibri"/>
                          <a:sym typeface="Calibri"/>
                        </a:rPr>
                        <a:t>ENV.get</a:t>
                      </a:r>
                      <a:r>
                        <a:rPr lang="es-ES" sz="1000" dirty="0">
                          <a:solidFill>
                            <a:srgbClr val="4F81BD"/>
                          </a:solidFill>
                          <a:latin typeface="Calibri"/>
                          <a:ea typeface="Calibri"/>
                          <a:cs typeface="Calibri"/>
                          <a:sym typeface="Calibri"/>
                        </a:rPr>
                        <a:t>(clave);</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if</a:t>
                      </a:r>
                      <a:r>
                        <a:rPr lang="es-ES" sz="1000" dirty="0">
                          <a:solidFill>
                            <a:srgbClr val="4F81BD"/>
                          </a:solidFill>
                          <a:latin typeface="Calibri"/>
                          <a:ea typeface="Calibri"/>
                          <a:cs typeface="Calibri"/>
                          <a:sym typeface="Calibri"/>
                        </a:rPr>
                        <a:t> (valor == </a:t>
                      </a:r>
                      <a:r>
                        <a:rPr lang="es-ES" sz="1000" dirty="0" err="1">
                          <a:solidFill>
                            <a:srgbClr val="4F81BD"/>
                          </a:solidFill>
                          <a:latin typeface="Calibri"/>
                          <a:ea typeface="Calibri"/>
                          <a:cs typeface="Calibri"/>
                          <a:sym typeface="Calibri"/>
                        </a:rPr>
                        <a:t>null</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valor.isBlank</a:t>
                      </a:r>
                      <a:r>
                        <a:rPr lang="es-ES" sz="10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throw</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IllegalStateException</a:t>
                      </a:r>
                      <a:r>
                        <a:rPr lang="es-ES" sz="1000" dirty="0">
                          <a:solidFill>
                            <a:srgbClr val="4F81BD"/>
                          </a:solidFill>
                          <a:latin typeface="Calibri"/>
                          <a:ea typeface="Calibri"/>
                          <a:cs typeface="Calibri"/>
                          <a:sym typeface="Calibri"/>
                        </a:rPr>
                        <a:t>("Falta la variable '" + clave + "' en " + ARCHIVO_ENV);</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valor;</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baseUrl</a:t>
                      </a:r>
                      <a:r>
                        <a:rPr lang="es-ES" sz="10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requerido("RESTFUL_PROTOCOL") +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 requerido("RESTFUL_HOST") +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 requerido("RESTFUL_PORT")</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 requerido("RESTFUL_API");</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endpointAutenticacion</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requerido("ENDPOINT_AUTENTICACION");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endpointConvertirLongitud</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requerido("ENDPOINT_CONVERSION_LONGITUD");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endpointConvertirTemperatura</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requerido("ENDPOINT_CONVERSION_TEMPERATURA");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endpointConvertirMasa</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requerido("ENDPOINT_CONVERSION_MASA"); }</a:t>
                      </a:r>
                    </a:p>
                    <a:p>
                      <a:pPr marL="0" lvl="0" indent="0" algn="l" rtl="0">
                        <a:spcBef>
                          <a:spcPts val="0"/>
                        </a:spcBef>
                        <a:spcAft>
                          <a:spcPts val="0"/>
                        </a:spcAft>
                        <a:buClr>
                          <a:schemeClr val="dk1"/>
                        </a:buClr>
                        <a:buSzPts val="1100"/>
                        <a:buFont typeface="Arial"/>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int</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connectTimeout</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entero("RESTFUL_CONNECT_TIMEOUT");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int</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readTimeout</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entero("RESTFUL_READ_TIMEOUT");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boolean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insecureTls</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Boolean.parseBoolean</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ENV.get</a:t>
                      </a:r>
                      <a:r>
                        <a:rPr lang="es-ES" sz="1000" dirty="0">
                          <a:solidFill>
                            <a:srgbClr val="4F81BD"/>
                          </a:solidFill>
                          <a:latin typeface="Calibri"/>
                          <a:ea typeface="Calibri"/>
                          <a:cs typeface="Calibri"/>
                          <a:sym typeface="Calibri"/>
                        </a:rPr>
                        <a:t>("RESTFUL_INSECURE_TLS", "false")); }</a:t>
                      </a:r>
                    </a:p>
                    <a:p>
                      <a:pPr marL="0" lvl="0" indent="0" algn="l" rtl="0">
                        <a:spcBef>
                          <a:spcPts val="0"/>
                        </a:spcBef>
                        <a:spcAft>
                          <a:spcPts val="0"/>
                        </a:spcAft>
                        <a:buClr>
                          <a:schemeClr val="dk1"/>
                        </a:buClr>
                        <a:buSzPts val="1100"/>
                        <a:buFont typeface="Arial"/>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static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int</a:t>
                      </a:r>
                      <a:r>
                        <a:rPr lang="es-ES" sz="1000" dirty="0">
                          <a:solidFill>
                            <a:srgbClr val="4F81BD"/>
                          </a:solidFill>
                          <a:latin typeface="Calibri"/>
                          <a:ea typeface="Calibri"/>
                          <a:cs typeface="Calibri"/>
                          <a:sym typeface="Calibri"/>
                        </a:rPr>
                        <a:t> entero(</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clave)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try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Integer.parseInt</a:t>
                      </a:r>
                      <a:r>
                        <a:rPr lang="es-ES" sz="1000" dirty="0">
                          <a:solidFill>
                            <a:srgbClr val="4F81BD"/>
                          </a:solidFill>
                          <a:latin typeface="Calibri"/>
                          <a:ea typeface="Calibri"/>
                          <a:cs typeface="Calibri"/>
                          <a:sym typeface="Calibri"/>
                        </a:rPr>
                        <a:t>(requerido(clave));</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 catch (</a:t>
                      </a:r>
                      <a:r>
                        <a:rPr lang="es-ES" sz="1000" dirty="0" err="1">
                          <a:solidFill>
                            <a:srgbClr val="4F81BD"/>
                          </a:solidFill>
                          <a:latin typeface="Calibri"/>
                          <a:ea typeface="Calibri"/>
                          <a:cs typeface="Calibri"/>
                          <a:sym typeface="Calibri"/>
                        </a:rPr>
                        <a:t>NumberFormatException</a:t>
                      </a:r>
                      <a:r>
                        <a:rPr lang="es-ES" sz="1000" dirty="0">
                          <a:solidFill>
                            <a:srgbClr val="4F81BD"/>
                          </a:solidFill>
                          <a:latin typeface="Calibri"/>
                          <a:ea typeface="Calibri"/>
                          <a:cs typeface="Calibri"/>
                          <a:sym typeface="Calibri"/>
                        </a:rPr>
                        <a:t> ex)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throw</a:t>
                      </a:r>
                      <a:r>
                        <a:rPr lang="es-ES" sz="1000" dirty="0">
                          <a:solidFill>
                            <a:srgbClr val="4F81BD"/>
                          </a:solidFill>
                          <a:latin typeface="Calibri"/>
                          <a:ea typeface="Calibri"/>
                          <a:cs typeface="Calibri"/>
                          <a:sym typeface="Calibri"/>
                        </a:rPr>
                        <a:t> new </a:t>
                      </a:r>
                      <a:r>
                        <a:rPr lang="es-ES" sz="1000" dirty="0" err="1">
                          <a:solidFill>
                            <a:srgbClr val="4F81BD"/>
                          </a:solidFill>
                          <a:latin typeface="Calibri"/>
                          <a:ea typeface="Calibri"/>
                          <a:cs typeface="Calibri"/>
                          <a:sym typeface="Calibri"/>
                        </a:rPr>
                        <a:t>IllegalStateException</a:t>
                      </a:r>
                      <a:r>
                        <a:rPr lang="es-ES" sz="1000" dirty="0">
                          <a:solidFill>
                            <a:srgbClr val="4F81BD"/>
                          </a:solidFill>
                          <a:latin typeface="Calibri"/>
                          <a:ea typeface="Calibri"/>
                          <a:cs typeface="Calibri"/>
                          <a:sym typeface="Calibri"/>
                        </a:rPr>
                        <a:t>("La variable '" + clave + "' debe ser un entero", ex);</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r>
                        <a:rPr lang="es-ES" sz="1000" dirty="0">
                          <a:solidFill>
                            <a:srgbClr val="4F81BD"/>
                          </a:solidFill>
                          <a:latin typeface="Calibri"/>
                          <a:ea typeface="Calibri"/>
                          <a:cs typeface="Calibri"/>
                          <a:sym typeface="Calibri"/>
                        </a:rPr>
                        <a:t>    }</a:t>
                      </a:r>
                    </a:p>
                  </a:txBody>
                  <a:tcPr marL="63500" marR="63500" marT="63500" marB="63500"/>
                </a:tc>
                <a:extLst>
                  <a:ext uri="{0D108BD9-81ED-4DB2-BD59-A6C34878D82A}">
                    <a16:rowId xmlns:a16="http://schemas.microsoft.com/office/drawing/2014/main" val="10000"/>
                  </a:ext>
                </a:extLst>
              </a:tr>
            </a:tbl>
          </a:graphicData>
        </a:graphic>
      </p:graphicFrame>
      <p:sp>
        <p:nvSpPr>
          <p:cNvPr id="5" name="Google Shape;319;p40">
            <a:extLst>
              <a:ext uri="{FF2B5EF4-FFF2-40B4-BE49-F238E27FC236}">
                <a16:creationId xmlns:a16="http://schemas.microsoft.com/office/drawing/2014/main" id="{2348F5FA-412C-637F-1F87-8B5060DD5713}"/>
              </a:ext>
            </a:extLst>
          </p:cNvPr>
          <p:cNvSpPr txBox="1">
            <a:spLocks noGrp="1"/>
          </p:cNvSpPr>
          <p:nvPr>
            <p:ph type="body" idx="1"/>
          </p:nvPr>
        </p:nvSpPr>
        <p:spPr>
          <a:xfrm>
            <a:off x="581200" y="1876275"/>
            <a:ext cx="2132400" cy="4701300"/>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400" dirty="0">
                <a:solidFill>
                  <a:schemeClr val="dk1"/>
                </a:solidFill>
                <a:latin typeface="Calibri"/>
                <a:ea typeface="Calibri"/>
                <a:cs typeface="Calibri"/>
                <a:sym typeface="Calibri"/>
              </a:rPr>
              <a:t>A continuación se detallarán las clases principales con su código fuente.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42"/>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36" name="Google Shape;336;p42"/>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337" name="Google Shape;337;p42"/>
          <p:cNvGraphicFramePr/>
          <p:nvPr>
            <p:extLst>
              <p:ext uri="{D42A27DB-BD31-4B8C-83A1-F6EECF244321}">
                <p14:modId xmlns:p14="http://schemas.microsoft.com/office/powerpoint/2010/main" val="3920602767"/>
              </p:ext>
            </p:extLst>
          </p:nvPr>
        </p:nvGraphicFramePr>
        <p:xfrm>
          <a:off x="3258803" y="3352738"/>
          <a:ext cx="5439425" cy="1748374"/>
        </p:xfrm>
        <a:graphic>
          <a:graphicData uri="http://schemas.openxmlformats.org/drawingml/2006/table">
            <a:tbl>
              <a:tblPr>
                <a:noFill/>
                <a:tableStyleId>{BF136021-7255-42B7-A7E7-87A8D8FFE9CA}</a:tableStyleId>
              </a:tblPr>
              <a:tblGrid>
                <a:gridCol w="5439425">
                  <a:extLst>
                    <a:ext uri="{9D8B030D-6E8A-4147-A177-3AD203B41FA5}">
                      <a16:colId xmlns:a16="http://schemas.microsoft.com/office/drawing/2014/main" val="20000"/>
                    </a:ext>
                  </a:extLst>
                </a:gridCol>
              </a:tblGrid>
              <a:tr h="1748374">
                <a:tc>
                  <a:txBody>
                    <a:bodyPr/>
                    <a:lstStyle/>
                    <a:p>
                      <a:pPr marL="0" lvl="0" indent="0" algn="l" rtl="0">
                        <a:spcBef>
                          <a:spcPts val="0"/>
                        </a:spcBef>
                        <a:spcAft>
                          <a:spcPts val="0"/>
                        </a:spcAft>
                        <a:buClr>
                          <a:schemeClr val="dk1"/>
                        </a:buClr>
                        <a:buSzPts val="1100"/>
                        <a:buFont typeface="Arial"/>
                        <a:buNone/>
                      </a:pPr>
                      <a:r>
                        <a:rPr lang="es-ES" sz="1100" dirty="0" err="1">
                          <a:solidFill>
                            <a:srgbClr val="4F81BD"/>
                          </a:solidFill>
                          <a:latin typeface="Calibri"/>
                          <a:ea typeface="Calibri"/>
                          <a:cs typeface="Calibri"/>
                          <a:sym typeface="Calibri"/>
                        </a:rPr>
                        <a:t>package</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ec.edu.monster.modelos</a:t>
                      </a:r>
                      <a:r>
                        <a:rPr lang="es-ES" sz="11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endParaRPr lang="es-ES" sz="1100" dirty="0">
                        <a:solidFill>
                          <a:srgbClr val="4F81BD"/>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s-ES" sz="1100" dirty="0" err="1">
                          <a:solidFill>
                            <a:srgbClr val="4F81BD"/>
                          </a:solidFill>
                          <a:latin typeface="Calibri"/>
                          <a:ea typeface="Calibri"/>
                          <a:cs typeface="Calibri"/>
                          <a:sym typeface="Calibri"/>
                        </a:rPr>
                        <a:t>public</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record</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ResultadoConversion</a:t>
                      </a:r>
                      <a:r>
                        <a:rPr lang="es-ES" sz="1100" dirty="0">
                          <a:solidFill>
                            <a:srgbClr val="4F81BD"/>
                          </a:solidFill>
                          <a:latin typeface="Calibri"/>
                          <a:ea typeface="Calibri"/>
                          <a:cs typeface="Calibri"/>
                          <a:sym typeface="Calibri"/>
                        </a:rPr>
                        <a:t>(</a:t>
                      </a:r>
                      <a:r>
                        <a:rPr lang="es-ES" sz="1100" dirty="0" err="1">
                          <a:solidFill>
                            <a:srgbClr val="4F81BD"/>
                          </a:solidFill>
                          <a:latin typeface="Calibri"/>
                          <a:ea typeface="Calibri"/>
                          <a:cs typeface="Calibri"/>
                          <a:sym typeface="Calibri"/>
                        </a:rPr>
                        <a:t>double</a:t>
                      </a:r>
                      <a:r>
                        <a:rPr lang="es-ES" sz="1100" dirty="0">
                          <a:solidFill>
                            <a:srgbClr val="4F81BD"/>
                          </a:solidFill>
                          <a:latin typeface="Calibri"/>
                          <a:ea typeface="Calibri"/>
                          <a:cs typeface="Calibri"/>
                          <a:sym typeface="Calibri"/>
                        </a:rPr>
                        <a:t> valor, </a:t>
                      </a:r>
                      <a:r>
                        <a:rPr lang="es-ES" sz="1100" dirty="0" err="1">
                          <a:solidFill>
                            <a:srgbClr val="4F81BD"/>
                          </a:solidFill>
                          <a:latin typeface="Calibri"/>
                          <a:ea typeface="Calibri"/>
                          <a:cs typeface="Calibri"/>
                          <a:sym typeface="Calibri"/>
                        </a:rPr>
                        <a:t>String</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unidadOrigen</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String</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unidadDestino</a:t>
                      </a:r>
                      <a:r>
                        <a:rPr lang="es-ES" sz="1100" dirty="0">
                          <a:solidFill>
                            <a:srgbClr val="4F81BD"/>
                          </a:solidFill>
                          <a:latin typeface="Calibri"/>
                          <a:ea typeface="Calibri"/>
                          <a:cs typeface="Calibri"/>
                          <a:sym typeface="Calibri"/>
                        </a:rPr>
                        <a:t>,</a:t>
                      </a:r>
                    </a:p>
                    <a:p>
                      <a:pPr marL="0" lvl="0" indent="0" algn="l" rtl="0">
                        <a:spcBef>
                          <a:spcPts val="0"/>
                        </a:spcBef>
                        <a:spcAft>
                          <a:spcPts val="0"/>
                        </a:spcAft>
                        <a:buClr>
                          <a:schemeClr val="dk1"/>
                        </a:buClr>
                        <a:buSzPts val="1100"/>
                        <a:buFont typeface="Arial"/>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double</a:t>
                      </a:r>
                      <a:r>
                        <a:rPr lang="es-ES" sz="1100" dirty="0">
                          <a:solidFill>
                            <a:srgbClr val="4F81BD"/>
                          </a:solidFill>
                          <a:latin typeface="Calibri"/>
                          <a:ea typeface="Calibri"/>
                          <a:cs typeface="Calibri"/>
                          <a:sym typeface="Calibri"/>
                        </a:rPr>
                        <a:t> resultado) { }</a:t>
                      </a:r>
                    </a:p>
                    <a:p>
                      <a:pPr marL="0" lvl="0" indent="0" algn="l" rtl="0">
                        <a:spcBef>
                          <a:spcPts val="0"/>
                        </a:spcBef>
                        <a:spcAft>
                          <a:spcPts val="0"/>
                        </a:spcAft>
                        <a:buNone/>
                      </a:pPr>
                      <a:endParaRPr sz="11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
        <p:nvSpPr>
          <p:cNvPr id="4" name="Google Shape;319;p40">
            <a:extLst>
              <a:ext uri="{FF2B5EF4-FFF2-40B4-BE49-F238E27FC236}">
                <a16:creationId xmlns:a16="http://schemas.microsoft.com/office/drawing/2014/main" id="{CB1440CD-484E-713C-F3FF-CC800025A4E3}"/>
              </a:ext>
            </a:extLst>
          </p:cNvPr>
          <p:cNvSpPr txBox="1">
            <a:spLocks noGrp="1"/>
          </p:cNvSpPr>
          <p:nvPr>
            <p:ph type="body" idx="1"/>
          </p:nvPr>
        </p:nvSpPr>
        <p:spPr>
          <a:xfrm>
            <a:off x="581200" y="1876275"/>
            <a:ext cx="2132400" cy="4701300"/>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400" dirty="0">
                <a:solidFill>
                  <a:schemeClr val="dk1"/>
                </a:solidFill>
                <a:latin typeface="Calibri"/>
                <a:ea typeface="Calibri"/>
                <a:cs typeface="Calibri"/>
                <a:sym typeface="Calibri"/>
              </a:rPr>
              <a:t>A continuación se detallarán las clases principales con su código fuente.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sp>
        <p:nvSpPr>
          <p:cNvPr id="342" name="Google Shape;342;p43"/>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43" name="Google Shape;343;p43"/>
          <p:cNvSpPr txBox="1">
            <a:spLocks noGrp="1"/>
          </p:cNvSpPr>
          <p:nvPr>
            <p:ph type="body" idx="1"/>
          </p:nvPr>
        </p:nvSpPr>
        <p:spPr>
          <a:xfrm>
            <a:off x="830650" y="2141151"/>
            <a:ext cx="7742247" cy="906849"/>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MX" sz="1400" dirty="0">
                <a:solidFill>
                  <a:schemeClr val="dk1"/>
                </a:solidFill>
                <a:latin typeface="Calibri"/>
                <a:ea typeface="Calibri"/>
                <a:cs typeface="Calibri"/>
                <a:sym typeface="Calibri"/>
              </a:rPr>
              <a:t>Se </a:t>
            </a:r>
            <a:r>
              <a:rPr lang="es-MX" sz="1400" dirty="0" err="1">
                <a:solidFill>
                  <a:schemeClr val="dk1"/>
                </a:solidFill>
                <a:latin typeface="Calibri"/>
                <a:ea typeface="Calibri"/>
                <a:cs typeface="Calibri"/>
                <a:sym typeface="Calibri"/>
              </a:rPr>
              <a:t>debrá</a:t>
            </a:r>
            <a:r>
              <a:rPr lang="es-MX" sz="1400" dirty="0">
                <a:solidFill>
                  <a:schemeClr val="dk1"/>
                </a:solidFill>
                <a:latin typeface="Calibri"/>
                <a:ea typeface="Calibri"/>
                <a:cs typeface="Calibri"/>
                <a:sym typeface="Calibri"/>
              </a:rPr>
              <a:t> configurar un archivo .</a:t>
            </a:r>
            <a:r>
              <a:rPr lang="es-MX" sz="1400" dirty="0" err="1">
                <a:solidFill>
                  <a:schemeClr val="dk1"/>
                </a:solidFill>
                <a:latin typeface="Calibri"/>
                <a:ea typeface="Calibri"/>
                <a:cs typeface="Calibri"/>
                <a:sym typeface="Calibri"/>
              </a:rPr>
              <a:t>development.env</a:t>
            </a:r>
            <a:r>
              <a:rPr lang="es-MX" sz="1400" dirty="0">
                <a:solidFill>
                  <a:schemeClr val="dk1"/>
                </a:solidFill>
                <a:latin typeface="Calibri"/>
                <a:ea typeface="Calibri"/>
                <a:cs typeface="Calibri"/>
                <a:sym typeface="Calibri"/>
              </a:rPr>
              <a:t> para tener los </a:t>
            </a:r>
            <a:r>
              <a:rPr lang="es-MX" sz="1400" dirty="0" err="1">
                <a:solidFill>
                  <a:schemeClr val="dk1"/>
                </a:solidFill>
                <a:latin typeface="Calibri"/>
                <a:ea typeface="Calibri"/>
                <a:cs typeface="Calibri"/>
                <a:sym typeface="Calibri"/>
              </a:rPr>
              <a:t>endpoints</a:t>
            </a:r>
            <a:r>
              <a:rPr lang="es-MX" sz="1400" dirty="0">
                <a:solidFill>
                  <a:schemeClr val="dk1"/>
                </a:solidFill>
                <a:latin typeface="Calibri"/>
                <a:ea typeface="Calibri"/>
                <a:cs typeface="Calibri"/>
                <a:sym typeface="Calibri"/>
              </a:rPr>
              <a:t> y la configuración de conexión entre el WS y el cliente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200" dirty="0">
              <a:latin typeface="Cambria"/>
              <a:ea typeface="Cambria"/>
              <a:cs typeface="Cambria"/>
              <a:sym typeface="Cambria"/>
            </a:endParaRPr>
          </a:p>
        </p:txBody>
      </p:sp>
      <p:sp>
        <p:nvSpPr>
          <p:cNvPr id="344" name="Google Shape;344;p43"/>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346" name="Google Shape;346;p43"/>
          <p:cNvGraphicFramePr/>
          <p:nvPr>
            <p:extLst>
              <p:ext uri="{D42A27DB-BD31-4B8C-83A1-F6EECF244321}">
                <p14:modId xmlns:p14="http://schemas.microsoft.com/office/powerpoint/2010/main" val="2392305764"/>
              </p:ext>
            </p:extLst>
          </p:nvPr>
        </p:nvGraphicFramePr>
        <p:xfrm>
          <a:off x="1538726" y="3164758"/>
          <a:ext cx="6326093" cy="3479800"/>
        </p:xfrm>
        <a:graphic>
          <a:graphicData uri="http://schemas.openxmlformats.org/drawingml/2006/table">
            <a:tbl>
              <a:tblPr>
                <a:noFill/>
                <a:tableStyleId>{BF136021-7255-42B7-A7E7-87A8D8FFE9CA}</a:tableStyleId>
              </a:tblPr>
              <a:tblGrid>
                <a:gridCol w="6326093">
                  <a:extLst>
                    <a:ext uri="{9D8B030D-6E8A-4147-A177-3AD203B41FA5}">
                      <a16:colId xmlns:a16="http://schemas.microsoft.com/office/drawing/2014/main" val="20000"/>
                    </a:ext>
                  </a:extLst>
                </a:gridCol>
              </a:tblGrid>
              <a:tr h="1272407">
                <a:tc>
                  <a:txBody>
                    <a:bodyPr/>
                    <a:lstStyle/>
                    <a:p>
                      <a:pPr marL="0" lvl="0" indent="0" algn="l" rtl="0">
                        <a:spcBef>
                          <a:spcPts val="0"/>
                        </a:spcBef>
                        <a:spcAft>
                          <a:spcPts val="0"/>
                        </a:spcAft>
                        <a:buNone/>
                      </a:pPr>
                      <a:r>
                        <a:rPr lang="es-ES" sz="1100" dirty="0">
                          <a:solidFill>
                            <a:srgbClr val="4F81BD"/>
                          </a:solidFill>
                          <a:latin typeface="Calibri"/>
                          <a:ea typeface="Calibri"/>
                          <a:cs typeface="Calibri"/>
                          <a:sym typeface="Calibri"/>
                        </a:rPr>
                        <a:t># Dirección base del servidor </a:t>
                      </a:r>
                      <a:r>
                        <a:rPr lang="es-ES" sz="1100" dirty="0" err="1">
                          <a:solidFill>
                            <a:srgbClr val="4F81BD"/>
                          </a:solidFill>
                          <a:latin typeface="Calibri"/>
                          <a:ea typeface="Calibri"/>
                          <a:cs typeface="Calibri"/>
                          <a:sym typeface="Calibri"/>
                        </a:rPr>
                        <a:t>RESTful</a:t>
                      </a:r>
                      <a:r>
                        <a:rPr lang="es-ES" sz="1100" dirty="0">
                          <a:solidFill>
                            <a:srgbClr val="4F81BD"/>
                          </a:solidFill>
                          <a:latin typeface="Calibri"/>
                          <a:ea typeface="Calibri"/>
                          <a:cs typeface="Calibri"/>
                          <a:sym typeface="Calibri"/>
                        </a:rPr>
                        <a:t> desplegado en Payara.</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RESTFUL_PROTOCOL=http</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RESTFUL_HOST=127.0.0.1</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RESTFUL_PORT=9080</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RESTFUL_API=/CONV_REST_JAVA/api</a:t>
                      </a:r>
                    </a:p>
                    <a:p>
                      <a:pPr marL="0" lvl="0" indent="0" algn="l" rtl="0">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spcBef>
                          <a:spcPts val="0"/>
                        </a:spcBef>
                        <a:spcAft>
                          <a:spcPts val="0"/>
                        </a:spcAft>
                        <a:buNone/>
                      </a:pPr>
                      <a:r>
                        <a:rPr lang="es-ES" sz="1100" dirty="0">
                          <a:solidFill>
                            <a:srgbClr val="4F81BD"/>
                          </a:solidFill>
                          <a:latin typeface="Calibri"/>
                          <a:ea typeface="Calibri"/>
                          <a:cs typeface="Calibri"/>
                          <a:sym typeface="Calibri"/>
                        </a:rPr>
                        <a:t># Rutas de la API </a:t>
                      </a:r>
                      <a:r>
                        <a:rPr lang="es-ES" sz="1100" dirty="0" err="1">
                          <a:solidFill>
                            <a:srgbClr val="4F81BD"/>
                          </a:solidFill>
                          <a:latin typeface="Calibri"/>
                          <a:ea typeface="Calibri"/>
                          <a:cs typeface="Calibri"/>
                          <a:sym typeface="Calibri"/>
                        </a:rPr>
                        <a:t>RESTful</a:t>
                      </a:r>
                      <a:r>
                        <a:rPr lang="es-ES" sz="11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ENDPOINT_AUTENTICACION=/</a:t>
                      </a:r>
                      <a:r>
                        <a:rPr lang="es-ES" sz="1100" dirty="0" err="1">
                          <a:solidFill>
                            <a:srgbClr val="4F81BD"/>
                          </a:solidFill>
                          <a:latin typeface="Calibri"/>
                          <a:ea typeface="Calibri"/>
                          <a:cs typeface="Calibri"/>
                          <a:sym typeface="Calibri"/>
                        </a:rPr>
                        <a:t>autenticacion</a:t>
                      </a:r>
                      <a:r>
                        <a:rPr lang="es-ES" sz="1100" dirty="0">
                          <a:solidFill>
                            <a:srgbClr val="4F81BD"/>
                          </a:solidFill>
                          <a:latin typeface="Calibri"/>
                          <a:ea typeface="Calibri"/>
                          <a:cs typeface="Calibri"/>
                          <a:sym typeface="Calibri"/>
                        </a:rPr>
                        <a:t>/iniciar-</a:t>
                      </a:r>
                      <a:r>
                        <a:rPr lang="es-ES" sz="1100" dirty="0" err="1">
                          <a:solidFill>
                            <a:srgbClr val="4F81BD"/>
                          </a:solidFill>
                          <a:latin typeface="Calibri"/>
                          <a:ea typeface="Calibri"/>
                          <a:cs typeface="Calibri"/>
                          <a:sym typeface="Calibri"/>
                        </a:rPr>
                        <a:t>sesion</a:t>
                      </a:r>
                      <a:endParaRPr lang="es-ES" sz="1100" dirty="0">
                        <a:solidFill>
                          <a:srgbClr val="4F81BD"/>
                        </a:solidFill>
                        <a:latin typeface="Calibri"/>
                        <a:ea typeface="Calibri"/>
                        <a:cs typeface="Calibri"/>
                        <a:sym typeface="Calibri"/>
                      </a:endParaRPr>
                    </a:p>
                    <a:p>
                      <a:pPr marL="0" lvl="0" indent="0" algn="l" rtl="0">
                        <a:spcBef>
                          <a:spcPts val="0"/>
                        </a:spcBef>
                        <a:spcAft>
                          <a:spcPts val="0"/>
                        </a:spcAft>
                        <a:buNone/>
                      </a:pPr>
                      <a:r>
                        <a:rPr lang="es-ES" sz="1100" dirty="0">
                          <a:solidFill>
                            <a:srgbClr val="4F81BD"/>
                          </a:solidFill>
                          <a:latin typeface="Calibri"/>
                          <a:ea typeface="Calibri"/>
                          <a:cs typeface="Calibri"/>
                          <a:sym typeface="Calibri"/>
                        </a:rPr>
                        <a:t>ENDPOINT_CONVERSION_LONGITUD=/</a:t>
                      </a:r>
                      <a:r>
                        <a:rPr lang="es-ES" sz="1100" dirty="0" err="1">
                          <a:solidFill>
                            <a:srgbClr val="4F81BD"/>
                          </a:solidFill>
                          <a:latin typeface="Calibri"/>
                          <a:ea typeface="Calibri"/>
                          <a:cs typeface="Calibri"/>
                          <a:sym typeface="Calibri"/>
                        </a:rPr>
                        <a:t>conversion</a:t>
                      </a:r>
                      <a:r>
                        <a:rPr lang="es-ES" sz="1100" dirty="0">
                          <a:solidFill>
                            <a:srgbClr val="4F81BD"/>
                          </a:solidFill>
                          <a:latin typeface="Calibri"/>
                          <a:ea typeface="Calibri"/>
                          <a:cs typeface="Calibri"/>
                          <a:sym typeface="Calibri"/>
                        </a:rPr>
                        <a:t>/longitud</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ENDPOINT_CONVERSION_TEMPERATURA=/</a:t>
                      </a:r>
                      <a:r>
                        <a:rPr lang="es-ES" sz="1100" dirty="0" err="1">
                          <a:solidFill>
                            <a:srgbClr val="4F81BD"/>
                          </a:solidFill>
                          <a:latin typeface="Calibri"/>
                          <a:ea typeface="Calibri"/>
                          <a:cs typeface="Calibri"/>
                          <a:sym typeface="Calibri"/>
                        </a:rPr>
                        <a:t>conversion</a:t>
                      </a:r>
                      <a:r>
                        <a:rPr lang="es-ES" sz="1100" dirty="0">
                          <a:solidFill>
                            <a:srgbClr val="4F81BD"/>
                          </a:solidFill>
                          <a:latin typeface="Calibri"/>
                          <a:ea typeface="Calibri"/>
                          <a:cs typeface="Calibri"/>
                          <a:sym typeface="Calibri"/>
                        </a:rPr>
                        <a:t>/temperatura</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ENDPOINT_CONVERSION_MASA=/</a:t>
                      </a:r>
                      <a:r>
                        <a:rPr lang="es-ES" sz="1100" dirty="0" err="1">
                          <a:solidFill>
                            <a:srgbClr val="4F81BD"/>
                          </a:solidFill>
                          <a:latin typeface="Calibri"/>
                          <a:ea typeface="Calibri"/>
                          <a:cs typeface="Calibri"/>
                          <a:sym typeface="Calibri"/>
                        </a:rPr>
                        <a:t>conversion</a:t>
                      </a:r>
                      <a:r>
                        <a:rPr lang="es-ES" sz="1100" dirty="0">
                          <a:solidFill>
                            <a:srgbClr val="4F81BD"/>
                          </a:solidFill>
                          <a:latin typeface="Calibri"/>
                          <a:ea typeface="Calibri"/>
                          <a:cs typeface="Calibri"/>
                          <a:sym typeface="Calibri"/>
                        </a:rPr>
                        <a:t>/masa</a:t>
                      </a:r>
                    </a:p>
                    <a:p>
                      <a:pPr marL="0" lvl="0" indent="0" algn="l" rtl="0">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spcBef>
                          <a:spcPts val="0"/>
                        </a:spcBef>
                        <a:spcAft>
                          <a:spcPts val="0"/>
                        </a:spcAft>
                        <a:buNone/>
                      </a:pPr>
                      <a:r>
                        <a:rPr lang="es-ES" sz="1100" dirty="0">
                          <a:solidFill>
                            <a:srgbClr val="4F81BD"/>
                          </a:solidFill>
                          <a:latin typeface="Calibri"/>
                          <a:ea typeface="Calibri"/>
                          <a:cs typeface="Calibri"/>
                          <a:sym typeface="Calibri"/>
                        </a:rPr>
                        <a:t># Tiempos máximos de conexión y respuesta, en milisegundos.</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RESTFUL_CONNECT_TIMEOUT=10000</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RESTFUL_READ_TIMEOUT=10000</a:t>
                      </a:r>
                    </a:p>
                    <a:p>
                      <a:pPr marL="0" lvl="0" indent="0" algn="l" rtl="0">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spcBef>
                          <a:spcPts val="0"/>
                        </a:spcBef>
                        <a:spcAft>
                          <a:spcPts val="0"/>
                        </a:spcAft>
                        <a:buNone/>
                      </a:pPr>
                      <a:r>
                        <a:rPr lang="es-ES" sz="1100" dirty="0">
                          <a:solidFill>
                            <a:srgbClr val="4F81BD"/>
                          </a:solidFill>
                          <a:latin typeface="Calibri"/>
                          <a:ea typeface="Calibri"/>
                          <a:cs typeface="Calibri"/>
                          <a:sym typeface="Calibri"/>
                        </a:rPr>
                        <a:t># El servidor local usa HTTP; solo usar true con HTTPS y certificados de desarrollo.</a:t>
                      </a:r>
                    </a:p>
                    <a:p>
                      <a:pPr marL="0" lvl="0" indent="0" algn="l" rtl="0">
                        <a:spcBef>
                          <a:spcPts val="0"/>
                        </a:spcBef>
                        <a:spcAft>
                          <a:spcPts val="0"/>
                        </a:spcAft>
                        <a:buNone/>
                      </a:pPr>
                      <a:r>
                        <a:rPr lang="es-ES" sz="1100" dirty="0">
                          <a:solidFill>
                            <a:srgbClr val="4F81BD"/>
                          </a:solidFill>
                          <a:latin typeface="Calibri"/>
                          <a:ea typeface="Calibri"/>
                          <a:cs typeface="Calibri"/>
                          <a:sym typeface="Calibri"/>
                        </a:rPr>
                        <a:t>RESTFUL_INSECURE_TLS=false</a:t>
                      </a:r>
                    </a:p>
                    <a:p>
                      <a:pPr marL="0" lvl="0" indent="0" algn="l" rtl="0">
                        <a:spcBef>
                          <a:spcPts val="0"/>
                        </a:spcBef>
                        <a:spcAft>
                          <a:spcPts val="0"/>
                        </a:spcAft>
                        <a:buNone/>
                      </a:pPr>
                      <a:endParaRPr sz="1100" dirty="0">
                        <a:solidFill>
                          <a:srgbClr val="4F81BD"/>
                        </a:solidFill>
                        <a:latin typeface="Calibri"/>
                        <a:ea typeface="Calibri"/>
                        <a:cs typeface="Calibri"/>
                        <a:sym typeface="Calibri"/>
                      </a:endParaRPr>
                    </a:p>
                    <a:p>
                      <a:pPr marL="0" lvl="0" indent="0" algn="l" rtl="0">
                        <a:spcBef>
                          <a:spcPts val="0"/>
                        </a:spcBef>
                        <a:spcAft>
                          <a:spcPts val="0"/>
                        </a:spcAft>
                        <a:buNone/>
                      </a:pPr>
                      <a:r>
                        <a:rPr lang="es-ES" sz="1100" dirty="0">
                          <a:solidFill>
                            <a:srgbClr val="4F81BD"/>
                          </a:solidFill>
                          <a:latin typeface="Calibri"/>
                          <a:ea typeface="Calibri"/>
                          <a:cs typeface="Calibri"/>
                          <a:sym typeface="Calibri"/>
                        </a:rPr>
                        <a:t>      </a:t>
                      </a:r>
                      <a:endParaRPr sz="11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44"/>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53" name="Google Shape;353;p44"/>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354" name="Google Shape;354;p44"/>
          <p:cNvGraphicFramePr/>
          <p:nvPr>
            <p:extLst>
              <p:ext uri="{D42A27DB-BD31-4B8C-83A1-F6EECF244321}">
                <p14:modId xmlns:p14="http://schemas.microsoft.com/office/powerpoint/2010/main" val="2423208586"/>
              </p:ext>
            </p:extLst>
          </p:nvPr>
        </p:nvGraphicFramePr>
        <p:xfrm>
          <a:off x="3167783" y="1861228"/>
          <a:ext cx="4518120" cy="4851400"/>
        </p:xfrm>
        <a:graphic>
          <a:graphicData uri="http://schemas.openxmlformats.org/drawingml/2006/table">
            <a:tbl>
              <a:tblPr>
                <a:noFill/>
                <a:tableStyleId>{BF136021-7255-42B7-A7E7-87A8D8FFE9CA}</a:tableStyleId>
              </a:tblPr>
              <a:tblGrid>
                <a:gridCol w="4518120">
                  <a:extLst>
                    <a:ext uri="{9D8B030D-6E8A-4147-A177-3AD203B41FA5}">
                      <a16:colId xmlns:a16="http://schemas.microsoft.com/office/drawing/2014/main" val="20000"/>
                    </a:ext>
                  </a:extLst>
                </a:gridCol>
              </a:tblGrid>
              <a:tr h="3972225">
                <a:tc>
                  <a:txBody>
                    <a:bodyPr/>
                    <a:lstStyle/>
                    <a:p>
                      <a:pPr marL="0" lvl="0" indent="0" algn="l" rtl="0">
                        <a:spcBef>
                          <a:spcPts val="0"/>
                        </a:spcBef>
                        <a:spcAft>
                          <a:spcPts val="0"/>
                        </a:spcAft>
                        <a:buNone/>
                      </a:pP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class</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LoginController</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final </a:t>
                      </a:r>
                      <a:r>
                        <a:rPr lang="es-ES" sz="1000" dirty="0" err="1">
                          <a:solidFill>
                            <a:srgbClr val="4F81BD"/>
                          </a:solidFill>
                          <a:latin typeface="Calibri"/>
                          <a:ea typeface="Calibri"/>
                          <a:cs typeface="Calibri"/>
                          <a:sym typeface="Calibri"/>
                        </a:rPr>
                        <a:t>ConsolaVista</a:t>
                      </a:r>
                      <a:r>
                        <a:rPr lang="es-ES" sz="1000" dirty="0">
                          <a:solidFill>
                            <a:srgbClr val="4F81BD"/>
                          </a:solidFill>
                          <a:latin typeface="Calibri"/>
                          <a:ea typeface="Calibri"/>
                          <a:cs typeface="Calibri"/>
                          <a:sym typeface="Calibri"/>
                        </a:rPr>
                        <a:t> vista;</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final </a:t>
                      </a:r>
                      <a:r>
                        <a:rPr lang="es-ES" sz="1000" dirty="0" err="1">
                          <a:solidFill>
                            <a:srgbClr val="4F81BD"/>
                          </a:solidFill>
                          <a:latin typeface="Calibri"/>
                          <a:ea typeface="Calibri"/>
                          <a:cs typeface="Calibri"/>
                          <a:sym typeface="Calibri"/>
                        </a:rPr>
                        <a:t>WSConversorCliente</a:t>
                      </a:r>
                      <a:r>
                        <a:rPr lang="es-ES" sz="1000" dirty="0">
                          <a:solidFill>
                            <a:srgbClr val="4F81BD"/>
                          </a:solidFill>
                          <a:latin typeface="Calibri"/>
                          <a:ea typeface="Calibri"/>
                          <a:cs typeface="Calibri"/>
                          <a:sym typeface="Calibri"/>
                        </a:rPr>
                        <a:t> cliente;</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LoginController</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ConsolaVista</a:t>
                      </a:r>
                      <a:r>
                        <a:rPr lang="es-ES" sz="1000" dirty="0">
                          <a:solidFill>
                            <a:srgbClr val="4F81BD"/>
                          </a:solidFill>
                          <a:latin typeface="Calibri"/>
                          <a:ea typeface="Calibri"/>
                          <a:cs typeface="Calibri"/>
                          <a:sym typeface="Calibri"/>
                        </a:rPr>
                        <a:t> vista, </a:t>
                      </a:r>
                      <a:r>
                        <a:rPr lang="es-ES" sz="1000" dirty="0" err="1">
                          <a:solidFill>
                            <a:srgbClr val="4F81BD"/>
                          </a:solidFill>
                          <a:latin typeface="Calibri"/>
                          <a:ea typeface="Calibri"/>
                          <a:cs typeface="Calibri"/>
                          <a:sym typeface="Calibri"/>
                        </a:rPr>
                        <a:t>WSConversorCliente</a:t>
                      </a:r>
                      <a:r>
                        <a:rPr lang="es-ES" sz="1000" dirty="0">
                          <a:solidFill>
                            <a:srgbClr val="4F81BD"/>
                          </a:solidFill>
                          <a:latin typeface="Calibri"/>
                          <a:ea typeface="Calibri"/>
                          <a:cs typeface="Calibri"/>
                          <a:sym typeface="Calibri"/>
                        </a:rPr>
                        <a:t> cliente)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this.vista</a:t>
                      </a:r>
                      <a:r>
                        <a:rPr lang="es-ES" sz="1000" dirty="0">
                          <a:solidFill>
                            <a:srgbClr val="4F81BD"/>
                          </a:solidFill>
                          <a:latin typeface="Calibri"/>
                          <a:ea typeface="Calibri"/>
                          <a:cs typeface="Calibri"/>
                          <a:sym typeface="Calibri"/>
                        </a:rPr>
                        <a:t> = vista;</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this.cliente</a:t>
                      </a:r>
                      <a:r>
                        <a:rPr lang="es-ES" sz="1000" dirty="0">
                          <a:solidFill>
                            <a:srgbClr val="4F81BD"/>
                          </a:solidFill>
                          <a:latin typeface="Calibri"/>
                          <a:ea typeface="Calibri"/>
                          <a:cs typeface="Calibri"/>
                          <a:sym typeface="Calibri"/>
                        </a:rPr>
                        <a:t> = cliente;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boolean</a:t>
                      </a:r>
                      <a:r>
                        <a:rPr lang="es-ES" sz="1000" dirty="0">
                          <a:solidFill>
                            <a:srgbClr val="4F81BD"/>
                          </a:solidFill>
                          <a:latin typeface="Calibri"/>
                          <a:ea typeface="Calibri"/>
                          <a:cs typeface="Calibri"/>
                          <a:sym typeface="Calibri"/>
                        </a:rPr>
                        <a:t> autenticar()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vista.mostrarMensaje</a:t>
                      </a:r>
                      <a:r>
                        <a:rPr lang="es-ES" sz="1000" dirty="0">
                          <a:solidFill>
                            <a:srgbClr val="4F81BD"/>
                          </a:solidFill>
                          <a:latin typeface="Calibri"/>
                          <a:ea typeface="Calibri"/>
                          <a:cs typeface="Calibri"/>
                          <a:sym typeface="Calibri"/>
                        </a:rPr>
                        <a:t>("\n--- Inicio de sesión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usuario = </a:t>
                      </a:r>
                      <a:r>
                        <a:rPr lang="es-ES" sz="1000" dirty="0" err="1">
                          <a:solidFill>
                            <a:srgbClr val="4F81BD"/>
                          </a:solidFill>
                          <a:latin typeface="Calibri"/>
                          <a:ea typeface="Calibri"/>
                          <a:cs typeface="Calibri"/>
                          <a:sym typeface="Calibri"/>
                        </a:rPr>
                        <a:t>vista.solicitarTexto</a:t>
                      </a:r>
                      <a:r>
                        <a:rPr lang="es-ES" sz="1000" dirty="0">
                          <a:solidFill>
                            <a:srgbClr val="4F81BD"/>
                          </a:solidFill>
                          <a:latin typeface="Calibri"/>
                          <a:ea typeface="Calibri"/>
                          <a:cs typeface="Calibri"/>
                          <a:sym typeface="Calibri"/>
                        </a:rPr>
                        <a:t>("Usuario: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contrasenia</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vista.solicitarContrasenia</a:t>
                      </a:r>
                      <a:r>
                        <a:rPr lang="es-ES" sz="1000" dirty="0">
                          <a:solidFill>
                            <a:srgbClr val="4F81BD"/>
                          </a:solidFill>
                          <a:latin typeface="Calibri"/>
                          <a:ea typeface="Calibri"/>
                          <a:cs typeface="Calibri"/>
                          <a:sym typeface="Calibri"/>
                        </a:rPr>
                        <a:t>("Contraseña: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if</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usuario.isBlank</a:t>
                      </a:r>
                      <a:r>
                        <a:rPr lang="es-ES" sz="1000" dirty="0">
                          <a:solidFill>
                            <a:srgbClr val="4F81BD"/>
                          </a:solidFill>
                          <a:latin typeface="Calibri"/>
                          <a:ea typeface="Calibri"/>
                          <a:cs typeface="Calibri"/>
                          <a:sym typeface="Calibri"/>
                        </a:rPr>
                        <a:t>() || </a:t>
                      </a:r>
                      <a:r>
                        <a:rPr lang="es-ES" sz="1000" dirty="0" err="1">
                          <a:solidFill>
                            <a:srgbClr val="4F81BD"/>
                          </a:solidFill>
                          <a:latin typeface="Calibri"/>
                          <a:ea typeface="Calibri"/>
                          <a:cs typeface="Calibri"/>
                          <a:sym typeface="Calibri"/>
                        </a:rPr>
                        <a:t>contrasenia.isBlank</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vista.mostrarError</a:t>
                      </a:r>
                      <a:r>
                        <a:rPr lang="es-ES" sz="1000" dirty="0">
                          <a:solidFill>
                            <a:srgbClr val="4F81BD"/>
                          </a:solidFill>
                          <a:latin typeface="Calibri"/>
                          <a:ea typeface="Calibri"/>
                          <a:cs typeface="Calibri"/>
                          <a:sym typeface="Calibri"/>
                        </a:rPr>
                        <a:t>("El usuario y la contraseña son obligatorios.");</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false;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try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if</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cliente.login</a:t>
                      </a:r>
                      <a:r>
                        <a:rPr lang="es-ES" sz="1000" dirty="0">
                          <a:solidFill>
                            <a:srgbClr val="4F81BD"/>
                          </a:solidFill>
                          <a:latin typeface="Calibri"/>
                          <a:ea typeface="Calibri"/>
                          <a:cs typeface="Calibri"/>
                          <a:sym typeface="Calibri"/>
                        </a:rPr>
                        <a:t>(usuario, </a:t>
                      </a:r>
                      <a:r>
                        <a:rPr lang="es-ES" sz="1000" dirty="0" err="1">
                          <a:solidFill>
                            <a:srgbClr val="4F81BD"/>
                          </a:solidFill>
                          <a:latin typeface="Calibri"/>
                          <a:ea typeface="Calibri"/>
                          <a:cs typeface="Calibri"/>
                          <a:sym typeface="Calibri"/>
                        </a:rPr>
                        <a:t>contrasenia</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vista.mostrarError</a:t>
                      </a:r>
                      <a:r>
                        <a:rPr lang="es-ES" sz="1000" dirty="0">
                          <a:solidFill>
                            <a:srgbClr val="4F81BD"/>
                          </a:solidFill>
                          <a:latin typeface="Calibri"/>
                          <a:ea typeface="Calibri"/>
                          <a:cs typeface="Calibri"/>
                          <a:sym typeface="Calibri"/>
                        </a:rPr>
                        <a:t>("Credenciales inválidas. Verifique su usuario y contraseña.");</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false;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 catch (</a:t>
                      </a:r>
                      <a:r>
                        <a:rPr lang="es-ES" sz="1000" dirty="0" err="1">
                          <a:solidFill>
                            <a:srgbClr val="4F81BD"/>
                          </a:solidFill>
                          <a:latin typeface="Calibri"/>
                          <a:ea typeface="Calibri"/>
                          <a:cs typeface="Calibri"/>
                          <a:sym typeface="Calibri"/>
                        </a:rPr>
                        <a:t>ExcepcionServicio</a:t>
                      </a:r>
                      <a:r>
                        <a:rPr lang="es-ES" sz="1000" dirty="0">
                          <a:solidFill>
                            <a:srgbClr val="4F81BD"/>
                          </a:solidFill>
                          <a:latin typeface="Calibri"/>
                          <a:ea typeface="Calibri"/>
                          <a:cs typeface="Calibri"/>
                          <a:sym typeface="Calibri"/>
                        </a:rPr>
                        <a:t> ex)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vista.mostrarError</a:t>
                      </a:r>
                      <a:r>
                        <a:rPr lang="es-ES" sz="1000" dirty="0">
                          <a:solidFill>
                            <a:srgbClr val="4F81BD"/>
                          </a:solidFill>
                          <a:latin typeface="Calibri"/>
                          <a:ea typeface="Calibri"/>
                          <a:cs typeface="Calibri"/>
                          <a:sym typeface="Calibri"/>
                        </a:rPr>
                        <a:t>("No se pudo iniciar sesión: " + </a:t>
                      </a:r>
                      <a:r>
                        <a:rPr lang="es-ES" sz="1000" dirty="0" err="1">
                          <a:solidFill>
                            <a:srgbClr val="4F81BD"/>
                          </a:solidFill>
                          <a:latin typeface="Calibri"/>
                          <a:ea typeface="Calibri"/>
                          <a:cs typeface="Calibri"/>
                          <a:sym typeface="Calibri"/>
                        </a:rPr>
                        <a:t>ex.getMessage</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false;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vista.mostrarMensaje</a:t>
                      </a:r>
                      <a:r>
                        <a:rPr lang="es-ES" sz="1000" dirty="0">
                          <a:solidFill>
                            <a:srgbClr val="4F81BD"/>
                          </a:solidFill>
                          <a:latin typeface="Calibri"/>
                          <a:ea typeface="Calibri"/>
                          <a:cs typeface="Calibri"/>
                          <a:sym typeface="Calibri"/>
                        </a:rPr>
                        <a:t>("Sesión iniciada correctamente.");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 true;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a:t>
                      </a:r>
                    </a:p>
                  </a:txBody>
                  <a:tcPr marL="63500" marR="63500" marT="63500" marB="63500"/>
                </a:tc>
                <a:extLst>
                  <a:ext uri="{0D108BD9-81ED-4DB2-BD59-A6C34878D82A}">
                    <a16:rowId xmlns:a16="http://schemas.microsoft.com/office/drawing/2014/main" val="10000"/>
                  </a:ext>
                </a:extLst>
              </a:tr>
            </a:tbl>
          </a:graphicData>
        </a:graphic>
      </p:graphicFrame>
      <p:sp>
        <p:nvSpPr>
          <p:cNvPr id="4" name="Google Shape;319;p40">
            <a:extLst>
              <a:ext uri="{FF2B5EF4-FFF2-40B4-BE49-F238E27FC236}">
                <a16:creationId xmlns:a16="http://schemas.microsoft.com/office/drawing/2014/main" id="{C9AFB88C-A432-9504-50B3-CFBB6EF109C1}"/>
              </a:ext>
            </a:extLst>
          </p:cNvPr>
          <p:cNvSpPr txBox="1">
            <a:spLocks/>
          </p:cNvSpPr>
          <p:nvPr/>
        </p:nvSpPr>
        <p:spPr>
          <a:xfrm>
            <a:off x="-89075" y="1826848"/>
            <a:ext cx="2354480" cy="47013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indent="-327406">
              <a:lnSpc>
                <a:spcPct val="150000"/>
              </a:lnSpc>
              <a:spcBef>
                <a:spcPts val="0"/>
              </a:spcBef>
              <a:buSzPts val="1556"/>
              <a:buFont typeface="Noto Sans Symbols"/>
              <a:buChar char="∙"/>
            </a:pPr>
            <a:r>
              <a:rPr lang="es-MX" sz="1400" dirty="0">
                <a:solidFill>
                  <a:schemeClr val="dk1"/>
                </a:solidFill>
                <a:latin typeface="Calibri"/>
                <a:ea typeface="Calibri"/>
                <a:cs typeface="Calibri"/>
                <a:sym typeface="Calibri"/>
              </a:rPr>
              <a:t>A continuación se detallarán las clases principales con su código fuente.</a:t>
            </a:r>
          </a:p>
          <a:p>
            <a:pPr indent="-304800" algn="just">
              <a:lnSpc>
                <a:spcPct val="107000"/>
              </a:lnSpc>
              <a:spcBef>
                <a:spcPts val="0"/>
              </a:spcBef>
              <a:buSzPts val="1200"/>
              <a:buFont typeface="Cambria"/>
              <a:buChar char="∙"/>
            </a:pPr>
            <a:endParaRPr lang="es-MX" sz="1400" dirty="0">
              <a:latin typeface="Cambria"/>
              <a:ea typeface="Cambria"/>
              <a:cs typeface="Cambria"/>
              <a:sym typeface="Cambri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45"/>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62" name="Google Shape;362;p45"/>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363" name="Google Shape;363;p45"/>
          <p:cNvGraphicFramePr/>
          <p:nvPr>
            <p:extLst>
              <p:ext uri="{D42A27DB-BD31-4B8C-83A1-F6EECF244321}">
                <p14:modId xmlns:p14="http://schemas.microsoft.com/office/powerpoint/2010/main" val="627253426"/>
              </p:ext>
            </p:extLst>
          </p:nvPr>
        </p:nvGraphicFramePr>
        <p:xfrm>
          <a:off x="1964150" y="1874095"/>
          <a:ext cx="3522650" cy="4546600"/>
        </p:xfrm>
        <a:graphic>
          <a:graphicData uri="http://schemas.openxmlformats.org/drawingml/2006/table">
            <a:tbl>
              <a:tblPr>
                <a:noFill/>
                <a:tableStyleId>{BF136021-7255-42B7-A7E7-87A8D8FFE9CA}</a:tableStyleId>
              </a:tblPr>
              <a:tblGrid>
                <a:gridCol w="3522650">
                  <a:extLst>
                    <a:ext uri="{9D8B030D-6E8A-4147-A177-3AD203B41FA5}">
                      <a16:colId xmlns:a16="http://schemas.microsoft.com/office/drawing/2014/main" val="20000"/>
                    </a:ext>
                  </a:extLst>
                </a:gridCol>
              </a:tblGrid>
              <a:tr h="3972225">
                <a:tc>
                  <a:txBody>
                    <a:bodyPr/>
                    <a:lstStyle/>
                    <a:p>
                      <a:pPr marL="0" lvl="0" indent="0" algn="l" rtl="0">
                        <a:spcBef>
                          <a:spcPts val="0"/>
                        </a:spcBef>
                        <a:spcAft>
                          <a:spcPts val="0"/>
                        </a:spcAft>
                        <a:buNone/>
                      </a:pP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class</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ConversionController</a:t>
                      </a: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final </a:t>
                      </a:r>
                      <a:r>
                        <a:rPr lang="es-ES" sz="1000" dirty="0" err="1">
                          <a:solidFill>
                            <a:srgbClr val="4F81BD"/>
                          </a:solidFill>
                          <a:latin typeface="Calibri"/>
                          <a:ea typeface="Calibri"/>
                          <a:cs typeface="Calibri"/>
                          <a:sym typeface="Calibri"/>
                        </a:rPr>
                        <a:t>ConsolaVista</a:t>
                      </a:r>
                      <a:r>
                        <a:rPr lang="es-ES" sz="1000" dirty="0">
                          <a:solidFill>
                            <a:srgbClr val="4F81BD"/>
                          </a:solidFill>
                          <a:latin typeface="Calibri"/>
                          <a:ea typeface="Calibri"/>
                          <a:cs typeface="Calibri"/>
                          <a:sym typeface="Calibri"/>
                        </a:rPr>
                        <a:t> vista;</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private</a:t>
                      </a:r>
                      <a:r>
                        <a:rPr lang="es-ES" sz="1000" dirty="0">
                          <a:solidFill>
                            <a:srgbClr val="4F81BD"/>
                          </a:solidFill>
                          <a:latin typeface="Calibri"/>
                          <a:ea typeface="Calibri"/>
                          <a:cs typeface="Calibri"/>
                          <a:sym typeface="Calibri"/>
                        </a:rPr>
                        <a:t> final </a:t>
                      </a:r>
                      <a:r>
                        <a:rPr lang="es-ES" sz="1000" dirty="0" err="1">
                          <a:solidFill>
                            <a:srgbClr val="4F81BD"/>
                          </a:solidFill>
                          <a:latin typeface="Calibri"/>
                          <a:ea typeface="Calibri"/>
                          <a:cs typeface="Calibri"/>
                          <a:sym typeface="Calibri"/>
                        </a:rPr>
                        <a:t>WSConversorCliente</a:t>
                      </a:r>
                      <a:r>
                        <a:rPr lang="es-ES" sz="1000" dirty="0">
                          <a:solidFill>
                            <a:srgbClr val="4F81BD"/>
                          </a:solidFill>
                          <a:latin typeface="Calibri"/>
                          <a:ea typeface="Calibri"/>
                          <a:cs typeface="Calibri"/>
                          <a:sym typeface="Calibri"/>
                        </a:rPr>
                        <a:t> cliente;</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ConversionController</a:t>
                      </a:r>
                      <a:r>
                        <a:rPr lang="es-ES" sz="1000" dirty="0">
                          <a:solidFill>
                            <a:srgbClr val="4F81BD"/>
                          </a:solidFill>
                          <a:latin typeface="Calibri"/>
                          <a:ea typeface="Calibri"/>
                          <a:cs typeface="Calibri"/>
                          <a:sym typeface="Calibri"/>
                        </a:rPr>
                        <a:t>(</a:t>
                      </a:r>
                      <a:r>
                        <a:rPr lang="es-ES" sz="1000" dirty="0" err="1">
                          <a:solidFill>
                            <a:srgbClr val="4F81BD"/>
                          </a:solidFill>
                          <a:latin typeface="Calibri"/>
                          <a:ea typeface="Calibri"/>
                          <a:cs typeface="Calibri"/>
                          <a:sym typeface="Calibri"/>
                        </a:rPr>
                        <a:t>ConsolaVista</a:t>
                      </a:r>
                      <a:r>
                        <a:rPr lang="es-ES" sz="1000" dirty="0">
                          <a:solidFill>
                            <a:srgbClr val="4F81BD"/>
                          </a:solidFill>
                          <a:latin typeface="Calibri"/>
                          <a:ea typeface="Calibri"/>
                          <a:cs typeface="Calibri"/>
                          <a:sym typeface="Calibri"/>
                        </a:rPr>
                        <a:t> vista, </a:t>
                      </a:r>
                      <a:r>
                        <a:rPr lang="es-ES" sz="1000" dirty="0" err="1">
                          <a:solidFill>
                            <a:srgbClr val="4F81BD"/>
                          </a:solidFill>
                          <a:latin typeface="Calibri"/>
                          <a:ea typeface="Calibri"/>
                          <a:cs typeface="Calibri"/>
                          <a:sym typeface="Calibri"/>
                        </a:rPr>
                        <a:t>WSConversorCliente</a:t>
                      </a:r>
                      <a:r>
                        <a:rPr lang="es-ES" sz="1000" dirty="0">
                          <a:solidFill>
                            <a:srgbClr val="4F81BD"/>
                          </a:solidFill>
                          <a:latin typeface="Calibri"/>
                          <a:ea typeface="Calibri"/>
                          <a:cs typeface="Calibri"/>
                          <a:sym typeface="Calibri"/>
                        </a:rPr>
                        <a:t> cliente)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this.vista</a:t>
                      </a:r>
                      <a:r>
                        <a:rPr lang="es-ES" sz="1000" dirty="0">
                          <a:solidFill>
                            <a:srgbClr val="4F81BD"/>
                          </a:solidFill>
                          <a:latin typeface="Calibri"/>
                          <a:ea typeface="Calibri"/>
                          <a:cs typeface="Calibri"/>
                          <a:sym typeface="Calibri"/>
                        </a:rPr>
                        <a:t> = vista;</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this.cliente</a:t>
                      </a:r>
                      <a:r>
                        <a:rPr lang="es-ES" sz="1000" dirty="0">
                          <a:solidFill>
                            <a:srgbClr val="4F81BD"/>
                          </a:solidFill>
                          <a:latin typeface="Calibri"/>
                          <a:ea typeface="Calibri"/>
                          <a:cs typeface="Calibri"/>
                          <a:sym typeface="Calibri"/>
                        </a:rPr>
                        <a:t> = cliente;</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1000" dirty="0">
                        <a:solidFill>
                          <a:srgbClr val="4F81BD"/>
                        </a:solidFill>
                        <a:latin typeface="Calibri"/>
                        <a:ea typeface="Calibri"/>
                        <a:cs typeface="Calibri"/>
                        <a:sym typeface="Calibri"/>
                      </a:endParaRP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public</a:t>
                      </a: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void</a:t>
                      </a:r>
                      <a:r>
                        <a:rPr lang="es-ES" sz="1000" dirty="0">
                          <a:solidFill>
                            <a:srgbClr val="4F81BD"/>
                          </a:solidFill>
                          <a:latin typeface="Calibri"/>
                          <a:ea typeface="Calibri"/>
                          <a:cs typeface="Calibri"/>
                          <a:sym typeface="Calibri"/>
                        </a:rPr>
                        <a:t> convertir(</a:t>
                      </a:r>
                      <a:r>
                        <a:rPr lang="es-ES" sz="1000" dirty="0" err="1">
                          <a:solidFill>
                            <a:srgbClr val="4F81BD"/>
                          </a:solidFill>
                          <a:latin typeface="Calibri"/>
                          <a:ea typeface="Calibri"/>
                          <a:cs typeface="Calibri"/>
                          <a:sym typeface="Calibri"/>
                        </a:rPr>
                        <a:t>TipoConversion</a:t>
                      </a:r>
                      <a:r>
                        <a:rPr lang="es-ES" sz="1000" dirty="0">
                          <a:solidFill>
                            <a:srgbClr val="4F81BD"/>
                          </a:solidFill>
                          <a:latin typeface="Calibri"/>
                          <a:ea typeface="Calibri"/>
                          <a:cs typeface="Calibri"/>
                          <a:sym typeface="Calibri"/>
                        </a:rPr>
                        <a:t> tipo)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vista.mostrarMensaje</a:t>
                      </a:r>
                      <a:r>
                        <a:rPr lang="es-ES" sz="1000" dirty="0">
                          <a:solidFill>
                            <a:srgbClr val="4F81BD"/>
                          </a:solidFill>
                          <a:latin typeface="Calibri"/>
                          <a:ea typeface="Calibri"/>
                          <a:cs typeface="Calibri"/>
                          <a:sym typeface="Calibri"/>
                        </a:rPr>
                        <a:t>("\n--- Conversión de " + </a:t>
                      </a:r>
                      <a:r>
                        <a:rPr lang="es-ES" sz="1000" dirty="0" err="1">
                          <a:solidFill>
                            <a:srgbClr val="4F81BD"/>
                          </a:solidFill>
                          <a:latin typeface="Calibri"/>
                          <a:ea typeface="Calibri"/>
                          <a:cs typeface="Calibri"/>
                          <a:sym typeface="Calibri"/>
                        </a:rPr>
                        <a:t>tipo.titulo</a:t>
                      </a:r>
                      <a:r>
                        <a:rPr lang="es-ES" sz="1000" dirty="0">
                          <a:solidFill>
                            <a:srgbClr val="4F81BD"/>
                          </a:solidFill>
                          <a:latin typeface="Calibri"/>
                          <a:ea typeface="Calibri"/>
                          <a:cs typeface="Calibri"/>
                          <a:sym typeface="Calibri"/>
                        </a:rPr>
                        <a:t>() + "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valor = </a:t>
                      </a:r>
                      <a:r>
                        <a:rPr lang="es-ES" sz="1000" dirty="0" err="1">
                          <a:solidFill>
                            <a:srgbClr val="4F81BD"/>
                          </a:solidFill>
                          <a:latin typeface="Calibri"/>
                          <a:ea typeface="Calibri"/>
                          <a:cs typeface="Calibri"/>
                          <a:sym typeface="Calibri"/>
                        </a:rPr>
                        <a:t>vista.solicitarValor</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if</a:t>
                      </a:r>
                      <a:r>
                        <a:rPr lang="es-ES" sz="1000" dirty="0">
                          <a:solidFill>
                            <a:srgbClr val="4F81BD"/>
                          </a:solidFill>
                          <a:latin typeface="Calibri"/>
                          <a:ea typeface="Calibri"/>
                          <a:cs typeface="Calibri"/>
                          <a:sym typeface="Calibri"/>
                        </a:rPr>
                        <a:t> (tipo != </a:t>
                      </a:r>
                      <a:r>
                        <a:rPr lang="es-ES" sz="1000" dirty="0" err="1">
                          <a:solidFill>
                            <a:srgbClr val="4F81BD"/>
                          </a:solidFill>
                          <a:latin typeface="Calibri"/>
                          <a:ea typeface="Calibri"/>
                          <a:cs typeface="Calibri"/>
                          <a:sym typeface="Calibri"/>
                        </a:rPr>
                        <a:t>TipoConversion.TEMPERATURA</a:t>
                      </a:r>
                      <a:r>
                        <a:rPr lang="es-ES" sz="1000" dirty="0">
                          <a:solidFill>
                            <a:srgbClr val="4F81BD"/>
                          </a:solidFill>
                          <a:latin typeface="Calibri"/>
                          <a:ea typeface="Calibri"/>
                          <a:cs typeface="Calibri"/>
                          <a:sym typeface="Calibri"/>
                        </a:rPr>
                        <a:t> &amp;&amp; valor &lt; 0)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vista.mostrarError</a:t>
                      </a:r>
                      <a:r>
                        <a:rPr lang="es-ES" sz="1000" dirty="0">
                          <a:solidFill>
                            <a:srgbClr val="4F81BD"/>
                          </a:solidFill>
                          <a:latin typeface="Calibri"/>
                          <a:ea typeface="Calibri"/>
                          <a:cs typeface="Calibri"/>
                          <a:sym typeface="Calibri"/>
                        </a:rPr>
                        <a:t>("No se deben ingresar valores negativos");</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return</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origen = </a:t>
                      </a:r>
                      <a:r>
                        <a:rPr lang="es-ES" sz="1000" dirty="0" err="1">
                          <a:solidFill>
                            <a:srgbClr val="4F81BD"/>
                          </a:solidFill>
                          <a:latin typeface="Calibri"/>
                          <a:ea typeface="Calibri"/>
                          <a:cs typeface="Calibri"/>
                          <a:sym typeface="Calibri"/>
                        </a:rPr>
                        <a:t>vista.seleccionarUnidad</a:t>
                      </a:r>
                      <a:r>
                        <a:rPr lang="es-ES" sz="1000" dirty="0">
                          <a:solidFill>
                            <a:srgbClr val="4F81BD"/>
                          </a:solidFill>
                          <a:latin typeface="Calibri"/>
                          <a:ea typeface="Calibri"/>
                          <a:cs typeface="Calibri"/>
                          <a:sym typeface="Calibri"/>
                        </a:rPr>
                        <a:t>("Unidad de origen:", </a:t>
                      </a:r>
                      <a:r>
                        <a:rPr lang="es-ES" sz="1000" dirty="0" err="1">
                          <a:solidFill>
                            <a:srgbClr val="4F81BD"/>
                          </a:solidFill>
                          <a:latin typeface="Calibri"/>
                          <a:ea typeface="Calibri"/>
                          <a:cs typeface="Calibri"/>
                          <a:sym typeface="Calibri"/>
                        </a:rPr>
                        <a:t>tipo.unidades</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String</a:t>
                      </a:r>
                      <a:r>
                        <a:rPr lang="es-ES" sz="1000" dirty="0">
                          <a:solidFill>
                            <a:srgbClr val="4F81BD"/>
                          </a:solidFill>
                          <a:latin typeface="Calibri"/>
                          <a:ea typeface="Calibri"/>
                          <a:cs typeface="Calibri"/>
                          <a:sym typeface="Calibri"/>
                        </a:rPr>
                        <a:t> destino = </a:t>
                      </a:r>
                      <a:r>
                        <a:rPr lang="es-ES" sz="1000" dirty="0" err="1">
                          <a:solidFill>
                            <a:srgbClr val="4F81BD"/>
                          </a:solidFill>
                          <a:latin typeface="Calibri"/>
                          <a:ea typeface="Calibri"/>
                          <a:cs typeface="Calibri"/>
                          <a:sym typeface="Calibri"/>
                        </a:rPr>
                        <a:t>vista.seleccionarUnidad</a:t>
                      </a:r>
                      <a:r>
                        <a:rPr lang="es-ES" sz="1000" dirty="0">
                          <a:solidFill>
                            <a:srgbClr val="4F81BD"/>
                          </a:solidFill>
                          <a:latin typeface="Calibri"/>
                          <a:ea typeface="Calibri"/>
                          <a:cs typeface="Calibri"/>
                          <a:sym typeface="Calibri"/>
                        </a:rPr>
                        <a:t>("Unidad de destino:", </a:t>
                      </a:r>
                      <a:r>
                        <a:rPr lang="es-ES" sz="1000" dirty="0" err="1">
                          <a:solidFill>
                            <a:srgbClr val="4F81BD"/>
                          </a:solidFill>
                          <a:latin typeface="Calibri"/>
                          <a:ea typeface="Calibri"/>
                          <a:cs typeface="Calibri"/>
                          <a:sym typeface="Calibri"/>
                        </a:rPr>
                        <a:t>tipo.unidades</a:t>
                      </a:r>
                      <a:r>
                        <a:rPr lang="es-ES" sz="1000" dirty="0">
                          <a:solidFill>
                            <a:srgbClr val="4F81BD"/>
                          </a:solidFill>
                          <a:latin typeface="Calibri"/>
                          <a:ea typeface="Calibri"/>
                          <a:cs typeface="Calibri"/>
                          <a:sym typeface="Calibri"/>
                        </a:rPr>
                        <a:t>());</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try {</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double</a:t>
                      </a:r>
                      <a:r>
                        <a:rPr lang="es-ES" sz="1000" dirty="0">
                          <a:solidFill>
                            <a:srgbClr val="4F81BD"/>
                          </a:solidFill>
                          <a:latin typeface="Calibri"/>
                          <a:ea typeface="Calibri"/>
                          <a:cs typeface="Calibri"/>
                          <a:sym typeface="Calibri"/>
                        </a:rPr>
                        <a:t> resultado = </a:t>
                      </a:r>
                      <a:r>
                        <a:rPr lang="es-ES" sz="1000" dirty="0" err="1">
                          <a:solidFill>
                            <a:srgbClr val="4F81BD"/>
                          </a:solidFill>
                          <a:latin typeface="Calibri"/>
                          <a:ea typeface="Calibri"/>
                          <a:cs typeface="Calibri"/>
                          <a:sym typeface="Calibri"/>
                        </a:rPr>
                        <a:t>solicitarConversion</a:t>
                      </a:r>
                      <a:r>
                        <a:rPr lang="es-ES" sz="1000" dirty="0">
                          <a:solidFill>
                            <a:srgbClr val="4F81BD"/>
                          </a:solidFill>
                          <a:latin typeface="Calibri"/>
                          <a:ea typeface="Calibri"/>
                          <a:cs typeface="Calibri"/>
                          <a:sym typeface="Calibri"/>
                        </a:rPr>
                        <a:t>(tipo, valor, origen, destino);</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r>
                        <a:rPr lang="es-ES" sz="1000" dirty="0" err="1">
                          <a:solidFill>
                            <a:srgbClr val="4F81BD"/>
                          </a:solidFill>
                          <a:latin typeface="Calibri"/>
                          <a:ea typeface="Calibri"/>
                          <a:cs typeface="Calibri"/>
                          <a:sym typeface="Calibri"/>
                        </a:rPr>
                        <a:t>vista.mostrarConversion</a:t>
                      </a:r>
                      <a:r>
                        <a:rPr lang="es-ES" sz="1000" dirty="0">
                          <a:solidFill>
                            <a:srgbClr val="4F81BD"/>
                          </a:solidFill>
                          <a:latin typeface="Calibri"/>
                          <a:ea typeface="Calibri"/>
                          <a:cs typeface="Calibri"/>
                          <a:sym typeface="Calibri"/>
                        </a:rPr>
                        <a:t>(tipo, new </a:t>
                      </a:r>
                      <a:r>
                        <a:rPr lang="es-ES" sz="1000" dirty="0" err="1">
                          <a:solidFill>
                            <a:srgbClr val="4F81BD"/>
                          </a:solidFill>
                          <a:latin typeface="Calibri"/>
                          <a:ea typeface="Calibri"/>
                          <a:cs typeface="Calibri"/>
                          <a:sym typeface="Calibri"/>
                        </a:rPr>
                        <a:t>ResultadoConversion</a:t>
                      </a:r>
                      <a:r>
                        <a:rPr lang="es-ES" sz="1000" dirty="0">
                          <a:solidFill>
                            <a:srgbClr val="4F81BD"/>
                          </a:solidFill>
                          <a:latin typeface="Calibri"/>
                          <a:ea typeface="Calibri"/>
                          <a:cs typeface="Calibri"/>
                          <a:sym typeface="Calibri"/>
                        </a:rPr>
                        <a:t>(valor, origen, destino, resultado));</a:t>
                      </a:r>
                    </a:p>
                    <a:p>
                      <a:pPr marL="0" lvl="0" indent="0" algn="l" rtl="0">
                        <a:spcBef>
                          <a:spcPts val="0"/>
                        </a:spcBef>
                        <a:spcAft>
                          <a:spcPts val="0"/>
                        </a:spcAft>
                        <a:buNone/>
                      </a:pPr>
                      <a:r>
                        <a:rPr lang="es-ES" sz="1000" dirty="0">
                          <a:solidFill>
                            <a:srgbClr val="4F81BD"/>
                          </a:solidFill>
                          <a:latin typeface="Calibri"/>
                          <a:ea typeface="Calibri"/>
                          <a:cs typeface="Calibri"/>
                          <a:sym typeface="Calibri"/>
                        </a:rPr>
                        <a:t>        </a:t>
                      </a:r>
                      <a:endParaRPr sz="10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graphicFrame>
        <p:nvGraphicFramePr>
          <p:cNvPr id="364" name="Google Shape;364;p45"/>
          <p:cNvGraphicFramePr/>
          <p:nvPr>
            <p:extLst>
              <p:ext uri="{D42A27DB-BD31-4B8C-83A1-F6EECF244321}">
                <p14:modId xmlns:p14="http://schemas.microsoft.com/office/powerpoint/2010/main" val="3005372612"/>
              </p:ext>
            </p:extLst>
          </p:nvPr>
        </p:nvGraphicFramePr>
        <p:xfrm>
          <a:off x="5684676" y="1874095"/>
          <a:ext cx="3615844" cy="4653280"/>
        </p:xfrm>
        <a:graphic>
          <a:graphicData uri="http://schemas.openxmlformats.org/drawingml/2006/table">
            <a:tbl>
              <a:tblPr>
                <a:noFill/>
                <a:tableStyleId>{BF136021-7255-42B7-A7E7-87A8D8FFE9CA}</a:tableStyleId>
              </a:tblPr>
              <a:tblGrid>
                <a:gridCol w="3615844">
                  <a:extLst>
                    <a:ext uri="{9D8B030D-6E8A-4147-A177-3AD203B41FA5}">
                      <a16:colId xmlns:a16="http://schemas.microsoft.com/office/drawing/2014/main" val="20000"/>
                    </a:ext>
                  </a:extLst>
                </a:gridCol>
              </a:tblGrid>
              <a:tr h="3972225">
                <a:tc>
                  <a:txBody>
                    <a:bodyPr/>
                    <a:lstStyle/>
                    <a:p>
                      <a:pPr marL="0" lvl="0" indent="0" algn="l" rtl="0">
                        <a:spcBef>
                          <a:spcPts val="0"/>
                        </a:spcBef>
                        <a:spcAft>
                          <a:spcPts val="0"/>
                        </a:spcAft>
                        <a:buNone/>
                      </a:pPr>
                      <a:r>
                        <a:rPr lang="es-ES" sz="900" dirty="0">
                          <a:solidFill>
                            <a:srgbClr val="4F81BD"/>
                          </a:solidFill>
                          <a:latin typeface="Calibri"/>
                          <a:ea typeface="Calibri"/>
                          <a:cs typeface="Calibri"/>
                          <a:sym typeface="Calibri"/>
                        </a:rPr>
                        <a:t>} catch (</a:t>
                      </a:r>
                      <a:r>
                        <a:rPr lang="es-ES" sz="900" dirty="0" err="1">
                          <a:solidFill>
                            <a:srgbClr val="4F81BD"/>
                          </a:solidFill>
                          <a:latin typeface="Calibri"/>
                          <a:ea typeface="Calibri"/>
                          <a:cs typeface="Calibri"/>
                          <a:sym typeface="Calibri"/>
                        </a:rPr>
                        <a:t>ExcepcionServicio</a:t>
                      </a:r>
                      <a:r>
                        <a:rPr lang="es-ES" sz="900" dirty="0">
                          <a:solidFill>
                            <a:srgbClr val="4F81BD"/>
                          </a:solidFill>
                          <a:latin typeface="Calibri"/>
                          <a:ea typeface="Calibri"/>
                          <a:cs typeface="Calibri"/>
                          <a:sym typeface="Calibri"/>
                        </a:rPr>
                        <a:t> ex)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ex.sesionRechazada</a:t>
                      </a: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//Reenvía el error a capa superior</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throw</a:t>
                      </a:r>
                      <a:r>
                        <a:rPr lang="es-ES" sz="900" dirty="0">
                          <a:solidFill>
                            <a:srgbClr val="4F81BD"/>
                          </a:solidFill>
                          <a:latin typeface="Calibri"/>
                          <a:ea typeface="Calibri"/>
                          <a:cs typeface="Calibri"/>
                          <a:sym typeface="Calibri"/>
                        </a:rPr>
                        <a:t> new </a:t>
                      </a:r>
                      <a:r>
                        <a:rPr lang="es-ES" sz="900" dirty="0" err="1">
                          <a:solidFill>
                            <a:srgbClr val="4F81BD"/>
                          </a:solidFill>
                          <a:latin typeface="Calibri"/>
                          <a:ea typeface="Calibri"/>
                          <a:cs typeface="Calibri"/>
                          <a:sym typeface="Calibri"/>
                        </a:rPr>
                        <a:t>ExcepcionSesionRechazada</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ex.respuestaError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getMensaje</a:t>
                      </a:r>
                      <a:r>
                        <a:rPr lang="es-ES" sz="900" dirty="0">
                          <a:solidFill>
                            <a:srgbClr val="4F81BD"/>
                          </a:solidFill>
                          <a:latin typeface="Calibri"/>
                          <a:ea typeface="Calibri"/>
                          <a:cs typeface="Calibri"/>
                          <a:sym typeface="Calibri"/>
                        </a:rPr>
                        <a:t>());</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 </a:t>
                      </a:r>
                      <a:r>
                        <a:rPr lang="es-ES" sz="900" dirty="0" err="1">
                          <a:solidFill>
                            <a:srgbClr val="4F81BD"/>
                          </a:solidFill>
                          <a:latin typeface="Calibri"/>
                          <a:ea typeface="Calibri"/>
                          <a:cs typeface="Calibri"/>
                          <a:sym typeface="Calibri"/>
                        </a:rPr>
                        <a:t>else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ex.respuestaError</a:t>
                      </a:r>
                      <a:r>
                        <a:rPr lang="es-ES" sz="900" dirty="0">
                          <a:solidFill>
                            <a:srgbClr val="4F81BD"/>
                          </a:solidFill>
                          <a:latin typeface="Calibri"/>
                          <a:ea typeface="Calibri"/>
                          <a:cs typeface="Calibri"/>
                          <a:sym typeface="Calibri"/>
                        </a:rPr>
                        <a:t>() != </a:t>
                      </a:r>
                      <a:r>
                        <a:rPr lang="es-ES" sz="900" dirty="0" err="1">
                          <a:solidFill>
                            <a:srgbClr val="4F81BD"/>
                          </a:solidFill>
                          <a:latin typeface="Calibri"/>
                          <a:ea typeface="Calibri"/>
                          <a:cs typeface="Calibri"/>
                          <a:sym typeface="Calibri"/>
                        </a:rPr>
                        <a:t>null</a:t>
                      </a: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vista.mostrarError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ex.respuestaError</a:t>
                      </a:r>
                      <a:r>
                        <a:rPr lang="es-ES" sz="900" dirty="0">
                          <a:solidFill>
                            <a:srgbClr val="4F81BD"/>
                          </a:solidFill>
                          <a:latin typeface="Calibri"/>
                          <a:ea typeface="Calibri"/>
                          <a:cs typeface="Calibri"/>
                          <a:sym typeface="Calibri"/>
                        </a:rPr>
                        <a:t>());</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 </a:t>
                      </a:r>
                      <a:r>
                        <a:rPr lang="es-ES" sz="900" dirty="0" err="1">
                          <a:solidFill>
                            <a:srgbClr val="4F81BD"/>
                          </a:solidFill>
                          <a:latin typeface="Calibri"/>
                          <a:ea typeface="Calibri"/>
                          <a:cs typeface="Calibri"/>
                          <a:sym typeface="Calibri"/>
                        </a:rPr>
                        <a:t>else</a:t>
                      </a: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vista.mostrarError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ex.getMessage</a:t>
                      </a:r>
                      <a:r>
                        <a:rPr lang="es-ES" sz="900" dirty="0">
                          <a:solidFill>
                            <a:srgbClr val="4F81BD"/>
                          </a:solidFill>
                          <a:latin typeface="Calibri"/>
                          <a:ea typeface="Calibri"/>
                          <a:cs typeface="Calibri"/>
                          <a:sym typeface="Calibri"/>
                        </a:rPr>
                        <a:t>());</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 catch (</a:t>
                      </a:r>
                      <a:r>
                        <a:rPr lang="es-ES" sz="900" dirty="0" err="1">
                          <a:solidFill>
                            <a:srgbClr val="4F81BD"/>
                          </a:solidFill>
                          <a:latin typeface="Calibri"/>
                          <a:ea typeface="Calibri"/>
                          <a:cs typeface="Calibri"/>
                          <a:sym typeface="Calibri"/>
                        </a:rPr>
                        <a:t>RuntimeException</a:t>
                      </a:r>
                      <a:r>
                        <a:rPr lang="es-ES" sz="900" dirty="0">
                          <a:solidFill>
                            <a:srgbClr val="4F81BD"/>
                          </a:solidFill>
                          <a:latin typeface="Calibri"/>
                          <a:ea typeface="Calibri"/>
                          <a:cs typeface="Calibri"/>
                          <a:sym typeface="Calibri"/>
                        </a:rPr>
                        <a:t> ex)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vista.mostrarError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mensajeSeguro</a:t>
                      </a:r>
                      <a:r>
                        <a:rPr lang="es-ES" sz="900" dirty="0">
                          <a:solidFill>
                            <a:srgbClr val="4F81BD"/>
                          </a:solidFill>
                          <a:latin typeface="Calibri"/>
                          <a:ea typeface="Calibri"/>
                          <a:cs typeface="Calibri"/>
                          <a:sym typeface="Calibri"/>
                        </a:rPr>
                        <a:t>(ex));</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double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solicitarConversion</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TipoConversion</a:t>
                      </a:r>
                      <a:r>
                        <a:rPr lang="es-ES" sz="900" dirty="0">
                          <a:solidFill>
                            <a:srgbClr val="4F81BD"/>
                          </a:solidFill>
                          <a:latin typeface="Calibri"/>
                          <a:ea typeface="Calibri"/>
                          <a:cs typeface="Calibri"/>
                          <a:sym typeface="Calibri"/>
                        </a:rPr>
                        <a:t> tipo, </a:t>
                      </a:r>
                      <a:r>
                        <a:rPr lang="es-ES" sz="900" dirty="0" err="1">
                          <a:solidFill>
                            <a:srgbClr val="4F81BD"/>
                          </a:solidFill>
                          <a:latin typeface="Calibri"/>
                          <a:ea typeface="Calibri"/>
                          <a:cs typeface="Calibri"/>
                          <a:sym typeface="Calibri"/>
                        </a:rPr>
                        <a:t>double</a:t>
                      </a:r>
                      <a:r>
                        <a:rPr lang="es-ES" sz="900" dirty="0">
                          <a:solidFill>
                            <a:srgbClr val="4F81BD"/>
                          </a:solidFill>
                          <a:latin typeface="Calibri"/>
                          <a:ea typeface="Calibri"/>
                          <a:cs typeface="Calibri"/>
                          <a:sym typeface="Calibri"/>
                        </a:rPr>
                        <a:t> valor,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origen,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destino)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switch (tipo)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case TEMPERATURA -&gt; </a:t>
                      </a:r>
                      <a:r>
                        <a:rPr lang="es-ES" sz="900" dirty="0" err="1">
                          <a:solidFill>
                            <a:srgbClr val="4F81BD"/>
                          </a:solidFill>
                          <a:latin typeface="Calibri"/>
                          <a:ea typeface="Calibri"/>
                          <a:cs typeface="Calibri"/>
                          <a:sym typeface="Calibri"/>
                        </a:rPr>
                        <a:t>cliente.convertirTemperatura</a:t>
                      </a:r>
                      <a:r>
                        <a:rPr lang="es-ES" sz="900" dirty="0">
                          <a:solidFill>
                            <a:srgbClr val="4F81BD"/>
                          </a:solidFill>
                          <a:latin typeface="Calibri"/>
                          <a:ea typeface="Calibri"/>
                          <a:cs typeface="Calibri"/>
                          <a:sym typeface="Calibri"/>
                        </a:rPr>
                        <a:t>(valor, origen, destino);</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case MASA -&gt; </a:t>
                      </a:r>
                      <a:r>
                        <a:rPr lang="es-ES" sz="900" dirty="0" err="1">
                          <a:solidFill>
                            <a:srgbClr val="4F81BD"/>
                          </a:solidFill>
                          <a:latin typeface="Calibri"/>
                          <a:ea typeface="Calibri"/>
                          <a:cs typeface="Calibri"/>
                          <a:sym typeface="Calibri"/>
                        </a:rPr>
                        <a:t>cliente.convertirMasa</a:t>
                      </a:r>
                      <a:r>
                        <a:rPr lang="es-ES" sz="900" dirty="0">
                          <a:solidFill>
                            <a:srgbClr val="4F81BD"/>
                          </a:solidFill>
                          <a:latin typeface="Calibri"/>
                          <a:ea typeface="Calibri"/>
                          <a:cs typeface="Calibri"/>
                          <a:sym typeface="Calibri"/>
                        </a:rPr>
                        <a:t>(valor, origen, destino);</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case LONGITUD -&gt; </a:t>
                      </a:r>
                      <a:r>
                        <a:rPr lang="es-ES" sz="900" dirty="0" err="1">
                          <a:solidFill>
                            <a:srgbClr val="4F81BD"/>
                          </a:solidFill>
                          <a:latin typeface="Calibri"/>
                          <a:ea typeface="Calibri"/>
                          <a:cs typeface="Calibri"/>
                          <a:sym typeface="Calibri"/>
                        </a:rPr>
                        <a:t>cliente.convertirLongitud</a:t>
                      </a:r>
                      <a:r>
                        <a:rPr lang="es-ES" sz="900" dirty="0">
                          <a:solidFill>
                            <a:srgbClr val="4F81BD"/>
                          </a:solidFill>
                          <a:latin typeface="Calibri"/>
                          <a:ea typeface="Calibri"/>
                          <a:cs typeface="Calibri"/>
                          <a:sym typeface="Calibri"/>
                        </a:rPr>
                        <a:t>(valor, origen, destino);</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spcBef>
                          <a:spcPts val="0"/>
                        </a:spcBef>
                        <a:spcAft>
                          <a:spcPts val="0"/>
                        </a:spcAft>
                        <a:buNone/>
                      </a:pPr>
                      <a:endParaRPr lang="es-ES" sz="900" dirty="0">
                        <a:solidFill>
                          <a:srgbClr val="4F81BD"/>
                        </a:solidFill>
                        <a:latin typeface="Calibri"/>
                        <a:ea typeface="Calibri"/>
                        <a:cs typeface="Calibri"/>
                        <a:sym typeface="Calibri"/>
                      </a:endParaRP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mensajeSeguro</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RuntimeException</a:t>
                      </a:r>
                      <a:r>
                        <a:rPr lang="es-ES" sz="900" dirty="0">
                          <a:solidFill>
                            <a:srgbClr val="4F81BD"/>
                          </a:solidFill>
                          <a:latin typeface="Calibri"/>
                          <a:ea typeface="Calibri"/>
                          <a:cs typeface="Calibri"/>
                          <a:sym typeface="Calibri"/>
                        </a:rPr>
                        <a:t> ex)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mensaje = </a:t>
                      </a:r>
                      <a:r>
                        <a:rPr lang="es-ES" sz="900" dirty="0" err="1">
                          <a:solidFill>
                            <a:srgbClr val="4F81BD"/>
                          </a:solidFill>
                          <a:latin typeface="Calibri"/>
                          <a:ea typeface="Calibri"/>
                          <a:cs typeface="Calibri"/>
                          <a:sym typeface="Calibri"/>
                        </a:rPr>
                        <a:t>ex.getMessage</a:t>
                      </a:r>
                      <a:r>
                        <a:rPr lang="es-ES" sz="900" dirty="0">
                          <a:solidFill>
                            <a:srgbClr val="4F81BD"/>
                          </a:solidFill>
                          <a:latin typeface="Calibri"/>
                          <a:ea typeface="Calibri"/>
                          <a:cs typeface="Calibri"/>
                          <a:sym typeface="Calibri"/>
                        </a:rPr>
                        <a:t>();</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mensaje == </a:t>
                      </a:r>
                      <a:r>
                        <a:rPr lang="es-ES" sz="900" dirty="0" err="1">
                          <a:solidFill>
                            <a:srgbClr val="4F81BD"/>
                          </a:solidFill>
                          <a:latin typeface="Calibri"/>
                          <a:ea typeface="Calibri"/>
                          <a:cs typeface="Calibri"/>
                          <a:sym typeface="Calibri"/>
                        </a:rPr>
                        <a:t>null</a:t>
                      </a:r>
                      <a:r>
                        <a:rPr lang="es-ES" sz="900" dirty="0">
                          <a:solidFill>
                            <a:srgbClr val="4F81BD"/>
                          </a:solidFill>
                          <a:latin typeface="Calibri"/>
                          <a:ea typeface="Calibri"/>
                          <a:cs typeface="Calibri"/>
                          <a:sym typeface="Calibri"/>
                        </a:rPr>
                        <a:t> || </a:t>
                      </a:r>
                      <a:r>
                        <a:rPr lang="es-ES" sz="900" dirty="0" err="1">
                          <a:solidFill>
                            <a:srgbClr val="4F81BD"/>
                          </a:solidFill>
                          <a:latin typeface="Calibri"/>
                          <a:ea typeface="Calibri"/>
                          <a:cs typeface="Calibri"/>
                          <a:sym typeface="Calibri"/>
                        </a:rPr>
                        <a:t>mensaje.isBlank</a:t>
                      </a:r>
                      <a:r>
                        <a:rPr lang="es-ES" sz="900" dirty="0">
                          <a:solidFill>
                            <a:srgbClr val="4F81BD"/>
                          </a:solidFill>
                          <a:latin typeface="Calibri"/>
                          <a:ea typeface="Calibri"/>
                          <a:cs typeface="Calibri"/>
                          <a:sym typeface="Calibri"/>
                        </a:rPr>
                        <a:t>()</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 "No se pudo completar la conversión. Verifique la conexión o su sesión."</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 mensaje;</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    </a:t>
                      </a:r>
                    </a:p>
                    <a:p>
                      <a:pPr marL="0" lvl="0" indent="0" algn="l" rtl="0">
                        <a:spcBef>
                          <a:spcPts val="0"/>
                        </a:spcBef>
                        <a:spcAft>
                          <a:spcPts val="0"/>
                        </a:spcAft>
                        <a:buNone/>
                      </a:pPr>
                      <a:r>
                        <a:rPr lang="es-ES" sz="900" dirty="0">
                          <a:solidFill>
                            <a:srgbClr val="4F81BD"/>
                          </a:solidFill>
                          <a:latin typeface="Calibri"/>
                          <a:ea typeface="Calibri"/>
                          <a:cs typeface="Calibri"/>
                          <a:sym typeface="Calibri"/>
                        </a:rPr>
                        <a:t>} </a:t>
                      </a:r>
                    </a:p>
                  </a:txBody>
                  <a:tcPr marL="63500" marR="63500" marT="63500" marB="63500"/>
                </a:tc>
                <a:extLst>
                  <a:ext uri="{0D108BD9-81ED-4DB2-BD59-A6C34878D82A}">
                    <a16:rowId xmlns:a16="http://schemas.microsoft.com/office/drawing/2014/main" val="10000"/>
                  </a:ext>
                </a:extLst>
              </a:tr>
            </a:tbl>
          </a:graphicData>
        </a:graphic>
      </p:graphicFrame>
      <p:sp>
        <p:nvSpPr>
          <p:cNvPr id="4" name="Google Shape;319;p40">
            <a:extLst>
              <a:ext uri="{FF2B5EF4-FFF2-40B4-BE49-F238E27FC236}">
                <a16:creationId xmlns:a16="http://schemas.microsoft.com/office/drawing/2014/main" id="{8215E44A-8DF1-C436-C40F-F9558F788280}"/>
              </a:ext>
            </a:extLst>
          </p:cNvPr>
          <p:cNvSpPr txBox="1">
            <a:spLocks noGrp="1"/>
          </p:cNvSpPr>
          <p:nvPr>
            <p:ph type="body" idx="1"/>
          </p:nvPr>
        </p:nvSpPr>
        <p:spPr>
          <a:xfrm>
            <a:off x="-86065" y="1874095"/>
            <a:ext cx="2132400" cy="4701300"/>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400" dirty="0">
                <a:solidFill>
                  <a:schemeClr val="dk1"/>
                </a:solidFill>
                <a:latin typeface="Calibri"/>
                <a:ea typeface="Calibri"/>
                <a:cs typeface="Calibri"/>
                <a:sym typeface="Calibri"/>
              </a:rPr>
              <a:t>A continuación se detallarán las clases principales con su código fuente.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4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370" name="Google Shape;370;p46"/>
          <p:cNvSpPr txBox="1">
            <a:spLocks noGrp="1"/>
          </p:cNvSpPr>
          <p:nvPr>
            <p:ph type="body" idx="1"/>
          </p:nvPr>
        </p:nvSpPr>
        <p:spPr>
          <a:xfrm>
            <a:off x="344995" y="1959919"/>
            <a:ext cx="7513901" cy="750330"/>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100" dirty="0">
                <a:solidFill>
                  <a:schemeClr val="dk1"/>
                </a:solidFill>
                <a:latin typeface="Calibri"/>
                <a:ea typeface="Calibri"/>
                <a:cs typeface="Calibri"/>
                <a:sym typeface="Calibri"/>
              </a:rPr>
              <a:t>Se puede verificar que el cliente funciona de forma correcta, se levanta y tiene comunicación </a:t>
            </a:r>
            <a:endParaRPr sz="1400" b="1" dirty="0">
              <a:solidFill>
                <a:srgbClr val="17365D"/>
              </a:solidFill>
              <a:latin typeface="Calibri"/>
              <a:ea typeface="Calibri"/>
              <a:cs typeface="Calibri"/>
              <a:sym typeface="Calibri"/>
            </a:endParaRPr>
          </a:p>
          <a:p>
            <a:pPr marL="457200" lvl="0" indent="-298450" algn="l" rtl="0">
              <a:lnSpc>
                <a:spcPct val="150000"/>
              </a:lnSpc>
              <a:spcBef>
                <a:spcPts val="0"/>
              </a:spcBef>
              <a:spcAft>
                <a:spcPts val="0"/>
              </a:spcAft>
              <a:buClr>
                <a:schemeClr val="dk1"/>
              </a:buClr>
              <a:buSzPts val="1100"/>
              <a:buFont typeface="Calibri"/>
              <a:buChar char="∙"/>
            </a:pPr>
            <a:endParaRPr sz="11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200" dirty="0">
              <a:latin typeface="Cambria"/>
              <a:ea typeface="Cambria"/>
              <a:cs typeface="Cambria"/>
              <a:sym typeface="Cambria"/>
            </a:endParaRPr>
          </a:p>
        </p:txBody>
      </p:sp>
      <p:sp>
        <p:nvSpPr>
          <p:cNvPr id="371" name="Google Shape;371;p46"/>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pic>
        <p:nvPicPr>
          <p:cNvPr id="4" name="Picture 3">
            <a:extLst>
              <a:ext uri="{FF2B5EF4-FFF2-40B4-BE49-F238E27FC236}">
                <a16:creationId xmlns:a16="http://schemas.microsoft.com/office/drawing/2014/main" id="{8BCF8715-8FBC-FDBA-92BD-08D36625371A}"/>
              </a:ext>
            </a:extLst>
          </p:cNvPr>
          <p:cNvPicPr>
            <a:picLocks noChangeAspect="1"/>
          </p:cNvPicPr>
          <p:nvPr/>
        </p:nvPicPr>
        <p:blipFill>
          <a:blip r:embed="rId3"/>
          <a:stretch>
            <a:fillRect/>
          </a:stretch>
        </p:blipFill>
        <p:spPr>
          <a:xfrm>
            <a:off x="581192" y="3477134"/>
            <a:ext cx="4808637" cy="1341236"/>
          </a:xfrm>
          <a:prstGeom prst="rect">
            <a:avLst/>
          </a:prstGeom>
        </p:spPr>
      </p:pic>
      <p:pic>
        <p:nvPicPr>
          <p:cNvPr id="7" name="Picture 6">
            <a:extLst>
              <a:ext uri="{FF2B5EF4-FFF2-40B4-BE49-F238E27FC236}">
                <a16:creationId xmlns:a16="http://schemas.microsoft.com/office/drawing/2014/main" id="{DE480C22-97A3-522F-801F-584873C379D6}"/>
              </a:ext>
            </a:extLst>
          </p:cNvPr>
          <p:cNvPicPr>
            <a:picLocks noChangeAspect="1"/>
          </p:cNvPicPr>
          <p:nvPr/>
        </p:nvPicPr>
        <p:blipFill>
          <a:blip r:embed="rId4"/>
          <a:stretch>
            <a:fillRect/>
          </a:stretch>
        </p:blipFill>
        <p:spPr>
          <a:xfrm>
            <a:off x="5546346" y="2335084"/>
            <a:ext cx="2872989" cy="43056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sp>
        <p:nvSpPr>
          <p:cNvPr id="534" name="Google Shape;534;p6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35" name="Google Shape;535;p66"/>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536" name="Google Shape;536;p66"/>
          <p:cNvSpPr txBox="1">
            <a:spLocks noGrp="1"/>
          </p:cNvSpPr>
          <p:nvPr>
            <p:ph type="body" idx="1"/>
          </p:nvPr>
        </p:nvSpPr>
        <p:spPr>
          <a:xfrm>
            <a:off x="603287" y="2062478"/>
            <a:ext cx="8589300" cy="1170900"/>
          </a:xfrm>
          <a:prstGeom prst="rect">
            <a:avLst/>
          </a:prstGeom>
          <a:noFill/>
          <a:ln>
            <a:noFill/>
          </a:ln>
        </p:spPr>
        <p:txBody>
          <a:bodyPr spcFirstLastPara="1" wrap="square" lIns="91425" tIns="45700" rIns="91425" bIns="45700" anchor="ctr" anchorCtr="0">
            <a:normAutofit/>
          </a:bodyPr>
          <a:lstStyle/>
          <a:p>
            <a:pPr marL="409197" lvl="0" indent="-285750" algn="just" rtl="0">
              <a:lnSpc>
                <a:spcPct val="107000"/>
              </a:lnSpc>
              <a:spcBef>
                <a:spcPts val="0"/>
              </a:spcBef>
              <a:spcAft>
                <a:spcPts val="0"/>
              </a:spcAft>
              <a:buSzPts val="1656"/>
              <a:buFont typeface="Arial" panose="020B0604020202020204" pitchFamily="34" charset="0"/>
              <a:buChar char="•"/>
            </a:pPr>
            <a:r>
              <a:rPr lang="es-ES" sz="1564" dirty="0">
                <a:latin typeface="Cambria"/>
                <a:ea typeface="Cambria"/>
                <a:cs typeface="Cambria"/>
                <a:sym typeface="Cambria"/>
              </a:rPr>
              <a:t>Para el cliente de escritorio se debe crear un proyecto de java </a:t>
            </a:r>
            <a:r>
              <a:rPr lang="es-ES" sz="1564" dirty="0" err="1">
                <a:latin typeface="Cambria"/>
                <a:ea typeface="Cambria"/>
                <a:cs typeface="Cambria"/>
                <a:sym typeface="Cambria"/>
              </a:rPr>
              <a:t>application</a:t>
            </a:r>
            <a:r>
              <a:rPr lang="es-ES" sz="1564" dirty="0">
                <a:latin typeface="Cambria"/>
                <a:ea typeface="Cambria"/>
                <a:cs typeface="Cambria"/>
                <a:sym typeface="Cambria"/>
              </a:rPr>
              <a:t>, el cual se inicializará y configurará para manejar el patrón arquitectónico MVC y los paquetes con el código respectivo</a:t>
            </a:r>
            <a:endParaRPr dirty="0">
              <a:latin typeface="Cambria"/>
              <a:ea typeface="Cambria"/>
              <a:cs typeface="Cambria"/>
              <a:sym typeface="Cambria"/>
            </a:endParaRPr>
          </a:p>
        </p:txBody>
      </p:sp>
      <p:pic>
        <p:nvPicPr>
          <p:cNvPr id="5" name="Picture 4">
            <a:extLst>
              <a:ext uri="{FF2B5EF4-FFF2-40B4-BE49-F238E27FC236}">
                <a16:creationId xmlns:a16="http://schemas.microsoft.com/office/drawing/2014/main" id="{DB87D13C-52EA-9A2B-E978-9B419FCDC72B}"/>
              </a:ext>
            </a:extLst>
          </p:cNvPr>
          <p:cNvPicPr>
            <a:picLocks noChangeAspect="1"/>
          </p:cNvPicPr>
          <p:nvPr/>
        </p:nvPicPr>
        <p:blipFill>
          <a:blip r:embed="rId3"/>
          <a:stretch>
            <a:fillRect/>
          </a:stretch>
        </p:blipFill>
        <p:spPr>
          <a:xfrm>
            <a:off x="467580" y="3348256"/>
            <a:ext cx="4664972" cy="3161815"/>
          </a:xfrm>
          <a:prstGeom prst="rect">
            <a:avLst/>
          </a:prstGeom>
        </p:spPr>
      </p:pic>
      <p:sp>
        <p:nvSpPr>
          <p:cNvPr id="7" name="TextBox 6">
            <a:extLst>
              <a:ext uri="{FF2B5EF4-FFF2-40B4-BE49-F238E27FC236}">
                <a16:creationId xmlns:a16="http://schemas.microsoft.com/office/drawing/2014/main" id="{EF2CADB8-69AC-EDFA-0B55-D4A654EE905F}"/>
              </a:ext>
            </a:extLst>
          </p:cNvPr>
          <p:cNvSpPr txBox="1"/>
          <p:nvPr/>
        </p:nvSpPr>
        <p:spPr>
          <a:xfrm>
            <a:off x="704335" y="1902979"/>
            <a:ext cx="6104238" cy="318998"/>
          </a:xfrm>
          <a:prstGeom prst="rect">
            <a:avLst/>
          </a:prstGeom>
          <a:noFill/>
        </p:spPr>
        <p:txBody>
          <a:bodyPr wrap="square">
            <a:spAutoFit/>
          </a:bodyPr>
          <a:lstStyle/>
          <a:p>
            <a:pPr marL="0" lvl="0" indent="0" algn="l" rtl="0">
              <a:lnSpc>
                <a:spcPct val="115000"/>
              </a:lnSpc>
              <a:spcBef>
                <a:spcPts val="1200"/>
              </a:spcBef>
              <a:spcAft>
                <a:spcPts val="0"/>
              </a:spcAft>
              <a:buClr>
                <a:schemeClr val="dk1"/>
              </a:buClr>
              <a:buSzPct val="70332"/>
              <a:buFont typeface="Arial"/>
              <a:buNone/>
            </a:pPr>
            <a:r>
              <a:rPr lang="es-MX" sz="1400" b="1" dirty="0">
                <a:latin typeface="Cambria"/>
                <a:ea typeface="Cambria"/>
                <a:cs typeface="Cambria"/>
                <a:sym typeface="Cambria"/>
              </a:rPr>
              <a:t>1.4  CREACIÓN DEL PROYECTO CLIENTE ESCRITORIO</a:t>
            </a:r>
          </a:p>
        </p:txBody>
      </p:sp>
      <p:pic>
        <p:nvPicPr>
          <p:cNvPr id="9" name="Picture 8">
            <a:extLst>
              <a:ext uri="{FF2B5EF4-FFF2-40B4-BE49-F238E27FC236}">
                <a16:creationId xmlns:a16="http://schemas.microsoft.com/office/drawing/2014/main" id="{A46BA23B-E190-4F72-32A5-208B49624900}"/>
              </a:ext>
            </a:extLst>
          </p:cNvPr>
          <p:cNvPicPr>
            <a:picLocks noChangeAspect="1"/>
          </p:cNvPicPr>
          <p:nvPr/>
        </p:nvPicPr>
        <p:blipFill>
          <a:blip r:embed="rId4"/>
          <a:stretch>
            <a:fillRect/>
          </a:stretch>
        </p:blipFill>
        <p:spPr>
          <a:xfrm>
            <a:off x="5293339" y="3615229"/>
            <a:ext cx="3708137" cy="232555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
        <p:nvSpPr>
          <p:cNvPr id="544" name="Google Shape;544;p67"/>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45" name="Google Shape;545;p67"/>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lang="es-EC"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547" name="Google Shape;547;p67"/>
          <p:cNvGraphicFramePr/>
          <p:nvPr>
            <p:extLst>
              <p:ext uri="{D42A27DB-BD31-4B8C-83A1-F6EECF244321}">
                <p14:modId xmlns:p14="http://schemas.microsoft.com/office/powerpoint/2010/main" val="4173007503"/>
              </p:ext>
            </p:extLst>
          </p:nvPr>
        </p:nvGraphicFramePr>
        <p:xfrm>
          <a:off x="1940435" y="2166597"/>
          <a:ext cx="3351270" cy="4255008"/>
        </p:xfrm>
        <a:graphic>
          <a:graphicData uri="http://schemas.openxmlformats.org/drawingml/2006/table">
            <a:tbl>
              <a:tblPr>
                <a:noFill/>
                <a:tableStyleId>{BF136021-7255-42B7-A7E7-87A8D8FFE9CA}</a:tableStyleId>
              </a:tblPr>
              <a:tblGrid>
                <a:gridCol w="3351270">
                  <a:extLst>
                    <a:ext uri="{9D8B030D-6E8A-4147-A177-3AD203B41FA5}">
                      <a16:colId xmlns:a16="http://schemas.microsoft.com/office/drawing/2014/main" val="20000"/>
                    </a:ext>
                  </a:extLst>
                </a:gridCol>
              </a:tblGrid>
              <a:tr h="4023900">
                <a:tc>
                  <a:txBody>
                    <a:bodyPr/>
                    <a:lstStyle/>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package</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ec.edu.monster.servicios</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jakarta.xml.ws.BindingProvider</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jakarta.xml.ws.WebServiceException</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jakarta.xml.ws.handler.Handler</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ec.edu.monster.controladores.config.RESTFULConfig</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ec.edu.monster.seguridad.AdministradorTokensCliente</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ec.edu.monster.seguridad.ManejadorClienteAutenticacion</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ec.edu.monster.seguridad.TlsInseguro</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java.net.URL;</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java.util.List</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import</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java.util.Map</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endParaRPr lang="es-EC" sz="900" dirty="0">
                        <a:solidFill>
                          <a:srgbClr val="4F81BD"/>
                        </a:solidFill>
                        <a:latin typeface="Calibri"/>
                        <a:ea typeface="Calibri"/>
                        <a:cs typeface="Calibri"/>
                        <a:sym typeface="Calibri"/>
                      </a:endParaRPr>
                    </a:p>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public</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class</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WSConversorCliente</a:t>
                      </a: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private</a:t>
                      </a:r>
                      <a:r>
                        <a:rPr lang="es-EC" sz="900" dirty="0">
                          <a:solidFill>
                            <a:srgbClr val="4F81BD"/>
                          </a:solidFill>
                          <a:latin typeface="Calibri"/>
                          <a:ea typeface="Calibri"/>
                          <a:cs typeface="Calibri"/>
                          <a:sym typeface="Calibri"/>
                        </a:rPr>
                        <a:t> final </a:t>
                      </a:r>
                      <a:r>
                        <a:rPr lang="es-EC" sz="900" dirty="0" err="1">
                          <a:solidFill>
                            <a:srgbClr val="4F81BD"/>
                          </a:solidFill>
                          <a:latin typeface="Calibri"/>
                          <a:ea typeface="Calibri"/>
                          <a:cs typeface="Calibri"/>
                          <a:sym typeface="Calibri"/>
                        </a:rPr>
                        <a:t>WSConversorUnidades</a:t>
                      </a:r>
                      <a:r>
                        <a:rPr lang="es-EC" sz="900" dirty="0">
                          <a:solidFill>
                            <a:srgbClr val="4F81BD"/>
                          </a:solidFill>
                          <a:latin typeface="Calibri"/>
                          <a:ea typeface="Calibri"/>
                          <a:cs typeface="Calibri"/>
                          <a:sym typeface="Calibri"/>
                        </a:rPr>
                        <a:t> puerto;</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public</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WSConversorCliente</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throws</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Exception</a:t>
                      </a: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endParaRPr lang="es-EC" sz="900" dirty="0">
                        <a:solidFill>
                          <a:srgbClr val="4F81BD"/>
                        </a:solidFill>
                        <a:latin typeface="Calibri"/>
                        <a:ea typeface="Calibri"/>
                        <a:cs typeface="Calibri"/>
                        <a:sym typeface="Calibri"/>
                      </a:endParaRP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if</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RESTFULConfig.insecureTls</a:t>
                      </a: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TlsInseguro.habilitar</a:t>
                      </a:r>
                      <a:r>
                        <a:rPr lang="es-EC"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endParaRPr sz="9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graphicFrame>
        <p:nvGraphicFramePr>
          <p:cNvPr id="4" name="Google Shape;547;p67">
            <a:extLst>
              <a:ext uri="{FF2B5EF4-FFF2-40B4-BE49-F238E27FC236}">
                <a16:creationId xmlns:a16="http://schemas.microsoft.com/office/drawing/2014/main" id="{A67D1364-BD2F-E428-B2CB-FA95B82F5E06}"/>
              </a:ext>
            </a:extLst>
          </p:cNvPr>
          <p:cNvGraphicFramePr/>
          <p:nvPr>
            <p:extLst>
              <p:ext uri="{D42A27DB-BD31-4B8C-83A1-F6EECF244321}">
                <p14:modId xmlns:p14="http://schemas.microsoft.com/office/powerpoint/2010/main" val="4145324527"/>
              </p:ext>
            </p:extLst>
          </p:nvPr>
        </p:nvGraphicFramePr>
        <p:xfrm>
          <a:off x="5394152" y="1837551"/>
          <a:ext cx="3887097" cy="4847463"/>
        </p:xfrm>
        <a:graphic>
          <a:graphicData uri="http://schemas.openxmlformats.org/drawingml/2006/table">
            <a:tbl>
              <a:tblPr>
                <a:noFill/>
                <a:tableStyleId>{BF136021-7255-42B7-A7E7-87A8D8FFE9CA}</a:tableStyleId>
              </a:tblPr>
              <a:tblGrid>
                <a:gridCol w="3887097">
                  <a:extLst>
                    <a:ext uri="{9D8B030D-6E8A-4147-A177-3AD203B41FA5}">
                      <a16:colId xmlns:a16="http://schemas.microsoft.com/office/drawing/2014/main" val="20000"/>
                    </a:ext>
                  </a:extLst>
                </a:gridCol>
              </a:tblGrid>
              <a:tr h="4023900">
                <a:tc>
                  <a:txBody>
                    <a:bodyPr/>
                    <a:lstStyle/>
                    <a:p>
                      <a:pPr marL="0" lvl="0" indent="0" algn="l" rtl="0">
                        <a:lnSpc>
                          <a:spcPct val="144000"/>
                        </a:lnSpc>
                        <a:spcBef>
                          <a:spcPts val="0"/>
                        </a:spcBef>
                        <a:spcAft>
                          <a:spcPts val="0"/>
                        </a:spcAft>
                        <a:buNone/>
                      </a:pPr>
                      <a:r>
                        <a:rPr lang="es-EC" sz="900" dirty="0" err="1">
                          <a:solidFill>
                            <a:srgbClr val="4F81BD"/>
                          </a:solidFill>
                          <a:latin typeface="Calibri"/>
                          <a:ea typeface="Calibri"/>
                          <a:cs typeface="Calibri"/>
                          <a:sym typeface="Calibri"/>
                        </a:rPr>
                        <a:t>public</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double</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convertirTemperatura</a:t>
                      </a:r>
                      <a:r>
                        <a:rPr lang="es-EC" sz="900" dirty="0">
                          <a:solidFill>
                            <a:srgbClr val="4F81BD"/>
                          </a:solidFill>
                          <a:latin typeface="Calibri"/>
                          <a:ea typeface="Calibri"/>
                          <a:cs typeface="Calibri"/>
                          <a:sym typeface="Calibri"/>
                        </a:rPr>
                        <a:t>(</a:t>
                      </a:r>
                      <a:r>
                        <a:rPr lang="es-EC" sz="900" dirty="0" err="1">
                          <a:solidFill>
                            <a:srgbClr val="4F81BD"/>
                          </a:solidFill>
                          <a:latin typeface="Calibri"/>
                          <a:ea typeface="Calibri"/>
                          <a:cs typeface="Calibri"/>
                          <a:sym typeface="Calibri"/>
                        </a:rPr>
                        <a:t>double</a:t>
                      </a:r>
                      <a:r>
                        <a:rPr lang="es-EC" sz="900" dirty="0">
                          <a:solidFill>
                            <a:srgbClr val="4F81BD"/>
                          </a:solidFill>
                          <a:latin typeface="Calibri"/>
                          <a:ea typeface="Calibri"/>
                          <a:cs typeface="Calibri"/>
                          <a:sym typeface="Calibri"/>
                        </a:rPr>
                        <a:t> valor, </a:t>
                      </a:r>
                      <a:r>
                        <a:rPr lang="es-EC" sz="900" dirty="0" err="1">
                          <a:solidFill>
                            <a:srgbClr val="4F81BD"/>
                          </a:solidFill>
                          <a:latin typeface="Calibri"/>
                          <a:ea typeface="Calibri"/>
                          <a:cs typeface="Calibri"/>
                          <a:sym typeface="Calibri"/>
                        </a:rPr>
                        <a:t>String</a:t>
                      </a:r>
                      <a:r>
                        <a:rPr lang="es-EC" sz="900" dirty="0">
                          <a:solidFill>
                            <a:srgbClr val="4F81BD"/>
                          </a:solidFill>
                          <a:latin typeface="Calibri"/>
                          <a:ea typeface="Calibri"/>
                          <a:cs typeface="Calibri"/>
                          <a:sym typeface="Calibri"/>
                        </a:rPr>
                        <a:t> origen, </a:t>
                      </a:r>
                      <a:r>
                        <a:rPr lang="es-EC" sz="900" dirty="0" err="1">
                          <a:solidFill>
                            <a:srgbClr val="4F81BD"/>
                          </a:solidFill>
                          <a:latin typeface="Calibri"/>
                          <a:ea typeface="Calibri"/>
                          <a:cs typeface="Calibri"/>
                          <a:sym typeface="Calibri"/>
                        </a:rPr>
                        <a:t>String</a:t>
                      </a:r>
                      <a:r>
                        <a:rPr lang="es-EC" sz="900" dirty="0">
                          <a:solidFill>
                            <a:srgbClr val="4F81BD"/>
                          </a:solidFill>
                          <a:latin typeface="Calibri"/>
                          <a:ea typeface="Calibri"/>
                          <a:cs typeface="Calibri"/>
                          <a:sym typeface="Calibri"/>
                        </a:rPr>
                        <a:t> destino)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try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return</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puerto.convertirTemperatura</a:t>
                      </a:r>
                      <a:r>
                        <a:rPr lang="es-EC" sz="900" dirty="0">
                          <a:solidFill>
                            <a:srgbClr val="4F81BD"/>
                          </a:solidFill>
                          <a:latin typeface="Calibri"/>
                          <a:ea typeface="Calibri"/>
                          <a:cs typeface="Calibri"/>
                          <a:sym typeface="Calibri"/>
                        </a:rPr>
                        <a:t>(valor, origen, destino);</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 catch (</a:t>
                      </a:r>
                      <a:r>
                        <a:rPr lang="es-EC" sz="900" dirty="0" err="1">
                          <a:solidFill>
                            <a:srgbClr val="4F81BD"/>
                          </a:solidFill>
                          <a:latin typeface="Calibri"/>
                          <a:ea typeface="Calibri"/>
                          <a:cs typeface="Calibri"/>
                          <a:sym typeface="Calibri"/>
                        </a:rPr>
                        <a:t>WebServiceException</a:t>
                      </a:r>
                      <a:r>
                        <a:rPr lang="es-EC" sz="900" dirty="0">
                          <a:solidFill>
                            <a:srgbClr val="4F81BD"/>
                          </a:solidFill>
                          <a:latin typeface="Calibri"/>
                          <a:ea typeface="Calibri"/>
                          <a:cs typeface="Calibri"/>
                          <a:sym typeface="Calibri"/>
                        </a:rPr>
                        <a:t> e)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throw</a:t>
                      </a:r>
                      <a:r>
                        <a:rPr lang="es-EC" sz="900" dirty="0">
                          <a:solidFill>
                            <a:srgbClr val="4F81BD"/>
                          </a:solidFill>
                          <a:latin typeface="Calibri"/>
                          <a:ea typeface="Calibri"/>
                          <a:cs typeface="Calibri"/>
                          <a:sym typeface="Calibri"/>
                        </a:rPr>
                        <a:t> new </a:t>
                      </a:r>
                      <a:r>
                        <a:rPr lang="es-EC" sz="900" dirty="0" err="1">
                          <a:solidFill>
                            <a:srgbClr val="4F81BD"/>
                          </a:solidFill>
                          <a:latin typeface="Calibri"/>
                          <a:ea typeface="Calibri"/>
                          <a:cs typeface="Calibri"/>
                          <a:sym typeface="Calibri"/>
                        </a:rPr>
                        <a:t>RuntimeException</a:t>
                      </a:r>
                      <a:r>
                        <a:rPr lang="es-EC" sz="900" dirty="0">
                          <a:solidFill>
                            <a:srgbClr val="4F81BD"/>
                          </a:solidFill>
                          <a:latin typeface="Calibri"/>
                          <a:ea typeface="Calibri"/>
                          <a:cs typeface="Calibri"/>
                          <a:sym typeface="Calibri"/>
                        </a:rPr>
                        <a:t>("Error al convertir temperatura: " + </a:t>
                      </a:r>
                      <a:r>
                        <a:rPr lang="es-EC" sz="900" dirty="0" err="1">
                          <a:solidFill>
                            <a:srgbClr val="4F81BD"/>
                          </a:solidFill>
                          <a:latin typeface="Calibri"/>
                          <a:ea typeface="Calibri"/>
                          <a:cs typeface="Calibri"/>
                          <a:sym typeface="Calibri"/>
                        </a:rPr>
                        <a:t>e.getMessage</a:t>
                      </a:r>
                      <a:r>
                        <a:rPr lang="es-EC" sz="900" dirty="0">
                          <a:solidFill>
                            <a:srgbClr val="4F81BD"/>
                          </a:solidFill>
                          <a:latin typeface="Calibri"/>
                          <a:ea typeface="Calibri"/>
                          <a:cs typeface="Calibri"/>
                          <a:sym typeface="Calibri"/>
                        </a:rPr>
                        <a:t>(), e);</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endParaRPr lang="es-EC" sz="900" dirty="0">
                        <a:solidFill>
                          <a:srgbClr val="4F81BD"/>
                        </a:solidFill>
                        <a:latin typeface="Calibri"/>
                        <a:ea typeface="Calibri"/>
                        <a:cs typeface="Calibri"/>
                        <a:sym typeface="Calibri"/>
                      </a:endParaRP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public</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double</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convertirLongitud</a:t>
                      </a:r>
                      <a:r>
                        <a:rPr lang="es-EC" sz="900" dirty="0">
                          <a:solidFill>
                            <a:srgbClr val="4F81BD"/>
                          </a:solidFill>
                          <a:latin typeface="Calibri"/>
                          <a:ea typeface="Calibri"/>
                          <a:cs typeface="Calibri"/>
                          <a:sym typeface="Calibri"/>
                        </a:rPr>
                        <a:t>(</a:t>
                      </a:r>
                      <a:r>
                        <a:rPr lang="es-EC" sz="900" dirty="0" err="1">
                          <a:solidFill>
                            <a:srgbClr val="4F81BD"/>
                          </a:solidFill>
                          <a:latin typeface="Calibri"/>
                          <a:ea typeface="Calibri"/>
                          <a:cs typeface="Calibri"/>
                          <a:sym typeface="Calibri"/>
                        </a:rPr>
                        <a:t>double</a:t>
                      </a:r>
                      <a:r>
                        <a:rPr lang="es-EC" sz="900" dirty="0">
                          <a:solidFill>
                            <a:srgbClr val="4F81BD"/>
                          </a:solidFill>
                          <a:latin typeface="Calibri"/>
                          <a:ea typeface="Calibri"/>
                          <a:cs typeface="Calibri"/>
                          <a:sym typeface="Calibri"/>
                        </a:rPr>
                        <a:t> valor, </a:t>
                      </a:r>
                      <a:r>
                        <a:rPr lang="es-EC" sz="900" dirty="0" err="1">
                          <a:solidFill>
                            <a:srgbClr val="4F81BD"/>
                          </a:solidFill>
                          <a:latin typeface="Calibri"/>
                          <a:ea typeface="Calibri"/>
                          <a:cs typeface="Calibri"/>
                          <a:sym typeface="Calibri"/>
                        </a:rPr>
                        <a:t>String</a:t>
                      </a:r>
                      <a:r>
                        <a:rPr lang="es-EC" sz="900" dirty="0">
                          <a:solidFill>
                            <a:srgbClr val="4F81BD"/>
                          </a:solidFill>
                          <a:latin typeface="Calibri"/>
                          <a:ea typeface="Calibri"/>
                          <a:cs typeface="Calibri"/>
                          <a:sym typeface="Calibri"/>
                        </a:rPr>
                        <a:t> origen, </a:t>
                      </a:r>
                      <a:r>
                        <a:rPr lang="es-EC" sz="900" dirty="0" err="1">
                          <a:solidFill>
                            <a:srgbClr val="4F81BD"/>
                          </a:solidFill>
                          <a:latin typeface="Calibri"/>
                          <a:ea typeface="Calibri"/>
                          <a:cs typeface="Calibri"/>
                          <a:sym typeface="Calibri"/>
                        </a:rPr>
                        <a:t>String</a:t>
                      </a:r>
                      <a:r>
                        <a:rPr lang="es-EC" sz="900" dirty="0">
                          <a:solidFill>
                            <a:srgbClr val="4F81BD"/>
                          </a:solidFill>
                          <a:latin typeface="Calibri"/>
                          <a:ea typeface="Calibri"/>
                          <a:cs typeface="Calibri"/>
                          <a:sym typeface="Calibri"/>
                        </a:rPr>
                        <a:t> destino)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try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return</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puerto.convertirLongitud</a:t>
                      </a:r>
                      <a:r>
                        <a:rPr lang="es-EC" sz="900" dirty="0">
                          <a:solidFill>
                            <a:srgbClr val="4F81BD"/>
                          </a:solidFill>
                          <a:latin typeface="Calibri"/>
                          <a:ea typeface="Calibri"/>
                          <a:cs typeface="Calibri"/>
                          <a:sym typeface="Calibri"/>
                        </a:rPr>
                        <a:t>(valor, origen, destino);</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 catch (</a:t>
                      </a:r>
                      <a:r>
                        <a:rPr lang="es-EC" sz="900" dirty="0" err="1">
                          <a:solidFill>
                            <a:srgbClr val="4F81BD"/>
                          </a:solidFill>
                          <a:latin typeface="Calibri"/>
                          <a:ea typeface="Calibri"/>
                          <a:cs typeface="Calibri"/>
                          <a:sym typeface="Calibri"/>
                        </a:rPr>
                        <a:t>WebServiceException</a:t>
                      </a:r>
                      <a:r>
                        <a:rPr lang="es-EC" sz="900" dirty="0">
                          <a:solidFill>
                            <a:srgbClr val="4F81BD"/>
                          </a:solidFill>
                          <a:latin typeface="Calibri"/>
                          <a:ea typeface="Calibri"/>
                          <a:cs typeface="Calibri"/>
                          <a:sym typeface="Calibri"/>
                        </a:rPr>
                        <a:t> e)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throw</a:t>
                      </a:r>
                      <a:r>
                        <a:rPr lang="es-EC" sz="900" dirty="0">
                          <a:solidFill>
                            <a:srgbClr val="4F81BD"/>
                          </a:solidFill>
                          <a:latin typeface="Calibri"/>
                          <a:ea typeface="Calibri"/>
                          <a:cs typeface="Calibri"/>
                          <a:sym typeface="Calibri"/>
                        </a:rPr>
                        <a:t> new </a:t>
                      </a:r>
                      <a:r>
                        <a:rPr lang="es-EC" sz="900" dirty="0" err="1">
                          <a:solidFill>
                            <a:srgbClr val="4F81BD"/>
                          </a:solidFill>
                          <a:latin typeface="Calibri"/>
                          <a:ea typeface="Calibri"/>
                          <a:cs typeface="Calibri"/>
                          <a:sym typeface="Calibri"/>
                        </a:rPr>
                        <a:t>RuntimeException</a:t>
                      </a:r>
                      <a:r>
                        <a:rPr lang="es-EC" sz="900" dirty="0">
                          <a:solidFill>
                            <a:srgbClr val="4F81BD"/>
                          </a:solidFill>
                          <a:latin typeface="Calibri"/>
                          <a:ea typeface="Calibri"/>
                          <a:cs typeface="Calibri"/>
                          <a:sym typeface="Calibri"/>
                        </a:rPr>
                        <a:t>("Error al convertir longitud: " + </a:t>
                      </a:r>
                      <a:r>
                        <a:rPr lang="es-EC" sz="900" dirty="0" err="1">
                          <a:solidFill>
                            <a:srgbClr val="4F81BD"/>
                          </a:solidFill>
                          <a:latin typeface="Calibri"/>
                          <a:ea typeface="Calibri"/>
                          <a:cs typeface="Calibri"/>
                          <a:sym typeface="Calibri"/>
                        </a:rPr>
                        <a:t>e.getMessage</a:t>
                      </a:r>
                      <a:r>
                        <a:rPr lang="es-EC" sz="900" dirty="0">
                          <a:solidFill>
                            <a:srgbClr val="4F81BD"/>
                          </a:solidFill>
                          <a:latin typeface="Calibri"/>
                          <a:ea typeface="Calibri"/>
                          <a:cs typeface="Calibri"/>
                          <a:sym typeface="Calibri"/>
                        </a:rPr>
                        <a:t>(), e);</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endParaRPr lang="es-EC" sz="900" dirty="0">
                        <a:solidFill>
                          <a:srgbClr val="4F81BD"/>
                        </a:solidFill>
                        <a:latin typeface="Calibri"/>
                        <a:ea typeface="Calibri"/>
                        <a:cs typeface="Calibri"/>
                        <a:sym typeface="Calibri"/>
                      </a:endParaRP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public</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double</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convertirMasa</a:t>
                      </a:r>
                      <a:r>
                        <a:rPr lang="es-EC" sz="900" dirty="0">
                          <a:solidFill>
                            <a:srgbClr val="4F81BD"/>
                          </a:solidFill>
                          <a:latin typeface="Calibri"/>
                          <a:ea typeface="Calibri"/>
                          <a:cs typeface="Calibri"/>
                          <a:sym typeface="Calibri"/>
                        </a:rPr>
                        <a:t>(</a:t>
                      </a:r>
                      <a:r>
                        <a:rPr lang="es-EC" sz="900" dirty="0" err="1">
                          <a:solidFill>
                            <a:srgbClr val="4F81BD"/>
                          </a:solidFill>
                          <a:latin typeface="Calibri"/>
                          <a:ea typeface="Calibri"/>
                          <a:cs typeface="Calibri"/>
                          <a:sym typeface="Calibri"/>
                        </a:rPr>
                        <a:t>double</a:t>
                      </a:r>
                      <a:r>
                        <a:rPr lang="es-EC" sz="900" dirty="0">
                          <a:solidFill>
                            <a:srgbClr val="4F81BD"/>
                          </a:solidFill>
                          <a:latin typeface="Calibri"/>
                          <a:ea typeface="Calibri"/>
                          <a:cs typeface="Calibri"/>
                          <a:sym typeface="Calibri"/>
                        </a:rPr>
                        <a:t> valor, </a:t>
                      </a:r>
                      <a:r>
                        <a:rPr lang="es-EC" sz="900" dirty="0" err="1">
                          <a:solidFill>
                            <a:srgbClr val="4F81BD"/>
                          </a:solidFill>
                          <a:latin typeface="Calibri"/>
                          <a:ea typeface="Calibri"/>
                          <a:cs typeface="Calibri"/>
                          <a:sym typeface="Calibri"/>
                        </a:rPr>
                        <a:t>String</a:t>
                      </a:r>
                      <a:r>
                        <a:rPr lang="es-EC" sz="900" dirty="0">
                          <a:solidFill>
                            <a:srgbClr val="4F81BD"/>
                          </a:solidFill>
                          <a:latin typeface="Calibri"/>
                          <a:ea typeface="Calibri"/>
                          <a:cs typeface="Calibri"/>
                          <a:sym typeface="Calibri"/>
                        </a:rPr>
                        <a:t> origen, </a:t>
                      </a:r>
                      <a:r>
                        <a:rPr lang="es-EC" sz="900" dirty="0" err="1">
                          <a:solidFill>
                            <a:srgbClr val="4F81BD"/>
                          </a:solidFill>
                          <a:latin typeface="Calibri"/>
                          <a:ea typeface="Calibri"/>
                          <a:cs typeface="Calibri"/>
                          <a:sym typeface="Calibri"/>
                        </a:rPr>
                        <a:t>String</a:t>
                      </a:r>
                      <a:r>
                        <a:rPr lang="es-EC" sz="900" dirty="0">
                          <a:solidFill>
                            <a:srgbClr val="4F81BD"/>
                          </a:solidFill>
                          <a:latin typeface="Calibri"/>
                          <a:ea typeface="Calibri"/>
                          <a:cs typeface="Calibri"/>
                          <a:sym typeface="Calibri"/>
                        </a:rPr>
                        <a:t> destino)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try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return</a:t>
                      </a: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puerto.convertirMasa</a:t>
                      </a:r>
                      <a:r>
                        <a:rPr lang="es-EC" sz="900" dirty="0">
                          <a:solidFill>
                            <a:srgbClr val="4F81BD"/>
                          </a:solidFill>
                          <a:latin typeface="Calibri"/>
                          <a:ea typeface="Calibri"/>
                          <a:cs typeface="Calibri"/>
                          <a:sym typeface="Calibri"/>
                        </a:rPr>
                        <a:t>(valor, origen, destino);</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 catch (</a:t>
                      </a:r>
                      <a:r>
                        <a:rPr lang="es-EC" sz="900" dirty="0" err="1">
                          <a:solidFill>
                            <a:srgbClr val="4F81BD"/>
                          </a:solidFill>
                          <a:latin typeface="Calibri"/>
                          <a:ea typeface="Calibri"/>
                          <a:cs typeface="Calibri"/>
                          <a:sym typeface="Calibri"/>
                        </a:rPr>
                        <a:t>WebServiceException</a:t>
                      </a:r>
                      <a:r>
                        <a:rPr lang="es-EC" sz="900" dirty="0">
                          <a:solidFill>
                            <a:srgbClr val="4F81BD"/>
                          </a:solidFill>
                          <a:latin typeface="Calibri"/>
                          <a:ea typeface="Calibri"/>
                          <a:cs typeface="Calibri"/>
                          <a:sym typeface="Calibri"/>
                        </a:rPr>
                        <a:t> e) {</a:t>
                      </a:r>
                    </a:p>
                    <a:p>
                      <a:pPr marL="0" lvl="0" indent="0" algn="l" rtl="0">
                        <a:lnSpc>
                          <a:spcPct val="144000"/>
                        </a:lnSpc>
                        <a:spcBef>
                          <a:spcPts val="0"/>
                        </a:spcBef>
                        <a:spcAft>
                          <a:spcPts val="0"/>
                        </a:spcAft>
                        <a:buNone/>
                      </a:pPr>
                      <a:r>
                        <a:rPr lang="es-EC" sz="900" dirty="0">
                          <a:solidFill>
                            <a:srgbClr val="4F81BD"/>
                          </a:solidFill>
                          <a:latin typeface="Calibri"/>
                          <a:ea typeface="Calibri"/>
                          <a:cs typeface="Calibri"/>
                          <a:sym typeface="Calibri"/>
                        </a:rPr>
                        <a:t>            </a:t>
                      </a:r>
                      <a:r>
                        <a:rPr lang="es-EC" sz="900" dirty="0" err="1">
                          <a:solidFill>
                            <a:srgbClr val="4F81BD"/>
                          </a:solidFill>
                          <a:latin typeface="Calibri"/>
                          <a:ea typeface="Calibri"/>
                          <a:cs typeface="Calibri"/>
                          <a:sym typeface="Calibri"/>
                        </a:rPr>
                        <a:t>throw</a:t>
                      </a:r>
                      <a:r>
                        <a:rPr lang="es-EC" sz="900" dirty="0">
                          <a:solidFill>
                            <a:srgbClr val="4F81BD"/>
                          </a:solidFill>
                          <a:latin typeface="Calibri"/>
                          <a:ea typeface="Calibri"/>
                          <a:cs typeface="Calibri"/>
                          <a:sym typeface="Calibri"/>
                        </a:rPr>
                        <a:t> new </a:t>
                      </a:r>
                      <a:r>
                        <a:rPr lang="es-EC" sz="900" dirty="0" err="1">
                          <a:solidFill>
                            <a:srgbClr val="4F81BD"/>
                          </a:solidFill>
                          <a:latin typeface="Calibri"/>
                          <a:ea typeface="Calibri"/>
                          <a:cs typeface="Calibri"/>
                          <a:sym typeface="Calibri"/>
                        </a:rPr>
                        <a:t>RuntimeException</a:t>
                      </a:r>
                      <a:r>
                        <a:rPr lang="es-EC" sz="900" dirty="0">
                          <a:solidFill>
                            <a:srgbClr val="4F81BD"/>
                          </a:solidFill>
                          <a:latin typeface="Calibri"/>
                          <a:ea typeface="Calibri"/>
                          <a:cs typeface="Calibri"/>
                          <a:sym typeface="Calibri"/>
                        </a:rPr>
                        <a:t>("Error al convertir masa: " + </a:t>
                      </a:r>
                      <a:r>
                        <a:rPr lang="es-EC" sz="900" dirty="0" err="1">
                          <a:solidFill>
                            <a:srgbClr val="4F81BD"/>
                          </a:solidFill>
                          <a:latin typeface="Calibri"/>
                          <a:ea typeface="Calibri"/>
                          <a:cs typeface="Calibri"/>
                          <a:sym typeface="Calibri"/>
                        </a:rPr>
                        <a:t>e.getMessage</a:t>
                      </a:r>
                      <a:r>
                        <a:rPr lang="es-EC" sz="900" dirty="0">
                          <a:solidFill>
                            <a:srgbClr val="4F81BD"/>
                          </a:solidFill>
                          <a:latin typeface="Calibri"/>
                          <a:ea typeface="Calibri"/>
                          <a:cs typeface="Calibri"/>
                          <a:sym typeface="Calibri"/>
                        </a:rPr>
                        <a:t>(), e);</a:t>
                      </a:r>
                    </a:p>
                  </a:txBody>
                  <a:tcPr marL="63500" marR="63500" marT="63500" marB="63500"/>
                </a:tc>
                <a:extLst>
                  <a:ext uri="{0D108BD9-81ED-4DB2-BD59-A6C34878D82A}">
                    <a16:rowId xmlns:a16="http://schemas.microsoft.com/office/drawing/2014/main" val="10000"/>
                  </a:ext>
                </a:extLst>
              </a:tr>
            </a:tbl>
          </a:graphicData>
        </a:graphic>
      </p:graphicFrame>
      <p:sp>
        <p:nvSpPr>
          <p:cNvPr id="5" name="Google Shape;319;p40">
            <a:extLst>
              <a:ext uri="{FF2B5EF4-FFF2-40B4-BE49-F238E27FC236}">
                <a16:creationId xmlns:a16="http://schemas.microsoft.com/office/drawing/2014/main" id="{90E606E2-56E3-1D77-8B34-317086E79A6F}"/>
              </a:ext>
            </a:extLst>
          </p:cNvPr>
          <p:cNvSpPr txBox="1">
            <a:spLocks noGrp="1"/>
          </p:cNvSpPr>
          <p:nvPr>
            <p:ph type="body" idx="1"/>
          </p:nvPr>
        </p:nvSpPr>
        <p:spPr>
          <a:xfrm>
            <a:off x="-1" y="1837551"/>
            <a:ext cx="1940435" cy="4447919"/>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400" dirty="0">
                <a:solidFill>
                  <a:schemeClr val="dk1"/>
                </a:solidFill>
                <a:latin typeface="Calibri"/>
                <a:ea typeface="Calibri"/>
                <a:cs typeface="Calibri"/>
                <a:sym typeface="Calibri"/>
              </a:rPr>
              <a:t>A continuación se detallarán las clases principales con su código fuente.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68"/>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53" name="Google Shape;553;p68"/>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555" name="Google Shape;555;p68"/>
          <p:cNvGraphicFramePr/>
          <p:nvPr>
            <p:extLst>
              <p:ext uri="{D42A27DB-BD31-4B8C-83A1-F6EECF244321}">
                <p14:modId xmlns:p14="http://schemas.microsoft.com/office/powerpoint/2010/main" val="3787550277"/>
              </p:ext>
            </p:extLst>
          </p:nvPr>
        </p:nvGraphicFramePr>
        <p:xfrm>
          <a:off x="2332838" y="2136238"/>
          <a:ext cx="6484300" cy="4056634"/>
        </p:xfrm>
        <a:graphic>
          <a:graphicData uri="http://schemas.openxmlformats.org/drawingml/2006/table">
            <a:tbl>
              <a:tblPr>
                <a:noFill/>
                <a:tableStyleId>{BF136021-7255-42B7-A7E7-87A8D8FFE9CA}</a:tableStyleId>
              </a:tblPr>
              <a:tblGrid>
                <a:gridCol w="6484300">
                  <a:extLst>
                    <a:ext uri="{9D8B030D-6E8A-4147-A177-3AD203B41FA5}">
                      <a16:colId xmlns:a16="http://schemas.microsoft.com/office/drawing/2014/main" val="20000"/>
                    </a:ext>
                  </a:extLst>
                </a:gridCol>
              </a:tblGrid>
              <a:tr h="4023900">
                <a:tc>
                  <a:txBody>
                    <a:bodyPr/>
                    <a:lstStyle/>
                    <a:p>
                      <a:pPr marL="0" lvl="0" indent="0" algn="l" rtl="0">
                        <a:lnSpc>
                          <a:spcPct val="144000"/>
                        </a:lnSpc>
                        <a:spcBef>
                          <a:spcPts val="0"/>
                        </a:spcBef>
                        <a:spcAft>
                          <a:spcPts val="0"/>
                        </a:spcAft>
                        <a:buNone/>
                      </a:pPr>
                      <a:r>
                        <a:rPr lang="es-ES" sz="900" dirty="0" err="1">
                          <a:solidFill>
                            <a:srgbClr val="4F81BD"/>
                          </a:solidFill>
                          <a:latin typeface="Calibri"/>
                          <a:ea typeface="Calibri"/>
                          <a:cs typeface="Calibri"/>
                          <a:sym typeface="Calibri"/>
                        </a:rPr>
                        <a:t>public</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class</a:t>
                      </a:r>
                      <a:r>
                        <a:rPr lang="es-ES" sz="900" dirty="0">
                          <a:solidFill>
                            <a:srgbClr val="4F81BD"/>
                          </a:solidFill>
                          <a:latin typeface="Calibri"/>
                          <a:ea typeface="Calibri"/>
                          <a:cs typeface="Calibri"/>
                          <a:sym typeface="Calibri"/>
                        </a:rPr>
                        <a:t> CLIESC_JAVA_RESTFUL {</a:t>
                      </a:r>
                    </a:p>
                    <a:p>
                      <a:pPr marL="0" lvl="0" indent="0" algn="l" rtl="0">
                        <a:lnSpc>
                          <a:spcPct val="144000"/>
                        </a:lnSpc>
                        <a:spcBef>
                          <a:spcPts val="0"/>
                        </a:spcBef>
                        <a:spcAft>
                          <a:spcPts val="0"/>
                        </a:spcAft>
                        <a:buNone/>
                      </a:pPr>
                      <a:endParaRPr lang="es-ES" sz="900" dirty="0">
                        <a:solidFill>
                          <a:srgbClr val="4F81BD"/>
                        </a:solidFill>
                        <a:latin typeface="Calibri"/>
                        <a:ea typeface="Calibri"/>
                        <a:cs typeface="Calibri"/>
                        <a:sym typeface="Calibri"/>
                      </a:endParaRP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public</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void</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main</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args</a:t>
                      </a: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SwingUtilities.invokeLater</a:t>
                      </a:r>
                      <a:r>
                        <a:rPr lang="es-ES" sz="900" dirty="0">
                          <a:solidFill>
                            <a:srgbClr val="4F81BD"/>
                          </a:solidFill>
                          <a:latin typeface="Calibri"/>
                          <a:ea typeface="Calibri"/>
                          <a:cs typeface="Calibri"/>
                          <a:sym typeface="Calibri"/>
                        </a:rPr>
                        <a:t>(() -&gt;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try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AppTheme.instalar</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WSConversorCliente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client</a:t>
                      </a:r>
                      <a:r>
                        <a:rPr lang="es-ES" sz="900" dirty="0">
                          <a:solidFill>
                            <a:srgbClr val="4F81BD"/>
                          </a:solidFill>
                          <a:latin typeface="Calibri"/>
                          <a:ea typeface="Calibri"/>
                          <a:cs typeface="Calibri"/>
                          <a:sym typeface="Calibri"/>
                        </a:rPr>
                        <a:t> = new </a:t>
                      </a:r>
                      <a:r>
                        <a:rPr lang="es-ES" sz="900" dirty="0" err="1">
                          <a:solidFill>
                            <a:srgbClr val="4F81BD"/>
                          </a:solidFill>
                          <a:latin typeface="Calibri"/>
                          <a:ea typeface="Calibri"/>
                          <a:cs typeface="Calibri"/>
                          <a:sym typeface="Calibri"/>
                        </a:rPr>
                        <a:t>WSConversorCliente</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LoginVista</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login</a:t>
                      </a:r>
                      <a:r>
                        <a:rPr lang="es-ES" sz="900" dirty="0">
                          <a:solidFill>
                            <a:srgbClr val="4F81BD"/>
                          </a:solidFill>
                          <a:latin typeface="Calibri"/>
                          <a:ea typeface="Calibri"/>
                          <a:cs typeface="Calibri"/>
                          <a:sym typeface="Calibri"/>
                        </a:rPr>
                        <a:t> = new </a:t>
                      </a:r>
                      <a:r>
                        <a:rPr lang="es-ES" sz="900" dirty="0" err="1">
                          <a:solidFill>
                            <a:srgbClr val="4F81BD"/>
                          </a:solidFill>
                          <a:latin typeface="Calibri"/>
                          <a:ea typeface="Calibri"/>
                          <a:cs typeface="Calibri"/>
                          <a:sym typeface="Calibri"/>
                        </a:rPr>
                        <a:t>LoginVista</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new </a:t>
                      </a:r>
                      <a:r>
                        <a:rPr lang="es-ES" sz="900" dirty="0" err="1">
                          <a:solidFill>
                            <a:srgbClr val="4F81BD"/>
                          </a:solidFill>
                          <a:latin typeface="Calibri"/>
                          <a:ea typeface="Calibri"/>
                          <a:cs typeface="Calibri"/>
                          <a:sym typeface="Calibri"/>
                        </a:rPr>
                        <a:t>LoginController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login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client</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login.setVisible</a:t>
                      </a:r>
                      <a:r>
                        <a:rPr lang="es-ES" sz="900" dirty="0">
                          <a:solidFill>
                            <a:srgbClr val="4F81BD"/>
                          </a:solidFill>
                          <a:latin typeface="Calibri"/>
                          <a:ea typeface="Calibri"/>
                          <a:cs typeface="Calibri"/>
                          <a:sym typeface="Calibri"/>
                        </a:rPr>
                        <a:t>(true);</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 catch (</a:t>
                      </a:r>
                      <a:r>
                        <a:rPr lang="es-ES" sz="900" dirty="0" err="1">
                          <a:solidFill>
                            <a:srgbClr val="4F81BD"/>
                          </a:solidFill>
                          <a:latin typeface="Calibri"/>
                          <a:ea typeface="Calibri"/>
                          <a:cs typeface="Calibri"/>
                          <a:sym typeface="Calibri"/>
                        </a:rPr>
                        <a:t>Exception</a:t>
                      </a:r>
                      <a:r>
                        <a:rPr lang="es-ES" sz="900" dirty="0">
                          <a:solidFill>
                            <a:srgbClr val="4F81BD"/>
                          </a:solidFill>
                          <a:latin typeface="Calibri"/>
                          <a:ea typeface="Calibri"/>
                          <a:cs typeface="Calibri"/>
                          <a:sym typeface="Calibri"/>
                        </a:rPr>
                        <a:t> e)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JOptionPane.showMessageDialog</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null</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"No se pudo conectar al servidor RESTFUL:\n" + </a:t>
                      </a:r>
                      <a:r>
                        <a:rPr lang="es-ES" sz="900" dirty="0" err="1">
                          <a:solidFill>
                            <a:srgbClr val="4F81BD"/>
                          </a:solidFill>
                          <a:latin typeface="Calibri"/>
                          <a:ea typeface="Calibri"/>
                          <a:cs typeface="Calibri"/>
                          <a:sym typeface="Calibri"/>
                        </a:rPr>
                        <a:t>e.getMessage</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"Error de conexión", </a:t>
                      </a:r>
                      <a:r>
                        <a:rPr lang="es-ES" sz="900" dirty="0" err="1">
                          <a:solidFill>
                            <a:srgbClr val="4F81BD"/>
                          </a:solidFill>
                          <a:latin typeface="Calibri"/>
                          <a:ea typeface="Calibri"/>
                          <a:cs typeface="Calibri"/>
                          <a:sym typeface="Calibri"/>
                        </a:rPr>
                        <a:t>JOptionPane.ERROR_MESSAGE</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System.exit</a:t>
                      </a:r>
                      <a:r>
                        <a:rPr lang="es-ES" sz="900" dirty="0">
                          <a:solidFill>
                            <a:srgbClr val="4F81BD"/>
                          </a:solidFill>
                          <a:latin typeface="Calibri"/>
                          <a:ea typeface="Calibri"/>
                          <a:cs typeface="Calibri"/>
                          <a:sym typeface="Calibri"/>
                        </a:rPr>
                        <a:t>(1);</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endParaRPr sz="1100" dirty="0">
                        <a:solidFill>
                          <a:schemeClr val="dk1"/>
                        </a:solidFill>
                      </a:endParaRP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endParaRPr sz="900" dirty="0">
                        <a:solidFill>
                          <a:srgbClr val="4F81BD"/>
                        </a:solidFill>
                        <a:latin typeface="Calibri"/>
                        <a:ea typeface="Calibri"/>
                        <a:cs typeface="Calibri"/>
                        <a:sym typeface="Calibri"/>
                      </a:endParaRP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endParaRPr sz="1100" dirty="0">
                        <a:solidFill>
                          <a:schemeClr val="dk1"/>
                        </a:solidFill>
                      </a:endParaRPr>
                    </a:p>
                  </a:txBody>
                  <a:tcPr marL="63500" marR="63500" marT="63500" marB="63500"/>
                </a:tc>
                <a:extLst>
                  <a:ext uri="{0D108BD9-81ED-4DB2-BD59-A6C34878D82A}">
                    <a16:rowId xmlns:a16="http://schemas.microsoft.com/office/drawing/2014/main" val="10000"/>
                  </a:ext>
                </a:extLst>
              </a:tr>
            </a:tbl>
          </a:graphicData>
        </a:graphic>
      </p:graphicFrame>
      <p:sp>
        <p:nvSpPr>
          <p:cNvPr id="4" name="Google Shape;319;p40">
            <a:extLst>
              <a:ext uri="{FF2B5EF4-FFF2-40B4-BE49-F238E27FC236}">
                <a16:creationId xmlns:a16="http://schemas.microsoft.com/office/drawing/2014/main" id="{3E5A9CED-F171-E838-6853-A7AC2D6B416B}"/>
              </a:ext>
            </a:extLst>
          </p:cNvPr>
          <p:cNvSpPr txBox="1">
            <a:spLocks noGrp="1"/>
          </p:cNvSpPr>
          <p:nvPr>
            <p:ph type="body" idx="1"/>
          </p:nvPr>
        </p:nvSpPr>
        <p:spPr>
          <a:xfrm>
            <a:off x="172993" y="2136238"/>
            <a:ext cx="1940435" cy="4447919"/>
          </a:xfrm>
          <a:prstGeom prst="rect">
            <a:avLst/>
          </a:prstGeom>
          <a:noFill/>
          <a:ln>
            <a:noFill/>
          </a:ln>
        </p:spPr>
        <p:txBody>
          <a:bodyPr spcFirstLastPara="1" wrap="square" lIns="91425" tIns="45700" rIns="91425" bIns="45700" anchor="ctr" anchorCtr="0">
            <a:normAutofit/>
          </a:bodyPr>
          <a:lstStyle/>
          <a:p>
            <a:pPr marL="457200" lvl="0" indent="-327406" algn="l" rtl="0">
              <a:lnSpc>
                <a:spcPct val="150000"/>
              </a:lnSpc>
              <a:spcBef>
                <a:spcPts val="0"/>
              </a:spcBef>
              <a:spcAft>
                <a:spcPts val="0"/>
              </a:spcAft>
              <a:buSzPts val="1556"/>
              <a:buChar char="∙"/>
            </a:pPr>
            <a:r>
              <a:rPr lang="es-ES" sz="1400" dirty="0">
                <a:solidFill>
                  <a:schemeClr val="dk1"/>
                </a:solidFill>
                <a:latin typeface="Calibri"/>
                <a:ea typeface="Calibri"/>
                <a:cs typeface="Calibri"/>
                <a:sym typeface="Calibri"/>
              </a:rPr>
              <a:t>A continuación se detallarán las clases principales con su código fuente.</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59"/>
        <p:cNvGrpSpPr/>
        <p:nvPr/>
      </p:nvGrpSpPr>
      <p:grpSpPr>
        <a:xfrm>
          <a:off x="0" y="0"/>
          <a:ext cx="0" cy="0"/>
          <a:chOff x="0" y="0"/>
          <a:chExt cx="0" cy="0"/>
        </a:xfrm>
      </p:grpSpPr>
      <p:sp>
        <p:nvSpPr>
          <p:cNvPr id="560" name="Google Shape;560;p69"/>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61" name="Google Shape;561;p69"/>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562" name="Google Shape;562;p69"/>
          <p:cNvSpPr txBox="1">
            <a:spLocks noGrp="1"/>
          </p:cNvSpPr>
          <p:nvPr>
            <p:ph type="body" idx="1"/>
          </p:nvPr>
        </p:nvSpPr>
        <p:spPr>
          <a:xfrm>
            <a:off x="271974" y="2738849"/>
            <a:ext cx="4491014" cy="886044"/>
          </a:xfrm>
          <a:prstGeom prst="rect">
            <a:avLst/>
          </a:prstGeom>
          <a:noFill/>
          <a:ln>
            <a:noFill/>
          </a:ln>
        </p:spPr>
        <p:txBody>
          <a:bodyPr spcFirstLastPara="1" wrap="square" lIns="91425" tIns="45700" rIns="91425" bIns="45700" anchor="ctr" anchorCtr="0">
            <a:noAutofit/>
          </a:bodyPr>
          <a:lstStyle/>
          <a:p>
            <a:pPr marL="457200" lvl="0" indent="-327406" algn="l" rtl="0">
              <a:lnSpc>
                <a:spcPct val="150000"/>
              </a:lnSpc>
              <a:spcBef>
                <a:spcPts val="0"/>
              </a:spcBef>
              <a:spcAft>
                <a:spcPts val="0"/>
              </a:spcAft>
              <a:buSzPts val="1556"/>
              <a:buChar char="∙"/>
            </a:pPr>
            <a:r>
              <a:rPr lang="es-MX" sz="1400" dirty="0">
                <a:solidFill>
                  <a:schemeClr val="dk1"/>
                </a:solidFill>
                <a:latin typeface="Calibri"/>
                <a:ea typeface="Calibri"/>
                <a:cs typeface="Calibri"/>
                <a:sym typeface="Calibri"/>
              </a:rPr>
              <a:t>La configuración para la conexión con el servidor se maneja igual que en la conexión desde el cliente de consola</a:t>
            </a:r>
          </a:p>
          <a:p>
            <a:pPr marL="457200" lvl="0" indent="-327406" algn="l" rtl="0">
              <a:lnSpc>
                <a:spcPct val="150000"/>
              </a:lnSpc>
              <a:spcBef>
                <a:spcPts val="0"/>
              </a:spcBef>
              <a:spcAft>
                <a:spcPts val="0"/>
              </a:spcAft>
              <a:buSzPts val="1556"/>
              <a:buChar char="∙"/>
            </a:pPr>
            <a:r>
              <a:rPr lang="es-MX" sz="1400" dirty="0">
                <a:solidFill>
                  <a:schemeClr val="dk1"/>
                </a:solidFill>
                <a:latin typeface="Calibri"/>
                <a:ea typeface="Calibri"/>
                <a:cs typeface="Calibri"/>
                <a:sym typeface="Calibri"/>
              </a:rPr>
              <a:t>Para poder probar se debe ejecutar el archivo principal del proyecto</a:t>
            </a:r>
            <a:endParaRPr sz="1400" dirty="0">
              <a:solidFill>
                <a:schemeClr val="dk1"/>
              </a:solidFill>
              <a:latin typeface="Calibri"/>
              <a:ea typeface="Calibri"/>
              <a:cs typeface="Calibri"/>
              <a:sym typeface="Calibri"/>
            </a:endParaRPr>
          </a:p>
          <a:p>
            <a:pPr marL="457200" lvl="0" indent="-304800" algn="just" rtl="0">
              <a:lnSpc>
                <a:spcPct val="107000"/>
              </a:lnSpc>
              <a:spcBef>
                <a:spcPts val="0"/>
              </a:spcBef>
              <a:spcAft>
                <a:spcPts val="0"/>
              </a:spcAft>
              <a:buSzPts val="1200"/>
              <a:buFont typeface="Cambria"/>
              <a:buChar char="∙"/>
            </a:pPr>
            <a:endParaRPr sz="1400" dirty="0">
              <a:latin typeface="Cambria"/>
              <a:ea typeface="Cambria"/>
              <a:cs typeface="Cambria"/>
              <a:sym typeface="Cambria"/>
            </a:endParaRPr>
          </a:p>
        </p:txBody>
      </p:sp>
      <p:graphicFrame>
        <p:nvGraphicFramePr>
          <p:cNvPr id="563" name="Google Shape;563;p69"/>
          <p:cNvGraphicFramePr/>
          <p:nvPr>
            <p:extLst>
              <p:ext uri="{D42A27DB-BD31-4B8C-83A1-F6EECF244321}">
                <p14:modId xmlns:p14="http://schemas.microsoft.com/office/powerpoint/2010/main" val="1264834394"/>
              </p:ext>
            </p:extLst>
          </p:nvPr>
        </p:nvGraphicFramePr>
        <p:xfrm>
          <a:off x="4762988" y="1923059"/>
          <a:ext cx="4043261" cy="4742085"/>
        </p:xfrm>
        <a:graphic>
          <a:graphicData uri="http://schemas.openxmlformats.org/drawingml/2006/table">
            <a:tbl>
              <a:tblPr>
                <a:noFill/>
                <a:tableStyleId>{BF136021-7255-42B7-A7E7-87A8D8FFE9CA}</a:tableStyleId>
              </a:tblPr>
              <a:tblGrid>
                <a:gridCol w="4043261">
                  <a:extLst>
                    <a:ext uri="{9D8B030D-6E8A-4147-A177-3AD203B41FA5}">
                      <a16:colId xmlns:a16="http://schemas.microsoft.com/office/drawing/2014/main" val="20000"/>
                    </a:ext>
                  </a:extLst>
                </a:gridCol>
              </a:tblGrid>
              <a:tr h="4742085">
                <a:tc>
                  <a:txBody>
                    <a:bodyPr/>
                    <a:lstStyle/>
                    <a:p>
                      <a:pPr marL="0" lvl="0" indent="0" algn="l" rtl="0">
                        <a:lnSpc>
                          <a:spcPct val="144000"/>
                        </a:lnSpc>
                        <a:spcBef>
                          <a:spcPts val="0"/>
                        </a:spcBef>
                        <a:spcAft>
                          <a:spcPts val="0"/>
                        </a:spcAft>
                        <a:buNone/>
                      </a:pPr>
                      <a:r>
                        <a:rPr lang="es-ES" sz="900" dirty="0" err="1">
                          <a:solidFill>
                            <a:srgbClr val="4F81BD"/>
                          </a:solidFill>
                          <a:latin typeface="Calibri"/>
                          <a:ea typeface="Calibri"/>
                          <a:cs typeface="Calibri"/>
                          <a:sym typeface="Calibri"/>
                        </a:rPr>
                        <a:t>public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class</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RESTFULConfig</a:t>
                      </a: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ARCHIVO_ENV = ".</a:t>
                      </a:r>
                      <a:r>
                        <a:rPr lang="es-ES" sz="900" dirty="0" err="1">
                          <a:solidFill>
                            <a:srgbClr val="4F81BD"/>
                          </a:solidFill>
                          <a:latin typeface="Calibri"/>
                          <a:ea typeface="Calibri"/>
                          <a:cs typeface="Calibri"/>
                          <a:sym typeface="Calibri"/>
                        </a:rPr>
                        <a:t>development.env</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final </a:t>
                      </a:r>
                      <a:r>
                        <a:rPr lang="es-ES" sz="900" dirty="0" err="1">
                          <a:solidFill>
                            <a:srgbClr val="4F81BD"/>
                          </a:solidFill>
                          <a:latin typeface="Calibri"/>
                          <a:ea typeface="Calibri"/>
                          <a:cs typeface="Calibri"/>
                          <a:sym typeface="Calibri"/>
                        </a:rPr>
                        <a:t>Dotenv</a:t>
                      </a:r>
                      <a:r>
                        <a:rPr lang="es-ES" sz="900" dirty="0">
                          <a:solidFill>
                            <a:srgbClr val="4F81BD"/>
                          </a:solidFill>
                          <a:latin typeface="Calibri"/>
                          <a:ea typeface="Calibri"/>
                          <a:cs typeface="Calibri"/>
                          <a:sym typeface="Calibri"/>
                        </a:rPr>
                        <a:t> DOTENV = cargar();</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RESTFULConfig</a:t>
                      </a:r>
                      <a:r>
                        <a:rPr lang="es-ES" sz="900" dirty="0">
                          <a:solidFill>
                            <a:srgbClr val="4F81BD"/>
                          </a:solidFill>
                          <a:latin typeface="Calibri"/>
                          <a:ea typeface="Calibri"/>
                          <a:cs typeface="Calibri"/>
                          <a:sym typeface="Calibri"/>
                        </a:rPr>
                        <a:t>() {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Dotenv</a:t>
                      </a:r>
                      <a:r>
                        <a:rPr lang="es-ES" sz="900" dirty="0">
                          <a:solidFill>
                            <a:srgbClr val="4F81BD"/>
                          </a:solidFill>
                          <a:latin typeface="Calibri"/>
                          <a:ea typeface="Calibri"/>
                          <a:cs typeface="Calibri"/>
                          <a:sym typeface="Calibri"/>
                        </a:rPr>
                        <a:t> cargar()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Dotenv.configure</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directory</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ubicarDirectorio</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filename</a:t>
                      </a:r>
                      <a:r>
                        <a:rPr lang="es-ES" sz="900" dirty="0">
                          <a:solidFill>
                            <a:srgbClr val="4F81BD"/>
                          </a:solidFill>
                          <a:latin typeface="Calibri"/>
                          <a:ea typeface="Calibri"/>
                          <a:cs typeface="Calibri"/>
                          <a:sym typeface="Calibri"/>
                        </a:rPr>
                        <a:t>(ARCHIVO_ENV)</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ignoreIfMissing</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.load();</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private</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static</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ubicarDirectorio</a:t>
                      </a: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(new File(ARCHIVO_ENV).</a:t>
                      </a:r>
                      <a:r>
                        <a:rPr lang="es-ES" sz="900" dirty="0" err="1">
                          <a:solidFill>
                            <a:srgbClr val="4F81BD"/>
                          </a:solidFill>
                          <a:latin typeface="Calibri"/>
                          <a:ea typeface="Calibri"/>
                          <a:cs typeface="Calibri"/>
                          <a:sym typeface="Calibri"/>
                        </a:rPr>
                        <a:t>isFile</a:t>
                      </a: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URL recurso = </a:t>
                      </a:r>
                      <a:r>
                        <a:rPr lang="es-ES" sz="900" dirty="0" err="1">
                          <a:solidFill>
                            <a:srgbClr val="4F81BD"/>
                          </a:solidFill>
                          <a:latin typeface="Calibri"/>
                          <a:ea typeface="Calibri"/>
                          <a:cs typeface="Calibri"/>
                          <a:sym typeface="Calibri"/>
                        </a:rPr>
                        <a:t>RESTFULConfig.class.getResource</a:t>
                      </a:r>
                      <a:r>
                        <a:rPr lang="es-ES" sz="900" dirty="0">
                          <a:solidFill>
                            <a:srgbClr val="4F81BD"/>
                          </a:solidFill>
                          <a:latin typeface="Calibri"/>
                          <a:ea typeface="Calibri"/>
                          <a:cs typeface="Calibri"/>
                          <a:sym typeface="Calibri"/>
                        </a:rPr>
                        <a:t>("/" + ARCHIVO_ENV);</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(recurso != </a:t>
                      </a:r>
                      <a:r>
                        <a:rPr lang="es-ES" sz="900" dirty="0" err="1">
                          <a:solidFill>
                            <a:srgbClr val="4F81BD"/>
                          </a:solidFill>
                          <a:latin typeface="Calibri"/>
                          <a:ea typeface="Calibri"/>
                          <a:cs typeface="Calibri"/>
                          <a:sym typeface="Calibri"/>
                        </a:rPr>
                        <a:t>null</a:t>
                      </a:r>
                      <a:r>
                        <a:rPr lang="es-ES" sz="900" dirty="0">
                          <a:solidFill>
                            <a:srgbClr val="4F81BD"/>
                          </a:solidFill>
                          <a:latin typeface="Calibri"/>
                          <a:ea typeface="Calibri"/>
                          <a:cs typeface="Calibri"/>
                          <a:sym typeface="Calibri"/>
                        </a:rPr>
                        <a:t> &amp;&amp; "file".</a:t>
                      </a:r>
                      <a:r>
                        <a:rPr lang="es-ES" sz="900" dirty="0" err="1">
                          <a:solidFill>
                            <a:srgbClr val="4F81BD"/>
                          </a:solidFill>
                          <a:latin typeface="Calibri"/>
                          <a:ea typeface="Calibri"/>
                          <a:cs typeface="Calibri"/>
                          <a:sym typeface="Calibri"/>
                        </a:rPr>
                        <a:t>equalsIgnoreCase</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recurso.getProtocol</a:t>
                      </a: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try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Path</a:t>
                      </a:r>
                      <a:r>
                        <a:rPr lang="es-ES" sz="900" dirty="0">
                          <a:solidFill>
                            <a:srgbClr val="4F81BD"/>
                          </a:solidFill>
                          <a:latin typeface="Calibri"/>
                          <a:ea typeface="Calibri"/>
                          <a:cs typeface="Calibri"/>
                          <a:sym typeface="Calibri"/>
                        </a:rPr>
                        <a:t> ruta = </a:t>
                      </a:r>
                      <a:r>
                        <a:rPr lang="es-ES" sz="900" dirty="0" err="1">
                          <a:solidFill>
                            <a:srgbClr val="4F81BD"/>
                          </a:solidFill>
                          <a:latin typeface="Calibri"/>
                          <a:ea typeface="Calibri"/>
                          <a:cs typeface="Calibri"/>
                          <a:sym typeface="Calibri"/>
                        </a:rPr>
                        <a:t>Paths.get</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recurso.toURI</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ruta.getParent</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toString</a:t>
                      </a:r>
                      <a:r>
                        <a:rPr lang="es-ES" sz="900" dirty="0">
                          <a:solidFill>
                            <a:srgbClr val="4F81BD"/>
                          </a:solidFill>
                          <a:latin typeface="Calibri"/>
                          <a:ea typeface="Calibri"/>
                          <a:cs typeface="Calibri"/>
                          <a:sym typeface="Calibri"/>
                        </a:rPr>
                        <a:t>();</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 catch (</a:t>
                      </a:r>
                      <a:r>
                        <a:rPr lang="es-ES" sz="900" dirty="0" err="1">
                          <a:solidFill>
                            <a:srgbClr val="4F81BD"/>
                          </a:solidFill>
                          <a:latin typeface="Calibri"/>
                          <a:ea typeface="Calibri"/>
                          <a:cs typeface="Calibri"/>
                          <a:sym typeface="Calibri"/>
                        </a:rPr>
                        <a:t>Exception</a:t>
                      </a:r>
                      <a:r>
                        <a:rPr lang="es-ES" sz="900" dirty="0">
                          <a:solidFill>
                            <a:srgbClr val="4F81BD"/>
                          </a:solidFill>
                          <a:latin typeface="Calibri"/>
                          <a:ea typeface="Calibri"/>
                          <a:cs typeface="Calibri"/>
                          <a:sym typeface="Calibri"/>
                        </a:rPr>
                        <a:t> ignorado)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44000"/>
                        </a:lnSpc>
                        <a:spcBef>
                          <a:spcPts val="0"/>
                        </a:spcBef>
                        <a:spcAft>
                          <a:spcPts val="0"/>
                        </a:spcAft>
                        <a:buNone/>
                      </a:pPr>
                      <a:r>
                        <a:rPr lang="es-ES" sz="900" dirty="0">
                          <a:solidFill>
                            <a:srgbClr val="4F81BD"/>
                          </a:solidFill>
                          <a:latin typeface="Calibri"/>
                          <a:ea typeface="Calibri"/>
                          <a:cs typeface="Calibri"/>
                          <a:sym typeface="Calibri"/>
                        </a:rPr>
                        <a:t>        }</a:t>
                      </a:r>
                    </a:p>
                  </a:txBody>
                  <a:tcPr marL="63500" marR="63500" marT="63500" marB="63500"/>
                </a:tc>
                <a:extLst>
                  <a:ext uri="{0D108BD9-81ED-4DB2-BD59-A6C34878D82A}">
                    <a16:rowId xmlns:a16="http://schemas.microsoft.com/office/drawing/2014/main" val="10000"/>
                  </a:ext>
                </a:extLst>
              </a:tr>
            </a:tbl>
          </a:graphicData>
        </a:graphic>
      </p:graphicFrame>
      <p:pic>
        <p:nvPicPr>
          <p:cNvPr id="3" name="Picture 2">
            <a:extLst>
              <a:ext uri="{FF2B5EF4-FFF2-40B4-BE49-F238E27FC236}">
                <a16:creationId xmlns:a16="http://schemas.microsoft.com/office/drawing/2014/main" id="{8296BBCD-6625-1CA2-75D8-DCF2B5E613DA}"/>
              </a:ext>
            </a:extLst>
          </p:cNvPr>
          <p:cNvPicPr>
            <a:picLocks noChangeAspect="1"/>
          </p:cNvPicPr>
          <p:nvPr/>
        </p:nvPicPr>
        <p:blipFill>
          <a:blip r:embed="rId3"/>
          <a:stretch>
            <a:fillRect/>
          </a:stretch>
        </p:blipFill>
        <p:spPr>
          <a:xfrm>
            <a:off x="852812" y="4077731"/>
            <a:ext cx="3515803" cy="25492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70"/>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69" name="Google Shape;569;p70"/>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571" name="Google Shape;571;p70"/>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a:solidFill>
                  <a:srgbClr val="3D3D3D"/>
                </a:solidFill>
                <a:latin typeface="Cambria"/>
                <a:ea typeface="Cambria"/>
                <a:cs typeface="Cambria"/>
                <a:sym typeface="Cambria"/>
              </a:rPr>
              <a:t>Vista login</a:t>
            </a:r>
            <a:endParaRPr sz="2000" b="0" i="0" u="none" strike="noStrike" cap="none">
              <a:solidFill>
                <a:srgbClr val="3D3D3D"/>
              </a:solidFill>
              <a:latin typeface="Cambria"/>
              <a:ea typeface="Cambria"/>
              <a:cs typeface="Cambria"/>
              <a:sym typeface="Cambria"/>
            </a:endParaRPr>
          </a:p>
        </p:txBody>
      </p:sp>
      <p:pic>
        <p:nvPicPr>
          <p:cNvPr id="3" name="Picture 2">
            <a:extLst>
              <a:ext uri="{FF2B5EF4-FFF2-40B4-BE49-F238E27FC236}">
                <a16:creationId xmlns:a16="http://schemas.microsoft.com/office/drawing/2014/main" id="{81BAB808-DE65-7F10-83B4-5D79A43D8EBF}"/>
              </a:ext>
            </a:extLst>
          </p:cNvPr>
          <p:cNvPicPr>
            <a:picLocks noChangeAspect="1"/>
          </p:cNvPicPr>
          <p:nvPr/>
        </p:nvPicPr>
        <p:blipFill>
          <a:blip r:embed="rId3"/>
          <a:stretch>
            <a:fillRect/>
          </a:stretch>
        </p:blipFill>
        <p:spPr>
          <a:xfrm>
            <a:off x="2148257" y="2526869"/>
            <a:ext cx="5611786" cy="390662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71"/>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77" name="Google Shape;577;p71"/>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578" name="Google Shape;578;p71"/>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dirty="0">
                <a:solidFill>
                  <a:srgbClr val="3D3D3D"/>
                </a:solidFill>
                <a:latin typeface="Cambria"/>
                <a:ea typeface="Cambria"/>
                <a:cs typeface="Cambria"/>
                <a:sym typeface="Cambria"/>
              </a:rPr>
              <a:t>Vista inicial al iniciar sesión</a:t>
            </a:r>
            <a:endParaRPr sz="2000" b="0" i="0" u="none" strike="noStrike" cap="none" dirty="0">
              <a:solidFill>
                <a:srgbClr val="3D3D3D"/>
              </a:solidFill>
              <a:latin typeface="Cambria"/>
              <a:ea typeface="Cambria"/>
              <a:cs typeface="Cambria"/>
              <a:sym typeface="Cambria"/>
            </a:endParaRPr>
          </a:p>
        </p:txBody>
      </p:sp>
      <p:pic>
        <p:nvPicPr>
          <p:cNvPr id="3" name="Picture 2">
            <a:extLst>
              <a:ext uri="{FF2B5EF4-FFF2-40B4-BE49-F238E27FC236}">
                <a16:creationId xmlns:a16="http://schemas.microsoft.com/office/drawing/2014/main" id="{4C621075-3CD1-7C87-EF12-36A397FEC092}"/>
              </a:ext>
            </a:extLst>
          </p:cNvPr>
          <p:cNvPicPr>
            <a:picLocks noChangeAspect="1"/>
          </p:cNvPicPr>
          <p:nvPr/>
        </p:nvPicPr>
        <p:blipFill>
          <a:blip r:embed="rId3"/>
          <a:stretch>
            <a:fillRect/>
          </a:stretch>
        </p:blipFill>
        <p:spPr>
          <a:xfrm>
            <a:off x="1932874" y="2514114"/>
            <a:ext cx="5984152" cy="404810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72"/>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85" name="Google Shape;585;p72"/>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ESCRITORIO</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586" name="Google Shape;586;p72"/>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dirty="0">
                <a:solidFill>
                  <a:srgbClr val="3D3D3D"/>
                </a:solidFill>
                <a:latin typeface="Cambria"/>
                <a:ea typeface="Cambria"/>
                <a:cs typeface="Cambria"/>
                <a:sym typeface="Cambria"/>
              </a:rPr>
              <a:t>Vista de una conversión de temperatura</a:t>
            </a:r>
            <a:endParaRPr sz="2000" b="0" i="0" u="none" strike="noStrike" cap="none" dirty="0">
              <a:solidFill>
                <a:srgbClr val="3D3D3D"/>
              </a:solidFill>
              <a:latin typeface="Cambria"/>
              <a:ea typeface="Cambria"/>
              <a:cs typeface="Cambria"/>
              <a:sym typeface="Cambria"/>
            </a:endParaRPr>
          </a:p>
        </p:txBody>
      </p:sp>
      <p:pic>
        <p:nvPicPr>
          <p:cNvPr id="3" name="Picture 2">
            <a:extLst>
              <a:ext uri="{FF2B5EF4-FFF2-40B4-BE49-F238E27FC236}">
                <a16:creationId xmlns:a16="http://schemas.microsoft.com/office/drawing/2014/main" id="{F879563B-FF1F-6024-C10C-3BDBB57A7A63}"/>
              </a:ext>
            </a:extLst>
          </p:cNvPr>
          <p:cNvPicPr>
            <a:picLocks noChangeAspect="1"/>
          </p:cNvPicPr>
          <p:nvPr/>
        </p:nvPicPr>
        <p:blipFill>
          <a:blip r:embed="rId3"/>
          <a:stretch>
            <a:fillRect/>
          </a:stretch>
        </p:blipFill>
        <p:spPr>
          <a:xfrm>
            <a:off x="2020957" y="2610549"/>
            <a:ext cx="5807985" cy="385909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73"/>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593" name="Google Shape;593;p73"/>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WEB</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594" name="Google Shape;594;p73"/>
          <p:cNvSpPr txBox="1">
            <a:spLocks noGrp="1"/>
          </p:cNvSpPr>
          <p:nvPr>
            <p:ph type="body" idx="1"/>
          </p:nvPr>
        </p:nvSpPr>
        <p:spPr>
          <a:xfrm>
            <a:off x="581200" y="1902979"/>
            <a:ext cx="8589300" cy="1170900"/>
          </a:xfrm>
          <a:prstGeom prst="rect">
            <a:avLst/>
          </a:prstGeom>
          <a:noFill/>
          <a:ln>
            <a:noFill/>
          </a:ln>
        </p:spPr>
        <p:txBody>
          <a:bodyPr spcFirstLastPara="1" wrap="square" lIns="91425" tIns="45700" rIns="91425" bIns="45700" anchor="ctr" anchorCtr="0">
            <a:normAutofit/>
          </a:bodyPr>
          <a:lstStyle/>
          <a:p>
            <a:pPr marL="409197" lvl="0" indent="-285750" algn="just" rtl="0">
              <a:lnSpc>
                <a:spcPct val="107000"/>
              </a:lnSpc>
              <a:spcBef>
                <a:spcPts val="0"/>
              </a:spcBef>
              <a:spcAft>
                <a:spcPts val="0"/>
              </a:spcAft>
              <a:buSzPts val="1656"/>
              <a:buFont typeface="Arial" panose="020B0604020202020204" pitchFamily="34" charset="0"/>
              <a:buChar char="•"/>
            </a:pPr>
            <a:r>
              <a:rPr lang="es-ES" sz="1564" dirty="0">
                <a:latin typeface="Cambria"/>
                <a:ea typeface="Cambria"/>
                <a:cs typeface="Cambria"/>
                <a:sym typeface="Cambria"/>
              </a:rPr>
              <a:t>Para el cliente web se debe crear en java una web </a:t>
            </a:r>
            <a:r>
              <a:rPr lang="es-ES" sz="1564" dirty="0" err="1">
                <a:latin typeface="Cambria"/>
                <a:ea typeface="Cambria"/>
                <a:cs typeface="Cambria"/>
                <a:sym typeface="Cambria"/>
              </a:rPr>
              <a:t>application</a:t>
            </a:r>
            <a:endParaRPr dirty="0">
              <a:latin typeface="Cambria"/>
              <a:ea typeface="Cambria"/>
              <a:cs typeface="Cambria"/>
              <a:sym typeface="Cambria"/>
            </a:endParaRPr>
          </a:p>
        </p:txBody>
      </p:sp>
      <p:sp>
        <p:nvSpPr>
          <p:cNvPr id="2" name="TextBox 1">
            <a:extLst>
              <a:ext uri="{FF2B5EF4-FFF2-40B4-BE49-F238E27FC236}">
                <a16:creationId xmlns:a16="http://schemas.microsoft.com/office/drawing/2014/main" id="{36902FD8-93D1-66C6-E6F4-D37C43665E30}"/>
              </a:ext>
            </a:extLst>
          </p:cNvPr>
          <p:cNvSpPr txBox="1"/>
          <p:nvPr/>
        </p:nvSpPr>
        <p:spPr>
          <a:xfrm>
            <a:off x="704335" y="1902979"/>
            <a:ext cx="6104238" cy="318998"/>
          </a:xfrm>
          <a:prstGeom prst="rect">
            <a:avLst/>
          </a:prstGeom>
          <a:noFill/>
        </p:spPr>
        <p:txBody>
          <a:bodyPr wrap="square">
            <a:spAutoFit/>
          </a:bodyPr>
          <a:lstStyle/>
          <a:p>
            <a:pPr marL="0" lvl="0" indent="0" algn="l" rtl="0">
              <a:lnSpc>
                <a:spcPct val="115000"/>
              </a:lnSpc>
              <a:spcBef>
                <a:spcPts val="1200"/>
              </a:spcBef>
              <a:spcAft>
                <a:spcPts val="0"/>
              </a:spcAft>
              <a:buClr>
                <a:schemeClr val="dk1"/>
              </a:buClr>
              <a:buSzPct val="70332"/>
              <a:buFont typeface="Arial"/>
              <a:buNone/>
            </a:pPr>
            <a:r>
              <a:rPr lang="es-MX" sz="1400" b="1" dirty="0">
                <a:latin typeface="Cambria"/>
                <a:ea typeface="Cambria"/>
                <a:cs typeface="Cambria"/>
                <a:sym typeface="Cambria"/>
              </a:rPr>
              <a:t>1.</a:t>
            </a:r>
            <a:r>
              <a:rPr lang="es-MX" b="1" dirty="0">
                <a:latin typeface="Cambria"/>
                <a:ea typeface="Cambria"/>
                <a:cs typeface="Cambria"/>
                <a:sym typeface="Cambria"/>
              </a:rPr>
              <a:t>5</a:t>
            </a:r>
            <a:r>
              <a:rPr lang="es-MX" sz="1400" b="1" dirty="0">
                <a:latin typeface="Cambria"/>
                <a:ea typeface="Cambria"/>
                <a:cs typeface="Cambria"/>
                <a:sym typeface="Cambria"/>
              </a:rPr>
              <a:t>  CREACIÓN DEL PROYECTO CLIENTE </a:t>
            </a:r>
            <a:r>
              <a:rPr lang="es-MX" b="1" dirty="0">
                <a:latin typeface="Cambria"/>
                <a:ea typeface="Cambria"/>
                <a:cs typeface="Cambria"/>
                <a:sym typeface="Cambria"/>
              </a:rPr>
              <a:t>WEB</a:t>
            </a:r>
            <a:endParaRPr lang="es-MX" sz="1400" b="1" dirty="0">
              <a:latin typeface="Cambria"/>
              <a:ea typeface="Cambria"/>
              <a:cs typeface="Cambria"/>
              <a:sym typeface="Cambria"/>
            </a:endParaRPr>
          </a:p>
        </p:txBody>
      </p:sp>
      <p:pic>
        <p:nvPicPr>
          <p:cNvPr id="6" name="Picture 5">
            <a:extLst>
              <a:ext uri="{FF2B5EF4-FFF2-40B4-BE49-F238E27FC236}">
                <a16:creationId xmlns:a16="http://schemas.microsoft.com/office/drawing/2014/main" id="{DEB357B6-7FC5-EAB8-C703-D2E55A0A226B}"/>
              </a:ext>
            </a:extLst>
          </p:cNvPr>
          <p:cNvPicPr>
            <a:picLocks noChangeAspect="1"/>
          </p:cNvPicPr>
          <p:nvPr/>
        </p:nvPicPr>
        <p:blipFill>
          <a:blip r:embed="rId3"/>
          <a:stretch>
            <a:fillRect/>
          </a:stretch>
        </p:blipFill>
        <p:spPr>
          <a:xfrm>
            <a:off x="481207" y="2997438"/>
            <a:ext cx="4667441" cy="3176162"/>
          </a:xfrm>
          <a:prstGeom prst="rect">
            <a:avLst/>
          </a:prstGeom>
        </p:spPr>
      </p:pic>
      <p:pic>
        <p:nvPicPr>
          <p:cNvPr id="4" name="Picture 3">
            <a:extLst>
              <a:ext uri="{FF2B5EF4-FFF2-40B4-BE49-F238E27FC236}">
                <a16:creationId xmlns:a16="http://schemas.microsoft.com/office/drawing/2014/main" id="{765857D8-E8F8-A522-DD01-D34691CD019B}"/>
              </a:ext>
            </a:extLst>
          </p:cNvPr>
          <p:cNvPicPr>
            <a:picLocks noChangeAspect="1"/>
          </p:cNvPicPr>
          <p:nvPr/>
        </p:nvPicPr>
        <p:blipFill>
          <a:blip r:embed="rId4"/>
          <a:stretch>
            <a:fillRect/>
          </a:stretch>
        </p:blipFill>
        <p:spPr>
          <a:xfrm>
            <a:off x="5372438" y="3685849"/>
            <a:ext cx="3787468" cy="1562235"/>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74"/>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02" name="Google Shape;602;p74"/>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WEB</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604" name="Google Shape;604;p74"/>
          <p:cNvGraphicFramePr/>
          <p:nvPr>
            <p:extLst>
              <p:ext uri="{D42A27DB-BD31-4B8C-83A1-F6EECF244321}">
                <p14:modId xmlns:p14="http://schemas.microsoft.com/office/powerpoint/2010/main" val="1611081261"/>
              </p:ext>
            </p:extLst>
          </p:nvPr>
        </p:nvGraphicFramePr>
        <p:xfrm>
          <a:off x="2485197" y="2308973"/>
          <a:ext cx="5311878" cy="3762629"/>
        </p:xfrm>
        <a:graphic>
          <a:graphicData uri="http://schemas.openxmlformats.org/drawingml/2006/table">
            <a:tbl>
              <a:tblPr>
                <a:noFill/>
                <a:tableStyleId>{BF136021-7255-42B7-A7E7-87A8D8FFE9CA}</a:tableStyleId>
              </a:tblPr>
              <a:tblGrid>
                <a:gridCol w="5311878">
                  <a:extLst>
                    <a:ext uri="{9D8B030D-6E8A-4147-A177-3AD203B41FA5}">
                      <a16:colId xmlns:a16="http://schemas.microsoft.com/office/drawing/2014/main" val="20000"/>
                    </a:ext>
                  </a:extLst>
                </a:gridCol>
              </a:tblGrid>
              <a:tr h="3310967">
                <a:tc>
                  <a:txBody>
                    <a:bodyPr/>
                    <a:lstStyle/>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@ApplicationScoped</a:t>
                      </a:r>
                    </a:p>
                    <a:p>
                      <a:pPr marL="0" lvl="0" indent="0" algn="l" rtl="0">
                        <a:lnSpc>
                          <a:spcPct val="120000"/>
                        </a:lnSpc>
                        <a:spcBef>
                          <a:spcPts val="0"/>
                        </a:spcBef>
                        <a:spcAft>
                          <a:spcPts val="0"/>
                        </a:spcAft>
                        <a:buNone/>
                      </a:pPr>
                      <a:r>
                        <a:rPr lang="es-EC" sz="1050" dirty="0" err="1">
                          <a:solidFill>
                            <a:srgbClr val="4F81BD"/>
                          </a:solidFill>
                          <a:latin typeface="Calibri"/>
                          <a:ea typeface="Calibri"/>
                          <a:cs typeface="Calibri"/>
                          <a:sym typeface="Calibri"/>
                        </a:rPr>
                        <a:t>public</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class</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AutenticacionServicio</a:t>
                      </a:r>
                      <a:r>
                        <a:rPr lang="es-EC" sz="105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C" sz="105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@Inject</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private</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ClienteRest</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clienteRest</a:t>
                      </a:r>
                      <a:r>
                        <a:rPr lang="es-EC" sz="105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endParaRPr lang="es-EC" sz="105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public</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String</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login</a:t>
                      </a:r>
                      <a:r>
                        <a:rPr lang="es-EC" sz="1050" dirty="0">
                          <a:solidFill>
                            <a:srgbClr val="4F81BD"/>
                          </a:solidFill>
                          <a:latin typeface="Calibri"/>
                          <a:ea typeface="Calibri"/>
                          <a:cs typeface="Calibri"/>
                          <a:sym typeface="Calibri"/>
                        </a:rPr>
                        <a:t>(</a:t>
                      </a:r>
                      <a:r>
                        <a:rPr lang="es-EC" sz="1050" dirty="0" err="1">
                          <a:solidFill>
                            <a:srgbClr val="4F81BD"/>
                          </a:solidFill>
                          <a:latin typeface="Calibri"/>
                          <a:ea typeface="Calibri"/>
                          <a:cs typeface="Calibri"/>
                          <a:sym typeface="Calibri"/>
                        </a:rPr>
                        <a:t>String</a:t>
                      </a:r>
                      <a:r>
                        <a:rPr lang="es-EC" sz="1050" dirty="0">
                          <a:solidFill>
                            <a:srgbClr val="4F81BD"/>
                          </a:solidFill>
                          <a:latin typeface="Calibri"/>
                          <a:ea typeface="Calibri"/>
                          <a:cs typeface="Calibri"/>
                          <a:sym typeface="Calibri"/>
                        </a:rPr>
                        <a:t> usuario, </a:t>
                      </a:r>
                      <a:r>
                        <a:rPr lang="es-EC" sz="1050" dirty="0" err="1">
                          <a:solidFill>
                            <a:srgbClr val="4F81BD"/>
                          </a:solidFill>
                          <a:latin typeface="Calibri"/>
                          <a:ea typeface="Calibri"/>
                          <a:cs typeface="Calibri"/>
                          <a:sym typeface="Calibri"/>
                        </a:rPr>
                        <a:t>String</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contrasenia</a:t>
                      </a:r>
                      <a:r>
                        <a:rPr lang="es-EC" sz="105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var</a:t>
                      </a:r>
                      <a:r>
                        <a:rPr lang="es-EC" sz="1050" dirty="0">
                          <a:solidFill>
                            <a:srgbClr val="4F81BD"/>
                          </a:solidFill>
                          <a:latin typeface="Calibri"/>
                          <a:ea typeface="Calibri"/>
                          <a:cs typeface="Calibri"/>
                          <a:sym typeface="Calibri"/>
                        </a:rPr>
                        <a:t> solicitud = </a:t>
                      </a:r>
                      <a:r>
                        <a:rPr lang="es-EC" sz="1050" dirty="0" err="1">
                          <a:solidFill>
                            <a:srgbClr val="4F81BD"/>
                          </a:solidFill>
                          <a:latin typeface="Calibri"/>
                          <a:ea typeface="Calibri"/>
                          <a:cs typeface="Calibri"/>
                          <a:sym typeface="Calibri"/>
                        </a:rPr>
                        <a:t>Json.createObjectBuilder</a:t>
                      </a:r>
                      <a:r>
                        <a:rPr lang="es-EC" sz="105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add</a:t>
                      </a:r>
                      <a:r>
                        <a:rPr lang="es-EC" sz="1050" dirty="0">
                          <a:solidFill>
                            <a:srgbClr val="4F81BD"/>
                          </a:solidFill>
                          <a:latin typeface="Calibri"/>
                          <a:ea typeface="Calibri"/>
                          <a:cs typeface="Calibri"/>
                          <a:sym typeface="Calibri"/>
                        </a:rPr>
                        <a:t>("usuario", usuario)</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add</a:t>
                      </a:r>
                      <a:r>
                        <a:rPr lang="es-EC" sz="1050" dirty="0">
                          <a:solidFill>
                            <a:srgbClr val="4F81BD"/>
                          </a:solidFill>
                          <a:latin typeface="Calibri"/>
                          <a:ea typeface="Calibri"/>
                          <a:cs typeface="Calibri"/>
                          <a:sym typeface="Calibri"/>
                        </a:rPr>
                        <a:t>("</a:t>
                      </a:r>
                      <a:r>
                        <a:rPr lang="es-EC" sz="1050" dirty="0" err="1">
                          <a:solidFill>
                            <a:srgbClr val="4F81BD"/>
                          </a:solidFill>
                          <a:latin typeface="Calibri"/>
                          <a:ea typeface="Calibri"/>
                          <a:cs typeface="Calibri"/>
                          <a:sym typeface="Calibri"/>
                        </a:rPr>
                        <a:t>contrasena</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contrasenia</a:t>
                      </a:r>
                      <a:r>
                        <a:rPr lang="es-EC" sz="105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build</a:t>
                      </a:r>
                      <a:r>
                        <a:rPr lang="es-EC" sz="105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String</a:t>
                      </a:r>
                      <a:r>
                        <a:rPr lang="es-EC" sz="1050" dirty="0">
                          <a:solidFill>
                            <a:srgbClr val="4F81BD"/>
                          </a:solidFill>
                          <a:latin typeface="Calibri"/>
                          <a:ea typeface="Calibri"/>
                          <a:cs typeface="Calibri"/>
                          <a:sym typeface="Calibri"/>
                        </a:rPr>
                        <a:t> token = </a:t>
                      </a:r>
                      <a:r>
                        <a:rPr lang="es-EC" sz="1050" dirty="0" err="1">
                          <a:solidFill>
                            <a:srgbClr val="4F81BD"/>
                          </a:solidFill>
                          <a:latin typeface="Calibri"/>
                          <a:ea typeface="Calibri"/>
                          <a:cs typeface="Calibri"/>
                          <a:sym typeface="Calibri"/>
                        </a:rPr>
                        <a:t>clienteRest.post</a:t>
                      </a:r>
                      <a:r>
                        <a:rPr lang="es-EC" sz="1050" dirty="0">
                          <a:solidFill>
                            <a:srgbClr val="4F81BD"/>
                          </a:solidFill>
                          <a:latin typeface="Calibri"/>
                          <a:ea typeface="Calibri"/>
                          <a:cs typeface="Calibri"/>
                          <a:sym typeface="Calibri"/>
                        </a:rPr>
                        <a:t>("/</a:t>
                      </a:r>
                      <a:r>
                        <a:rPr lang="es-EC" sz="1050" dirty="0" err="1">
                          <a:solidFill>
                            <a:srgbClr val="4F81BD"/>
                          </a:solidFill>
                          <a:latin typeface="Calibri"/>
                          <a:ea typeface="Calibri"/>
                          <a:cs typeface="Calibri"/>
                          <a:sym typeface="Calibri"/>
                        </a:rPr>
                        <a:t>autenticacion</a:t>
                      </a:r>
                      <a:r>
                        <a:rPr lang="es-EC" sz="1050" dirty="0">
                          <a:solidFill>
                            <a:srgbClr val="4F81BD"/>
                          </a:solidFill>
                          <a:latin typeface="Calibri"/>
                          <a:ea typeface="Calibri"/>
                          <a:cs typeface="Calibri"/>
                          <a:sym typeface="Calibri"/>
                        </a:rPr>
                        <a:t>/iniciar-</a:t>
                      </a:r>
                      <a:r>
                        <a:rPr lang="es-EC" sz="1050" dirty="0" err="1">
                          <a:solidFill>
                            <a:srgbClr val="4F81BD"/>
                          </a:solidFill>
                          <a:latin typeface="Calibri"/>
                          <a:ea typeface="Calibri"/>
                          <a:cs typeface="Calibri"/>
                          <a:sym typeface="Calibri"/>
                        </a:rPr>
                        <a:t>sesion</a:t>
                      </a:r>
                      <a:r>
                        <a:rPr lang="es-EC" sz="1050" dirty="0">
                          <a:solidFill>
                            <a:srgbClr val="4F81BD"/>
                          </a:solidFill>
                          <a:latin typeface="Calibri"/>
                          <a:ea typeface="Calibri"/>
                          <a:cs typeface="Calibri"/>
                          <a:sym typeface="Calibri"/>
                        </a:rPr>
                        <a:t>", solicitud, </a:t>
                      </a:r>
                      <a:r>
                        <a:rPr lang="es-EC" sz="1050" dirty="0" err="1">
                          <a:solidFill>
                            <a:srgbClr val="4F81BD"/>
                          </a:solidFill>
                          <a:latin typeface="Calibri"/>
                          <a:ea typeface="Calibri"/>
                          <a:cs typeface="Calibri"/>
                          <a:sym typeface="Calibri"/>
                        </a:rPr>
                        <a:t>null</a:t>
                      </a:r>
                      <a:r>
                        <a:rPr lang="es-EC" sz="105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getString</a:t>
                      </a:r>
                      <a:r>
                        <a:rPr lang="es-EC" sz="1050" dirty="0">
                          <a:solidFill>
                            <a:srgbClr val="4F81BD"/>
                          </a:solidFill>
                          <a:latin typeface="Calibri"/>
                          <a:ea typeface="Calibri"/>
                          <a:cs typeface="Calibri"/>
                          <a:sym typeface="Calibri"/>
                        </a:rPr>
                        <a:t>("token", "");</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if</a:t>
                      </a: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token.isBlank</a:t>
                      </a:r>
                      <a:r>
                        <a:rPr lang="es-EC" sz="105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throw</a:t>
                      </a:r>
                      <a:r>
                        <a:rPr lang="es-EC" sz="1050" dirty="0">
                          <a:solidFill>
                            <a:srgbClr val="4F81BD"/>
                          </a:solidFill>
                          <a:latin typeface="Calibri"/>
                          <a:ea typeface="Calibri"/>
                          <a:cs typeface="Calibri"/>
                          <a:sym typeface="Calibri"/>
                        </a:rPr>
                        <a:t> new </a:t>
                      </a:r>
                      <a:r>
                        <a:rPr lang="es-EC" sz="1050" dirty="0" err="1">
                          <a:solidFill>
                            <a:srgbClr val="4F81BD"/>
                          </a:solidFill>
                          <a:latin typeface="Calibri"/>
                          <a:ea typeface="Calibri"/>
                          <a:cs typeface="Calibri"/>
                          <a:sym typeface="Calibri"/>
                        </a:rPr>
                        <a:t>ApiRestException</a:t>
                      </a:r>
                      <a:r>
                        <a:rPr lang="es-EC" sz="1050" dirty="0">
                          <a:solidFill>
                            <a:srgbClr val="4F81BD"/>
                          </a:solidFill>
                          <a:latin typeface="Calibri"/>
                          <a:ea typeface="Calibri"/>
                          <a:cs typeface="Calibri"/>
                          <a:sym typeface="Calibri"/>
                        </a:rPr>
                        <a:t>("El servidor no devolvió un token de sesión.");</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r>
                        <a:rPr lang="es-EC" sz="1050" dirty="0" err="1">
                          <a:solidFill>
                            <a:srgbClr val="4F81BD"/>
                          </a:solidFill>
                          <a:latin typeface="Calibri"/>
                          <a:ea typeface="Calibri"/>
                          <a:cs typeface="Calibri"/>
                          <a:sym typeface="Calibri"/>
                        </a:rPr>
                        <a:t>return</a:t>
                      </a:r>
                      <a:r>
                        <a:rPr lang="es-EC" sz="1050" dirty="0">
                          <a:solidFill>
                            <a:srgbClr val="4F81BD"/>
                          </a:solidFill>
                          <a:latin typeface="Calibri"/>
                          <a:ea typeface="Calibri"/>
                          <a:cs typeface="Calibri"/>
                          <a:sym typeface="Calibri"/>
                        </a:rPr>
                        <a:t> token;</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C" sz="1050" dirty="0">
                          <a:solidFill>
                            <a:srgbClr val="4F81BD"/>
                          </a:solidFill>
                          <a:latin typeface="Calibri"/>
                          <a:ea typeface="Calibri"/>
                          <a:cs typeface="Calibri"/>
                          <a:sym typeface="Calibri"/>
                        </a:rPr>
                        <a:t>}</a:t>
                      </a:r>
                    </a:p>
                  </a:txBody>
                  <a:tcPr marL="63500" marR="63500" marT="63500" marB="63500"/>
                </a:tc>
                <a:extLst>
                  <a:ext uri="{0D108BD9-81ED-4DB2-BD59-A6C34878D82A}">
                    <a16:rowId xmlns:a16="http://schemas.microsoft.com/office/drawing/2014/main" val="10000"/>
                  </a:ext>
                </a:extLst>
              </a:tr>
            </a:tbl>
          </a:graphicData>
        </a:graphic>
      </p:graphicFrame>
      <p:sp>
        <p:nvSpPr>
          <p:cNvPr id="4" name="Google Shape;319;p40">
            <a:extLst>
              <a:ext uri="{FF2B5EF4-FFF2-40B4-BE49-F238E27FC236}">
                <a16:creationId xmlns:a16="http://schemas.microsoft.com/office/drawing/2014/main" id="{BE968C85-F64A-23C5-DD96-F0424BDCA403}"/>
              </a:ext>
            </a:extLst>
          </p:cNvPr>
          <p:cNvSpPr txBox="1">
            <a:spLocks/>
          </p:cNvSpPr>
          <p:nvPr/>
        </p:nvSpPr>
        <p:spPr>
          <a:xfrm>
            <a:off x="-1" y="1837551"/>
            <a:ext cx="1940435" cy="4447919"/>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indent="-327406">
              <a:lnSpc>
                <a:spcPct val="150000"/>
              </a:lnSpc>
              <a:spcBef>
                <a:spcPts val="0"/>
              </a:spcBef>
              <a:buSzPts val="1556"/>
              <a:buFont typeface="Noto Sans Symbols"/>
              <a:buChar char="∙"/>
            </a:pPr>
            <a:r>
              <a:rPr lang="es-MX" sz="1400" dirty="0">
                <a:solidFill>
                  <a:schemeClr val="dk1"/>
                </a:solidFill>
                <a:latin typeface="Calibri"/>
                <a:ea typeface="Calibri"/>
                <a:cs typeface="Calibri"/>
                <a:sym typeface="Calibri"/>
              </a:rPr>
              <a:t>A continuación se detallarán las clases principales con su código fuente.</a:t>
            </a:r>
          </a:p>
          <a:p>
            <a:pPr indent="-304800" algn="just">
              <a:lnSpc>
                <a:spcPct val="107000"/>
              </a:lnSpc>
              <a:spcBef>
                <a:spcPts val="0"/>
              </a:spcBef>
              <a:buSzPts val="1200"/>
              <a:buFont typeface="Cambria"/>
              <a:buChar char="∙"/>
            </a:pPr>
            <a:endParaRPr lang="es-MX" sz="1400" dirty="0">
              <a:latin typeface="Cambria"/>
              <a:ea typeface="Cambria"/>
              <a:cs typeface="Cambria"/>
              <a:sym typeface="Cambri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08"/>
        <p:cNvGrpSpPr/>
        <p:nvPr/>
      </p:nvGrpSpPr>
      <p:grpSpPr>
        <a:xfrm>
          <a:off x="0" y="0"/>
          <a:ext cx="0" cy="0"/>
          <a:chOff x="0" y="0"/>
          <a:chExt cx="0" cy="0"/>
        </a:xfrm>
      </p:grpSpPr>
      <p:sp>
        <p:nvSpPr>
          <p:cNvPr id="609" name="Google Shape;609;p75"/>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10" name="Google Shape;610;p75"/>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WEB</a:t>
            </a:r>
            <a:endParaRPr dirty="0">
              <a:solidFill>
                <a:srgbClr val="FFFF00"/>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graphicFrame>
        <p:nvGraphicFramePr>
          <p:cNvPr id="612" name="Google Shape;612;p75"/>
          <p:cNvGraphicFramePr/>
          <p:nvPr>
            <p:extLst>
              <p:ext uri="{D42A27DB-BD31-4B8C-83A1-F6EECF244321}">
                <p14:modId xmlns:p14="http://schemas.microsoft.com/office/powerpoint/2010/main" val="1570056416"/>
              </p:ext>
            </p:extLst>
          </p:nvPr>
        </p:nvGraphicFramePr>
        <p:xfrm>
          <a:off x="2332825" y="1795025"/>
          <a:ext cx="6484300" cy="4945317"/>
        </p:xfrm>
        <a:graphic>
          <a:graphicData uri="http://schemas.openxmlformats.org/drawingml/2006/table">
            <a:tbl>
              <a:tblPr>
                <a:noFill/>
                <a:tableStyleId>{BF136021-7255-42B7-A7E7-87A8D8FFE9CA}</a:tableStyleId>
              </a:tblPr>
              <a:tblGrid>
                <a:gridCol w="6484300">
                  <a:extLst>
                    <a:ext uri="{9D8B030D-6E8A-4147-A177-3AD203B41FA5}">
                      <a16:colId xmlns:a16="http://schemas.microsoft.com/office/drawing/2014/main" val="20000"/>
                    </a:ext>
                  </a:extLst>
                </a:gridCol>
              </a:tblGrid>
              <a:tr h="4465025">
                <a:tc>
                  <a:txBody>
                    <a:bodyPr/>
                    <a:lstStyle/>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@ApplicationScoped</a:t>
                      </a:r>
                    </a:p>
                    <a:p>
                      <a:pPr marL="0" lvl="0" indent="0" algn="l" rtl="0">
                        <a:lnSpc>
                          <a:spcPct val="120000"/>
                        </a:lnSpc>
                        <a:spcBef>
                          <a:spcPts val="0"/>
                        </a:spcBef>
                        <a:spcAft>
                          <a:spcPts val="0"/>
                        </a:spcAft>
                        <a:buNone/>
                      </a:pP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class</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ConversorServicio</a:t>
                      </a:r>
                      <a:r>
                        <a:rPr lang="es-ES" sz="8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@Inject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ClienteRest</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clienteRest</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ResultadoConversion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convertirLongitud</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token, </a:t>
                      </a:r>
                      <a:r>
                        <a:rPr lang="es-ES" sz="800" dirty="0" err="1">
                          <a:solidFill>
                            <a:srgbClr val="4F81BD"/>
                          </a:solidFill>
                          <a:latin typeface="Calibri"/>
                          <a:ea typeface="Calibri"/>
                          <a:cs typeface="Calibri"/>
                          <a:sym typeface="Calibri"/>
                        </a:rPr>
                        <a:t>double</a:t>
                      </a:r>
                      <a:r>
                        <a:rPr lang="es-ES" sz="800" dirty="0">
                          <a:solidFill>
                            <a:srgbClr val="4F81BD"/>
                          </a:solidFill>
                          <a:latin typeface="Calibri"/>
                          <a:ea typeface="Calibri"/>
                          <a:cs typeface="Calibri"/>
                          <a:sym typeface="Calibri"/>
                        </a:rPr>
                        <a:t> valor,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origen,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destino) {</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convertir("/</a:t>
                      </a:r>
                      <a:r>
                        <a:rPr lang="es-ES" sz="800" dirty="0" err="1">
                          <a:solidFill>
                            <a:srgbClr val="4F81BD"/>
                          </a:solidFill>
                          <a:latin typeface="Calibri"/>
                          <a:ea typeface="Calibri"/>
                          <a:cs typeface="Calibri"/>
                          <a:sym typeface="Calibri"/>
                        </a:rPr>
                        <a:t>conversion</a:t>
                      </a:r>
                      <a:r>
                        <a:rPr lang="es-ES" sz="800" dirty="0">
                          <a:solidFill>
                            <a:srgbClr val="4F81BD"/>
                          </a:solidFill>
                          <a:latin typeface="Calibri"/>
                          <a:ea typeface="Calibri"/>
                          <a:cs typeface="Calibri"/>
                          <a:sym typeface="Calibri"/>
                        </a:rPr>
                        <a:t>/longitud", token, valor, origen, destino);</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ResultadoConversion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convertirMasa</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token, </a:t>
                      </a:r>
                      <a:r>
                        <a:rPr lang="es-ES" sz="800" dirty="0" err="1">
                          <a:solidFill>
                            <a:srgbClr val="4F81BD"/>
                          </a:solidFill>
                          <a:latin typeface="Calibri"/>
                          <a:ea typeface="Calibri"/>
                          <a:cs typeface="Calibri"/>
                          <a:sym typeface="Calibri"/>
                        </a:rPr>
                        <a:t>double</a:t>
                      </a:r>
                      <a:r>
                        <a:rPr lang="es-ES" sz="800" dirty="0">
                          <a:solidFill>
                            <a:srgbClr val="4F81BD"/>
                          </a:solidFill>
                          <a:latin typeface="Calibri"/>
                          <a:ea typeface="Calibri"/>
                          <a:cs typeface="Calibri"/>
                          <a:sym typeface="Calibri"/>
                        </a:rPr>
                        <a:t> valor,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origen,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destino) {</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convertir("/</a:t>
                      </a:r>
                      <a:r>
                        <a:rPr lang="es-ES" sz="800" dirty="0" err="1">
                          <a:solidFill>
                            <a:srgbClr val="4F81BD"/>
                          </a:solidFill>
                          <a:latin typeface="Calibri"/>
                          <a:ea typeface="Calibri"/>
                          <a:cs typeface="Calibri"/>
                          <a:sym typeface="Calibri"/>
                        </a:rPr>
                        <a:t>conversion</a:t>
                      </a:r>
                      <a:r>
                        <a:rPr lang="es-ES" sz="800" dirty="0">
                          <a:solidFill>
                            <a:srgbClr val="4F81BD"/>
                          </a:solidFill>
                          <a:latin typeface="Calibri"/>
                          <a:ea typeface="Calibri"/>
                          <a:cs typeface="Calibri"/>
                          <a:sym typeface="Calibri"/>
                        </a:rPr>
                        <a:t>/masa", token, valor, origen, destino);</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public</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ResultadoConversion</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convertirTemperatura</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token, </a:t>
                      </a:r>
                      <a:r>
                        <a:rPr lang="es-ES" sz="800" dirty="0" err="1">
                          <a:solidFill>
                            <a:srgbClr val="4F81BD"/>
                          </a:solidFill>
                          <a:latin typeface="Calibri"/>
                          <a:ea typeface="Calibri"/>
                          <a:cs typeface="Calibri"/>
                          <a:sym typeface="Calibri"/>
                        </a:rPr>
                        <a:t>double</a:t>
                      </a:r>
                      <a:r>
                        <a:rPr lang="es-ES" sz="800" dirty="0">
                          <a:solidFill>
                            <a:srgbClr val="4F81BD"/>
                          </a:solidFill>
                          <a:latin typeface="Calibri"/>
                          <a:ea typeface="Calibri"/>
                          <a:cs typeface="Calibri"/>
                          <a:sym typeface="Calibri"/>
                        </a:rPr>
                        <a:t> valor,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origen,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destino) {</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convertir("/</a:t>
                      </a:r>
                      <a:r>
                        <a:rPr lang="es-ES" sz="800" dirty="0" err="1">
                          <a:solidFill>
                            <a:srgbClr val="4F81BD"/>
                          </a:solidFill>
                          <a:latin typeface="Calibri"/>
                          <a:ea typeface="Calibri"/>
                          <a:cs typeface="Calibri"/>
                          <a:sym typeface="Calibri"/>
                        </a:rPr>
                        <a:t>conversion</a:t>
                      </a:r>
                      <a:r>
                        <a:rPr lang="es-ES" sz="800" dirty="0">
                          <a:solidFill>
                            <a:srgbClr val="4F81BD"/>
                          </a:solidFill>
                          <a:latin typeface="Calibri"/>
                          <a:ea typeface="Calibri"/>
                          <a:cs typeface="Calibri"/>
                          <a:sym typeface="Calibri"/>
                        </a:rPr>
                        <a:t>/temperatura", token, valor, origen, destino);</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S" sz="8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private</a:t>
                      </a: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ResultadoConversion</a:t>
                      </a:r>
                      <a:r>
                        <a:rPr lang="es-ES" sz="800" dirty="0">
                          <a:solidFill>
                            <a:srgbClr val="4F81BD"/>
                          </a:solidFill>
                          <a:latin typeface="Calibri"/>
                          <a:ea typeface="Calibri"/>
                          <a:cs typeface="Calibri"/>
                          <a:sym typeface="Calibri"/>
                        </a:rPr>
                        <a:t> convertir(</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ruta,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token, </a:t>
                      </a:r>
                      <a:r>
                        <a:rPr lang="es-ES" sz="800" dirty="0" err="1">
                          <a:solidFill>
                            <a:srgbClr val="4F81BD"/>
                          </a:solidFill>
                          <a:latin typeface="Calibri"/>
                          <a:ea typeface="Calibri"/>
                          <a:cs typeface="Calibri"/>
                          <a:sym typeface="Calibri"/>
                        </a:rPr>
                        <a:t>double</a:t>
                      </a:r>
                      <a:r>
                        <a:rPr lang="es-ES" sz="800" dirty="0">
                          <a:solidFill>
                            <a:srgbClr val="4F81BD"/>
                          </a:solidFill>
                          <a:latin typeface="Calibri"/>
                          <a:ea typeface="Calibri"/>
                          <a:cs typeface="Calibri"/>
                          <a:sym typeface="Calibri"/>
                        </a:rPr>
                        <a:t> valor,</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origen, </a:t>
                      </a:r>
                      <a:r>
                        <a:rPr lang="es-ES" sz="800" dirty="0" err="1">
                          <a:solidFill>
                            <a:srgbClr val="4F81BD"/>
                          </a:solidFill>
                          <a:latin typeface="Calibri"/>
                          <a:ea typeface="Calibri"/>
                          <a:cs typeface="Calibri"/>
                          <a:sym typeface="Calibri"/>
                        </a:rPr>
                        <a:t>String</a:t>
                      </a:r>
                      <a:r>
                        <a:rPr lang="es-ES" sz="800" dirty="0">
                          <a:solidFill>
                            <a:srgbClr val="4F81BD"/>
                          </a:solidFill>
                          <a:latin typeface="Calibri"/>
                          <a:ea typeface="Calibri"/>
                          <a:cs typeface="Calibri"/>
                          <a:sym typeface="Calibri"/>
                        </a:rPr>
                        <a:t> destino) {</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JsonObject</a:t>
                      </a:r>
                      <a:r>
                        <a:rPr lang="es-ES" sz="800" dirty="0">
                          <a:solidFill>
                            <a:srgbClr val="4F81BD"/>
                          </a:solidFill>
                          <a:latin typeface="Calibri"/>
                          <a:ea typeface="Calibri"/>
                          <a:cs typeface="Calibri"/>
                          <a:sym typeface="Calibri"/>
                        </a:rPr>
                        <a:t> solicitud = </a:t>
                      </a:r>
                      <a:r>
                        <a:rPr lang="es-ES" sz="800" dirty="0" err="1">
                          <a:solidFill>
                            <a:srgbClr val="4F81BD"/>
                          </a:solidFill>
                          <a:latin typeface="Calibri"/>
                          <a:ea typeface="Calibri"/>
                          <a:cs typeface="Calibri"/>
                          <a:sym typeface="Calibri"/>
                        </a:rPr>
                        <a:t>Json.createObjectBuilder</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add</a:t>
                      </a:r>
                      <a:r>
                        <a:rPr lang="es-ES" sz="800" dirty="0">
                          <a:solidFill>
                            <a:srgbClr val="4F81BD"/>
                          </a:solidFill>
                          <a:latin typeface="Calibri"/>
                          <a:ea typeface="Calibri"/>
                          <a:cs typeface="Calibri"/>
                          <a:sym typeface="Calibri"/>
                        </a:rPr>
                        <a:t>("valor", valor)</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add</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unidadOrigen</a:t>
                      </a:r>
                      <a:r>
                        <a:rPr lang="es-ES" sz="800" dirty="0">
                          <a:solidFill>
                            <a:srgbClr val="4F81BD"/>
                          </a:solidFill>
                          <a:latin typeface="Calibri"/>
                          <a:ea typeface="Calibri"/>
                          <a:cs typeface="Calibri"/>
                          <a:sym typeface="Calibri"/>
                        </a:rPr>
                        <a:t>", origen)</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add</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unidadDestino</a:t>
                      </a:r>
                      <a:r>
                        <a:rPr lang="es-ES" sz="800" dirty="0">
                          <a:solidFill>
                            <a:srgbClr val="4F81BD"/>
                          </a:solidFill>
                          <a:latin typeface="Calibri"/>
                          <a:ea typeface="Calibri"/>
                          <a:cs typeface="Calibri"/>
                          <a:sym typeface="Calibri"/>
                        </a:rPr>
                        <a:t>", destino)</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build</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JsonObject</a:t>
                      </a:r>
                      <a:r>
                        <a:rPr lang="es-ES" sz="800" dirty="0">
                          <a:solidFill>
                            <a:srgbClr val="4F81BD"/>
                          </a:solidFill>
                          <a:latin typeface="Calibri"/>
                          <a:ea typeface="Calibri"/>
                          <a:cs typeface="Calibri"/>
                          <a:sym typeface="Calibri"/>
                        </a:rPr>
                        <a:t> respuesta = </a:t>
                      </a:r>
                      <a:r>
                        <a:rPr lang="es-ES" sz="800" dirty="0" err="1">
                          <a:solidFill>
                            <a:srgbClr val="4F81BD"/>
                          </a:solidFill>
                          <a:latin typeface="Calibri"/>
                          <a:ea typeface="Calibri"/>
                          <a:cs typeface="Calibri"/>
                          <a:sym typeface="Calibri"/>
                        </a:rPr>
                        <a:t>clienteRest.post</a:t>
                      </a:r>
                      <a:r>
                        <a:rPr lang="es-ES" sz="800" dirty="0">
                          <a:solidFill>
                            <a:srgbClr val="4F81BD"/>
                          </a:solidFill>
                          <a:latin typeface="Calibri"/>
                          <a:ea typeface="Calibri"/>
                          <a:cs typeface="Calibri"/>
                          <a:sym typeface="Calibri"/>
                        </a:rPr>
                        <a:t>(ruta, solicitud, token);</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return</a:t>
                      </a:r>
                      <a:r>
                        <a:rPr lang="es-ES" sz="800" dirty="0">
                          <a:solidFill>
                            <a:srgbClr val="4F81BD"/>
                          </a:solidFill>
                          <a:latin typeface="Calibri"/>
                          <a:ea typeface="Calibri"/>
                          <a:cs typeface="Calibri"/>
                          <a:sym typeface="Calibri"/>
                        </a:rPr>
                        <a:t> new </a:t>
                      </a:r>
                      <a:r>
                        <a:rPr lang="es-ES" sz="800" dirty="0" err="1">
                          <a:solidFill>
                            <a:srgbClr val="4F81BD"/>
                          </a:solidFill>
                          <a:latin typeface="Calibri"/>
                          <a:ea typeface="Calibri"/>
                          <a:cs typeface="Calibri"/>
                          <a:sym typeface="Calibri"/>
                        </a:rPr>
                        <a:t>ResultadoConversion</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respuesta.getJsonNumber</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valorOriginal</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doubleValue</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respuesta.getJsonNumber</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valorConvertido</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doubleValue</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respuesta.getString</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unidadOrigen</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r>
                        <a:rPr lang="es-ES" sz="800" dirty="0" err="1">
                          <a:solidFill>
                            <a:srgbClr val="4F81BD"/>
                          </a:solidFill>
                          <a:latin typeface="Calibri"/>
                          <a:ea typeface="Calibri"/>
                          <a:cs typeface="Calibri"/>
                          <a:sym typeface="Calibri"/>
                        </a:rPr>
                        <a:t>respuesta.getString</a:t>
                      </a:r>
                      <a:r>
                        <a:rPr lang="es-ES" sz="800" dirty="0">
                          <a:solidFill>
                            <a:srgbClr val="4F81BD"/>
                          </a:solidFill>
                          <a:latin typeface="Calibri"/>
                          <a:ea typeface="Calibri"/>
                          <a:cs typeface="Calibri"/>
                          <a:sym typeface="Calibri"/>
                        </a:rPr>
                        <a:t>("</a:t>
                      </a:r>
                      <a:r>
                        <a:rPr lang="es-ES" sz="800" dirty="0" err="1">
                          <a:solidFill>
                            <a:srgbClr val="4F81BD"/>
                          </a:solidFill>
                          <a:latin typeface="Calibri"/>
                          <a:ea typeface="Calibri"/>
                          <a:cs typeface="Calibri"/>
                          <a:sym typeface="Calibri"/>
                        </a:rPr>
                        <a:t>unidadDestino</a:t>
                      </a:r>
                      <a:r>
                        <a:rPr lang="es-ES" sz="8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800" dirty="0">
                          <a:solidFill>
                            <a:srgbClr val="4F81BD"/>
                          </a:solidFill>
                          <a:latin typeface="Calibri"/>
                          <a:ea typeface="Calibri"/>
                          <a:cs typeface="Calibri"/>
                          <a:sym typeface="Calibri"/>
                        </a:rPr>
                        <a:t>}</a:t>
                      </a:r>
                    </a:p>
                  </a:txBody>
                  <a:tcPr marL="63500" marR="63500" marT="63500" marB="63500"/>
                </a:tc>
                <a:extLst>
                  <a:ext uri="{0D108BD9-81ED-4DB2-BD59-A6C34878D82A}">
                    <a16:rowId xmlns:a16="http://schemas.microsoft.com/office/drawing/2014/main" val="10000"/>
                  </a:ext>
                </a:extLst>
              </a:tr>
            </a:tbl>
          </a:graphicData>
        </a:graphic>
      </p:graphicFrame>
      <p:sp>
        <p:nvSpPr>
          <p:cNvPr id="4" name="Google Shape;319;p40">
            <a:extLst>
              <a:ext uri="{FF2B5EF4-FFF2-40B4-BE49-F238E27FC236}">
                <a16:creationId xmlns:a16="http://schemas.microsoft.com/office/drawing/2014/main" id="{AE6B9AB3-AC2B-4910-2D8C-D489EE42B92A}"/>
              </a:ext>
            </a:extLst>
          </p:cNvPr>
          <p:cNvSpPr txBox="1">
            <a:spLocks/>
          </p:cNvSpPr>
          <p:nvPr/>
        </p:nvSpPr>
        <p:spPr>
          <a:xfrm>
            <a:off x="-1" y="1837551"/>
            <a:ext cx="1940435" cy="4447919"/>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indent="-327406">
              <a:lnSpc>
                <a:spcPct val="150000"/>
              </a:lnSpc>
              <a:spcBef>
                <a:spcPts val="0"/>
              </a:spcBef>
              <a:buSzPts val="1556"/>
              <a:buFont typeface="Noto Sans Symbols"/>
              <a:buChar char="∙"/>
            </a:pPr>
            <a:r>
              <a:rPr lang="es-MX" sz="1400">
                <a:solidFill>
                  <a:schemeClr val="dk1"/>
                </a:solidFill>
                <a:latin typeface="Calibri"/>
                <a:ea typeface="Calibri"/>
                <a:cs typeface="Calibri"/>
                <a:sym typeface="Calibri"/>
              </a:rPr>
              <a:t>A continuación se detallarán las clases principales con su código fuente.</a:t>
            </a:r>
          </a:p>
          <a:p>
            <a:pPr indent="-304800" algn="just">
              <a:lnSpc>
                <a:spcPct val="107000"/>
              </a:lnSpc>
              <a:spcBef>
                <a:spcPts val="0"/>
              </a:spcBef>
              <a:buSzPts val="1200"/>
              <a:buFont typeface="Cambria"/>
              <a:buChar char="∙"/>
            </a:pPr>
            <a:endParaRPr lang="es-MX" sz="1400" dirty="0">
              <a:latin typeface="Cambria"/>
              <a:ea typeface="Cambria"/>
              <a:cs typeface="Cambria"/>
              <a:sym typeface="Cambri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sp>
        <p:nvSpPr>
          <p:cNvPr id="617" name="Google Shape;617;p7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18" name="Google Shape;618;p76"/>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400"/>
              <a:buFont typeface="Arial"/>
              <a:buNone/>
            </a:pP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WEB</a:t>
            </a:r>
            <a:endParaRPr dirty="0">
              <a:solidFill>
                <a:srgbClr val="FFFF00"/>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620" name="Google Shape;620;p76"/>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a:solidFill>
                  <a:srgbClr val="3D3D3D"/>
                </a:solidFill>
                <a:latin typeface="Cambria"/>
                <a:ea typeface="Cambria"/>
                <a:cs typeface="Cambria"/>
                <a:sym typeface="Cambria"/>
              </a:rPr>
              <a:t>Vista login</a:t>
            </a:r>
            <a:endParaRPr sz="2000" b="0" i="0" u="none" strike="noStrike" cap="none">
              <a:solidFill>
                <a:srgbClr val="3D3D3D"/>
              </a:solidFill>
              <a:latin typeface="Cambria"/>
              <a:ea typeface="Cambria"/>
              <a:cs typeface="Cambria"/>
              <a:sym typeface="Cambria"/>
            </a:endParaRPr>
          </a:p>
        </p:txBody>
      </p:sp>
      <p:pic>
        <p:nvPicPr>
          <p:cNvPr id="4" name="Picture 3">
            <a:extLst>
              <a:ext uri="{FF2B5EF4-FFF2-40B4-BE49-F238E27FC236}">
                <a16:creationId xmlns:a16="http://schemas.microsoft.com/office/drawing/2014/main" id="{92F20044-75C3-6075-556F-854CF28D1C30}"/>
              </a:ext>
            </a:extLst>
          </p:cNvPr>
          <p:cNvPicPr>
            <a:picLocks noChangeAspect="1"/>
          </p:cNvPicPr>
          <p:nvPr/>
        </p:nvPicPr>
        <p:blipFill>
          <a:blip r:embed="rId3"/>
          <a:stretch>
            <a:fillRect/>
          </a:stretch>
        </p:blipFill>
        <p:spPr>
          <a:xfrm>
            <a:off x="1205566" y="2550809"/>
            <a:ext cx="7438768" cy="3952331"/>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77"/>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26" name="Google Shape;626;p77"/>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400"/>
              <a:buFont typeface="Arial"/>
              <a:buNone/>
            </a:pP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WEB</a:t>
            </a:r>
            <a:endParaRPr dirty="0">
              <a:solidFill>
                <a:srgbClr val="FFFF00"/>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627" name="Google Shape;627;p77"/>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a:solidFill>
                  <a:srgbClr val="3D3D3D"/>
                </a:solidFill>
                <a:latin typeface="Cambria"/>
                <a:ea typeface="Cambria"/>
                <a:cs typeface="Cambria"/>
                <a:sym typeface="Cambria"/>
              </a:rPr>
              <a:t>Vista Conversor</a:t>
            </a:r>
            <a:endParaRPr sz="2000" b="0" i="0" u="none" strike="noStrike" cap="none">
              <a:solidFill>
                <a:srgbClr val="3D3D3D"/>
              </a:solidFill>
              <a:latin typeface="Cambria"/>
              <a:ea typeface="Cambria"/>
              <a:cs typeface="Cambria"/>
              <a:sym typeface="Cambria"/>
            </a:endParaRPr>
          </a:p>
        </p:txBody>
      </p:sp>
      <p:pic>
        <p:nvPicPr>
          <p:cNvPr id="4" name="Picture 3">
            <a:extLst>
              <a:ext uri="{FF2B5EF4-FFF2-40B4-BE49-F238E27FC236}">
                <a16:creationId xmlns:a16="http://schemas.microsoft.com/office/drawing/2014/main" id="{0E81928F-AA8D-B9A8-2A14-C6F28CCE5074}"/>
              </a:ext>
            </a:extLst>
          </p:cNvPr>
          <p:cNvPicPr>
            <a:picLocks noChangeAspect="1"/>
          </p:cNvPicPr>
          <p:nvPr/>
        </p:nvPicPr>
        <p:blipFill>
          <a:blip r:embed="rId3"/>
          <a:stretch>
            <a:fillRect/>
          </a:stretch>
        </p:blipFill>
        <p:spPr>
          <a:xfrm>
            <a:off x="1014285" y="2610549"/>
            <a:ext cx="7821329" cy="3765826"/>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78"/>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dirty="0"/>
              <a:t>DESARROLLO</a:t>
            </a:r>
            <a:endParaRPr dirty="0"/>
          </a:p>
        </p:txBody>
      </p:sp>
      <p:sp>
        <p:nvSpPr>
          <p:cNvPr id="634" name="Google Shape;634;p78"/>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400"/>
              <a:buFont typeface="Arial"/>
              <a:buNone/>
            </a:pP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lt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WEB</a:t>
            </a:r>
            <a:endParaRPr dirty="0">
              <a:solidFill>
                <a:srgbClr val="FFFF00"/>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MOVIL</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635" name="Google Shape;635;p78"/>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dirty="0">
                <a:solidFill>
                  <a:srgbClr val="3D3D3D"/>
                </a:solidFill>
                <a:latin typeface="Cambria"/>
                <a:ea typeface="Cambria"/>
                <a:cs typeface="Cambria"/>
                <a:sym typeface="Cambria"/>
              </a:rPr>
              <a:t>Vista Conversión Realizada</a:t>
            </a:r>
            <a:endParaRPr sz="2000" b="0" i="0" u="none" strike="noStrike" cap="none" dirty="0">
              <a:solidFill>
                <a:srgbClr val="3D3D3D"/>
              </a:solidFill>
              <a:latin typeface="Cambria"/>
              <a:ea typeface="Cambria"/>
              <a:cs typeface="Cambria"/>
              <a:sym typeface="Cambria"/>
            </a:endParaRPr>
          </a:p>
        </p:txBody>
      </p:sp>
      <p:pic>
        <p:nvPicPr>
          <p:cNvPr id="4" name="Picture 3">
            <a:extLst>
              <a:ext uri="{FF2B5EF4-FFF2-40B4-BE49-F238E27FC236}">
                <a16:creationId xmlns:a16="http://schemas.microsoft.com/office/drawing/2014/main" id="{BA2D2ACF-A924-7176-9BCD-E72D005BD89E}"/>
              </a:ext>
            </a:extLst>
          </p:cNvPr>
          <p:cNvPicPr>
            <a:picLocks noChangeAspect="1"/>
          </p:cNvPicPr>
          <p:nvPr/>
        </p:nvPicPr>
        <p:blipFill>
          <a:blip r:embed="rId3"/>
          <a:stretch>
            <a:fillRect/>
          </a:stretch>
        </p:blipFill>
        <p:spPr>
          <a:xfrm>
            <a:off x="1522742" y="2702011"/>
            <a:ext cx="6804416" cy="3659548"/>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graphicFrame>
        <p:nvGraphicFramePr>
          <p:cNvPr id="641" name="Google Shape;641;p79"/>
          <p:cNvGraphicFramePr/>
          <p:nvPr>
            <p:extLst>
              <p:ext uri="{D42A27DB-BD31-4B8C-83A1-F6EECF244321}">
                <p14:modId xmlns:p14="http://schemas.microsoft.com/office/powerpoint/2010/main" val="678009414"/>
              </p:ext>
            </p:extLst>
          </p:nvPr>
        </p:nvGraphicFramePr>
        <p:xfrm>
          <a:off x="2380079" y="2830857"/>
          <a:ext cx="2914665" cy="3784600"/>
        </p:xfrm>
        <a:graphic>
          <a:graphicData uri="http://schemas.openxmlformats.org/drawingml/2006/table">
            <a:tbl>
              <a:tblPr>
                <a:noFill/>
                <a:tableStyleId>{BF136021-7255-42B7-A7E7-87A8D8FFE9CA}</a:tableStyleId>
              </a:tblPr>
              <a:tblGrid>
                <a:gridCol w="2914665">
                  <a:extLst>
                    <a:ext uri="{9D8B030D-6E8A-4147-A177-3AD203B41FA5}">
                      <a16:colId xmlns:a16="http://schemas.microsoft.com/office/drawing/2014/main" val="20000"/>
                    </a:ext>
                  </a:extLst>
                </a:gridCol>
              </a:tblGrid>
              <a:tr h="3415698">
                <a:tc>
                  <a:txBody>
                    <a:bodyPr/>
                    <a:lstStyle/>
                    <a:p>
                      <a:pPr marL="0" lvl="0" indent="0" algn="l" rtl="0">
                        <a:lnSpc>
                          <a:spcPct val="100000"/>
                        </a:lnSpc>
                        <a:spcBef>
                          <a:spcPts val="0"/>
                        </a:spcBef>
                        <a:spcAft>
                          <a:spcPts val="0"/>
                        </a:spcAft>
                        <a:buClr>
                          <a:schemeClr val="dk1"/>
                        </a:buClr>
                        <a:buSzPts val="1100"/>
                        <a:buFont typeface="Arial"/>
                        <a:buNone/>
                      </a:pPr>
                      <a:r>
                        <a:rPr lang="es-ES" sz="600" dirty="0" err="1">
                          <a:solidFill>
                            <a:srgbClr val="4F81BD"/>
                          </a:solidFill>
                          <a:latin typeface="Calibri"/>
                          <a:ea typeface="Calibri"/>
                          <a:cs typeface="Calibri"/>
                          <a:sym typeface="Calibri"/>
                        </a:rPr>
                        <a:t>class</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ControladorConversion</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val vista: </a:t>
                      </a:r>
                      <a:r>
                        <a:rPr lang="es-ES" sz="600" dirty="0" err="1">
                          <a:solidFill>
                            <a:srgbClr val="4F81BD"/>
                          </a:solidFill>
                          <a:latin typeface="Calibri"/>
                          <a:ea typeface="Calibri"/>
                          <a:cs typeface="Calibri"/>
                          <a:sym typeface="Calibri"/>
                        </a:rPr>
                        <a:t>VistaConversion</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val modelo: </a:t>
                      </a:r>
                      <a:r>
                        <a:rPr lang="es-ES" sz="600" dirty="0" err="1">
                          <a:solidFill>
                            <a:srgbClr val="4F81BD"/>
                          </a:solidFill>
                          <a:latin typeface="Calibri"/>
                          <a:ea typeface="Calibri"/>
                          <a:cs typeface="Calibri"/>
                          <a:sym typeface="Calibri"/>
                        </a:rPr>
                        <a:t>ModeloConversion</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val </a:t>
                      </a:r>
                      <a:r>
                        <a:rPr lang="es-ES" sz="600" dirty="0" err="1">
                          <a:solidFill>
                            <a:srgbClr val="4F81BD"/>
                          </a:solidFill>
                          <a:latin typeface="Calibri"/>
                          <a:ea typeface="Calibri"/>
                          <a:cs typeface="Calibri"/>
                          <a:sym typeface="Calibri"/>
                        </a:rPr>
                        <a:t>categoria</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CategoriaUnidad</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val </a:t>
                      </a:r>
                      <a:r>
                        <a:rPr lang="es-ES" sz="600" dirty="0" err="1">
                          <a:solidFill>
                            <a:srgbClr val="4F81BD"/>
                          </a:solidFill>
                          <a:latin typeface="Calibri"/>
                          <a:ea typeface="Calibri"/>
                          <a:cs typeface="Calibri"/>
                          <a:sym typeface="Calibri"/>
                        </a:rPr>
                        <a:t>ambito</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LifecycleCoroutineScope</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var</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indiceOrigen</a:t>
                      </a:r>
                      <a:r>
                        <a:rPr lang="es-ES" sz="600" dirty="0">
                          <a:solidFill>
                            <a:srgbClr val="4F81BD"/>
                          </a:solidFill>
                          <a:latin typeface="Calibri"/>
                          <a:ea typeface="Calibri"/>
                          <a:cs typeface="Calibri"/>
                          <a:sym typeface="Calibri"/>
                        </a:rPr>
                        <a:t> = 0</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var</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indiceDestino</a:t>
                      </a:r>
                      <a:r>
                        <a:rPr lang="es-ES" sz="600" dirty="0">
                          <a:solidFill>
                            <a:srgbClr val="4F81BD"/>
                          </a:solidFill>
                          <a:latin typeface="Calibri"/>
                          <a:ea typeface="Calibri"/>
                          <a:cs typeface="Calibri"/>
                          <a:sym typeface="Calibri"/>
                        </a:rPr>
                        <a:t> = 1</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trasCrearVista</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vista.mostrarTitulo</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categoria.titulo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vista.mostrarUnidades</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categoria.unidades</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indiceOrigen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indiceDestino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actualizarSimbolos</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enSeleccionOrigen</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posicion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Int</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indiceOrigen</a:t>
                      </a:r>
                      <a:r>
                        <a:rPr lang="es-ES" sz="600" dirty="0">
                          <a:solidFill>
                            <a:srgbClr val="4F81BD"/>
                          </a:solidFill>
                          <a:latin typeface="Calibri"/>
                          <a:ea typeface="Calibri"/>
                          <a:cs typeface="Calibri"/>
                          <a:sym typeface="Calibri"/>
                        </a:rPr>
                        <a:t> = </a:t>
                      </a:r>
                      <a:r>
                        <a:rPr lang="es-ES" sz="600" dirty="0" err="1">
                          <a:solidFill>
                            <a:srgbClr val="4F81BD"/>
                          </a:solidFill>
                          <a:latin typeface="Calibri"/>
                          <a:ea typeface="Calibri"/>
                          <a:cs typeface="Calibri"/>
                          <a:sym typeface="Calibri"/>
                        </a:rPr>
                        <a:t>posicion</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actualizarSimbolos</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vista.limpiarResultado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enSeleccionDestino</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posicion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Int</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indiceDestino</a:t>
                      </a:r>
                      <a:r>
                        <a:rPr lang="es-ES" sz="600" dirty="0">
                          <a:solidFill>
                            <a:srgbClr val="4F81BD"/>
                          </a:solidFill>
                          <a:latin typeface="Calibri"/>
                          <a:ea typeface="Calibri"/>
                          <a:cs typeface="Calibri"/>
                          <a:sym typeface="Calibri"/>
                        </a:rPr>
                        <a:t> = </a:t>
                      </a:r>
                      <a:r>
                        <a:rPr lang="es-ES" sz="600" dirty="0" err="1">
                          <a:solidFill>
                            <a:srgbClr val="4F81BD"/>
                          </a:solidFill>
                          <a:latin typeface="Calibri"/>
                          <a:ea typeface="Calibri"/>
                          <a:cs typeface="Calibri"/>
                          <a:sym typeface="Calibri"/>
                        </a:rPr>
                        <a:t>posicion</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actualizarSimbolos</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vista.limpiarResultado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enCambioEntrada</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vista.mostrarErrorEntrada</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null</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vista.limpiarResultado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enClicConvertir</a:t>
                      </a:r>
                      <a:r>
                        <a:rPr lang="es-ES" sz="600" dirty="0">
                          <a:solidFill>
                            <a:srgbClr val="4F81BD"/>
                          </a:solidFill>
                          <a:latin typeface="Calibri"/>
                          <a:ea typeface="Calibri"/>
                          <a:cs typeface="Calibri"/>
                          <a:sym typeface="Calibri"/>
                        </a:rPr>
                        <a:t>(entrada: </a:t>
                      </a:r>
                      <a:r>
                        <a:rPr lang="es-ES" sz="600" dirty="0" err="1">
                          <a:solidFill>
                            <a:srgbClr val="4F81BD"/>
                          </a:solidFill>
                          <a:latin typeface="Calibri"/>
                          <a:ea typeface="Calibri"/>
                          <a:cs typeface="Calibri"/>
                          <a:sym typeface="Calibri"/>
                        </a:rPr>
                        <a:t>String</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val texto = </a:t>
                      </a:r>
                      <a:r>
                        <a:rPr lang="es-ES" sz="600" dirty="0" err="1">
                          <a:solidFill>
                            <a:srgbClr val="4F81BD"/>
                          </a:solidFill>
                          <a:latin typeface="Calibri"/>
                          <a:ea typeface="Calibri"/>
                          <a:cs typeface="Calibri"/>
                          <a:sym typeface="Calibri"/>
                        </a:rPr>
                        <a:t>entrada.trim</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replace</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if</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texto.isEmpty</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vista.mostrarErrorEntrada</a:t>
                      </a:r>
                      <a:r>
                        <a:rPr lang="es-ES" sz="600" dirty="0">
                          <a:solidFill>
                            <a:srgbClr val="4F81BD"/>
                          </a:solidFill>
                          <a:latin typeface="Calibri"/>
                          <a:ea typeface="Calibri"/>
                          <a:cs typeface="Calibri"/>
                          <a:sym typeface="Calibri"/>
                        </a:rPr>
                        <a:t>("Ingrese un valor a convertir")</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return</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
        <p:nvSpPr>
          <p:cNvPr id="642" name="Google Shape;642;p79"/>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43" name="Google Shape;643;p79"/>
          <p:cNvSpPr/>
          <p:nvPr/>
        </p:nvSpPr>
        <p:spPr>
          <a:xfrm>
            <a:off x="9383700"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MOVIL</a:t>
            </a:r>
            <a:endParaRPr dirty="0">
              <a:solidFill>
                <a:srgbClr val="FFFF00"/>
              </a:solidFill>
            </a:endParaRPr>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646" name="Google Shape;646;p79"/>
          <p:cNvSpPr txBox="1">
            <a:spLocks noGrp="1"/>
          </p:cNvSpPr>
          <p:nvPr>
            <p:ph type="body" idx="1"/>
          </p:nvPr>
        </p:nvSpPr>
        <p:spPr>
          <a:xfrm>
            <a:off x="581200" y="1902979"/>
            <a:ext cx="8589300" cy="1170900"/>
          </a:xfrm>
          <a:prstGeom prst="rect">
            <a:avLst/>
          </a:prstGeom>
          <a:noFill/>
          <a:ln>
            <a:noFill/>
          </a:ln>
        </p:spPr>
        <p:txBody>
          <a:bodyPr spcFirstLastPara="1" wrap="square" lIns="91425" tIns="45700" rIns="91425" bIns="45700" anchor="ctr" anchorCtr="0">
            <a:normAutofit/>
          </a:bodyPr>
          <a:lstStyle/>
          <a:p>
            <a:pPr marL="457200" lvl="0" indent="-333753" algn="just" rtl="0">
              <a:lnSpc>
                <a:spcPct val="107000"/>
              </a:lnSpc>
              <a:spcBef>
                <a:spcPts val="0"/>
              </a:spcBef>
              <a:spcAft>
                <a:spcPts val="0"/>
              </a:spcAft>
              <a:buSzPts val="1656"/>
              <a:buChar char="●"/>
            </a:pPr>
            <a:r>
              <a:rPr lang="es-ES" sz="1564" dirty="0">
                <a:latin typeface="Cambria"/>
                <a:ea typeface="Cambria"/>
                <a:cs typeface="Cambria"/>
                <a:sym typeface="Cambria"/>
              </a:rPr>
              <a:t>Para el cliente móvil se debe crear un proyecto en </a:t>
            </a:r>
            <a:r>
              <a:rPr lang="es-ES" sz="1564" dirty="0" err="1">
                <a:latin typeface="Cambria"/>
                <a:ea typeface="Cambria"/>
                <a:cs typeface="Cambria"/>
                <a:sym typeface="Cambria"/>
              </a:rPr>
              <a:t>kotline</a:t>
            </a:r>
            <a:r>
              <a:rPr lang="es-ES" sz="1564" dirty="0">
                <a:latin typeface="Cambria"/>
                <a:ea typeface="Cambria"/>
                <a:cs typeface="Cambria"/>
                <a:sym typeface="Cambria"/>
              </a:rPr>
              <a:t> y puede ser ejecutado en Android Studio</a:t>
            </a:r>
            <a:endParaRPr dirty="0">
              <a:latin typeface="Cambria"/>
              <a:ea typeface="Cambria"/>
              <a:cs typeface="Cambria"/>
              <a:sym typeface="Cambria"/>
            </a:endParaRPr>
          </a:p>
        </p:txBody>
      </p:sp>
      <p:sp>
        <p:nvSpPr>
          <p:cNvPr id="2" name="TextBox 1">
            <a:extLst>
              <a:ext uri="{FF2B5EF4-FFF2-40B4-BE49-F238E27FC236}">
                <a16:creationId xmlns:a16="http://schemas.microsoft.com/office/drawing/2014/main" id="{B85A9A1D-525D-99F6-AC54-08B6DE41E24A}"/>
              </a:ext>
            </a:extLst>
          </p:cNvPr>
          <p:cNvSpPr txBox="1"/>
          <p:nvPr/>
        </p:nvSpPr>
        <p:spPr>
          <a:xfrm>
            <a:off x="704335" y="1902979"/>
            <a:ext cx="6104238" cy="318998"/>
          </a:xfrm>
          <a:prstGeom prst="rect">
            <a:avLst/>
          </a:prstGeom>
          <a:noFill/>
        </p:spPr>
        <p:txBody>
          <a:bodyPr wrap="square">
            <a:spAutoFit/>
          </a:bodyPr>
          <a:lstStyle/>
          <a:p>
            <a:pPr marL="0" lvl="0" indent="0" algn="l" rtl="0">
              <a:lnSpc>
                <a:spcPct val="115000"/>
              </a:lnSpc>
              <a:spcBef>
                <a:spcPts val="1200"/>
              </a:spcBef>
              <a:spcAft>
                <a:spcPts val="0"/>
              </a:spcAft>
              <a:buClr>
                <a:schemeClr val="dk1"/>
              </a:buClr>
              <a:buSzPct val="70332"/>
              <a:buFont typeface="Arial"/>
              <a:buNone/>
            </a:pPr>
            <a:r>
              <a:rPr lang="es-MX" sz="1400" b="1" dirty="0">
                <a:latin typeface="Cambria"/>
                <a:ea typeface="Cambria"/>
                <a:cs typeface="Cambria"/>
                <a:sym typeface="Cambria"/>
              </a:rPr>
              <a:t>1.6  CREACIÓN DEL PROYECTO CLIENTE </a:t>
            </a:r>
            <a:r>
              <a:rPr lang="es-MX" b="1" dirty="0">
                <a:latin typeface="Cambria"/>
                <a:ea typeface="Cambria"/>
                <a:cs typeface="Cambria"/>
                <a:sym typeface="Cambria"/>
              </a:rPr>
              <a:t>MÓVIL</a:t>
            </a:r>
            <a:endParaRPr lang="es-MX" sz="1400" b="1" dirty="0">
              <a:latin typeface="Cambria"/>
              <a:ea typeface="Cambria"/>
              <a:cs typeface="Cambria"/>
              <a:sym typeface="Cambria"/>
            </a:endParaRPr>
          </a:p>
        </p:txBody>
      </p:sp>
      <p:sp>
        <p:nvSpPr>
          <p:cNvPr id="5" name="Google Shape;319;p40">
            <a:extLst>
              <a:ext uri="{FF2B5EF4-FFF2-40B4-BE49-F238E27FC236}">
                <a16:creationId xmlns:a16="http://schemas.microsoft.com/office/drawing/2014/main" id="{1E11576F-AAA7-4AA1-58F8-C2A5941A9E4D}"/>
              </a:ext>
            </a:extLst>
          </p:cNvPr>
          <p:cNvSpPr txBox="1">
            <a:spLocks/>
          </p:cNvSpPr>
          <p:nvPr/>
        </p:nvSpPr>
        <p:spPr>
          <a:xfrm>
            <a:off x="109123" y="2221977"/>
            <a:ext cx="1940435" cy="4447919"/>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indent="-327406">
              <a:lnSpc>
                <a:spcPct val="150000"/>
              </a:lnSpc>
              <a:spcBef>
                <a:spcPts val="0"/>
              </a:spcBef>
              <a:buSzPts val="1556"/>
              <a:buFont typeface="Noto Sans Symbols"/>
              <a:buChar char="∙"/>
            </a:pPr>
            <a:r>
              <a:rPr lang="es-MX" sz="1400" dirty="0">
                <a:solidFill>
                  <a:schemeClr val="dk1"/>
                </a:solidFill>
                <a:latin typeface="Calibri"/>
                <a:ea typeface="Calibri"/>
                <a:cs typeface="Calibri"/>
                <a:sym typeface="Calibri"/>
              </a:rPr>
              <a:t>A continuación se detallarán las clases principales con su código fuente.</a:t>
            </a:r>
          </a:p>
          <a:p>
            <a:pPr indent="-304800" algn="just">
              <a:lnSpc>
                <a:spcPct val="107000"/>
              </a:lnSpc>
              <a:spcBef>
                <a:spcPts val="0"/>
              </a:spcBef>
              <a:buSzPts val="1200"/>
              <a:buFont typeface="Cambria"/>
              <a:buChar char="∙"/>
            </a:pPr>
            <a:endParaRPr lang="es-MX" sz="1400" dirty="0">
              <a:latin typeface="Cambria"/>
              <a:ea typeface="Cambria"/>
              <a:cs typeface="Cambria"/>
              <a:sym typeface="Cambria"/>
            </a:endParaRPr>
          </a:p>
        </p:txBody>
      </p:sp>
      <p:graphicFrame>
        <p:nvGraphicFramePr>
          <p:cNvPr id="6" name="Google Shape;641;p79">
            <a:extLst>
              <a:ext uri="{FF2B5EF4-FFF2-40B4-BE49-F238E27FC236}">
                <a16:creationId xmlns:a16="http://schemas.microsoft.com/office/drawing/2014/main" id="{545869A5-1335-6537-74F7-4FA70C305678}"/>
              </a:ext>
            </a:extLst>
          </p:cNvPr>
          <p:cNvGraphicFramePr/>
          <p:nvPr>
            <p:extLst>
              <p:ext uri="{D42A27DB-BD31-4B8C-83A1-F6EECF244321}">
                <p14:modId xmlns:p14="http://schemas.microsoft.com/office/powerpoint/2010/main" val="1483035287"/>
              </p:ext>
            </p:extLst>
          </p:nvPr>
        </p:nvGraphicFramePr>
        <p:xfrm>
          <a:off x="5625266" y="2644203"/>
          <a:ext cx="3477546" cy="4241800"/>
        </p:xfrm>
        <a:graphic>
          <a:graphicData uri="http://schemas.openxmlformats.org/drawingml/2006/table">
            <a:tbl>
              <a:tblPr>
                <a:noFill/>
                <a:tableStyleId>{BF136021-7255-42B7-A7E7-87A8D8FFE9CA}</a:tableStyleId>
              </a:tblPr>
              <a:tblGrid>
                <a:gridCol w="3477546">
                  <a:extLst>
                    <a:ext uri="{9D8B030D-6E8A-4147-A177-3AD203B41FA5}">
                      <a16:colId xmlns:a16="http://schemas.microsoft.com/office/drawing/2014/main" val="20000"/>
                    </a:ext>
                  </a:extLst>
                </a:gridCol>
              </a:tblGrid>
              <a:tr h="4025693">
                <a:tc>
                  <a:txBody>
                    <a:bodyPr/>
                    <a:lstStyle/>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val valor = </a:t>
                      </a:r>
                      <a:r>
                        <a:rPr lang="es-ES" sz="600" dirty="0" err="1">
                          <a:solidFill>
                            <a:srgbClr val="4F81BD"/>
                          </a:solidFill>
                          <a:latin typeface="Calibri"/>
                          <a:ea typeface="Calibri"/>
                          <a:cs typeface="Calibri"/>
                          <a:sym typeface="Calibri"/>
                        </a:rPr>
                        <a:t>texto.toDoubleOrNull</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if</a:t>
                      </a:r>
                      <a:r>
                        <a:rPr lang="es-ES" sz="600" dirty="0">
                          <a:solidFill>
                            <a:srgbClr val="4F81BD"/>
                          </a:solidFill>
                          <a:latin typeface="Calibri"/>
                          <a:ea typeface="Calibri"/>
                          <a:cs typeface="Calibri"/>
                          <a:sym typeface="Calibri"/>
                        </a:rPr>
                        <a:t> (valor == </a:t>
                      </a:r>
                      <a:r>
                        <a:rPr lang="es-ES" sz="600" dirty="0" err="1">
                          <a:solidFill>
                            <a:srgbClr val="4F81BD"/>
                          </a:solidFill>
                          <a:latin typeface="Calibri"/>
                          <a:ea typeface="Calibri"/>
                          <a:cs typeface="Calibri"/>
                          <a:sym typeface="Calibri"/>
                        </a:rPr>
                        <a:t>null</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vista.mostrarErrorEntrada</a:t>
                      </a:r>
                      <a:r>
                        <a:rPr lang="es-ES" sz="600" dirty="0">
                          <a:solidFill>
                            <a:srgbClr val="4F81BD"/>
                          </a:solidFill>
                          <a:latin typeface="Calibri"/>
                          <a:ea typeface="Calibri"/>
                          <a:cs typeface="Calibri"/>
                          <a:sym typeface="Calibri"/>
                        </a:rPr>
                        <a:t>("Valor no válido")</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return</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if</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categoria</a:t>
                      </a:r>
                      <a:r>
                        <a:rPr lang="es-ES" sz="600" dirty="0">
                          <a:solidFill>
                            <a:srgbClr val="4F81BD"/>
                          </a:solidFill>
                          <a:latin typeface="Calibri"/>
                          <a:ea typeface="Calibri"/>
                          <a:cs typeface="Calibri"/>
                          <a:sym typeface="Calibri"/>
                        </a:rPr>
                        <a:t> != </a:t>
                      </a:r>
                      <a:r>
                        <a:rPr lang="es-ES" sz="600" dirty="0" err="1">
                          <a:solidFill>
                            <a:srgbClr val="4F81BD"/>
                          </a:solidFill>
                          <a:latin typeface="Calibri"/>
                          <a:ea typeface="Calibri"/>
                          <a:cs typeface="Calibri"/>
                          <a:sym typeface="Calibri"/>
                        </a:rPr>
                        <a:t>CategoriaUnidad.TEMPERATURA</a:t>
                      </a:r>
                      <a:r>
                        <a:rPr lang="es-ES" sz="600" dirty="0">
                          <a:solidFill>
                            <a:srgbClr val="4F81BD"/>
                          </a:solidFill>
                          <a:latin typeface="Calibri"/>
                          <a:ea typeface="Calibri"/>
                          <a:cs typeface="Calibri"/>
                          <a:sym typeface="Calibri"/>
                        </a:rPr>
                        <a:t> &amp;&amp; valor &lt; 0)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vista.mostrarErrorEntrada</a:t>
                      </a:r>
                      <a:r>
                        <a:rPr lang="es-ES" sz="600" dirty="0">
                          <a:solidFill>
                            <a:srgbClr val="4F81BD"/>
                          </a:solidFill>
                          <a:latin typeface="Calibri"/>
                          <a:ea typeface="Calibri"/>
                          <a:cs typeface="Calibri"/>
                          <a:sym typeface="Calibri"/>
                        </a:rPr>
                        <a:t>("No se permiten valores negativos")</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return</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vista.mostrarErrorEntrada</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null</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vista.mostrarCargando</a:t>
                      </a:r>
                      <a:r>
                        <a:rPr lang="es-ES" sz="600" dirty="0">
                          <a:solidFill>
                            <a:srgbClr val="4F81BD"/>
                          </a:solidFill>
                          <a:latin typeface="Calibri"/>
                          <a:ea typeface="Calibri"/>
                          <a:cs typeface="Calibri"/>
                          <a:sym typeface="Calibri"/>
                        </a:rPr>
                        <a:t>(true)</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ambito.launch</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try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val respuesta = </a:t>
                      </a:r>
                      <a:r>
                        <a:rPr lang="es-ES" sz="600" dirty="0" err="1">
                          <a:solidFill>
                            <a:srgbClr val="4F81BD"/>
                          </a:solidFill>
                          <a:latin typeface="Calibri"/>
                          <a:ea typeface="Calibri"/>
                          <a:cs typeface="Calibri"/>
                          <a:sym typeface="Calibri"/>
                        </a:rPr>
                        <a:t>modelo.convertir</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valor,</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categoria.unidades</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indiceOrigen</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categoria.unidades</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indiceDestino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vista.mostrarResultado</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formatearResultado</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respuesta.valorConvertido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 catch (</a:t>
                      </a:r>
                      <a:r>
                        <a:rPr lang="es-ES" sz="600" dirty="0" err="1">
                          <a:solidFill>
                            <a:srgbClr val="4F81BD"/>
                          </a:solidFill>
                          <a:latin typeface="Calibri"/>
                          <a:ea typeface="Calibri"/>
                          <a:cs typeface="Calibri"/>
                          <a:sym typeface="Calibri"/>
                        </a:rPr>
                        <a:t>excepcion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ExcepcionMantenimiento</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vista.mostrarMensajeMantenimiento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 catch (</a:t>
                      </a:r>
                      <a:r>
                        <a:rPr lang="es-ES" sz="600" dirty="0" err="1">
                          <a:solidFill>
                            <a:srgbClr val="4F81BD"/>
                          </a:solidFill>
                          <a:latin typeface="Calibri"/>
                          <a:ea typeface="Calibri"/>
                          <a:cs typeface="Calibri"/>
                          <a:sym typeface="Calibri"/>
                        </a:rPr>
                        <a:t>excepcion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ExcepcionSesionVencida</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vista.mostrarErrorSesionVencida</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 catch (</a:t>
                      </a:r>
                      <a:r>
                        <a:rPr lang="es-ES" sz="600" dirty="0" err="1">
                          <a:solidFill>
                            <a:srgbClr val="4F81BD"/>
                          </a:solidFill>
                          <a:latin typeface="Calibri"/>
                          <a:ea typeface="Calibri"/>
                          <a:cs typeface="Calibri"/>
                          <a:sym typeface="Calibri"/>
                        </a:rPr>
                        <a:t>excepcion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ExcepcionServidor</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vista.mostrarError</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excepcion.mensaje</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 </a:t>
                      </a:r>
                      <a:r>
                        <a:rPr lang="es-ES" sz="600" dirty="0" err="1">
                          <a:solidFill>
                            <a:srgbClr val="4F81BD"/>
                          </a:solidFill>
                          <a:latin typeface="Calibri"/>
                          <a:ea typeface="Calibri"/>
                          <a:cs typeface="Calibri"/>
                          <a:sym typeface="Calibri"/>
                        </a:rPr>
                        <a:t>finally</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vista.mostrarCargando</a:t>
                      </a:r>
                      <a:r>
                        <a:rPr lang="es-ES" sz="600" dirty="0">
                          <a:solidFill>
                            <a:srgbClr val="4F81BD"/>
                          </a:solidFill>
                          <a:latin typeface="Calibri"/>
                          <a:ea typeface="Calibri"/>
                          <a:cs typeface="Calibri"/>
                          <a:sym typeface="Calibri"/>
                        </a:rPr>
                        <a:t>(false)</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actualizarSimbolos</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vista.mostrarSimbolos</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categoria.unidades</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indiceOrigen</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simbolo</a:t>
                      </a:r>
                      <a:r>
                        <a:rPr lang="es-ES" sz="600" dirty="0">
                          <a:solidFill>
                            <a:srgbClr val="4F81BD"/>
                          </a:solidFill>
                          <a:latin typeface="Calibri"/>
                          <a:ea typeface="Calibri"/>
                          <a:cs typeface="Calibri"/>
                          <a:sym typeface="Calibri"/>
                        </a:rPr>
                        <a:t>,</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categoria.unidades</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indiceDestino</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simbolo</a:t>
                      </a: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endParaRPr lang="es-ES" sz="600" dirty="0">
                        <a:solidFill>
                          <a:srgbClr val="4F81BD"/>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s-ES" sz="600" dirty="0" err="1">
                          <a:solidFill>
                            <a:srgbClr val="4F81BD"/>
                          </a:solidFill>
                          <a:latin typeface="Calibri"/>
                          <a:ea typeface="Calibri"/>
                          <a:cs typeface="Calibri"/>
                          <a:sym typeface="Calibri"/>
                        </a:rPr>
                        <a:t>private</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fun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formatearResultado</a:t>
                      </a:r>
                      <a:r>
                        <a:rPr lang="es-ES" sz="600" dirty="0">
                          <a:solidFill>
                            <a:srgbClr val="4F81BD"/>
                          </a:solidFill>
                          <a:latin typeface="Calibri"/>
                          <a:ea typeface="Calibri"/>
                          <a:cs typeface="Calibri"/>
                          <a:sym typeface="Calibri"/>
                        </a:rPr>
                        <a:t>(valor: </a:t>
                      </a:r>
                      <a:r>
                        <a:rPr lang="es-ES" sz="600" dirty="0" err="1">
                          <a:solidFill>
                            <a:srgbClr val="4F81BD"/>
                          </a:solidFill>
                          <a:latin typeface="Calibri"/>
                          <a:ea typeface="Calibri"/>
                          <a:cs typeface="Calibri"/>
                          <a:sym typeface="Calibri"/>
                        </a:rPr>
                        <a:t>Double</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String</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val formateado = </a:t>
                      </a:r>
                      <a:r>
                        <a:rPr lang="es-ES" sz="600" dirty="0" err="1">
                          <a:solidFill>
                            <a:srgbClr val="4F81BD"/>
                          </a:solidFill>
                          <a:latin typeface="Calibri"/>
                          <a:ea typeface="Calibri"/>
                          <a:cs typeface="Calibri"/>
                          <a:sym typeface="Calibri"/>
                        </a:rPr>
                        <a:t>String.format</a:t>
                      </a:r>
                      <a:r>
                        <a:rPr lang="es-ES" sz="600" dirty="0">
                          <a:solidFill>
                            <a:srgbClr val="4F81BD"/>
                          </a:solidFill>
                          <a:latin typeface="Calibri"/>
                          <a:ea typeface="Calibri"/>
                          <a:cs typeface="Calibri"/>
                          <a:sym typeface="Calibri"/>
                        </a:rPr>
                        <a:t>(</a:t>
                      </a:r>
                      <a:r>
                        <a:rPr lang="es-ES" sz="600" dirty="0" err="1">
                          <a:solidFill>
                            <a:srgbClr val="4F81BD"/>
                          </a:solidFill>
                          <a:latin typeface="Calibri"/>
                          <a:ea typeface="Calibri"/>
                          <a:cs typeface="Calibri"/>
                          <a:sym typeface="Calibri"/>
                        </a:rPr>
                        <a:t>Locale.getDefault</a:t>
                      </a:r>
                      <a:r>
                        <a:rPr lang="es-ES" sz="600" dirty="0">
                          <a:solidFill>
                            <a:srgbClr val="4F81BD"/>
                          </a:solidFill>
                          <a:latin typeface="Calibri"/>
                          <a:ea typeface="Calibri"/>
                          <a:cs typeface="Calibri"/>
                          <a:sym typeface="Calibri"/>
                        </a:rPr>
                        <a:t>(), "%.4f", valor)</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return</a:t>
                      </a:r>
                      <a:r>
                        <a:rPr lang="es-ES" sz="600" dirty="0">
                          <a:solidFill>
                            <a:srgbClr val="4F81BD"/>
                          </a:solidFill>
                          <a:latin typeface="Calibri"/>
                          <a:ea typeface="Calibri"/>
                          <a:cs typeface="Calibri"/>
                          <a:sym typeface="Calibri"/>
                        </a:rPr>
                        <a:t> </a:t>
                      </a:r>
                      <a:r>
                        <a:rPr lang="es-ES" sz="600" dirty="0" err="1">
                          <a:solidFill>
                            <a:srgbClr val="4F81BD"/>
                          </a:solidFill>
                          <a:latin typeface="Calibri"/>
                          <a:ea typeface="Calibri"/>
                          <a:cs typeface="Calibri"/>
                          <a:sym typeface="Calibri"/>
                        </a:rPr>
                        <a:t>formateado.trimEnd</a:t>
                      </a:r>
                      <a:r>
                        <a:rPr lang="es-ES" sz="600" dirty="0">
                          <a:solidFill>
                            <a:srgbClr val="4F81BD"/>
                          </a:solidFill>
                          <a:latin typeface="Calibri"/>
                          <a:ea typeface="Calibri"/>
                          <a:cs typeface="Calibri"/>
                          <a:sym typeface="Calibri"/>
                        </a:rPr>
                        <a:t>('0').</a:t>
                      </a:r>
                      <a:r>
                        <a:rPr lang="es-ES" sz="600" dirty="0" err="1">
                          <a:solidFill>
                            <a:srgbClr val="4F81BD"/>
                          </a:solidFill>
                          <a:latin typeface="Calibri"/>
                          <a:ea typeface="Calibri"/>
                          <a:cs typeface="Calibri"/>
                          <a:sym typeface="Calibri"/>
                        </a:rPr>
                        <a:t>trimEnd</a:t>
                      </a: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    }</a:t>
                      </a:r>
                    </a:p>
                    <a:p>
                      <a:pPr marL="0" lvl="0" indent="0" algn="l" rtl="0">
                        <a:lnSpc>
                          <a:spcPct val="100000"/>
                        </a:lnSpc>
                        <a:spcBef>
                          <a:spcPts val="0"/>
                        </a:spcBef>
                        <a:spcAft>
                          <a:spcPts val="0"/>
                        </a:spcAft>
                        <a:buClr>
                          <a:schemeClr val="dk1"/>
                        </a:buClr>
                        <a:buSzPts val="1100"/>
                        <a:buFont typeface="Arial"/>
                        <a:buNone/>
                      </a:pPr>
                      <a:r>
                        <a:rPr lang="es-ES" sz="600" dirty="0">
                          <a:solidFill>
                            <a:srgbClr val="4F81BD"/>
                          </a:solidFill>
                          <a:latin typeface="Calibri"/>
                          <a:ea typeface="Calibri"/>
                          <a:cs typeface="Calibri"/>
                          <a:sym typeface="Calibri"/>
                        </a:rPr>
                        <a:t>}</a:t>
                      </a:r>
                    </a:p>
                  </a:txBody>
                  <a:tcPr marL="63500" marR="63500" marT="63500" marB="63500"/>
                </a:tc>
                <a:extLst>
                  <a:ext uri="{0D108BD9-81ED-4DB2-BD59-A6C34878D82A}">
                    <a16:rowId xmlns:a16="http://schemas.microsoft.com/office/drawing/2014/main" val="1000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graphicFrame>
        <p:nvGraphicFramePr>
          <p:cNvPr id="651" name="Google Shape;651;p80"/>
          <p:cNvGraphicFramePr/>
          <p:nvPr>
            <p:extLst>
              <p:ext uri="{D42A27DB-BD31-4B8C-83A1-F6EECF244321}">
                <p14:modId xmlns:p14="http://schemas.microsoft.com/office/powerpoint/2010/main" val="3252665819"/>
              </p:ext>
            </p:extLst>
          </p:nvPr>
        </p:nvGraphicFramePr>
        <p:xfrm>
          <a:off x="2332838" y="2061638"/>
          <a:ext cx="6484300" cy="4493000"/>
        </p:xfrm>
        <a:graphic>
          <a:graphicData uri="http://schemas.openxmlformats.org/drawingml/2006/table">
            <a:tbl>
              <a:tblPr>
                <a:noFill/>
                <a:tableStyleId>{BF136021-7255-42B7-A7E7-87A8D8FFE9CA}</a:tableStyleId>
              </a:tblPr>
              <a:tblGrid>
                <a:gridCol w="6484300">
                  <a:extLst>
                    <a:ext uri="{9D8B030D-6E8A-4147-A177-3AD203B41FA5}">
                      <a16:colId xmlns:a16="http://schemas.microsoft.com/office/drawing/2014/main" val="20000"/>
                    </a:ext>
                  </a:extLst>
                </a:gridCol>
              </a:tblGrid>
              <a:tr h="4493000">
                <a:tc>
                  <a:txBody>
                    <a:bodyPr/>
                    <a:lstStyle/>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fun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enClicIniciarSesion</a:t>
                      </a:r>
                      <a:r>
                        <a:rPr lang="es-ES" sz="900" dirty="0">
                          <a:solidFill>
                            <a:srgbClr val="4F81BD"/>
                          </a:solidFill>
                          <a:latin typeface="Calibri"/>
                          <a:ea typeface="Calibri"/>
                          <a:cs typeface="Calibri"/>
                          <a:sym typeface="Calibri"/>
                        </a:rPr>
                        <a:t>(usuario: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contrasena</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String</a:t>
                      </a: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usuario.isBlank</a:t>
                      </a: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vista.mostrarErrorUsuario</a:t>
                      </a:r>
                      <a:r>
                        <a:rPr lang="es-ES" sz="900" dirty="0">
                          <a:solidFill>
                            <a:srgbClr val="4F81BD"/>
                          </a:solidFill>
                          <a:latin typeface="Calibri"/>
                          <a:ea typeface="Calibri"/>
                          <a:cs typeface="Calibri"/>
                          <a:sym typeface="Calibri"/>
                        </a:rPr>
                        <a:t>("Ingrese el usuario")</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endParaRPr lang="es-ES" sz="9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if</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contrasena.isBlank</a:t>
                      </a: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vista.mostrarErrorContrasena</a:t>
                      </a:r>
                      <a:r>
                        <a:rPr lang="es-ES" sz="900" dirty="0">
                          <a:solidFill>
                            <a:srgbClr val="4F81BD"/>
                          </a:solidFill>
                          <a:latin typeface="Calibri"/>
                          <a:ea typeface="Calibri"/>
                          <a:cs typeface="Calibri"/>
                          <a:sym typeface="Calibri"/>
                        </a:rPr>
                        <a:t>("Ingrese la contraseña")</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return</a:t>
                      </a:r>
                      <a:endParaRPr lang="es-ES" sz="9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S" sz="9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vista.mostrarCargando</a:t>
                      </a:r>
                      <a:r>
                        <a:rPr lang="es-ES" sz="900" dirty="0">
                          <a:solidFill>
                            <a:srgbClr val="4F81BD"/>
                          </a:solidFill>
                          <a:latin typeface="Calibri"/>
                          <a:ea typeface="Calibri"/>
                          <a:cs typeface="Calibri"/>
                          <a:sym typeface="Calibri"/>
                        </a:rPr>
                        <a:t>(true)</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ambito.launch</a:t>
                      </a: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try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val respuesta = </a:t>
                      </a:r>
                      <a:r>
                        <a:rPr lang="es-ES" sz="900" dirty="0" err="1">
                          <a:solidFill>
                            <a:srgbClr val="4F81BD"/>
                          </a:solidFill>
                          <a:latin typeface="Calibri"/>
                          <a:ea typeface="Calibri"/>
                          <a:cs typeface="Calibri"/>
                          <a:sym typeface="Calibri"/>
                        </a:rPr>
                        <a:t>modelo.iniciarSesion</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usuario.trim</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contrasena</a:t>
                      </a:r>
                      <a:r>
                        <a:rPr lang="es-ES" sz="9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sesion.guardarToken</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respuesta.token</a:t>
                      </a:r>
                      <a:r>
                        <a:rPr lang="es-ES" sz="9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vista.navegarAlConversor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respuesta.token</a:t>
                      </a:r>
                      <a:r>
                        <a:rPr lang="es-ES" sz="9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 catch (</a:t>
                      </a:r>
                      <a:r>
                        <a:rPr lang="es-ES" sz="900" dirty="0" err="1">
                          <a:solidFill>
                            <a:srgbClr val="4F81BD"/>
                          </a:solidFill>
                          <a:latin typeface="Calibri"/>
                          <a:ea typeface="Calibri"/>
                          <a:cs typeface="Calibri"/>
                          <a:sym typeface="Calibri"/>
                        </a:rPr>
                        <a:t>excepcion</a:t>
                      </a: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ExcepcionAutenticacion</a:t>
                      </a: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vista.mostrarError</a:t>
                      </a:r>
                      <a:r>
                        <a:rPr lang="es-ES" sz="900" dirty="0">
                          <a:solidFill>
                            <a:srgbClr val="4F81BD"/>
                          </a:solidFill>
                          <a:latin typeface="Calibri"/>
                          <a:ea typeface="Calibri"/>
                          <a:cs typeface="Calibri"/>
                          <a:sym typeface="Calibri"/>
                        </a:rPr>
                        <a:t>(</a:t>
                      </a:r>
                      <a:r>
                        <a:rPr lang="es-ES" sz="900" dirty="0" err="1">
                          <a:solidFill>
                            <a:srgbClr val="4F81BD"/>
                          </a:solidFill>
                          <a:latin typeface="Calibri"/>
                          <a:ea typeface="Calibri"/>
                          <a:cs typeface="Calibri"/>
                          <a:sym typeface="Calibri"/>
                        </a:rPr>
                        <a:t>excepcion.message</a:t>
                      </a:r>
                      <a:r>
                        <a:rPr lang="es-ES" sz="9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 </a:t>
                      </a:r>
                      <a:r>
                        <a:rPr lang="es-ES" sz="900" dirty="0" err="1">
                          <a:solidFill>
                            <a:srgbClr val="4F81BD"/>
                          </a:solidFill>
                          <a:latin typeface="Calibri"/>
                          <a:ea typeface="Calibri"/>
                          <a:cs typeface="Calibri"/>
                          <a:sym typeface="Calibri"/>
                        </a:rPr>
                        <a:t>finally</a:t>
                      </a: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r>
                        <a:rPr lang="es-ES" sz="900" dirty="0" err="1">
                          <a:solidFill>
                            <a:srgbClr val="4F81BD"/>
                          </a:solidFill>
                          <a:latin typeface="Calibri"/>
                          <a:ea typeface="Calibri"/>
                          <a:cs typeface="Calibri"/>
                          <a:sym typeface="Calibri"/>
                        </a:rPr>
                        <a:t>vista.mostrarCargando</a:t>
                      </a:r>
                      <a:r>
                        <a:rPr lang="es-ES" sz="900" dirty="0">
                          <a:solidFill>
                            <a:srgbClr val="4F81BD"/>
                          </a:solidFill>
                          <a:latin typeface="Calibri"/>
                          <a:ea typeface="Calibri"/>
                          <a:cs typeface="Calibri"/>
                          <a:sym typeface="Calibri"/>
                        </a:rPr>
                        <a:t>(false)</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900" dirty="0">
                          <a:solidFill>
                            <a:srgbClr val="4F81BD"/>
                          </a:solidFill>
                          <a:latin typeface="Calibri"/>
                          <a:ea typeface="Calibri"/>
                          <a:cs typeface="Calibri"/>
                          <a:sym typeface="Calibri"/>
                        </a:rPr>
                        <a:t>    }</a:t>
                      </a:r>
                      <a:endParaRPr sz="9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
        <p:nvSpPr>
          <p:cNvPr id="652" name="Google Shape;652;p80"/>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53" name="Google Shape;653;p80"/>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MOVIL</a:t>
            </a:r>
            <a:endParaRPr dirty="0">
              <a:solidFill>
                <a:srgbClr val="FFFF00"/>
              </a:solidFill>
            </a:endParaRPr>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4" name="Google Shape;319;p40">
            <a:extLst>
              <a:ext uri="{FF2B5EF4-FFF2-40B4-BE49-F238E27FC236}">
                <a16:creationId xmlns:a16="http://schemas.microsoft.com/office/drawing/2014/main" id="{EDF1264D-7178-17B2-553C-4C1B312EC422}"/>
              </a:ext>
            </a:extLst>
          </p:cNvPr>
          <p:cNvSpPr txBox="1">
            <a:spLocks/>
          </p:cNvSpPr>
          <p:nvPr/>
        </p:nvSpPr>
        <p:spPr>
          <a:xfrm>
            <a:off x="-1" y="1837551"/>
            <a:ext cx="1940435" cy="4447919"/>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indent="-327406">
              <a:lnSpc>
                <a:spcPct val="150000"/>
              </a:lnSpc>
              <a:spcBef>
                <a:spcPts val="0"/>
              </a:spcBef>
              <a:buSzPts val="1556"/>
              <a:buFont typeface="Noto Sans Symbols"/>
              <a:buChar char="∙"/>
            </a:pPr>
            <a:r>
              <a:rPr lang="es-MX" sz="1400" dirty="0">
                <a:solidFill>
                  <a:schemeClr val="dk1"/>
                </a:solidFill>
                <a:latin typeface="Calibri"/>
                <a:ea typeface="Calibri"/>
                <a:cs typeface="Calibri"/>
                <a:sym typeface="Calibri"/>
              </a:rPr>
              <a:t>A continuación se detallarán las clases principales con su código fuente.</a:t>
            </a:r>
          </a:p>
          <a:p>
            <a:pPr indent="-304800" algn="just">
              <a:lnSpc>
                <a:spcPct val="107000"/>
              </a:lnSpc>
              <a:spcBef>
                <a:spcPts val="0"/>
              </a:spcBef>
              <a:buSzPts val="1200"/>
              <a:buFont typeface="Cambria"/>
              <a:buChar char="∙"/>
            </a:pPr>
            <a:endParaRPr lang="es-MX" sz="1400" dirty="0">
              <a:latin typeface="Cambria"/>
              <a:ea typeface="Cambria"/>
              <a:cs typeface="Cambria"/>
              <a:sym typeface="Cambria"/>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graphicFrame>
        <p:nvGraphicFramePr>
          <p:cNvPr id="659" name="Google Shape;659;p81"/>
          <p:cNvGraphicFramePr/>
          <p:nvPr>
            <p:extLst>
              <p:ext uri="{D42A27DB-BD31-4B8C-83A1-F6EECF244321}">
                <p14:modId xmlns:p14="http://schemas.microsoft.com/office/powerpoint/2010/main" val="2742092324"/>
              </p:ext>
            </p:extLst>
          </p:nvPr>
        </p:nvGraphicFramePr>
        <p:xfrm>
          <a:off x="2769431" y="2418012"/>
          <a:ext cx="5954440" cy="3734626"/>
        </p:xfrm>
        <a:graphic>
          <a:graphicData uri="http://schemas.openxmlformats.org/drawingml/2006/table">
            <a:tbl>
              <a:tblPr>
                <a:noFill/>
                <a:tableStyleId>{BF136021-7255-42B7-A7E7-87A8D8FFE9CA}</a:tableStyleId>
              </a:tblPr>
              <a:tblGrid>
                <a:gridCol w="5954440">
                  <a:extLst>
                    <a:ext uri="{9D8B030D-6E8A-4147-A177-3AD203B41FA5}">
                      <a16:colId xmlns:a16="http://schemas.microsoft.com/office/drawing/2014/main" val="20000"/>
                    </a:ext>
                  </a:extLst>
                </a:gridCol>
              </a:tblGrid>
              <a:tr h="2389797">
                <a:tc>
                  <a:txBody>
                    <a:bodyPr/>
                    <a:lstStyle/>
                    <a:p>
                      <a:pPr marL="0" lvl="0" indent="0" algn="l" rtl="0">
                        <a:lnSpc>
                          <a:spcPct val="120000"/>
                        </a:lnSpc>
                        <a:spcBef>
                          <a:spcPts val="0"/>
                        </a:spcBef>
                        <a:spcAft>
                          <a:spcPts val="0"/>
                        </a:spcAft>
                        <a:buNone/>
                      </a:pPr>
                      <a:r>
                        <a:rPr lang="es-ES" sz="1100" dirty="0" err="1">
                          <a:solidFill>
                            <a:srgbClr val="4F81BD"/>
                          </a:solidFill>
                          <a:latin typeface="Calibri"/>
                          <a:ea typeface="Calibri"/>
                          <a:cs typeface="Calibri"/>
                          <a:sym typeface="Calibri"/>
                        </a:rPr>
                        <a:t>class</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InterceptorAutenticacion</a:t>
                      </a:r>
                      <a:r>
                        <a:rPr lang="es-ES" sz="11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private</a:t>
                      </a:r>
                      <a:r>
                        <a:rPr lang="es-ES" sz="1100" dirty="0">
                          <a:solidFill>
                            <a:srgbClr val="4F81BD"/>
                          </a:solidFill>
                          <a:latin typeface="Calibri"/>
                          <a:ea typeface="Calibri"/>
                          <a:cs typeface="Calibri"/>
                          <a:sym typeface="Calibri"/>
                        </a:rPr>
                        <a:t> val </a:t>
                      </a:r>
                      <a:r>
                        <a:rPr lang="es-ES" sz="1100" dirty="0" err="1">
                          <a:solidFill>
                            <a:srgbClr val="4F81BD"/>
                          </a:solidFill>
                          <a:latin typeface="Calibri"/>
                          <a:ea typeface="Calibri"/>
                          <a:cs typeface="Calibri"/>
                          <a:sym typeface="Calibri"/>
                        </a:rPr>
                        <a:t>gestorSesion</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GestorSesion</a:t>
                      </a:r>
                      <a:endParaRPr lang="es-ES" sz="11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 Interceptor {</a:t>
                      </a:r>
                    </a:p>
                    <a:p>
                      <a:pPr marL="0" lvl="0" indent="0" algn="l" rtl="0">
                        <a:lnSpc>
                          <a:spcPct val="120000"/>
                        </a:lnSpc>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override</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fun</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intercept</a:t>
                      </a:r>
                      <a:r>
                        <a:rPr lang="es-ES" sz="1100" dirty="0">
                          <a:solidFill>
                            <a:srgbClr val="4F81BD"/>
                          </a:solidFill>
                          <a:latin typeface="Calibri"/>
                          <a:ea typeface="Calibri"/>
                          <a:cs typeface="Calibri"/>
                          <a:sym typeface="Calibri"/>
                        </a:rPr>
                        <a:t>(cadena: </a:t>
                      </a:r>
                      <a:r>
                        <a:rPr lang="es-ES" sz="1100" dirty="0" err="1">
                          <a:solidFill>
                            <a:srgbClr val="4F81BD"/>
                          </a:solidFill>
                          <a:latin typeface="Calibri"/>
                          <a:ea typeface="Calibri"/>
                          <a:cs typeface="Calibri"/>
                          <a:sym typeface="Calibri"/>
                        </a:rPr>
                        <a:t>Interceptor.Chain</a:t>
                      </a:r>
                      <a:r>
                        <a:rPr lang="es-ES" sz="1100" dirty="0">
                          <a:solidFill>
                            <a:srgbClr val="4F81BD"/>
                          </a:solidFill>
                          <a:latin typeface="Calibri"/>
                          <a:ea typeface="Calibri"/>
                          <a:cs typeface="Calibri"/>
                          <a:sym typeface="Calibri"/>
                        </a:rPr>
                        <a:t>): Response {</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val token = </a:t>
                      </a:r>
                      <a:r>
                        <a:rPr lang="es-ES" sz="1100" dirty="0" err="1">
                          <a:solidFill>
                            <a:srgbClr val="4F81BD"/>
                          </a:solidFill>
                          <a:latin typeface="Calibri"/>
                          <a:ea typeface="Calibri"/>
                          <a:cs typeface="Calibri"/>
                          <a:sym typeface="Calibri"/>
                        </a:rPr>
                        <a:t>gestorSesion.obtenerToken</a:t>
                      </a:r>
                      <a:r>
                        <a:rPr lang="es-ES" sz="11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val </a:t>
                      </a:r>
                      <a:r>
                        <a:rPr lang="es-ES" sz="1100" dirty="0" err="1">
                          <a:solidFill>
                            <a:srgbClr val="4F81BD"/>
                          </a:solidFill>
                          <a:latin typeface="Calibri"/>
                          <a:ea typeface="Calibri"/>
                          <a:cs typeface="Calibri"/>
                          <a:sym typeface="Calibri"/>
                        </a:rPr>
                        <a:t>peticion</a:t>
                      </a:r>
                      <a:r>
                        <a:rPr lang="es-ES" sz="1100" dirty="0">
                          <a:solidFill>
                            <a:srgbClr val="4F81BD"/>
                          </a:solidFill>
                          <a:latin typeface="Calibri"/>
                          <a:ea typeface="Calibri"/>
                          <a:cs typeface="Calibri"/>
                          <a:sym typeface="Calibri"/>
                        </a:rPr>
                        <a:t> = </a:t>
                      </a:r>
                      <a:r>
                        <a:rPr lang="es-ES" sz="1100" dirty="0" err="1">
                          <a:solidFill>
                            <a:srgbClr val="4F81BD"/>
                          </a:solidFill>
                          <a:latin typeface="Calibri"/>
                          <a:ea typeface="Calibri"/>
                          <a:cs typeface="Calibri"/>
                          <a:sym typeface="Calibri"/>
                        </a:rPr>
                        <a:t>if</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token.isNullOrBlank</a:t>
                      </a:r>
                      <a:r>
                        <a:rPr lang="es-ES" sz="11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cadena.request</a:t>
                      </a:r>
                      <a:r>
                        <a:rPr lang="es-ES" sz="1100" dirty="0">
                          <a:solidFill>
                            <a:srgbClr val="4F81BD"/>
                          </a:solidFill>
                          <a:latin typeface="Calibri"/>
                          <a:ea typeface="Calibri"/>
                          <a:cs typeface="Calibri"/>
                          <a:sym typeface="Calibri"/>
                        </a:rPr>
                        <a:t>().</a:t>
                      </a:r>
                      <a:r>
                        <a:rPr lang="es-ES" sz="1100" dirty="0" err="1">
                          <a:solidFill>
                            <a:srgbClr val="4F81BD"/>
                          </a:solidFill>
                          <a:latin typeface="Calibri"/>
                          <a:ea typeface="Calibri"/>
                          <a:cs typeface="Calibri"/>
                          <a:sym typeface="Calibri"/>
                        </a:rPr>
                        <a:t>newBuilder</a:t>
                      </a:r>
                      <a:r>
                        <a:rPr lang="es-ES" sz="11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header</a:t>
                      </a:r>
                      <a:r>
                        <a:rPr lang="es-ES" sz="1100" dirty="0">
                          <a:solidFill>
                            <a:srgbClr val="4F81BD"/>
                          </a:solidFill>
                          <a:latin typeface="Calibri"/>
                          <a:ea typeface="Calibri"/>
                          <a:cs typeface="Calibri"/>
                          <a:sym typeface="Calibri"/>
                        </a:rPr>
                        <a:t>(</a:t>
                      </a:r>
                      <a:r>
                        <a:rPr lang="es-ES" sz="1100" dirty="0" err="1">
                          <a:solidFill>
                            <a:srgbClr val="4F81BD"/>
                          </a:solidFill>
                          <a:latin typeface="Calibri"/>
                          <a:ea typeface="Calibri"/>
                          <a:cs typeface="Calibri"/>
                          <a:sym typeface="Calibri"/>
                        </a:rPr>
                        <a:t>Constantes.CABECERA_AUTORIZACION</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Constantes.PREFIJO_BEARER</a:t>
                      </a:r>
                      <a:r>
                        <a:rPr lang="es-ES" sz="1100" dirty="0">
                          <a:solidFill>
                            <a:srgbClr val="4F81BD"/>
                          </a:solidFill>
                          <a:latin typeface="Calibri"/>
                          <a:ea typeface="Calibri"/>
                          <a:cs typeface="Calibri"/>
                          <a:sym typeface="Calibri"/>
                        </a:rPr>
                        <a:t> + token)</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build</a:t>
                      </a:r>
                      <a:r>
                        <a:rPr lang="es-ES" sz="11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 </a:t>
                      </a:r>
                      <a:r>
                        <a:rPr lang="es-ES" sz="1100" dirty="0" err="1">
                          <a:solidFill>
                            <a:srgbClr val="4F81BD"/>
                          </a:solidFill>
                          <a:latin typeface="Calibri"/>
                          <a:ea typeface="Calibri"/>
                          <a:cs typeface="Calibri"/>
                          <a:sym typeface="Calibri"/>
                        </a:rPr>
                        <a:t>else</a:t>
                      </a:r>
                      <a:r>
                        <a:rPr lang="es-ES" sz="11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cadena.request</a:t>
                      </a:r>
                      <a:r>
                        <a:rPr lang="es-ES" sz="11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endParaRPr lang="es-ES" sz="1100" dirty="0">
                        <a:solidFill>
                          <a:srgbClr val="4F81BD"/>
                        </a:solidFill>
                        <a:latin typeface="Calibri"/>
                        <a:ea typeface="Calibri"/>
                        <a:cs typeface="Calibri"/>
                        <a:sym typeface="Calibri"/>
                      </a:endParaRP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return</a:t>
                      </a:r>
                      <a:r>
                        <a:rPr lang="es-ES" sz="1100" dirty="0">
                          <a:solidFill>
                            <a:srgbClr val="4F81BD"/>
                          </a:solidFill>
                          <a:latin typeface="Calibri"/>
                          <a:ea typeface="Calibri"/>
                          <a:cs typeface="Calibri"/>
                          <a:sym typeface="Calibri"/>
                        </a:rPr>
                        <a:t> </a:t>
                      </a:r>
                      <a:r>
                        <a:rPr lang="es-ES" sz="1100" dirty="0" err="1">
                          <a:solidFill>
                            <a:srgbClr val="4F81BD"/>
                          </a:solidFill>
                          <a:latin typeface="Calibri"/>
                          <a:ea typeface="Calibri"/>
                          <a:cs typeface="Calibri"/>
                          <a:sym typeface="Calibri"/>
                        </a:rPr>
                        <a:t>cadena.proceed</a:t>
                      </a:r>
                      <a:r>
                        <a:rPr lang="es-ES" sz="1100" dirty="0">
                          <a:solidFill>
                            <a:srgbClr val="4F81BD"/>
                          </a:solidFill>
                          <a:latin typeface="Calibri"/>
                          <a:ea typeface="Calibri"/>
                          <a:cs typeface="Calibri"/>
                          <a:sym typeface="Calibri"/>
                        </a:rPr>
                        <a:t>(</a:t>
                      </a:r>
                      <a:r>
                        <a:rPr lang="es-ES" sz="1100" dirty="0" err="1">
                          <a:solidFill>
                            <a:srgbClr val="4F81BD"/>
                          </a:solidFill>
                          <a:latin typeface="Calibri"/>
                          <a:ea typeface="Calibri"/>
                          <a:cs typeface="Calibri"/>
                          <a:sym typeface="Calibri"/>
                        </a:rPr>
                        <a:t>peticion</a:t>
                      </a:r>
                      <a:r>
                        <a:rPr lang="es-ES" sz="1100" dirty="0">
                          <a:solidFill>
                            <a:srgbClr val="4F81BD"/>
                          </a:solidFill>
                          <a:latin typeface="Calibri"/>
                          <a:ea typeface="Calibri"/>
                          <a:cs typeface="Calibri"/>
                          <a:sym typeface="Calibri"/>
                        </a:rPr>
                        <a:t>)</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    }</a:t>
                      </a:r>
                    </a:p>
                    <a:p>
                      <a:pPr marL="0" lvl="0" indent="0" algn="l" rtl="0">
                        <a:lnSpc>
                          <a:spcPct val="120000"/>
                        </a:lnSpc>
                        <a:spcBef>
                          <a:spcPts val="0"/>
                        </a:spcBef>
                        <a:spcAft>
                          <a:spcPts val="0"/>
                        </a:spcAft>
                        <a:buNone/>
                      </a:pPr>
                      <a:r>
                        <a:rPr lang="es-ES" sz="1100" dirty="0">
                          <a:solidFill>
                            <a:srgbClr val="4F81BD"/>
                          </a:solidFill>
                          <a:latin typeface="Calibri"/>
                          <a:ea typeface="Calibri"/>
                          <a:cs typeface="Calibri"/>
                          <a:sym typeface="Calibri"/>
                        </a:rPr>
                        <a:t>}</a:t>
                      </a:r>
                      <a:endParaRPr sz="1100" dirty="0">
                        <a:solidFill>
                          <a:srgbClr val="4F81BD"/>
                        </a:solidFill>
                        <a:latin typeface="Calibri"/>
                        <a:ea typeface="Calibri"/>
                        <a:cs typeface="Calibri"/>
                        <a:sym typeface="Calibri"/>
                      </a:endParaRPr>
                    </a:p>
                  </a:txBody>
                  <a:tcPr marL="63500" marR="63500" marT="63500" marB="63500"/>
                </a:tc>
                <a:extLst>
                  <a:ext uri="{0D108BD9-81ED-4DB2-BD59-A6C34878D82A}">
                    <a16:rowId xmlns:a16="http://schemas.microsoft.com/office/drawing/2014/main" val="10000"/>
                  </a:ext>
                </a:extLst>
              </a:tr>
            </a:tbl>
          </a:graphicData>
        </a:graphic>
      </p:graphicFrame>
      <p:sp>
        <p:nvSpPr>
          <p:cNvPr id="660" name="Google Shape;660;p81"/>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61" name="Google Shape;661;p81"/>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400"/>
              <a:buFont typeface="Arial"/>
              <a:buNone/>
            </a:pP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p>
          <a:p>
            <a:pPr marL="763200" lvl="1"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MOVIL</a:t>
            </a:r>
            <a:endParaRPr dirty="0">
              <a:solidFill>
                <a:srgbClr val="FFFF00"/>
              </a:solidFill>
            </a:endParaRPr>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p>
          <a:p>
            <a:pPr marL="306000" lvl="0" indent="-306000" algn="l" rtl="0">
              <a:spcBef>
                <a:spcPts val="840"/>
              </a:spcBef>
              <a:spcAft>
                <a:spcPts val="0"/>
              </a:spcAft>
              <a:buClr>
                <a:srgbClr val="4590B8"/>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p>
          <a:p>
            <a:pPr marL="457200" lvl="0" indent="0" algn="l" rtl="0">
              <a:spcBef>
                <a:spcPts val="840"/>
              </a:spcBef>
              <a:spcAft>
                <a:spcPts val="0"/>
              </a:spcAft>
              <a:buClr>
                <a:srgbClr val="000000"/>
              </a:buClr>
              <a:buSzPts val="1400"/>
              <a:buFont typeface="Arial"/>
              <a:buNone/>
            </a:pPr>
            <a:endParaRPr dirty="0"/>
          </a:p>
          <a:p>
            <a:pPr marL="457200" lvl="0" indent="0" algn="l" rtl="0">
              <a:spcBef>
                <a:spcPts val="840"/>
              </a:spcBef>
              <a:spcAft>
                <a:spcPts val="0"/>
              </a:spcAft>
              <a:buClr>
                <a:srgbClr val="000000"/>
              </a:buClr>
              <a:buSzPts val="1400"/>
              <a:buFont typeface="Arial"/>
              <a:buNone/>
            </a:pPr>
            <a:endParaRPr dirty="0"/>
          </a:p>
          <a:p>
            <a:pPr marL="457200" marR="0" lvl="0" indent="0" algn="l" rtl="0">
              <a:lnSpc>
                <a:spcPct val="100000"/>
              </a:lnSpc>
              <a:spcBef>
                <a:spcPts val="840"/>
              </a:spcBef>
              <a:spcAft>
                <a:spcPts val="0"/>
              </a:spcAft>
              <a:buClr>
                <a:srgbClr val="000000"/>
              </a:buClr>
              <a:buSzPts val="1400"/>
              <a:buFont typeface="Arial"/>
              <a:buNone/>
            </a:pPr>
            <a:endParaRPr dirty="0"/>
          </a:p>
        </p:txBody>
      </p:sp>
      <p:sp>
        <p:nvSpPr>
          <p:cNvPr id="4" name="Google Shape;319;p40">
            <a:extLst>
              <a:ext uri="{FF2B5EF4-FFF2-40B4-BE49-F238E27FC236}">
                <a16:creationId xmlns:a16="http://schemas.microsoft.com/office/drawing/2014/main" id="{9A9551A8-D9D7-F278-5223-55A702F913A3}"/>
              </a:ext>
            </a:extLst>
          </p:cNvPr>
          <p:cNvSpPr txBox="1">
            <a:spLocks/>
          </p:cNvSpPr>
          <p:nvPr/>
        </p:nvSpPr>
        <p:spPr>
          <a:xfrm>
            <a:off x="-1" y="1837551"/>
            <a:ext cx="1940435" cy="4447919"/>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L="457200" marR="0" lvl="0" indent="-333756" algn="l" rtl="0">
              <a:lnSpc>
                <a:spcPct val="100000"/>
              </a:lnSpc>
              <a:spcBef>
                <a:spcPts val="360"/>
              </a:spcBef>
              <a:spcAft>
                <a:spcPts val="0"/>
              </a:spcAft>
              <a:buClr>
                <a:schemeClr val="accent2"/>
              </a:buClr>
              <a:buSzPts val="1656"/>
              <a:buFont typeface="Noto Sans Symbols"/>
              <a:buChar char="◼"/>
              <a:defRPr sz="1800" b="0" i="0" u="none" strike="noStrike" cap="none">
                <a:solidFill>
                  <a:schemeClr val="dk2"/>
                </a:solidFill>
                <a:latin typeface="Gill Sans"/>
                <a:ea typeface="Gill Sans"/>
                <a:cs typeface="Gill Sans"/>
                <a:sym typeface="Gill Sans"/>
              </a:defRPr>
            </a:lvl1pPr>
            <a:lvl2pPr marL="914400" marR="0" lvl="1" indent="-333756" algn="l" rtl="0">
              <a:lnSpc>
                <a:spcPct val="100000"/>
              </a:lnSpc>
              <a:spcBef>
                <a:spcPts val="600"/>
              </a:spcBef>
              <a:spcAft>
                <a:spcPts val="0"/>
              </a:spcAft>
              <a:buClr>
                <a:schemeClr val="accent2"/>
              </a:buClr>
              <a:buSzPts val="1656"/>
              <a:buFont typeface="Noto Sans Symbols"/>
              <a:buChar char="◼"/>
              <a:defRPr sz="1600" b="0" i="0" u="none" strike="noStrike" cap="none">
                <a:solidFill>
                  <a:schemeClr val="dk2"/>
                </a:solidFill>
                <a:latin typeface="Gill Sans"/>
                <a:ea typeface="Gill Sans"/>
                <a:cs typeface="Gill Sans"/>
                <a:sym typeface="Gill Sans"/>
              </a:defRPr>
            </a:lvl2pPr>
            <a:lvl3pPr marL="1371600" marR="0" lvl="2" indent="-333756" algn="l" rtl="0">
              <a:lnSpc>
                <a:spcPct val="100000"/>
              </a:lnSpc>
              <a:spcBef>
                <a:spcPts val="600"/>
              </a:spcBef>
              <a:spcAft>
                <a:spcPts val="0"/>
              </a:spcAft>
              <a:buClr>
                <a:schemeClr val="accent2"/>
              </a:buClr>
              <a:buSzPts val="1656"/>
              <a:buFont typeface="Noto Sans Symbols"/>
              <a:buChar char="◼"/>
              <a:defRPr sz="1400" b="0" i="0" u="none" strike="noStrike" cap="none">
                <a:solidFill>
                  <a:schemeClr val="dk2"/>
                </a:solidFill>
                <a:latin typeface="Gill Sans"/>
                <a:ea typeface="Gill Sans"/>
                <a:cs typeface="Gill Sans"/>
                <a:sym typeface="Gill Sans"/>
              </a:defRPr>
            </a:lvl3pPr>
            <a:lvl4pPr marL="1828800" marR="0" lvl="3"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4pPr>
            <a:lvl5pPr marL="2286000" marR="0" lvl="4"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5pPr>
            <a:lvl6pPr marL="2743200" marR="0" lvl="5"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6pPr>
            <a:lvl7pPr marL="3200400" marR="0" lvl="6"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7pPr>
            <a:lvl8pPr marL="3657600" marR="0" lvl="7" indent="-333756" algn="l" rtl="0">
              <a:lnSpc>
                <a:spcPct val="100000"/>
              </a:lnSpc>
              <a:spcBef>
                <a:spcPts val="600"/>
              </a:spcBef>
              <a:spcAft>
                <a:spcPts val="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8pPr>
            <a:lvl9pPr marL="4114800" marR="0" lvl="8" indent="-333756" algn="l" rtl="0">
              <a:lnSpc>
                <a:spcPct val="100000"/>
              </a:lnSpc>
              <a:spcBef>
                <a:spcPts val="600"/>
              </a:spcBef>
              <a:spcAft>
                <a:spcPts val="600"/>
              </a:spcAft>
              <a:buClr>
                <a:schemeClr val="accent2"/>
              </a:buClr>
              <a:buSzPts val="1656"/>
              <a:buFont typeface="Noto Sans Symbols"/>
              <a:buChar char="◼"/>
              <a:defRPr sz="1200" b="0" i="0" u="none" strike="noStrike" cap="none">
                <a:solidFill>
                  <a:schemeClr val="dk2"/>
                </a:solidFill>
                <a:latin typeface="Gill Sans"/>
                <a:ea typeface="Gill Sans"/>
                <a:cs typeface="Gill Sans"/>
                <a:sym typeface="Gill Sans"/>
              </a:defRPr>
            </a:lvl9pPr>
          </a:lstStyle>
          <a:p>
            <a:pPr indent="-327406">
              <a:lnSpc>
                <a:spcPct val="150000"/>
              </a:lnSpc>
              <a:spcBef>
                <a:spcPts val="0"/>
              </a:spcBef>
              <a:buSzPts val="1556"/>
              <a:buFont typeface="Noto Sans Symbols"/>
              <a:buChar char="∙"/>
            </a:pPr>
            <a:r>
              <a:rPr lang="es-MX" sz="1400" dirty="0">
                <a:solidFill>
                  <a:schemeClr val="dk1"/>
                </a:solidFill>
                <a:latin typeface="Calibri"/>
                <a:ea typeface="Calibri"/>
                <a:cs typeface="Calibri"/>
                <a:sym typeface="Calibri"/>
              </a:rPr>
              <a:t>A continuación se detallarán las clases principales con su código fuente.</a:t>
            </a:r>
          </a:p>
          <a:p>
            <a:pPr indent="-304800" algn="just">
              <a:lnSpc>
                <a:spcPct val="107000"/>
              </a:lnSpc>
              <a:spcBef>
                <a:spcPts val="0"/>
              </a:spcBef>
              <a:buSzPts val="1200"/>
              <a:buFont typeface="Cambria"/>
              <a:buChar char="∙"/>
            </a:pPr>
            <a:endParaRPr lang="es-MX" sz="1400" dirty="0">
              <a:latin typeface="Cambria"/>
              <a:ea typeface="Cambria"/>
              <a:cs typeface="Cambria"/>
              <a:sym typeface="Cambri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66"/>
        <p:cNvGrpSpPr/>
        <p:nvPr/>
      </p:nvGrpSpPr>
      <p:grpSpPr>
        <a:xfrm>
          <a:off x="0" y="0"/>
          <a:ext cx="0" cy="0"/>
          <a:chOff x="0" y="0"/>
          <a:chExt cx="0" cy="0"/>
        </a:xfrm>
      </p:grpSpPr>
      <p:sp>
        <p:nvSpPr>
          <p:cNvPr id="667" name="Google Shape;667;p82"/>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68" name="Google Shape;668;p82"/>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400"/>
              <a:buFont typeface="Arial"/>
              <a:buNone/>
            </a:pP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solidFill>
                <a:schemeClr val="dk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MOVIL</a:t>
            </a:r>
            <a:endParaRPr dirty="0">
              <a:solidFill>
                <a:srgbClr val="FFFF00"/>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marR="0" lvl="0" indent="0" algn="l" rtl="0">
              <a:lnSpc>
                <a:spcPct val="100000"/>
              </a:lnSpc>
              <a:spcBef>
                <a:spcPts val="840"/>
              </a:spcBef>
              <a:spcAft>
                <a:spcPts val="0"/>
              </a:spcAft>
              <a:buClr>
                <a:srgbClr val="000000"/>
              </a:buClr>
              <a:buSzPts val="1400"/>
              <a:buFont typeface="Arial"/>
              <a:buNone/>
            </a:pPr>
            <a:endParaRPr dirty="0">
              <a:solidFill>
                <a:schemeClr val="dk1"/>
              </a:solidFill>
            </a:endParaRPr>
          </a:p>
        </p:txBody>
      </p:sp>
      <p:sp>
        <p:nvSpPr>
          <p:cNvPr id="669" name="Google Shape;669;p82"/>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a:solidFill>
                  <a:srgbClr val="3D3D3D"/>
                </a:solidFill>
                <a:latin typeface="Cambria"/>
                <a:ea typeface="Cambria"/>
                <a:cs typeface="Cambria"/>
                <a:sym typeface="Cambria"/>
              </a:rPr>
              <a:t>Vista login</a:t>
            </a:r>
            <a:endParaRPr sz="2000" b="0" i="0" u="none" strike="noStrike" cap="none">
              <a:solidFill>
                <a:srgbClr val="3D3D3D"/>
              </a:solidFill>
              <a:latin typeface="Cambria"/>
              <a:ea typeface="Cambria"/>
              <a:cs typeface="Cambria"/>
              <a:sym typeface="Cambria"/>
            </a:endParaRPr>
          </a:p>
        </p:txBody>
      </p:sp>
      <p:pic>
        <p:nvPicPr>
          <p:cNvPr id="5" name="Picture 4">
            <a:extLst>
              <a:ext uri="{FF2B5EF4-FFF2-40B4-BE49-F238E27FC236}">
                <a16:creationId xmlns:a16="http://schemas.microsoft.com/office/drawing/2014/main" id="{C131F9B4-E4FC-30D2-83FA-1FE2C502EE51}"/>
              </a:ext>
            </a:extLst>
          </p:cNvPr>
          <p:cNvPicPr>
            <a:picLocks noChangeAspect="1"/>
          </p:cNvPicPr>
          <p:nvPr/>
        </p:nvPicPr>
        <p:blipFill>
          <a:blip r:embed="rId3"/>
          <a:stretch>
            <a:fillRect/>
          </a:stretch>
        </p:blipFill>
        <p:spPr>
          <a:xfrm>
            <a:off x="3814923" y="2137329"/>
            <a:ext cx="2077626" cy="4644401"/>
          </a:xfrm>
          <a:prstGeom prst="rect">
            <a:avLst/>
          </a:prstGeom>
          <a:ln>
            <a:solidFill>
              <a:schemeClr val="tx1"/>
            </a:solid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675" name="Google Shape;675;p83"/>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76" name="Google Shape;676;p83"/>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400"/>
              <a:buFont typeface="Arial"/>
              <a:buNone/>
            </a:pP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solidFill>
                <a:schemeClr val="dk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MOVIL</a:t>
            </a:r>
            <a:endParaRPr dirty="0">
              <a:solidFill>
                <a:srgbClr val="FFFF00"/>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marR="0" lvl="0" indent="0" algn="l" rtl="0">
              <a:lnSpc>
                <a:spcPct val="100000"/>
              </a:lnSpc>
              <a:spcBef>
                <a:spcPts val="840"/>
              </a:spcBef>
              <a:spcAft>
                <a:spcPts val="0"/>
              </a:spcAft>
              <a:buClr>
                <a:srgbClr val="000000"/>
              </a:buClr>
              <a:buSzPts val="1400"/>
              <a:buFont typeface="Arial"/>
              <a:buNone/>
            </a:pPr>
            <a:endParaRPr dirty="0">
              <a:solidFill>
                <a:schemeClr val="dk1"/>
              </a:solidFill>
            </a:endParaRPr>
          </a:p>
        </p:txBody>
      </p:sp>
      <p:sp>
        <p:nvSpPr>
          <p:cNvPr id="677" name="Google Shape;677;p83"/>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a:solidFill>
                  <a:srgbClr val="3D3D3D"/>
                </a:solidFill>
                <a:latin typeface="Cambria"/>
                <a:ea typeface="Cambria"/>
                <a:cs typeface="Cambria"/>
                <a:sym typeface="Cambria"/>
              </a:rPr>
              <a:t>Vista Conversor de unidades</a:t>
            </a:r>
            <a:endParaRPr sz="2000" b="0" i="0" u="none" strike="noStrike" cap="none">
              <a:solidFill>
                <a:srgbClr val="3D3D3D"/>
              </a:solidFill>
              <a:latin typeface="Cambria"/>
              <a:ea typeface="Cambria"/>
              <a:cs typeface="Cambria"/>
              <a:sym typeface="Cambria"/>
            </a:endParaRPr>
          </a:p>
        </p:txBody>
      </p:sp>
      <p:pic>
        <p:nvPicPr>
          <p:cNvPr id="3" name="Picture 2">
            <a:extLst>
              <a:ext uri="{FF2B5EF4-FFF2-40B4-BE49-F238E27FC236}">
                <a16:creationId xmlns:a16="http://schemas.microsoft.com/office/drawing/2014/main" id="{15E4874F-9F6B-38C4-9F7B-8337A7C375F9}"/>
              </a:ext>
            </a:extLst>
          </p:cNvPr>
          <p:cNvPicPr>
            <a:picLocks noChangeAspect="1"/>
          </p:cNvPicPr>
          <p:nvPr/>
        </p:nvPicPr>
        <p:blipFill>
          <a:blip r:embed="rId3"/>
          <a:stretch>
            <a:fillRect/>
          </a:stretch>
        </p:blipFill>
        <p:spPr>
          <a:xfrm>
            <a:off x="4488041" y="2154939"/>
            <a:ext cx="2848518" cy="4185026"/>
          </a:xfrm>
          <a:prstGeom prst="rect">
            <a:avLst/>
          </a:prstGeom>
          <a:ln>
            <a:solidFill>
              <a:schemeClr val="tx1"/>
            </a:solid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sp>
        <p:nvSpPr>
          <p:cNvPr id="683" name="Google Shape;683;p84"/>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DESARROLLO</a:t>
            </a:r>
            <a:endParaRPr/>
          </a:p>
        </p:txBody>
      </p:sp>
      <p:sp>
        <p:nvSpPr>
          <p:cNvPr id="684" name="Google Shape;684;p84"/>
          <p:cNvSpPr/>
          <p:nvPr/>
        </p:nvSpPr>
        <p:spPr>
          <a:xfrm>
            <a:off x="9383697" y="14347"/>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400"/>
              <a:buFont typeface="Arial"/>
              <a:buNone/>
            </a:pP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rgbClr val="FFFF00"/>
                </a:solidFill>
                <a:latin typeface="Gill Sans"/>
                <a:ea typeface="Gill Sans"/>
                <a:cs typeface="Gill Sans"/>
                <a:sym typeface="Gill Sans"/>
              </a:rPr>
              <a:t>DESARROLLO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OBJETIVO</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SERVIDOR RESTFUL</a:t>
            </a:r>
            <a:endParaRPr dirty="0">
              <a:solidFill>
                <a:schemeClr val="lt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CONSOLA</a:t>
            </a:r>
            <a:endParaRPr sz="1200" b="1" dirty="0">
              <a:solidFill>
                <a:schemeClr val="lt1"/>
              </a:solidFill>
              <a:latin typeface="Gill Sans"/>
              <a:ea typeface="Gill Sans"/>
              <a:cs typeface="Gill Sans"/>
              <a:sym typeface="Gill Sans"/>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ESCRITORIO</a:t>
            </a:r>
            <a:endParaRPr dirty="0">
              <a:solidFill>
                <a:schemeClr val="dk1"/>
              </a:solidFill>
            </a:endParaRPr>
          </a:p>
          <a:p>
            <a:pPr marL="763200" lvl="1"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CREACIÓN DEL PROYECTO – CLIENTE WEB</a:t>
            </a:r>
            <a:endParaRPr dirty="0">
              <a:solidFill>
                <a:schemeClr val="dk1"/>
              </a:solidFill>
            </a:endParaRPr>
          </a:p>
          <a:p>
            <a:pPr marL="763200" lvl="1" indent="-306000" algn="l" rtl="0">
              <a:spcBef>
                <a:spcPts val="840"/>
              </a:spcBef>
              <a:spcAft>
                <a:spcPts val="0"/>
              </a:spcAft>
              <a:buClr>
                <a:srgbClr val="FFFF00"/>
              </a:buClr>
              <a:buSzPts val="1104"/>
              <a:buFont typeface="Noto Sans Symbols"/>
              <a:buChar char="◼"/>
            </a:pPr>
            <a:r>
              <a:rPr lang="es-ES" sz="1200" b="1" dirty="0">
                <a:solidFill>
                  <a:srgbClr val="FFFF00"/>
                </a:solidFill>
                <a:latin typeface="Gill Sans"/>
                <a:ea typeface="Gill Sans"/>
                <a:cs typeface="Gill Sans"/>
                <a:sym typeface="Gill Sans"/>
              </a:rPr>
              <a:t>CREACIÓN DEL PROYECTO – CLIENTE MOVIL</a:t>
            </a:r>
            <a:endParaRPr dirty="0">
              <a:solidFill>
                <a:srgbClr val="FFFF00"/>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CONCLUSIONES</a:t>
            </a:r>
            <a:endParaRPr dirty="0">
              <a:solidFill>
                <a:schemeClr val="dk1"/>
              </a:solidFill>
            </a:endParaRPr>
          </a:p>
          <a:p>
            <a:pPr marL="306000" lvl="0" indent="-306000" algn="l" rtl="0">
              <a:spcBef>
                <a:spcPts val="840"/>
              </a:spcBef>
              <a:spcAft>
                <a:spcPts val="0"/>
              </a:spcAft>
              <a:buClr>
                <a:schemeClr val="accent2"/>
              </a:buClr>
              <a:buSzPts val="1104"/>
              <a:buFont typeface="Noto Sans Symbols"/>
              <a:buChar char="◼"/>
            </a:pPr>
            <a:r>
              <a:rPr lang="es-ES" sz="1200" b="1" dirty="0">
                <a:solidFill>
                  <a:schemeClr val="lt1"/>
                </a:solidFill>
                <a:latin typeface="Gill Sans"/>
                <a:ea typeface="Gill Sans"/>
                <a:cs typeface="Gill Sans"/>
                <a:sym typeface="Gill Sans"/>
              </a:rPr>
              <a:t>RECOMENDACIONES</a:t>
            </a: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lvl="0" indent="0" algn="l" rtl="0">
              <a:spcBef>
                <a:spcPts val="840"/>
              </a:spcBef>
              <a:spcAft>
                <a:spcPts val="0"/>
              </a:spcAft>
              <a:buClr>
                <a:schemeClr val="dk1"/>
              </a:buClr>
              <a:buSzPts val="1400"/>
              <a:buFont typeface="Arial"/>
              <a:buNone/>
            </a:pPr>
            <a:endParaRPr dirty="0">
              <a:solidFill>
                <a:schemeClr val="dk1"/>
              </a:solidFill>
            </a:endParaRPr>
          </a:p>
          <a:p>
            <a:pPr marL="457200" marR="0" lvl="0" indent="0" algn="l" rtl="0">
              <a:lnSpc>
                <a:spcPct val="100000"/>
              </a:lnSpc>
              <a:spcBef>
                <a:spcPts val="840"/>
              </a:spcBef>
              <a:spcAft>
                <a:spcPts val="0"/>
              </a:spcAft>
              <a:buClr>
                <a:srgbClr val="000000"/>
              </a:buClr>
              <a:buSzPts val="1400"/>
              <a:buFont typeface="Arial"/>
              <a:buNone/>
            </a:pPr>
            <a:endParaRPr dirty="0">
              <a:solidFill>
                <a:schemeClr val="dk1"/>
              </a:solidFill>
            </a:endParaRPr>
          </a:p>
        </p:txBody>
      </p:sp>
      <p:sp>
        <p:nvSpPr>
          <p:cNvPr id="685" name="Google Shape;685;p84"/>
          <p:cNvSpPr txBox="1"/>
          <p:nvPr/>
        </p:nvSpPr>
        <p:spPr>
          <a:xfrm>
            <a:off x="636600" y="1868349"/>
            <a:ext cx="8576700" cy="742200"/>
          </a:xfrm>
          <a:prstGeom prst="rect">
            <a:avLst/>
          </a:prstGeom>
          <a:noFill/>
          <a:ln>
            <a:noFill/>
          </a:ln>
        </p:spPr>
        <p:txBody>
          <a:bodyPr spcFirstLastPara="1" wrap="square" lIns="91425" tIns="45700" rIns="91425" bIns="45700" anchor="ctr" anchorCtr="0">
            <a:normAutofit/>
          </a:bodyPr>
          <a:lstStyle/>
          <a:p>
            <a:pPr marL="457200" marR="0" lvl="0" indent="-355600" algn="just" rtl="0">
              <a:lnSpc>
                <a:spcPct val="107000"/>
              </a:lnSpc>
              <a:spcBef>
                <a:spcPts val="0"/>
              </a:spcBef>
              <a:spcAft>
                <a:spcPts val="0"/>
              </a:spcAft>
              <a:buClr>
                <a:srgbClr val="3D3D3D"/>
              </a:buClr>
              <a:buSzPts val="2000"/>
              <a:buFont typeface="Cambria"/>
              <a:buChar char="∙"/>
            </a:pPr>
            <a:r>
              <a:rPr lang="es-ES" sz="1800" b="1" dirty="0">
                <a:solidFill>
                  <a:srgbClr val="3D3D3D"/>
                </a:solidFill>
                <a:latin typeface="Cambria"/>
                <a:ea typeface="Cambria"/>
                <a:cs typeface="Cambria"/>
                <a:sym typeface="Cambria"/>
              </a:rPr>
              <a:t>Vista Conversión realizada</a:t>
            </a:r>
            <a:endParaRPr sz="2000" b="0" i="0" u="none" strike="noStrike" cap="none" dirty="0">
              <a:solidFill>
                <a:srgbClr val="3D3D3D"/>
              </a:solidFill>
              <a:latin typeface="Cambria"/>
              <a:ea typeface="Cambria"/>
              <a:cs typeface="Cambria"/>
              <a:sym typeface="Cambria"/>
            </a:endParaRPr>
          </a:p>
        </p:txBody>
      </p:sp>
      <p:pic>
        <p:nvPicPr>
          <p:cNvPr id="3" name="Picture 2">
            <a:extLst>
              <a:ext uri="{FF2B5EF4-FFF2-40B4-BE49-F238E27FC236}">
                <a16:creationId xmlns:a16="http://schemas.microsoft.com/office/drawing/2014/main" id="{436EB5F3-E297-6F61-8BED-E259E91FBF70}"/>
              </a:ext>
            </a:extLst>
          </p:cNvPr>
          <p:cNvPicPr>
            <a:picLocks noChangeAspect="1"/>
          </p:cNvPicPr>
          <p:nvPr/>
        </p:nvPicPr>
        <p:blipFill>
          <a:blip r:embed="rId3"/>
          <a:stretch>
            <a:fillRect/>
          </a:stretch>
        </p:blipFill>
        <p:spPr>
          <a:xfrm>
            <a:off x="4634655" y="2321287"/>
            <a:ext cx="3109229" cy="4244708"/>
          </a:xfrm>
          <a:prstGeom prst="rect">
            <a:avLst/>
          </a:prstGeom>
          <a:ln>
            <a:solidFill>
              <a:schemeClr val="tx1"/>
            </a:solid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85"/>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CONCLUSIONES</a:t>
            </a:r>
            <a:endParaRPr/>
          </a:p>
        </p:txBody>
      </p:sp>
      <p:sp>
        <p:nvSpPr>
          <p:cNvPr id="692" name="Google Shape;692;p85"/>
          <p:cNvSpPr txBox="1">
            <a:spLocks noGrp="1"/>
          </p:cNvSpPr>
          <p:nvPr>
            <p:ph type="body" idx="1"/>
          </p:nvPr>
        </p:nvSpPr>
        <p:spPr>
          <a:xfrm>
            <a:off x="581192" y="2180496"/>
            <a:ext cx="8589300" cy="3678300"/>
          </a:xfrm>
          <a:prstGeom prst="rect">
            <a:avLst/>
          </a:prstGeom>
          <a:noFill/>
          <a:ln>
            <a:noFill/>
          </a:ln>
        </p:spPr>
        <p:txBody>
          <a:bodyPr spcFirstLastPara="1" wrap="square" lIns="91425" tIns="45700" rIns="91425" bIns="45700" anchor="ctr" anchorCtr="0">
            <a:normAutofit/>
          </a:bodyPr>
          <a:lstStyle/>
          <a:p>
            <a:pPr marL="0" marR="0" lvl="0" indent="0" algn="just" rtl="0">
              <a:lnSpc>
                <a:spcPct val="107000"/>
              </a:lnSpc>
              <a:spcBef>
                <a:spcPts val="0"/>
              </a:spcBef>
              <a:spcAft>
                <a:spcPts val="0"/>
              </a:spcAft>
              <a:buSzPts val="1656"/>
              <a:buNone/>
            </a:pPr>
            <a:r>
              <a:rPr lang="es-ES" sz="1900" dirty="0">
                <a:latin typeface="Cambria"/>
                <a:ea typeface="Cambria"/>
                <a:cs typeface="Cambria"/>
                <a:sym typeface="Cambria"/>
              </a:rPr>
              <a:t>La culminación de este proyecto evidencia la efectividad de los principios REST al integrar exitosamente un servidor RESTFUL robusto, desarrollado en Java y alojado en Payara Server, con un ecosistema de clientes multiplataforma (web, móvil, escritorio y consola) mediante el uso de Java y el entorno </a:t>
            </a:r>
            <a:r>
              <a:rPr lang="es-ES" sz="1900" dirty="0" err="1">
                <a:latin typeface="Cambria"/>
                <a:ea typeface="Cambria"/>
                <a:cs typeface="Cambria"/>
                <a:sym typeface="Cambria"/>
              </a:rPr>
              <a:t>Netbeans</a:t>
            </a:r>
            <a:r>
              <a:rPr lang="es-ES" sz="1900" dirty="0">
                <a:latin typeface="Cambria"/>
                <a:ea typeface="Cambria"/>
                <a:cs typeface="Cambria"/>
                <a:sym typeface="Cambria"/>
              </a:rPr>
              <a:t> y Android Studio para el cliente móvil. Esta integración técnica se validó mediante la implementación de un sistema de seguridad desacoplado basado en tokens, junto con la aplicación del patrón </a:t>
            </a:r>
            <a:r>
              <a:rPr lang="es-ES" sz="1900" dirty="0" err="1">
                <a:latin typeface="Cambria"/>
                <a:ea typeface="Cambria"/>
                <a:cs typeface="Cambria"/>
                <a:sym typeface="Cambria"/>
              </a:rPr>
              <a:t>Strategy</a:t>
            </a:r>
            <a:r>
              <a:rPr lang="es-ES" sz="1900" dirty="0">
                <a:latin typeface="Cambria"/>
                <a:ea typeface="Cambria"/>
                <a:cs typeface="Cambria"/>
                <a:sym typeface="Cambria"/>
              </a:rPr>
              <a:t> en el cliente, lo que garantiza una solución de software interoperable, escalable y alineada con los estándares de desarrollo empresarial modernos.</a:t>
            </a:r>
            <a:endParaRPr sz="1900" dirty="0"/>
          </a:p>
        </p:txBody>
      </p:sp>
      <p:sp>
        <p:nvSpPr>
          <p:cNvPr id="693" name="Google Shape;693;p85"/>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OBJETIVO</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chemeClr val="lt1"/>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SERVIDOR RESTFUL</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MOVIL</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FFFF00"/>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CONCLUSIONES</a:t>
            </a:r>
            <a:endParaRPr sz="1400" b="0" i="0" u="none" strike="noStrike" cap="none" dirty="0">
              <a:solidFill>
                <a:srgbClr val="FFFF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RECOMENDACIONES</a:t>
            </a:r>
            <a:endParaRPr sz="1400" b="0" i="0" u="none" strike="noStrike" cap="none" dirty="0">
              <a:solidFill>
                <a:srgbClr val="0000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sp>
        <p:nvSpPr>
          <p:cNvPr id="698" name="Google Shape;698;p86"/>
          <p:cNvSpPr txBox="1">
            <a:spLocks noGrp="1"/>
          </p:cNvSpPr>
          <p:nvPr>
            <p:ph type="title"/>
          </p:nvPr>
        </p:nvSpPr>
        <p:spPr>
          <a:xfrm>
            <a:off x="581192" y="702156"/>
            <a:ext cx="11029500" cy="10137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lt1"/>
              </a:buClr>
              <a:buSzPts val="2800"/>
              <a:buFont typeface="Gill Sans"/>
              <a:buNone/>
            </a:pPr>
            <a:r>
              <a:rPr lang="es-ES"/>
              <a:t>RECOMENDACIONES</a:t>
            </a:r>
            <a:endParaRPr/>
          </a:p>
        </p:txBody>
      </p:sp>
      <p:sp>
        <p:nvSpPr>
          <p:cNvPr id="699" name="Google Shape;699;p86"/>
          <p:cNvSpPr txBox="1">
            <a:spLocks noGrp="1"/>
          </p:cNvSpPr>
          <p:nvPr>
            <p:ph type="body" idx="1"/>
          </p:nvPr>
        </p:nvSpPr>
        <p:spPr>
          <a:xfrm>
            <a:off x="581200" y="2025325"/>
            <a:ext cx="8500800" cy="4291200"/>
          </a:xfrm>
          <a:prstGeom prst="rect">
            <a:avLst/>
          </a:prstGeom>
          <a:noFill/>
          <a:ln>
            <a:noFill/>
          </a:ln>
        </p:spPr>
        <p:txBody>
          <a:bodyPr spcFirstLastPara="1" wrap="square" lIns="91425" tIns="45700" rIns="91425" bIns="45700" anchor="ctr" anchorCtr="0">
            <a:normAutofit/>
          </a:bodyPr>
          <a:lstStyle/>
          <a:p>
            <a:pPr marL="0" lvl="0" indent="0" algn="just" rtl="0">
              <a:lnSpc>
                <a:spcPct val="107000"/>
              </a:lnSpc>
              <a:spcBef>
                <a:spcPts val="0"/>
              </a:spcBef>
              <a:spcAft>
                <a:spcPts val="0"/>
              </a:spcAft>
              <a:buNone/>
            </a:pPr>
            <a:r>
              <a:rPr lang="es-ES" sz="1900" dirty="0">
                <a:latin typeface="Cambria"/>
                <a:ea typeface="Cambria"/>
                <a:cs typeface="Cambria"/>
                <a:sym typeface="Cambria"/>
              </a:rPr>
              <a:t>Integrar una base de datos (BDD) formal para reemplazar el manejo de credenciales quemadas en código y permitir el almacenamiento histórico personal de las conversiones de manera persistente y escalable.</a:t>
            </a:r>
            <a:endParaRPr sz="1900" dirty="0">
              <a:latin typeface="Cambria"/>
              <a:ea typeface="Cambria"/>
              <a:cs typeface="Cambria"/>
              <a:sym typeface="Cambria"/>
            </a:endParaRPr>
          </a:p>
          <a:p>
            <a:pPr marL="0" lvl="0" indent="0" algn="just" rtl="0">
              <a:lnSpc>
                <a:spcPct val="107000"/>
              </a:lnSpc>
              <a:spcBef>
                <a:spcPts val="0"/>
              </a:spcBef>
              <a:spcAft>
                <a:spcPts val="0"/>
              </a:spcAft>
              <a:buNone/>
            </a:pPr>
            <a:endParaRPr sz="1900" dirty="0">
              <a:latin typeface="Cambria"/>
              <a:ea typeface="Cambria"/>
              <a:cs typeface="Cambria"/>
              <a:sym typeface="Cambria"/>
            </a:endParaRPr>
          </a:p>
          <a:p>
            <a:pPr marL="0" lvl="0" indent="0" algn="just" rtl="0">
              <a:lnSpc>
                <a:spcPct val="107000"/>
              </a:lnSpc>
              <a:spcBef>
                <a:spcPts val="0"/>
              </a:spcBef>
              <a:spcAft>
                <a:spcPts val="0"/>
              </a:spcAft>
              <a:buNone/>
            </a:pPr>
            <a:r>
              <a:rPr lang="es-ES" sz="1900" dirty="0">
                <a:latin typeface="Cambria"/>
                <a:ea typeface="Cambria"/>
                <a:cs typeface="Cambria"/>
                <a:sym typeface="Cambria"/>
              </a:rPr>
              <a:t>Integrar protocolos de cifrado a nivel de mensaje (WS-Security) y el uso de HTTPS en entornos de producción para proteger la integridad del token de seguridad y los datos sensibles durante el tránsito en la red. </a:t>
            </a:r>
            <a:endParaRPr sz="1900" dirty="0">
              <a:latin typeface="Cambria"/>
              <a:ea typeface="Cambria"/>
              <a:cs typeface="Cambria"/>
              <a:sym typeface="Cambria"/>
            </a:endParaRPr>
          </a:p>
          <a:p>
            <a:pPr marL="0" lvl="0" indent="0" algn="just" rtl="0">
              <a:lnSpc>
                <a:spcPct val="107000"/>
              </a:lnSpc>
              <a:spcBef>
                <a:spcPts val="0"/>
              </a:spcBef>
              <a:spcAft>
                <a:spcPts val="0"/>
              </a:spcAft>
              <a:buNone/>
            </a:pPr>
            <a:r>
              <a:rPr lang="es-ES" sz="1900" dirty="0">
                <a:latin typeface="Cambria"/>
                <a:ea typeface="Cambria"/>
                <a:cs typeface="Cambria"/>
                <a:sym typeface="Cambria"/>
              </a:rPr>
              <a:t> </a:t>
            </a:r>
            <a:endParaRPr sz="1900" dirty="0">
              <a:latin typeface="Cambria"/>
              <a:ea typeface="Cambria"/>
              <a:cs typeface="Cambria"/>
              <a:sym typeface="Cambria"/>
            </a:endParaRPr>
          </a:p>
          <a:p>
            <a:pPr marL="0" lvl="0" indent="0" algn="just" rtl="0">
              <a:lnSpc>
                <a:spcPct val="107000"/>
              </a:lnSpc>
              <a:spcBef>
                <a:spcPts val="0"/>
              </a:spcBef>
              <a:spcAft>
                <a:spcPts val="0"/>
              </a:spcAft>
              <a:buNone/>
            </a:pPr>
            <a:r>
              <a:rPr lang="es-ES" sz="1900" dirty="0">
                <a:latin typeface="Cambria"/>
                <a:ea typeface="Cambria"/>
                <a:cs typeface="Cambria"/>
                <a:sym typeface="Cambria"/>
              </a:rPr>
              <a:t>Incorporar herramientas de análisis estático de código automatizadas como </a:t>
            </a:r>
            <a:r>
              <a:rPr lang="es-ES" sz="1900" dirty="0" err="1">
                <a:latin typeface="Cambria"/>
                <a:ea typeface="Cambria"/>
                <a:cs typeface="Cambria"/>
                <a:sym typeface="Cambria"/>
              </a:rPr>
              <a:t>Sonarqube</a:t>
            </a:r>
            <a:r>
              <a:rPr lang="es-ES" sz="1900" dirty="0">
                <a:latin typeface="Cambria"/>
                <a:ea typeface="Cambria"/>
                <a:cs typeface="Cambria"/>
                <a:sym typeface="Cambria"/>
              </a:rPr>
              <a:t> dentro del ciclo de vida de desarrollo para monitorear la calidad del software y asegurar que las nuevas funcionalidades no rompan la compatibilidad, así como el desarrollo de </a:t>
            </a:r>
            <a:r>
              <a:rPr lang="es-ES" sz="1900">
                <a:latin typeface="Cambria"/>
                <a:ea typeface="Cambria"/>
                <a:cs typeface="Cambria"/>
                <a:sym typeface="Cambria"/>
              </a:rPr>
              <a:t>pruebas unitarias y de carga</a:t>
            </a:r>
            <a:endParaRPr sz="1900" dirty="0">
              <a:latin typeface="Cambria"/>
              <a:ea typeface="Cambria"/>
              <a:cs typeface="Cambria"/>
              <a:sym typeface="Cambria"/>
            </a:endParaRPr>
          </a:p>
        </p:txBody>
      </p:sp>
      <p:sp>
        <p:nvSpPr>
          <p:cNvPr id="700" name="Google Shape;700;p86"/>
          <p:cNvSpPr/>
          <p:nvPr/>
        </p:nvSpPr>
        <p:spPr>
          <a:xfrm>
            <a:off x="9383697" y="0"/>
            <a:ext cx="2808300" cy="6858000"/>
          </a:xfrm>
          <a:prstGeom prst="rect">
            <a:avLst/>
          </a:prstGeom>
          <a:solidFill>
            <a:schemeClr val="accent1"/>
          </a:solidFill>
          <a:ln w="22225" cap="rnd" cmpd="sng">
            <a:solidFill>
              <a:srgbClr val="122446"/>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DESARROLLO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OBJETIVO</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chemeClr val="lt1"/>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SERVIDOR RESTFUL</a:t>
            </a:r>
            <a:endParaRPr sz="1400" b="0" i="0" u="none" strike="noStrike" cap="none" dirty="0">
              <a:solidFill>
                <a:schemeClr val="lt1"/>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CONSOLA</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ESCRITORIO</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WEB</a:t>
            </a:r>
            <a:endParaRPr sz="1400" b="0" i="0" u="none" strike="noStrike" cap="none" dirty="0">
              <a:solidFill>
                <a:srgbClr val="000000"/>
              </a:solidFill>
              <a:latin typeface="Arial"/>
              <a:ea typeface="Arial"/>
              <a:cs typeface="Arial"/>
              <a:sym typeface="Arial"/>
            </a:endParaRPr>
          </a:p>
          <a:p>
            <a:pPr marL="763200" marR="0" lvl="1"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CREACIÓN DEL PROYECTO – CLIENTE MOVIL</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4590B8"/>
              </a:buClr>
              <a:buSzPts val="1104"/>
              <a:buFont typeface="Noto Sans Symbols"/>
              <a:buChar char="◼"/>
            </a:pPr>
            <a:r>
              <a:rPr lang="es-ES" sz="1200" b="1" i="0" u="none" strike="noStrike" cap="none" dirty="0">
                <a:solidFill>
                  <a:schemeClr val="lt1"/>
                </a:solidFill>
                <a:latin typeface="Gill Sans"/>
                <a:ea typeface="Gill Sans"/>
                <a:cs typeface="Gill Sans"/>
                <a:sym typeface="Gill Sans"/>
              </a:rPr>
              <a:t>CONCLUSIONES</a:t>
            </a:r>
            <a:endParaRPr sz="1400" b="0" i="0" u="none" strike="noStrike" cap="none" dirty="0">
              <a:solidFill>
                <a:srgbClr val="000000"/>
              </a:solidFill>
              <a:latin typeface="Arial"/>
              <a:ea typeface="Arial"/>
              <a:cs typeface="Arial"/>
              <a:sym typeface="Arial"/>
            </a:endParaRPr>
          </a:p>
          <a:p>
            <a:pPr marL="306000" marR="0" lvl="0" indent="-306000" algn="l" rtl="0">
              <a:lnSpc>
                <a:spcPct val="100000"/>
              </a:lnSpc>
              <a:spcBef>
                <a:spcPts val="840"/>
              </a:spcBef>
              <a:spcAft>
                <a:spcPts val="0"/>
              </a:spcAft>
              <a:buClr>
                <a:srgbClr val="FFFF00"/>
              </a:buClr>
              <a:buSzPts val="1104"/>
              <a:buFont typeface="Noto Sans Symbols"/>
              <a:buChar char="◼"/>
            </a:pPr>
            <a:r>
              <a:rPr lang="es-ES" sz="1200" b="1" i="0" u="none" strike="noStrike" cap="none" dirty="0">
                <a:solidFill>
                  <a:srgbClr val="FFFF00"/>
                </a:solidFill>
                <a:latin typeface="Gill Sans"/>
                <a:ea typeface="Gill Sans"/>
                <a:cs typeface="Gill Sans"/>
                <a:sym typeface="Gill Sans"/>
              </a:rPr>
              <a:t>RECOMENDACIONES</a:t>
            </a:r>
            <a:endParaRPr sz="1400" b="0" i="0" u="none" strike="noStrike" cap="none" dirty="0">
              <a:solidFill>
                <a:srgbClr val="FFFF00"/>
              </a:solidFill>
              <a:latin typeface="Arial"/>
              <a:ea typeface="Arial"/>
              <a:cs typeface="Arial"/>
              <a:sym typeface="Arial"/>
            </a:endParaRPr>
          </a:p>
          <a:p>
            <a:pPr marL="457200" marR="0" lvl="0" indent="0" algn="l" rtl="0">
              <a:lnSpc>
                <a:spcPct val="100000"/>
              </a:lnSpc>
              <a:spcBef>
                <a:spcPts val="84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Dividendo">
  <a:themeElements>
    <a:clrScheme name="Dividend">
      <a:dk1>
        <a:srgbClr val="000000"/>
      </a:dk1>
      <a:lt1>
        <a:srgbClr val="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325</TotalTime>
  <Words>7694</Words>
  <Application>Microsoft Office PowerPoint</Application>
  <PresentationFormat>Widescreen</PresentationFormat>
  <Paragraphs>1405</Paragraphs>
  <Slides>53</Slides>
  <Notes>53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Cambria</vt:lpstr>
      <vt:lpstr>Gill Sans</vt:lpstr>
      <vt:lpstr>Calibri</vt:lpstr>
      <vt:lpstr>Noto Sans Symbols</vt:lpstr>
      <vt:lpstr>Arial</vt:lpstr>
      <vt:lpstr>Dividendo</vt:lpstr>
      <vt:lpstr>MANUAL CONVERSIÓN UNIDADES RESTFUL JAVA</vt:lpstr>
      <vt:lpstr>PowerPoint Presentation</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DESARROLLO</vt:lpstr>
      <vt:lpstr>CONCLUSIONES</vt:lpstr>
      <vt:lpstr>RECOMENDACIONES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Mateo Medranda</cp:lastModifiedBy>
  <cp:revision>9</cp:revision>
  <dcterms:modified xsi:type="dcterms:W3CDTF">2026-10-24T16:25:05Z</dcterms:modified>
</cp:coreProperties>
</file>