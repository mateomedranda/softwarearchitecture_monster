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61"/>
  </p:notes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33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331" r:id="rId35"/>
    <p:sldId id="332" r:id="rId36"/>
    <p:sldId id="333" r:id="rId37"/>
    <p:sldId id="309" r:id="rId38"/>
    <p:sldId id="310" r:id="rId39"/>
    <p:sldId id="311" r:id="rId40"/>
    <p:sldId id="312" r:id="rId41"/>
    <p:sldId id="313" r:id="rId42"/>
    <p:sldId id="314" r:id="rId43"/>
    <p:sldId id="315" r:id="rId44"/>
    <p:sldId id="316" r:id="rId45"/>
    <p:sldId id="317" r:id="rId46"/>
    <p:sldId id="318" r:id="rId47"/>
    <p:sldId id="319" r:id="rId48"/>
    <p:sldId id="334" r:id="rId49"/>
    <p:sldId id="320" r:id="rId50"/>
    <p:sldId id="321" r:id="rId51"/>
    <p:sldId id="322" r:id="rId52"/>
    <p:sldId id="323" r:id="rId53"/>
    <p:sldId id="324" r:id="rId54"/>
    <p:sldId id="335" r:id="rId55"/>
    <p:sldId id="325" r:id="rId56"/>
    <p:sldId id="326" r:id="rId57"/>
    <p:sldId id="327" r:id="rId58"/>
    <p:sldId id="328" r:id="rId59"/>
    <p:sldId id="329" r:id="rId60"/>
  </p:sldIdLst>
  <p:sldSz cx="12192000" cy="6858000"/>
  <p:notesSz cx="6858000" cy="9144000"/>
  <p:embeddedFontLst>
    <p:embeddedFont>
      <p:font typeface="Cambria" panose="02040503050406030204" pitchFamily="18" charset="0"/>
      <p:regular r:id="rId62"/>
      <p:bold r:id="rId63"/>
      <p:italic r:id="rId64"/>
      <p:boldItalic r:id="rId65"/>
    </p:embeddedFont>
    <p:embeddedFont>
      <p:font typeface="Gill Sans" panose="020B0604020202020204" charset="0"/>
      <p:regular r:id="rId66"/>
      <p:bold r:id="rId6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F136021-7255-42B7-A7E7-87A8D8FFE9CA}">
  <a:tblStyle styleId="{BF136021-7255-42B7-A7E7-87A8D8FFE9CA}" styleName="Table_0">
    <a:wholeTbl>
      <a:tcTxStyle>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27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2.fntdata"/><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5.fntdata"/><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3.fntdata"/><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1.fntdata"/><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3" name="Google Shape;10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a8526227be_0_4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g3a8526227be_0_4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a8526227be_0_4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 name="Google Shape;119;g3a8526227be_0_4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a8526227be_0_4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7" name="Google Shape;127;g3a8526227be_0_4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a8526227be_0_4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3" name="Google Shape;143;g3a8526227be_0_4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a8526227be_0_4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1" name="Google Shape;151;g3a8526227be_0_4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a8526227be_0_4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0" name="Google Shape;160;g3a8526227be_0_4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a8526227be_0_4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8" name="Google Shape;168;g3a8526227be_0_4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a8526227be_0_4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7" name="Google Shape;177;g3a8526227be_0_4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a8526227be_0_4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5" name="Google Shape;185;g3a8526227be_0_4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a8526227be_0_4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4" name="Google Shape;194;g3a8526227be_0_4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a8526227be_0_5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2" name="Google Shape;202;g3a8526227be_0_5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a:extLst>
            <a:ext uri="{FF2B5EF4-FFF2-40B4-BE49-F238E27FC236}">
              <a16:creationId xmlns:a16="http://schemas.microsoft.com/office/drawing/2014/main" id="{A46F4767-3E52-FE11-8FDB-A76C52CD3EA2}"/>
            </a:ext>
          </a:extLst>
        </p:cNvPr>
        <p:cNvGrpSpPr/>
        <p:nvPr/>
      </p:nvGrpSpPr>
      <p:grpSpPr>
        <a:xfrm>
          <a:off x="0" y="0"/>
          <a:ext cx="0" cy="0"/>
          <a:chOff x="0" y="0"/>
          <a:chExt cx="0" cy="0"/>
        </a:xfrm>
      </p:grpSpPr>
      <p:sp>
        <p:nvSpPr>
          <p:cNvPr id="201" name="Google Shape;201;g3a8526227be_0_504:notes">
            <a:extLst>
              <a:ext uri="{FF2B5EF4-FFF2-40B4-BE49-F238E27FC236}">
                <a16:creationId xmlns:a16="http://schemas.microsoft.com/office/drawing/2014/main" id="{849837E9-9F91-3E0C-9792-4D34537E34F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2" name="Google Shape;202;g3a8526227be_0_504:notes">
            <a:extLst>
              <a:ext uri="{FF2B5EF4-FFF2-40B4-BE49-F238E27FC236}">
                <a16:creationId xmlns:a16="http://schemas.microsoft.com/office/drawing/2014/main" id="{A03AD4A7-5A74-07A2-AF0D-AF9888C742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909538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a8526227be_0_5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8" name="Google Shape;218;g3a8526227be_0_5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a8526227be_0_5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a8526227be_0_5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a8526227be_0_5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g3a8526227be_0_5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a8526227be_0_5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3" name="Google Shape;243;g3a8526227be_0_5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a8526227be_0_5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1" name="Google Shape;251;g3a8526227be_0_5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a8526227be_0_5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9" name="Google Shape;259;g3a8526227be_0_5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3a8526227be_0_5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7" name="Google Shape;267;g3a8526227be_0_5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3a8526227be_0_5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5" name="Google Shape;275;g3a8526227be_0_5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a8526227be_0_5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3" name="Google Shape;283;g3a8526227be_0_5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a8526227be_0_5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1" name="Google Shape;291;g3a8526227be_0_5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a8526227be_0_5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9" name="Google Shape;299;g3a8526227be_0_5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3a854632a9a_2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8" name="Google Shape;308;g3a854632a9a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3a854632a9a_2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6" name="Google Shape;316;g3a854632a9a_2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3a854632a9a_2_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4" name="Google Shape;324;g3a854632a9a_2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3a854632a9a_2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2" name="Google Shape;332;g3a854632a9a_2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3a854632a9a_2_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a854632a9a_2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3a854632a9a_2_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9" name="Google Shape;349;g3a854632a9a_2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3a854632a9a_2_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8" name="Google Shape;358;g3a854632a9a_2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3a854632a9a_2_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7" name="Google Shape;367;g3a854632a9a_2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a:extLst>
            <a:ext uri="{FF2B5EF4-FFF2-40B4-BE49-F238E27FC236}">
              <a16:creationId xmlns:a16="http://schemas.microsoft.com/office/drawing/2014/main" id="{2AA037C5-21E5-C0DF-F1BE-C6A43353744D}"/>
            </a:ext>
          </a:extLst>
        </p:cNvPr>
        <p:cNvGrpSpPr/>
        <p:nvPr/>
      </p:nvGrpSpPr>
      <p:grpSpPr>
        <a:xfrm>
          <a:off x="0" y="0"/>
          <a:ext cx="0" cy="0"/>
          <a:chOff x="0" y="0"/>
          <a:chExt cx="0" cy="0"/>
        </a:xfrm>
      </p:grpSpPr>
      <p:sp>
        <p:nvSpPr>
          <p:cNvPr id="366" name="Google Shape;366;g3a854632a9a_2_63:notes">
            <a:extLst>
              <a:ext uri="{FF2B5EF4-FFF2-40B4-BE49-F238E27FC236}">
                <a16:creationId xmlns:a16="http://schemas.microsoft.com/office/drawing/2014/main" id="{771357E5-62CC-C8B4-B344-30B4C1547C0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7" name="Google Shape;367;g3a854632a9a_2_63:notes">
            <a:extLst>
              <a:ext uri="{FF2B5EF4-FFF2-40B4-BE49-F238E27FC236}">
                <a16:creationId xmlns:a16="http://schemas.microsoft.com/office/drawing/2014/main" id="{9A847E0D-87A6-2F96-6697-9A4FD56649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158853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a:extLst>
            <a:ext uri="{FF2B5EF4-FFF2-40B4-BE49-F238E27FC236}">
              <a16:creationId xmlns:a16="http://schemas.microsoft.com/office/drawing/2014/main" id="{A37B5E15-155C-E310-190E-64C58FAEC810}"/>
            </a:ext>
          </a:extLst>
        </p:cNvPr>
        <p:cNvGrpSpPr/>
        <p:nvPr/>
      </p:nvGrpSpPr>
      <p:grpSpPr>
        <a:xfrm>
          <a:off x="0" y="0"/>
          <a:ext cx="0" cy="0"/>
          <a:chOff x="0" y="0"/>
          <a:chExt cx="0" cy="0"/>
        </a:xfrm>
      </p:grpSpPr>
      <p:sp>
        <p:nvSpPr>
          <p:cNvPr id="366" name="Google Shape;366;g3a854632a9a_2_63:notes">
            <a:extLst>
              <a:ext uri="{FF2B5EF4-FFF2-40B4-BE49-F238E27FC236}">
                <a16:creationId xmlns:a16="http://schemas.microsoft.com/office/drawing/2014/main" id="{8E8464D9-35DC-456E-F3FA-C0257AF56A9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7" name="Google Shape;367;g3a854632a9a_2_63:notes">
            <a:extLst>
              <a:ext uri="{FF2B5EF4-FFF2-40B4-BE49-F238E27FC236}">
                <a16:creationId xmlns:a16="http://schemas.microsoft.com/office/drawing/2014/main" id="{81AFA64F-7D46-42FF-7CAB-A36377E886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458267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a:extLst>
            <a:ext uri="{FF2B5EF4-FFF2-40B4-BE49-F238E27FC236}">
              <a16:creationId xmlns:a16="http://schemas.microsoft.com/office/drawing/2014/main" id="{52A704F7-300C-A404-2B20-DA697BFB76BF}"/>
            </a:ext>
          </a:extLst>
        </p:cNvPr>
        <p:cNvGrpSpPr/>
        <p:nvPr/>
      </p:nvGrpSpPr>
      <p:grpSpPr>
        <a:xfrm>
          <a:off x="0" y="0"/>
          <a:ext cx="0" cy="0"/>
          <a:chOff x="0" y="0"/>
          <a:chExt cx="0" cy="0"/>
        </a:xfrm>
      </p:grpSpPr>
      <p:sp>
        <p:nvSpPr>
          <p:cNvPr id="366" name="Google Shape;366;g3a854632a9a_2_63:notes">
            <a:extLst>
              <a:ext uri="{FF2B5EF4-FFF2-40B4-BE49-F238E27FC236}">
                <a16:creationId xmlns:a16="http://schemas.microsoft.com/office/drawing/2014/main" id="{981A37BB-55A5-4106-6C09-2D26C6ACA8B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7" name="Google Shape;367;g3a854632a9a_2_63:notes">
            <a:extLst>
              <a:ext uri="{FF2B5EF4-FFF2-40B4-BE49-F238E27FC236}">
                <a16:creationId xmlns:a16="http://schemas.microsoft.com/office/drawing/2014/main" id="{E03379AD-EF70-061A-ACC5-C212D560D8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967373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3a854632a9a_2_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32" name="Google Shape;532;g3a854632a9a_2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3a854632a9a_2_2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42" name="Google Shape;542;g3a854632a9a_2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3a854632a9a_2_2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50" name="Google Shape;550;g3a854632a9a_2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3a854632a9a_2_2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58" name="Google Shape;558;g3a854632a9a_2_2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g3a854632a9a_2_2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6" name="Google Shape;566;g3a854632a9a_2_2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g3a854632a9a_2_2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74" name="Google Shape;574;g3a854632a9a_2_2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g3a854632a9a_2_2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82" name="Google Shape;582;g3a854632a9a_2_2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g3a854632a9a_2_2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0" name="Google Shape;590;g3a854632a9a_2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g3a854632a9a_2_2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9" name="Google Shape;599;g3a854632a9a_2_2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g3a854632a9a_2_2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607" name="Google Shape;607;g3a854632a9a_2_2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g3a854632a9a_2_2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15" name="Google Shape;615;g3a854632a9a_2_2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a:extLst>
            <a:ext uri="{FF2B5EF4-FFF2-40B4-BE49-F238E27FC236}">
              <a16:creationId xmlns:a16="http://schemas.microsoft.com/office/drawing/2014/main" id="{E1E1BB20-FDA0-5D7D-F34D-706C969C1B7B}"/>
            </a:ext>
          </a:extLst>
        </p:cNvPr>
        <p:cNvGrpSpPr/>
        <p:nvPr/>
      </p:nvGrpSpPr>
      <p:grpSpPr>
        <a:xfrm>
          <a:off x="0" y="0"/>
          <a:ext cx="0" cy="0"/>
          <a:chOff x="0" y="0"/>
          <a:chExt cx="0" cy="0"/>
        </a:xfrm>
      </p:grpSpPr>
      <p:sp>
        <p:nvSpPr>
          <p:cNvPr id="614" name="Google Shape;614;g3a854632a9a_2_281:notes">
            <a:extLst>
              <a:ext uri="{FF2B5EF4-FFF2-40B4-BE49-F238E27FC236}">
                <a16:creationId xmlns:a16="http://schemas.microsoft.com/office/drawing/2014/main" id="{D6746467-1272-F40F-9481-8C7D069E649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15" name="Google Shape;615;g3a854632a9a_2_281:notes">
            <a:extLst>
              <a:ext uri="{FF2B5EF4-FFF2-40B4-BE49-F238E27FC236}">
                <a16:creationId xmlns:a16="http://schemas.microsoft.com/office/drawing/2014/main" id="{4C9C7D2D-9B52-749F-BF80-574B7C3E2E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1034743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g3a854632a9a_2_2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23" name="Google Shape;623;g3a854632a9a_2_2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g3a854632a9a_2_2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31" name="Google Shape;631;g3a854632a9a_2_2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g3a8526227be_0_6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39" name="Google Shape;639;g3a8526227be_0_6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3a854632a9a_2_3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49" name="Google Shape;649;g3a854632a9a_2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3a854632a9a_2_3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57" name="Google Shape;657;g3a854632a9a_2_3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a:extLst>
            <a:ext uri="{FF2B5EF4-FFF2-40B4-BE49-F238E27FC236}">
              <a16:creationId xmlns:a16="http://schemas.microsoft.com/office/drawing/2014/main" id="{74180C29-D4CE-2998-4B9D-387C9F356CF6}"/>
            </a:ext>
          </a:extLst>
        </p:cNvPr>
        <p:cNvGrpSpPr/>
        <p:nvPr/>
      </p:nvGrpSpPr>
      <p:grpSpPr>
        <a:xfrm>
          <a:off x="0" y="0"/>
          <a:ext cx="0" cy="0"/>
          <a:chOff x="0" y="0"/>
          <a:chExt cx="0" cy="0"/>
        </a:xfrm>
      </p:grpSpPr>
      <p:sp>
        <p:nvSpPr>
          <p:cNvPr id="656" name="Google Shape;656;g3a854632a9a_2_321:notes">
            <a:extLst>
              <a:ext uri="{FF2B5EF4-FFF2-40B4-BE49-F238E27FC236}">
                <a16:creationId xmlns:a16="http://schemas.microsoft.com/office/drawing/2014/main" id="{5F6B4465-2C3F-7F48-2C33-16EF9DE9C3C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57" name="Google Shape;657;g3a854632a9a_2_321:notes">
            <a:extLst>
              <a:ext uri="{FF2B5EF4-FFF2-40B4-BE49-F238E27FC236}">
                <a16:creationId xmlns:a16="http://schemas.microsoft.com/office/drawing/2014/main" id="{AFF0ADBC-2B5E-3345-4082-B2FADA29A1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8983799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g3a854632a9a_2_3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65" name="Google Shape;665;g3a854632a9a_2_3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g3a854632a9a_2_3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73" name="Google Shape;673;g3a854632a9a_2_3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3a854632a9a_2_3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81" name="Google Shape;681;g3a854632a9a_2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g3a8526227be_0_6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89" name="Google Shape;689;g3a8526227be_0_6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3a8526227be_0_6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96" name="Google Shape;696;g3a8526227be_0_62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4"/>
        <p:cNvGrpSpPr/>
        <p:nvPr/>
      </p:nvGrpSpPr>
      <p:grpSpPr>
        <a:xfrm>
          <a:off x="0" y="0"/>
          <a:ext cx="0" cy="0"/>
          <a:chOff x="0" y="0"/>
          <a:chExt cx="0" cy="0"/>
        </a:xfrm>
      </p:grpSpPr>
      <p:sp>
        <p:nvSpPr>
          <p:cNvPr id="15" name="Google Shape;15;p2"/>
          <p:cNvSpPr/>
          <p:nvPr/>
        </p:nvSpPr>
        <p:spPr>
          <a:xfrm>
            <a:off x="446534" y="3085765"/>
            <a:ext cx="11262866" cy="3304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2"/>
          <p:cNvSpPr txBox="1">
            <a:spLocks noGrp="1"/>
          </p:cNvSpPr>
          <p:nvPr>
            <p:ph type="ctrTitle"/>
          </p:nvPr>
        </p:nvSpPr>
        <p:spPr>
          <a:xfrm>
            <a:off x="581191" y="1020431"/>
            <a:ext cx="10993549" cy="1475013"/>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581194" y="2495445"/>
            <a:ext cx="10993546" cy="590321"/>
          </a:xfrm>
          <a:prstGeom prst="rect">
            <a:avLst/>
          </a:prstGeom>
          <a:noFill/>
          <a:ln>
            <a:noFill/>
          </a:ln>
        </p:spPr>
        <p:txBody>
          <a:bodyPr spcFirstLastPara="1" wrap="square" lIns="91425" tIns="45700" rIns="91425" bIns="45700" anchor="t" anchorCtr="0">
            <a:normAutofit/>
          </a:bodyPr>
          <a:lstStyle>
            <a:lvl1pPr lvl="0" algn="l">
              <a:lnSpc>
                <a:spcPct val="100000"/>
              </a:lnSpc>
              <a:spcBef>
                <a:spcPts val="320"/>
              </a:spcBef>
              <a:spcAft>
                <a:spcPts val="0"/>
              </a:spcAft>
              <a:buSzPts val="1472"/>
              <a:buNone/>
              <a:defRPr sz="1600" cap="none">
                <a:solidFill>
                  <a:schemeClr val="accent2"/>
                </a:solidFill>
              </a:defRPr>
            </a:lvl1pPr>
            <a:lvl2pPr lvl="1" algn="ctr">
              <a:lnSpc>
                <a:spcPct val="100000"/>
              </a:lnSpc>
              <a:spcBef>
                <a:spcPts val="600"/>
              </a:spcBef>
              <a:spcAft>
                <a:spcPts val="0"/>
              </a:spcAft>
              <a:buSzPts val="1472"/>
              <a:buNone/>
              <a:defRPr>
                <a:solidFill>
                  <a:srgbClr val="888888"/>
                </a:solidFill>
              </a:defRPr>
            </a:lvl2pPr>
            <a:lvl3pPr lvl="2" algn="ctr">
              <a:lnSpc>
                <a:spcPct val="100000"/>
              </a:lnSpc>
              <a:spcBef>
                <a:spcPts val="600"/>
              </a:spcBef>
              <a:spcAft>
                <a:spcPts val="0"/>
              </a:spcAft>
              <a:buSzPts val="1288"/>
              <a:buNone/>
              <a:defRPr>
                <a:solidFill>
                  <a:srgbClr val="888888"/>
                </a:solidFill>
              </a:defRPr>
            </a:lvl3pPr>
            <a:lvl4pPr lvl="3" algn="ctr">
              <a:lnSpc>
                <a:spcPct val="100000"/>
              </a:lnSpc>
              <a:spcBef>
                <a:spcPts val="600"/>
              </a:spcBef>
              <a:spcAft>
                <a:spcPts val="0"/>
              </a:spcAft>
              <a:buSzPts val="1104"/>
              <a:buNone/>
              <a:defRPr>
                <a:solidFill>
                  <a:srgbClr val="888888"/>
                </a:solidFill>
              </a:defRPr>
            </a:lvl4pPr>
            <a:lvl5pPr lvl="4" algn="ctr">
              <a:lnSpc>
                <a:spcPct val="100000"/>
              </a:lnSpc>
              <a:spcBef>
                <a:spcPts val="600"/>
              </a:spcBef>
              <a:spcAft>
                <a:spcPts val="0"/>
              </a:spcAft>
              <a:buSzPts val="1104"/>
              <a:buNone/>
              <a:defRPr>
                <a:solidFill>
                  <a:srgbClr val="888888"/>
                </a:solidFill>
              </a:defRPr>
            </a:lvl5pPr>
            <a:lvl6pPr lvl="5" algn="ctr">
              <a:lnSpc>
                <a:spcPct val="100000"/>
              </a:lnSpc>
              <a:spcBef>
                <a:spcPts val="600"/>
              </a:spcBef>
              <a:spcAft>
                <a:spcPts val="0"/>
              </a:spcAft>
              <a:buSzPts val="1104"/>
              <a:buNone/>
              <a:defRPr>
                <a:solidFill>
                  <a:srgbClr val="888888"/>
                </a:solidFill>
              </a:defRPr>
            </a:lvl6pPr>
            <a:lvl7pPr lvl="6" algn="ctr">
              <a:lnSpc>
                <a:spcPct val="100000"/>
              </a:lnSpc>
              <a:spcBef>
                <a:spcPts val="600"/>
              </a:spcBef>
              <a:spcAft>
                <a:spcPts val="0"/>
              </a:spcAft>
              <a:buSzPts val="1104"/>
              <a:buNone/>
              <a:defRPr>
                <a:solidFill>
                  <a:srgbClr val="888888"/>
                </a:solidFill>
              </a:defRPr>
            </a:lvl7pPr>
            <a:lvl8pPr lvl="7" algn="ctr">
              <a:lnSpc>
                <a:spcPct val="100000"/>
              </a:lnSpc>
              <a:spcBef>
                <a:spcPts val="600"/>
              </a:spcBef>
              <a:spcAft>
                <a:spcPts val="0"/>
              </a:spcAft>
              <a:buSzPts val="1104"/>
              <a:buNone/>
              <a:defRPr>
                <a:solidFill>
                  <a:srgbClr val="888888"/>
                </a:solidFill>
              </a:defRPr>
            </a:lvl8pPr>
            <a:lvl9pPr lvl="8" algn="ctr">
              <a:lnSpc>
                <a:spcPct val="100000"/>
              </a:lnSpc>
              <a:spcBef>
                <a:spcPts val="600"/>
              </a:spcBef>
              <a:spcAft>
                <a:spcPts val="600"/>
              </a:spcAft>
              <a:buSzPts val="1104"/>
              <a:buNone/>
              <a:defRPr>
                <a:solidFill>
                  <a:srgbClr val="888888"/>
                </a:solidFill>
              </a:defRPr>
            </a:lvl9pPr>
          </a:lstStyle>
          <a:p>
            <a:endParaRPr/>
          </a:p>
        </p:txBody>
      </p:sp>
      <p:sp>
        <p:nvSpPr>
          <p:cNvPr id="18" name="Google Shape;18;p2"/>
          <p:cNvSpPr txBox="1">
            <a:spLocks noGrp="1"/>
          </p:cNvSpPr>
          <p:nvPr>
            <p:ph type="dt" idx="10"/>
          </p:nvPr>
        </p:nvSpPr>
        <p:spPr>
          <a:xfrm>
            <a:off x="7605951" y="5956137"/>
            <a:ext cx="28448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10558300" y="5956137"/>
            <a:ext cx="101644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
          <p:cNvSpPr txBox="1">
            <a:spLocks noGrp="1"/>
          </p:cNvSpPr>
          <p:nvPr>
            <p:ph type="body" idx="1"/>
          </p:nvPr>
        </p:nvSpPr>
        <p:spPr>
          <a:xfrm>
            <a:off x="581192" y="2180496"/>
            <a:ext cx="11029615" cy="3678303"/>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25" name="Google Shape;25;p3"/>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3"/>
          <p:cNvSpPr txBox="1">
            <a:spLocks noGrp="1"/>
          </p:cNvSpPr>
          <p:nvPr>
            <p:ph type="sldNum" idx="12"/>
          </p:nvPr>
        </p:nvSpPr>
        <p:spPr>
          <a:xfrm>
            <a:off x="10558300" y="5956137"/>
            <a:ext cx="105250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8"/>
        <p:cNvGrpSpPr/>
        <p:nvPr/>
      </p:nvGrpSpPr>
      <p:grpSpPr>
        <a:xfrm>
          <a:off x="0" y="0"/>
          <a:ext cx="0" cy="0"/>
          <a:chOff x="0" y="0"/>
          <a:chExt cx="0" cy="0"/>
        </a:xfrm>
      </p:grpSpPr>
      <p:sp>
        <p:nvSpPr>
          <p:cNvPr id="29" name="Google Shape;29;p4"/>
          <p:cNvSpPr/>
          <p:nvPr/>
        </p:nvSpPr>
        <p:spPr>
          <a:xfrm>
            <a:off x="447817" y="5141974"/>
            <a:ext cx="11290860"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p4"/>
          <p:cNvSpPr txBox="1">
            <a:spLocks noGrp="1"/>
          </p:cNvSpPr>
          <p:nvPr>
            <p:ph type="title"/>
          </p:nvPr>
        </p:nvSpPr>
        <p:spPr>
          <a:xfrm>
            <a:off x="581193" y="3043910"/>
            <a:ext cx="11029615" cy="1497507"/>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b="0" cap="none">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body" idx="1"/>
          </p:nvPr>
        </p:nvSpPr>
        <p:spPr>
          <a:xfrm>
            <a:off x="581192" y="4541417"/>
            <a:ext cx="11029615" cy="600556"/>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1656"/>
              <a:buNone/>
              <a:defRPr sz="1800" cap="none">
                <a:solidFill>
                  <a:schemeClr val="accent2"/>
                </a:solidFill>
              </a:defRPr>
            </a:lvl1pPr>
            <a:lvl2pPr marL="914400" lvl="1" indent="-228600" algn="l">
              <a:lnSpc>
                <a:spcPct val="100000"/>
              </a:lnSpc>
              <a:spcBef>
                <a:spcPts val="600"/>
              </a:spcBef>
              <a:spcAft>
                <a:spcPts val="0"/>
              </a:spcAft>
              <a:buSzPts val="1656"/>
              <a:buNone/>
              <a:defRPr sz="1800">
                <a:solidFill>
                  <a:srgbClr val="888888"/>
                </a:solidFill>
              </a:defRPr>
            </a:lvl2pPr>
            <a:lvl3pPr marL="1371600" lvl="2" indent="-228600" algn="l">
              <a:lnSpc>
                <a:spcPct val="100000"/>
              </a:lnSpc>
              <a:spcBef>
                <a:spcPts val="600"/>
              </a:spcBef>
              <a:spcAft>
                <a:spcPts val="0"/>
              </a:spcAft>
              <a:buSzPts val="1472"/>
              <a:buNone/>
              <a:defRPr sz="1600">
                <a:solidFill>
                  <a:srgbClr val="888888"/>
                </a:solidFill>
              </a:defRPr>
            </a:lvl3pPr>
            <a:lvl4pPr marL="1828800" lvl="3" indent="-228600" algn="l">
              <a:lnSpc>
                <a:spcPct val="100000"/>
              </a:lnSpc>
              <a:spcBef>
                <a:spcPts val="600"/>
              </a:spcBef>
              <a:spcAft>
                <a:spcPts val="0"/>
              </a:spcAft>
              <a:buSzPts val="1288"/>
              <a:buNone/>
              <a:defRPr sz="1400">
                <a:solidFill>
                  <a:srgbClr val="888888"/>
                </a:solidFill>
              </a:defRPr>
            </a:lvl4pPr>
            <a:lvl5pPr marL="2286000" lvl="4" indent="-228600" algn="l">
              <a:lnSpc>
                <a:spcPct val="100000"/>
              </a:lnSpc>
              <a:spcBef>
                <a:spcPts val="600"/>
              </a:spcBef>
              <a:spcAft>
                <a:spcPts val="0"/>
              </a:spcAft>
              <a:buSzPts val="1288"/>
              <a:buNone/>
              <a:defRPr sz="1400">
                <a:solidFill>
                  <a:srgbClr val="888888"/>
                </a:solidFill>
              </a:defRPr>
            </a:lvl5pPr>
            <a:lvl6pPr marL="2743200" lvl="5" indent="-228600" algn="l">
              <a:lnSpc>
                <a:spcPct val="100000"/>
              </a:lnSpc>
              <a:spcBef>
                <a:spcPts val="600"/>
              </a:spcBef>
              <a:spcAft>
                <a:spcPts val="0"/>
              </a:spcAft>
              <a:buSzPts val="1288"/>
              <a:buNone/>
              <a:defRPr sz="1400">
                <a:solidFill>
                  <a:srgbClr val="888888"/>
                </a:solidFill>
              </a:defRPr>
            </a:lvl6pPr>
            <a:lvl7pPr marL="3200400" lvl="6" indent="-228600" algn="l">
              <a:lnSpc>
                <a:spcPct val="100000"/>
              </a:lnSpc>
              <a:spcBef>
                <a:spcPts val="600"/>
              </a:spcBef>
              <a:spcAft>
                <a:spcPts val="0"/>
              </a:spcAft>
              <a:buSzPts val="1288"/>
              <a:buNone/>
              <a:defRPr sz="1400">
                <a:solidFill>
                  <a:srgbClr val="888888"/>
                </a:solidFill>
              </a:defRPr>
            </a:lvl7pPr>
            <a:lvl8pPr marL="3657600" lvl="7" indent="-228600" algn="l">
              <a:lnSpc>
                <a:spcPct val="100000"/>
              </a:lnSpc>
              <a:spcBef>
                <a:spcPts val="600"/>
              </a:spcBef>
              <a:spcAft>
                <a:spcPts val="0"/>
              </a:spcAft>
              <a:buSzPts val="1288"/>
              <a:buNone/>
              <a:defRPr sz="1400">
                <a:solidFill>
                  <a:srgbClr val="888888"/>
                </a:solidFill>
              </a:defRPr>
            </a:lvl8pPr>
            <a:lvl9pPr marL="4114800" lvl="8" indent="-228600" algn="l">
              <a:lnSpc>
                <a:spcPct val="100000"/>
              </a:lnSpc>
              <a:spcBef>
                <a:spcPts val="600"/>
              </a:spcBef>
              <a:spcAft>
                <a:spcPts val="600"/>
              </a:spcAft>
              <a:buSzPts val="1288"/>
              <a:buNone/>
              <a:defRPr sz="1400">
                <a:solidFill>
                  <a:srgbClr val="888888"/>
                </a:solidFill>
              </a:defRPr>
            </a:lvl9pPr>
          </a:lstStyle>
          <a:p>
            <a:endParaRPr/>
          </a:p>
        </p:txBody>
      </p:sp>
      <p:sp>
        <p:nvSpPr>
          <p:cNvPr id="32" name="Google Shape;32;p4"/>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4"/>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4"/>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5"/>
        <p:cNvGrpSpPr/>
        <p:nvPr/>
      </p:nvGrpSpPr>
      <p:grpSpPr>
        <a:xfrm>
          <a:off x="0" y="0"/>
          <a:ext cx="0" cy="0"/>
          <a:chOff x="0" y="0"/>
          <a:chExt cx="0" cy="0"/>
        </a:xfrm>
      </p:grpSpPr>
      <p:sp>
        <p:nvSpPr>
          <p:cNvPr id="36" name="Google Shape;36;p5"/>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5"/>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body" idx="1"/>
          </p:nvPr>
        </p:nvSpPr>
        <p:spPr>
          <a:xfrm>
            <a:off x="581193" y="2228003"/>
            <a:ext cx="5422390"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39" name="Google Shape;39;p5"/>
          <p:cNvSpPr txBox="1">
            <a:spLocks noGrp="1"/>
          </p:cNvSpPr>
          <p:nvPr>
            <p:ph type="body" idx="2"/>
          </p:nvPr>
        </p:nvSpPr>
        <p:spPr>
          <a:xfrm>
            <a:off x="6188417" y="2228003"/>
            <a:ext cx="5422392"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0" name="Google Shape;40;p5"/>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5"/>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5"/>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3"/>
        <p:cNvGrpSpPr/>
        <p:nvPr/>
      </p:nvGrpSpPr>
      <p:grpSpPr>
        <a:xfrm>
          <a:off x="0" y="0"/>
          <a:ext cx="0" cy="0"/>
          <a:chOff x="0" y="0"/>
          <a:chExt cx="0" cy="0"/>
        </a:xfrm>
      </p:grpSpPr>
      <p:sp>
        <p:nvSpPr>
          <p:cNvPr id="44" name="Google Shape;44;p6"/>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6"/>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6"/>
          <p:cNvSpPr txBox="1">
            <a:spLocks noGrp="1"/>
          </p:cNvSpPr>
          <p:nvPr>
            <p:ph type="body" idx="1"/>
          </p:nvPr>
        </p:nvSpPr>
        <p:spPr>
          <a:xfrm>
            <a:off x="887219" y="2250892"/>
            <a:ext cx="5087075" cy="536005"/>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47" name="Google Shape;47;p6"/>
          <p:cNvSpPr txBox="1">
            <a:spLocks noGrp="1"/>
          </p:cNvSpPr>
          <p:nvPr>
            <p:ph type="body" idx="2"/>
          </p:nvPr>
        </p:nvSpPr>
        <p:spPr>
          <a:xfrm>
            <a:off x="581194"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8" name="Google Shape;48;p6"/>
          <p:cNvSpPr txBox="1">
            <a:spLocks noGrp="1"/>
          </p:cNvSpPr>
          <p:nvPr>
            <p:ph type="body" idx="3"/>
          </p:nvPr>
        </p:nvSpPr>
        <p:spPr>
          <a:xfrm>
            <a:off x="6523735" y="2250892"/>
            <a:ext cx="5087073" cy="553373"/>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49" name="Google Shape;49;p6"/>
          <p:cNvSpPr txBox="1">
            <a:spLocks noGrp="1"/>
          </p:cNvSpPr>
          <p:nvPr>
            <p:ph type="body" idx="4"/>
          </p:nvPr>
        </p:nvSpPr>
        <p:spPr>
          <a:xfrm>
            <a:off x="6217709"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0" name="Google Shape;50;p6"/>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6"/>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6"/>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3"/>
        <p:cNvGrpSpPr/>
        <p:nvPr/>
      </p:nvGrpSpPr>
      <p:grpSpPr>
        <a:xfrm>
          <a:off x="0" y="0"/>
          <a:ext cx="0" cy="0"/>
          <a:chOff x="0" y="0"/>
          <a:chExt cx="0" cy="0"/>
        </a:xfrm>
      </p:grpSpPr>
      <p:sp>
        <p:nvSpPr>
          <p:cNvPr id="54" name="Google Shape;54;p7"/>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7"/>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7"/>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
        <p:nvSpPr>
          <p:cNvPr id="57" name="Google Shape;57;p7"/>
          <p:cNvSpPr/>
          <p:nvPr/>
        </p:nvSpPr>
        <p:spPr>
          <a:xfrm>
            <a:off x="440683"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7"/>
          <p:cNvSpPr txBox="1">
            <a:spLocks noGrp="1"/>
          </p:cNvSpPr>
          <p:nvPr>
            <p:ph type="title"/>
          </p:nvPr>
        </p:nvSpPr>
        <p:spPr>
          <a:xfrm>
            <a:off x="575894"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9"/>
        <p:cNvGrpSpPr/>
        <p:nvPr/>
      </p:nvGrpSpPr>
      <p:grpSpPr>
        <a:xfrm>
          <a:off x="0" y="0"/>
          <a:ext cx="0" cy="0"/>
          <a:chOff x="0" y="0"/>
          <a:chExt cx="0" cy="0"/>
        </a:xfrm>
      </p:grpSpPr>
      <p:sp>
        <p:nvSpPr>
          <p:cNvPr id="60" name="Google Shape;60;p8"/>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8"/>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3"/>
        <p:cNvGrpSpPr/>
        <p:nvPr/>
      </p:nvGrpSpPr>
      <p:grpSpPr>
        <a:xfrm>
          <a:off x="0" y="0"/>
          <a:ext cx="0" cy="0"/>
          <a:chOff x="0" y="0"/>
          <a:chExt cx="0" cy="0"/>
        </a:xfrm>
      </p:grpSpPr>
      <p:sp>
        <p:nvSpPr>
          <p:cNvPr id="64" name="Google Shape;64;p9"/>
          <p:cNvSpPr/>
          <p:nvPr/>
        </p:nvSpPr>
        <p:spPr>
          <a:xfrm>
            <a:off x="447817" y="5141973"/>
            <a:ext cx="11298200" cy="1274702"/>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9"/>
          <p:cNvSpPr txBox="1">
            <a:spLocks noGrp="1"/>
          </p:cNvSpPr>
          <p:nvPr>
            <p:ph type="title"/>
          </p:nvPr>
        </p:nvSpPr>
        <p:spPr>
          <a:xfrm>
            <a:off x="581192" y="5262296"/>
            <a:ext cx="4909445" cy="68951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2D58AC"/>
              </a:buClr>
              <a:buSzPts val="2000"/>
              <a:buFont typeface="Gill Sans"/>
              <a:buNone/>
              <a:defRPr sz="2000" b="0">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9"/>
          <p:cNvSpPr txBox="1">
            <a:spLocks noGrp="1"/>
          </p:cNvSpPr>
          <p:nvPr>
            <p:ph type="body" idx="1"/>
          </p:nvPr>
        </p:nvSpPr>
        <p:spPr>
          <a:xfrm>
            <a:off x="447816" y="601200"/>
            <a:ext cx="11292840" cy="4204800"/>
          </a:xfrm>
          <a:prstGeom prst="rect">
            <a:avLst/>
          </a:prstGeom>
          <a:noFill/>
          <a:ln>
            <a:noFill/>
          </a:ln>
        </p:spPr>
        <p:txBody>
          <a:bodyPr spcFirstLastPara="1" wrap="square" lIns="91425" tIns="45700" rIns="91425" bIns="45700" anchor="ctr" anchorCtr="0">
            <a:normAutofit/>
          </a:bodyPr>
          <a:lstStyle>
            <a:lvl1pPr marL="457200" lvl="0" indent="-345440" algn="l">
              <a:lnSpc>
                <a:spcPct val="100000"/>
              </a:lnSpc>
              <a:spcBef>
                <a:spcPts val="400"/>
              </a:spcBef>
              <a:spcAft>
                <a:spcPts val="0"/>
              </a:spcAft>
              <a:buSzPts val="1840"/>
              <a:buChar char="◼"/>
              <a:defRPr sz="2000">
                <a:solidFill>
                  <a:schemeClr val="dk2"/>
                </a:solidFill>
              </a:defRPr>
            </a:lvl1pPr>
            <a:lvl2pPr marL="914400" lvl="1" indent="-333756" algn="l">
              <a:lnSpc>
                <a:spcPct val="100000"/>
              </a:lnSpc>
              <a:spcBef>
                <a:spcPts val="600"/>
              </a:spcBef>
              <a:spcAft>
                <a:spcPts val="0"/>
              </a:spcAft>
              <a:buSzPts val="1656"/>
              <a:buChar char="◼"/>
              <a:defRPr sz="1800">
                <a:solidFill>
                  <a:schemeClr val="dk2"/>
                </a:solidFill>
              </a:defRPr>
            </a:lvl2pPr>
            <a:lvl3pPr marL="1371600" lvl="2" indent="-322072" algn="l">
              <a:lnSpc>
                <a:spcPct val="100000"/>
              </a:lnSpc>
              <a:spcBef>
                <a:spcPts val="600"/>
              </a:spcBef>
              <a:spcAft>
                <a:spcPts val="0"/>
              </a:spcAft>
              <a:buSzPts val="1472"/>
              <a:buChar char="◼"/>
              <a:defRPr sz="1600">
                <a:solidFill>
                  <a:schemeClr val="dk2"/>
                </a:solidFill>
              </a:defRPr>
            </a:lvl3pPr>
            <a:lvl4pPr marL="1828800" lvl="3" indent="-310388" algn="l">
              <a:lnSpc>
                <a:spcPct val="100000"/>
              </a:lnSpc>
              <a:spcBef>
                <a:spcPts val="600"/>
              </a:spcBef>
              <a:spcAft>
                <a:spcPts val="0"/>
              </a:spcAft>
              <a:buSzPts val="1288"/>
              <a:buChar char="◼"/>
              <a:defRPr sz="1400">
                <a:solidFill>
                  <a:schemeClr val="dk2"/>
                </a:solidFill>
              </a:defRPr>
            </a:lvl4pPr>
            <a:lvl5pPr marL="2286000" lvl="4" indent="-310388" algn="l">
              <a:lnSpc>
                <a:spcPct val="100000"/>
              </a:lnSpc>
              <a:spcBef>
                <a:spcPts val="600"/>
              </a:spcBef>
              <a:spcAft>
                <a:spcPts val="0"/>
              </a:spcAft>
              <a:buSzPts val="1288"/>
              <a:buChar char="◼"/>
              <a:defRPr sz="1400">
                <a:solidFill>
                  <a:schemeClr val="dk2"/>
                </a:solidFill>
              </a:defRPr>
            </a:lvl5pPr>
            <a:lvl6pPr marL="2743200" lvl="5" indent="-310388" algn="l">
              <a:lnSpc>
                <a:spcPct val="100000"/>
              </a:lnSpc>
              <a:spcBef>
                <a:spcPts val="600"/>
              </a:spcBef>
              <a:spcAft>
                <a:spcPts val="0"/>
              </a:spcAft>
              <a:buSzPts val="1288"/>
              <a:buChar char="◼"/>
              <a:defRPr sz="1400">
                <a:solidFill>
                  <a:schemeClr val="dk2"/>
                </a:solidFill>
              </a:defRPr>
            </a:lvl6pPr>
            <a:lvl7pPr marL="3200400" lvl="6" indent="-310388" algn="l">
              <a:lnSpc>
                <a:spcPct val="100000"/>
              </a:lnSpc>
              <a:spcBef>
                <a:spcPts val="600"/>
              </a:spcBef>
              <a:spcAft>
                <a:spcPts val="0"/>
              </a:spcAft>
              <a:buSzPts val="1288"/>
              <a:buChar char="◼"/>
              <a:defRPr sz="1400">
                <a:solidFill>
                  <a:schemeClr val="dk2"/>
                </a:solidFill>
              </a:defRPr>
            </a:lvl7pPr>
            <a:lvl8pPr marL="3657600" lvl="7" indent="-310388" algn="l">
              <a:lnSpc>
                <a:spcPct val="100000"/>
              </a:lnSpc>
              <a:spcBef>
                <a:spcPts val="600"/>
              </a:spcBef>
              <a:spcAft>
                <a:spcPts val="0"/>
              </a:spcAft>
              <a:buSzPts val="1288"/>
              <a:buChar char="◼"/>
              <a:defRPr sz="1400">
                <a:solidFill>
                  <a:schemeClr val="dk2"/>
                </a:solidFill>
              </a:defRPr>
            </a:lvl8pPr>
            <a:lvl9pPr marL="4114800" lvl="8" indent="-310388" algn="l">
              <a:lnSpc>
                <a:spcPct val="100000"/>
              </a:lnSpc>
              <a:spcBef>
                <a:spcPts val="600"/>
              </a:spcBef>
              <a:spcAft>
                <a:spcPts val="600"/>
              </a:spcAft>
              <a:buSzPts val="1288"/>
              <a:buChar char="◼"/>
              <a:defRPr sz="1400">
                <a:solidFill>
                  <a:schemeClr val="dk2"/>
                </a:solidFill>
              </a:defRPr>
            </a:lvl9pPr>
          </a:lstStyle>
          <a:p>
            <a:endParaRPr/>
          </a:p>
        </p:txBody>
      </p:sp>
      <p:sp>
        <p:nvSpPr>
          <p:cNvPr id="67" name="Google Shape;67;p9"/>
          <p:cNvSpPr txBox="1">
            <a:spLocks noGrp="1"/>
          </p:cNvSpPr>
          <p:nvPr>
            <p:ph type="body" idx="2"/>
          </p:nvPr>
        </p:nvSpPr>
        <p:spPr>
          <a:xfrm>
            <a:off x="5740823" y="5262296"/>
            <a:ext cx="5869987" cy="689515"/>
          </a:xfrm>
          <a:prstGeom prst="rect">
            <a:avLst/>
          </a:prstGeom>
          <a:noFill/>
          <a:ln>
            <a:noFill/>
          </a:ln>
        </p:spPr>
        <p:txBody>
          <a:bodyPr spcFirstLastPara="1" wrap="square" lIns="91425" tIns="45700" rIns="91425" bIns="45700" anchor="ctr" anchorCtr="0">
            <a:normAutofit/>
          </a:bodyPr>
          <a:lstStyle>
            <a:lvl1pPr marL="457200" lvl="0" indent="-228600" algn="r">
              <a:lnSpc>
                <a:spcPct val="100000"/>
              </a:lnSpc>
              <a:spcBef>
                <a:spcPts val="220"/>
              </a:spcBef>
              <a:spcAft>
                <a:spcPts val="0"/>
              </a:spcAft>
              <a:buSzPts val="1012"/>
              <a:buNone/>
              <a:defRPr sz="1100">
                <a:solidFill>
                  <a:schemeClr val="lt1"/>
                </a:solidFill>
              </a:defRPr>
            </a:lvl1pPr>
            <a:lvl2pPr marL="914400" lvl="1" indent="-228600" algn="l">
              <a:lnSpc>
                <a:spcPct val="100000"/>
              </a:lnSpc>
              <a:spcBef>
                <a:spcPts val="600"/>
              </a:spcBef>
              <a:spcAft>
                <a:spcPts val="0"/>
              </a:spcAft>
              <a:buSzPts val="1012"/>
              <a:buNone/>
              <a:defRPr sz="11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68" name="Google Shape;68;p9"/>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9"/>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9"/>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71"/>
        <p:cNvGrpSpPr/>
        <p:nvPr/>
      </p:nvGrpSpPr>
      <p:grpSpPr>
        <a:xfrm>
          <a:off x="0" y="0"/>
          <a:ext cx="0" cy="0"/>
          <a:chOff x="0" y="0"/>
          <a:chExt cx="0" cy="0"/>
        </a:xfrm>
      </p:grpSpPr>
      <p:sp>
        <p:nvSpPr>
          <p:cNvPr id="72" name="Google Shape;72;p10"/>
          <p:cNvSpPr txBox="1">
            <a:spLocks noGrp="1"/>
          </p:cNvSpPr>
          <p:nvPr>
            <p:ph type="title"/>
          </p:nvPr>
        </p:nvSpPr>
        <p:spPr>
          <a:xfrm>
            <a:off x="581193" y="4693389"/>
            <a:ext cx="11029616"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2400"/>
              <a:buFont typeface="Gill Sans"/>
              <a:buNone/>
              <a:defRPr sz="2400" b="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0"/>
          <p:cNvSpPr>
            <a:spLocks noGrp="1"/>
          </p:cNvSpPr>
          <p:nvPr>
            <p:ph type="pic" idx="2"/>
          </p:nvPr>
        </p:nvSpPr>
        <p:spPr>
          <a:xfrm>
            <a:off x="447817" y="599725"/>
            <a:ext cx="11290859" cy="3557252"/>
          </a:xfrm>
          <a:prstGeom prst="rect">
            <a:avLst/>
          </a:prstGeom>
          <a:noFill/>
          <a:ln>
            <a:noFill/>
          </a:ln>
        </p:spPr>
      </p:sp>
      <p:sp>
        <p:nvSpPr>
          <p:cNvPr id="74" name="Google Shape;74;p10"/>
          <p:cNvSpPr txBox="1">
            <a:spLocks noGrp="1"/>
          </p:cNvSpPr>
          <p:nvPr>
            <p:ph type="body" idx="1"/>
          </p:nvPr>
        </p:nvSpPr>
        <p:spPr>
          <a:xfrm>
            <a:off x="581192" y="5260127"/>
            <a:ext cx="11029617" cy="598671"/>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240"/>
              </a:spcBef>
              <a:spcAft>
                <a:spcPts val="0"/>
              </a:spcAft>
              <a:buSzPts val="1104"/>
              <a:buNone/>
              <a:defRPr sz="1200"/>
            </a:lvl1pPr>
            <a:lvl2pPr marL="914400" lvl="1" indent="-228600" algn="l">
              <a:lnSpc>
                <a:spcPct val="100000"/>
              </a:lnSpc>
              <a:spcBef>
                <a:spcPts val="600"/>
              </a:spcBef>
              <a:spcAft>
                <a:spcPts val="0"/>
              </a:spcAft>
              <a:buSzPts val="1104"/>
              <a:buNone/>
              <a:defRPr sz="12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75" name="Google Shape;75;p10"/>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0"/>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0"/>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8"/>
        <p:cNvGrpSpPr/>
        <p:nvPr/>
      </p:nvGrpSpPr>
      <p:grpSpPr>
        <a:xfrm>
          <a:off x="0" y="0"/>
          <a:ext cx="0" cy="0"/>
          <a:chOff x="0" y="0"/>
          <a:chExt cx="0" cy="0"/>
        </a:xfrm>
      </p:grpSpPr>
      <p:sp>
        <p:nvSpPr>
          <p:cNvPr id="79" name="Google Shape;79;p11"/>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11"/>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11"/>
          <p:cNvSpPr txBox="1">
            <a:spLocks noGrp="1"/>
          </p:cNvSpPr>
          <p:nvPr>
            <p:ph type="body" idx="1"/>
          </p:nvPr>
        </p:nvSpPr>
        <p:spPr>
          <a:xfrm rot="5400000">
            <a:off x="4334603" y="-1417408"/>
            <a:ext cx="3522794" cy="11029616"/>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22072" algn="l">
              <a:lnSpc>
                <a:spcPct val="100000"/>
              </a:lnSpc>
              <a:spcBef>
                <a:spcPts val="600"/>
              </a:spcBef>
              <a:spcAft>
                <a:spcPts val="0"/>
              </a:spcAft>
              <a:buSzPts val="1472"/>
              <a:buChar char="◼"/>
              <a:defRPr/>
            </a:lvl2pPr>
            <a:lvl3pPr marL="1371600" lvl="2" indent="-310388" algn="l">
              <a:lnSpc>
                <a:spcPct val="100000"/>
              </a:lnSpc>
              <a:spcBef>
                <a:spcPts val="600"/>
              </a:spcBef>
              <a:spcAft>
                <a:spcPts val="0"/>
              </a:spcAft>
              <a:buSzPts val="1288"/>
              <a:buChar char="◼"/>
              <a:defRPr/>
            </a:lvl3pPr>
            <a:lvl4pPr marL="1828800" lvl="3" indent="-298704" algn="l">
              <a:lnSpc>
                <a:spcPct val="100000"/>
              </a:lnSpc>
              <a:spcBef>
                <a:spcPts val="600"/>
              </a:spcBef>
              <a:spcAft>
                <a:spcPts val="0"/>
              </a:spcAft>
              <a:buSzPts val="1104"/>
              <a:buChar char="◼"/>
              <a:defRPr/>
            </a:lvl4pPr>
            <a:lvl5pPr marL="2286000" lvl="4" indent="-298704" algn="l">
              <a:lnSpc>
                <a:spcPct val="100000"/>
              </a:lnSpc>
              <a:spcBef>
                <a:spcPts val="600"/>
              </a:spcBef>
              <a:spcAft>
                <a:spcPts val="0"/>
              </a:spcAft>
              <a:buSzPts val="1104"/>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82" name="Google Shape;82;p1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1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5"/>
        <p:cNvGrpSpPr/>
        <p:nvPr/>
      </p:nvGrpSpPr>
      <p:grpSpPr>
        <a:xfrm>
          <a:off x="0" y="0"/>
          <a:ext cx="0" cy="0"/>
          <a:chOff x="0" y="0"/>
          <a:chExt cx="0" cy="0"/>
        </a:xfrm>
      </p:grpSpPr>
      <p:sp>
        <p:nvSpPr>
          <p:cNvPr id="86" name="Google Shape;86;p12"/>
          <p:cNvSpPr/>
          <p:nvPr/>
        </p:nvSpPr>
        <p:spPr>
          <a:xfrm>
            <a:off x="8839201" y="599725"/>
            <a:ext cx="2906817" cy="581695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12"/>
          <p:cNvSpPr txBox="1">
            <a:spLocks noGrp="1"/>
          </p:cNvSpPr>
          <p:nvPr>
            <p:ph type="title"/>
          </p:nvPr>
        </p:nvSpPr>
        <p:spPr>
          <a:xfrm rot="5400000">
            <a:off x="7249746" y="2265181"/>
            <a:ext cx="5183073" cy="200416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2"/>
          <p:cNvSpPr txBox="1">
            <a:spLocks noGrp="1"/>
          </p:cNvSpPr>
          <p:nvPr>
            <p:ph type="body" idx="1"/>
          </p:nvPr>
        </p:nvSpPr>
        <p:spPr>
          <a:xfrm rot="5400000">
            <a:off x="2131526" y="-680877"/>
            <a:ext cx="5183073" cy="789627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89" name="Google Shape;89;p12"/>
          <p:cNvSpPr txBox="1">
            <a:spLocks noGrp="1"/>
          </p:cNvSpPr>
          <p:nvPr>
            <p:ph type="dt" idx="10"/>
          </p:nvPr>
        </p:nvSpPr>
        <p:spPr>
          <a:xfrm>
            <a:off x="8993673" y="5956137"/>
            <a:ext cx="1328141"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2"/>
          <p:cNvSpPr txBox="1">
            <a:spLocks noGrp="1"/>
          </p:cNvSpPr>
          <p:nvPr>
            <p:ph type="ftr" idx="11"/>
          </p:nvPr>
        </p:nvSpPr>
        <p:spPr>
          <a:xfrm>
            <a:off x="774923" y="5951811"/>
            <a:ext cx="789627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12"/>
          <p:cNvSpPr txBox="1">
            <a:spLocks noGrp="1"/>
          </p:cNvSpPr>
          <p:nvPr>
            <p:ph type="sldNum" idx="12"/>
          </p:nvPr>
        </p:nvSpPr>
        <p:spPr>
          <a:xfrm>
            <a:off x="10446615" y="5956137"/>
            <a:ext cx="116419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81192" y="705124"/>
            <a:ext cx="11029616" cy="1189554"/>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chemeClr val="lt1"/>
              </a:buClr>
              <a:buSzPts val="2800"/>
              <a:buFont typeface="Gill Sans"/>
              <a:buNone/>
              <a:defRPr sz="2800" b="0" i="0" u="none" strike="noStrike" cap="none">
                <a:solidFill>
                  <a:schemeClr val="lt1"/>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581192" y="2336003"/>
            <a:ext cx="11029616" cy="3522794"/>
          </a:xfrm>
          <a:prstGeom prst="rect">
            <a:avLst/>
          </a:prstGeom>
          <a:noFill/>
          <a:ln>
            <a:noFill/>
          </a:ln>
        </p:spPr>
        <p:txBody>
          <a:bodyPr spcFirstLastPara="1" wrap="square" lIns="91425" tIns="45700" rIns="91425" bIns="45700" anchor="ctr" anchorCtr="0">
            <a:normAutofit/>
          </a:bodyPr>
          <a:lstStyle>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22072" algn="l" rtl="0">
              <a:lnSpc>
                <a:spcPct val="100000"/>
              </a:lnSpc>
              <a:spcBef>
                <a:spcPts val="600"/>
              </a:spcBef>
              <a:spcAft>
                <a:spcPts val="0"/>
              </a:spcAft>
              <a:buClr>
                <a:schemeClr val="accent2"/>
              </a:buClr>
              <a:buSzPts val="1472"/>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10388" algn="l" rtl="0">
              <a:lnSpc>
                <a:spcPct val="100000"/>
              </a:lnSpc>
              <a:spcBef>
                <a:spcPts val="600"/>
              </a:spcBef>
              <a:spcAft>
                <a:spcPts val="0"/>
              </a:spcAft>
              <a:buClr>
                <a:schemeClr val="accent2"/>
              </a:buClr>
              <a:buSzPts val="1288"/>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298704" algn="l" rtl="0">
              <a:lnSpc>
                <a:spcPct val="100000"/>
              </a:lnSpc>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9pPr>
          </a:lstStyle>
          <a:p>
            <a:endParaRPr/>
          </a:p>
        </p:txBody>
      </p:sp>
      <p:sp>
        <p:nvSpPr>
          <p:cNvPr id="8" name="Google Shape;8;p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9" name="Google Shape;9;p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0" name="Google Shape;10;p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
        <p:nvSpPr>
          <p:cNvPr id="11" name="Google Shape;11;p1"/>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1"/>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1"/>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5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3"/>
          <p:cNvSpPr txBox="1">
            <a:spLocks noGrp="1"/>
          </p:cNvSpPr>
          <p:nvPr>
            <p:ph type="ctrTitle"/>
          </p:nvPr>
        </p:nvSpPr>
        <p:spPr>
          <a:xfrm>
            <a:off x="599226" y="3158569"/>
            <a:ext cx="10993549" cy="1578409"/>
          </a:xfrm>
          <a:prstGeom prst="rect">
            <a:avLst/>
          </a:prstGeom>
          <a:no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lt1"/>
              </a:buClr>
              <a:buSzPts val="3600"/>
              <a:buFont typeface="Gill Sans"/>
              <a:buNone/>
            </a:pPr>
            <a:r>
              <a:rPr lang="es-ES" dirty="0">
                <a:solidFill>
                  <a:schemeClr val="lt1"/>
                </a:solidFill>
              </a:rPr>
              <a:t>MANUAL</a:t>
            </a:r>
            <a:br>
              <a:rPr lang="es-ES" dirty="0">
                <a:solidFill>
                  <a:schemeClr val="lt1"/>
                </a:solidFill>
              </a:rPr>
            </a:br>
            <a:r>
              <a:rPr lang="es-ES" dirty="0">
                <a:solidFill>
                  <a:schemeClr val="lt1"/>
                </a:solidFill>
              </a:rPr>
              <a:t>CONVERSIÓN UNIDADES SOAP DOTNET</a:t>
            </a:r>
            <a:endParaRPr dirty="0"/>
          </a:p>
        </p:txBody>
      </p:sp>
      <p:sp>
        <p:nvSpPr>
          <p:cNvPr id="97" name="Google Shape;97;p13"/>
          <p:cNvSpPr txBox="1">
            <a:spLocks noGrp="1"/>
          </p:cNvSpPr>
          <p:nvPr>
            <p:ph type="subTitle" idx="1"/>
          </p:nvPr>
        </p:nvSpPr>
        <p:spPr>
          <a:xfrm>
            <a:off x="599225" y="4530055"/>
            <a:ext cx="4261531" cy="1812758"/>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72"/>
              <a:buNone/>
            </a:pPr>
            <a:endParaRPr b="1" dirty="0">
              <a:solidFill>
                <a:schemeClr val="lt1"/>
              </a:solidFill>
            </a:endParaRPr>
          </a:p>
          <a:p>
            <a:pPr marL="0" lvl="0" indent="0" algn="l" rtl="0">
              <a:lnSpc>
                <a:spcPct val="100000"/>
              </a:lnSpc>
              <a:spcBef>
                <a:spcPts val="920"/>
              </a:spcBef>
              <a:spcAft>
                <a:spcPts val="0"/>
              </a:spcAft>
              <a:buSzPts val="1472"/>
              <a:buNone/>
            </a:pPr>
            <a:r>
              <a:rPr lang="es-ES" b="1" dirty="0">
                <a:solidFill>
                  <a:schemeClr val="lt1"/>
                </a:solidFill>
              </a:rPr>
              <a:t>INTEGRANTES:</a:t>
            </a:r>
            <a:r>
              <a:rPr lang="es-ES" dirty="0">
                <a:solidFill>
                  <a:schemeClr val="lt1"/>
                </a:solidFill>
              </a:rPr>
              <a:t> 	</a:t>
            </a:r>
          </a:p>
          <a:p>
            <a:pPr marL="0" lvl="0" indent="0" algn="l" rtl="0">
              <a:lnSpc>
                <a:spcPct val="100000"/>
              </a:lnSpc>
              <a:spcBef>
                <a:spcPts val="920"/>
              </a:spcBef>
              <a:spcAft>
                <a:spcPts val="0"/>
              </a:spcAft>
              <a:buSzPts val="1472"/>
              <a:buNone/>
            </a:pPr>
            <a:r>
              <a:rPr lang="es-ES" dirty="0">
                <a:solidFill>
                  <a:schemeClr val="lt1"/>
                </a:solidFill>
              </a:rPr>
              <a:t>	López Gabriel</a:t>
            </a:r>
          </a:p>
          <a:p>
            <a:pPr marL="0" lvl="0" indent="0" algn="l" rtl="0">
              <a:lnSpc>
                <a:spcPct val="100000"/>
              </a:lnSpc>
              <a:spcBef>
                <a:spcPts val="920"/>
              </a:spcBef>
              <a:spcAft>
                <a:spcPts val="0"/>
              </a:spcAft>
              <a:buSzPts val="1472"/>
              <a:buNone/>
            </a:pPr>
            <a:r>
              <a:rPr lang="es-ES" dirty="0">
                <a:solidFill>
                  <a:schemeClr val="lt1"/>
                </a:solidFill>
              </a:rPr>
              <a:t>	Medranda Mateo</a:t>
            </a:r>
          </a:p>
          <a:p>
            <a:pPr marL="0" lvl="0" indent="0" algn="l" rtl="0">
              <a:lnSpc>
                <a:spcPct val="100000"/>
              </a:lnSpc>
              <a:spcBef>
                <a:spcPts val="920"/>
              </a:spcBef>
              <a:spcAft>
                <a:spcPts val="0"/>
              </a:spcAft>
              <a:buSzPts val="1472"/>
              <a:buNone/>
            </a:pPr>
            <a:r>
              <a:rPr lang="es-MX" dirty="0">
                <a:solidFill>
                  <a:schemeClr val="lt1"/>
                </a:solidFill>
              </a:rPr>
              <a:t>	Pareja Marcelo</a:t>
            </a:r>
            <a:endParaRPr dirty="0">
              <a:solidFill>
                <a:schemeClr val="lt1"/>
              </a:solidFill>
            </a:endParaRPr>
          </a:p>
        </p:txBody>
      </p:sp>
      <p:pic>
        <p:nvPicPr>
          <p:cNvPr id="98" name="Google Shape;98;p13" descr="Resultado de imagen para espe"/>
          <p:cNvPicPr preferRelativeResize="0"/>
          <p:nvPr/>
        </p:nvPicPr>
        <p:blipFill rotWithShape="1">
          <a:blip r:embed="rId3">
            <a:alphaModFix/>
          </a:blip>
          <a:srcRect/>
          <a:stretch/>
        </p:blipFill>
        <p:spPr>
          <a:xfrm>
            <a:off x="319597" y="716302"/>
            <a:ext cx="11647502" cy="2193925"/>
          </a:xfrm>
          <a:prstGeom prst="rect">
            <a:avLst/>
          </a:prstGeom>
          <a:noFill/>
          <a:ln>
            <a:noFill/>
          </a:ln>
        </p:spPr>
      </p:pic>
      <p:sp>
        <p:nvSpPr>
          <p:cNvPr id="99" name="Google Shape;99;p13"/>
          <p:cNvSpPr txBox="1"/>
          <p:nvPr/>
        </p:nvSpPr>
        <p:spPr>
          <a:xfrm>
            <a:off x="9037063" y="5301801"/>
            <a:ext cx="4261531" cy="1235358"/>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4590B8"/>
              </a:buClr>
              <a:buSzPts val="1472"/>
              <a:buFont typeface="Noto Sans Symbols"/>
              <a:buNone/>
            </a:pPr>
            <a:r>
              <a:rPr lang="es-ES" sz="1600" b="1" i="0" u="none" strike="noStrike" cap="none" dirty="0">
                <a:solidFill>
                  <a:srgbClr val="FFFFFF"/>
                </a:solidFill>
                <a:latin typeface="Gill Sans"/>
                <a:ea typeface="Gill Sans"/>
                <a:cs typeface="Gill Sans"/>
                <a:sym typeface="Gill Sans"/>
              </a:rPr>
              <a:t>FECHA:  21</a:t>
            </a:r>
            <a:r>
              <a:rPr lang="es-ES" sz="1600" b="1" dirty="0">
                <a:solidFill>
                  <a:srgbClr val="FFFFFF"/>
                </a:solidFill>
                <a:latin typeface="Gill Sans"/>
                <a:ea typeface="Gill Sans"/>
                <a:cs typeface="Gill Sans"/>
                <a:sym typeface="Gill Sans"/>
              </a:rPr>
              <a:t>/10/2026</a:t>
            </a:r>
            <a:endParaRPr sz="1600" b="0" i="0" u="none" strike="noStrike" cap="none" dirty="0">
              <a:solidFill>
                <a:srgbClr val="FFFFFF"/>
              </a:solidFill>
              <a:latin typeface="Gill Sans"/>
              <a:ea typeface="Gill Sans"/>
              <a:cs typeface="Gill Sans"/>
              <a:sym typeface="Gill Sans"/>
            </a:endParaRPr>
          </a:p>
          <a:p>
            <a:pPr marL="0" marR="0" lvl="0" indent="0" algn="l" rtl="0">
              <a:lnSpc>
                <a:spcPct val="100000"/>
              </a:lnSpc>
              <a:spcBef>
                <a:spcPts val="920"/>
              </a:spcBef>
              <a:spcAft>
                <a:spcPts val="0"/>
              </a:spcAft>
              <a:buClr>
                <a:srgbClr val="4590B8"/>
              </a:buClr>
              <a:buSzPts val="1472"/>
              <a:buFont typeface="Noto Sans Symbols"/>
              <a:buNone/>
            </a:pPr>
            <a:r>
              <a:rPr lang="es-ES" sz="1600" b="1" i="0" u="none" strike="noStrike" cap="none" dirty="0">
                <a:solidFill>
                  <a:srgbClr val="FFFFFF"/>
                </a:solidFill>
                <a:latin typeface="Gill Sans"/>
                <a:ea typeface="Gill Sans"/>
                <a:cs typeface="Gill Sans"/>
                <a:sym typeface="Gill Sans"/>
              </a:rPr>
              <a:t>ING: </a:t>
            </a:r>
            <a:r>
              <a:rPr lang="es-ES" sz="1600" b="0" i="0" u="none" strike="noStrike" cap="none" dirty="0">
                <a:solidFill>
                  <a:srgbClr val="FFFFFF"/>
                </a:solidFill>
                <a:latin typeface="Gill Sans"/>
                <a:ea typeface="Gill Sans"/>
                <a:cs typeface="Gill Sans"/>
                <a:sym typeface="Gill Sans"/>
              </a:rPr>
              <a:t>CAMPAÑA MAURICIO</a:t>
            </a:r>
            <a:endParaRPr sz="1600" b="1" i="0" u="none" strike="noStrike" cap="none" dirty="0">
              <a:solidFill>
                <a:srgbClr val="FFFFFF"/>
              </a:solidFill>
              <a:latin typeface="Gill Sans"/>
              <a:ea typeface="Gill Sans"/>
              <a:cs typeface="Gill Sans"/>
              <a:sym typeface="Gill Sans"/>
            </a:endParaRPr>
          </a:p>
        </p:txBody>
      </p:sp>
      <p:sp>
        <p:nvSpPr>
          <p:cNvPr id="100" name="Google Shape;100;p13"/>
          <p:cNvSpPr txBox="1"/>
          <p:nvPr/>
        </p:nvSpPr>
        <p:spPr>
          <a:xfrm>
            <a:off x="11817675" y="6474048"/>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Gill Sans"/>
              <a:buNone/>
            </a:pPr>
            <a:r>
              <a:rPr lang="es-ES" sz="2000" b="0" i="0" u="none" strike="noStrike" cap="none">
                <a:solidFill>
                  <a:srgbClr val="000000"/>
                </a:solidFill>
                <a:latin typeface="Gill Sans"/>
                <a:ea typeface="Gill Sans"/>
                <a:cs typeface="Gill Sans"/>
                <a:sym typeface="Gill Sans"/>
              </a:rPr>
              <a:t>1</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4"/>
        <p:cNvGrpSpPr/>
        <p:nvPr/>
      </p:nvGrpSpPr>
      <p:grpSpPr>
        <a:xfrm>
          <a:off x="0" y="0"/>
          <a:ext cx="0" cy="0"/>
          <a:chOff x="0" y="0"/>
          <a:chExt cx="0" cy="0"/>
        </a:xfrm>
      </p:grpSpPr>
      <p:sp>
        <p:nvSpPr>
          <p:cNvPr id="105" name="Google Shape;105;p14"/>
          <p:cNvSpPr/>
          <p:nvPr/>
        </p:nvSpPr>
        <p:spPr>
          <a:xfrm>
            <a:off x="0" y="614406"/>
            <a:ext cx="12192000" cy="624359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Gill Sans"/>
              <a:buNone/>
            </a:pPr>
            <a:endParaRPr sz="1800" b="0" i="0" u="none" strike="noStrike" cap="none">
              <a:solidFill>
                <a:srgbClr val="FFFFFF"/>
              </a:solidFill>
              <a:latin typeface="Gill Sans"/>
              <a:ea typeface="Gill Sans"/>
              <a:cs typeface="Gill Sans"/>
              <a:sym typeface="Gill Sans"/>
            </a:endParaRPr>
          </a:p>
        </p:txBody>
      </p:sp>
      <p:sp>
        <p:nvSpPr>
          <p:cNvPr id="106" name="Google Shape;106;p14"/>
          <p:cNvSpPr/>
          <p:nvPr/>
        </p:nvSpPr>
        <p:spPr>
          <a:xfrm>
            <a:off x="442377" y="614407"/>
            <a:ext cx="3707477" cy="5611772"/>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107" name="Google Shape;107;p14"/>
          <p:cNvSpPr txBox="1">
            <a:spLocks noGrp="1"/>
          </p:cNvSpPr>
          <p:nvPr>
            <p:ph type="body" idx="1"/>
          </p:nvPr>
        </p:nvSpPr>
        <p:spPr>
          <a:xfrm>
            <a:off x="596348" y="701336"/>
            <a:ext cx="3389726" cy="5424255"/>
          </a:xfrm>
          <a:prstGeom prst="rect">
            <a:avLst/>
          </a:prstGeom>
          <a:noFill/>
          <a:ln>
            <a:noFill/>
          </a:ln>
        </p:spPr>
        <p:txBody>
          <a:bodyPr spcFirstLastPara="1" wrap="square" lIns="91425" tIns="45700" rIns="91425" bIns="45700" anchor="ctr" anchorCtr="0">
            <a:normAutofit lnSpcReduction="10000"/>
          </a:bodyPr>
          <a:lstStyle/>
          <a:p>
            <a:pPr marL="306000" lvl="0" indent="-306000" algn="l" rtl="0">
              <a:lnSpc>
                <a:spcPct val="100000"/>
              </a:lnSpc>
              <a:spcBef>
                <a:spcPts val="0"/>
              </a:spcBef>
              <a:spcAft>
                <a:spcPts val="0"/>
              </a:spcAft>
              <a:buSzPts val="1656"/>
              <a:buChar char="◼"/>
            </a:pPr>
            <a:r>
              <a:rPr lang="es-ES" dirty="0">
                <a:solidFill>
                  <a:schemeClr val="lt1"/>
                </a:solidFill>
              </a:rPr>
              <a:t>DESARROLLO</a:t>
            </a:r>
            <a:endParaRPr dirty="0"/>
          </a:p>
          <a:p>
            <a:pPr marL="630000" lvl="1" indent="-320020" algn="l" rtl="0">
              <a:lnSpc>
                <a:spcPct val="100000"/>
              </a:lnSpc>
              <a:spcBef>
                <a:spcPts val="872"/>
              </a:spcBef>
              <a:spcAft>
                <a:spcPts val="0"/>
              </a:spcAft>
              <a:buSzPts val="1472"/>
              <a:buChar char="◼"/>
            </a:pPr>
            <a:r>
              <a:rPr lang="es-ES" dirty="0">
                <a:solidFill>
                  <a:schemeClr val="lt1"/>
                </a:solidFill>
              </a:rPr>
              <a:t>OBJETIVO</a:t>
            </a:r>
            <a:endParaRPr dirty="0"/>
          </a:p>
          <a:p>
            <a:pPr marL="630000" lvl="1" indent="-320020" algn="l" rtl="0">
              <a:lnSpc>
                <a:spcPct val="100000"/>
              </a:lnSpc>
              <a:spcBef>
                <a:spcPts val="872"/>
              </a:spcBef>
              <a:spcAft>
                <a:spcPts val="0"/>
              </a:spcAft>
              <a:buSzPts val="1472"/>
              <a:buChar char="◼"/>
            </a:pPr>
            <a:r>
              <a:rPr lang="es-ES" dirty="0">
                <a:solidFill>
                  <a:schemeClr val="lt1"/>
                </a:solidFill>
              </a:rPr>
              <a:t>CREACIÓN DEL SERVIDOR SOAP EN DOTNET</a:t>
            </a:r>
            <a:endParaRPr dirty="0"/>
          </a:p>
          <a:p>
            <a:pPr marL="630000" lvl="1" indent="-320020" algn="l" rtl="0">
              <a:lnSpc>
                <a:spcPct val="100000"/>
              </a:lnSpc>
              <a:spcBef>
                <a:spcPts val="872"/>
              </a:spcBef>
              <a:spcAft>
                <a:spcPts val="0"/>
              </a:spcAft>
              <a:buSzPts val="1472"/>
              <a:buChar char="◼"/>
            </a:pPr>
            <a:r>
              <a:rPr lang="es-ES" sz="1800" dirty="0">
                <a:solidFill>
                  <a:schemeClr val="lt1"/>
                </a:solidFill>
              </a:rPr>
              <a:t>CREACIÓN DEL PROYECTO – CLIENTE CONSOLA</a:t>
            </a:r>
            <a:endParaRPr dirty="0"/>
          </a:p>
          <a:p>
            <a:pPr marL="630000" lvl="1" indent="-320020" algn="l" rtl="0">
              <a:lnSpc>
                <a:spcPct val="100000"/>
              </a:lnSpc>
              <a:spcBef>
                <a:spcPts val="872"/>
              </a:spcBef>
              <a:spcAft>
                <a:spcPts val="0"/>
              </a:spcAft>
              <a:buSzPts val="1472"/>
              <a:buChar char="◼"/>
            </a:pPr>
            <a:r>
              <a:rPr lang="es-ES" sz="1800" dirty="0">
                <a:solidFill>
                  <a:schemeClr val="lt1"/>
                </a:solidFill>
              </a:rPr>
              <a:t>CREACIÓN DEL PROYECTO – CLIENTE ESCRITORIO</a:t>
            </a:r>
            <a:endParaRPr dirty="0"/>
          </a:p>
          <a:p>
            <a:pPr marL="630000" lvl="1" indent="-320020" algn="l" rtl="0">
              <a:lnSpc>
                <a:spcPct val="100000"/>
              </a:lnSpc>
              <a:spcBef>
                <a:spcPts val="872"/>
              </a:spcBef>
              <a:spcAft>
                <a:spcPts val="0"/>
              </a:spcAft>
              <a:buSzPts val="1472"/>
              <a:buChar char="◼"/>
            </a:pPr>
            <a:r>
              <a:rPr lang="es-ES" sz="1800" dirty="0">
                <a:solidFill>
                  <a:schemeClr val="lt1"/>
                </a:solidFill>
              </a:rPr>
              <a:t>CREACIÓN DEL PROYECTO – CLIENTE WEB</a:t>
            </a:r>
            <a:endParaRPr dirty="0"/>
          </a:p>
          <a:p>
            <a:pPr marL="630000" lvl="1" indent="-320020" algn="l" rtl="0">
              <a:lnSpc>
                <a:spcPct val="100000"/>
              </a:lnSpc>
              <a:spcBef>
                <a:spcPts val="872"/>
              </a:spcBef>
              <a:spcAft>
                <a:spcPts val="0"/>
              </a:spcAft>
              <a:buSzPts val="1472"/>
              <a:buChar char="◼"/>
            </a:pPr>
            <a:r>
              <a:rPr lang="es-ES" sz="1800" dirty="0">
                <a:solidFill>
                  <a:schemeClr val="lt1"/>
                </a:solidFill>
              </a:rPr>
              <a:t>CREACIÓN DEL PROYECTO – CLIENTE MÓVIL</a:t>
            </a:r>
            <a:endParaRPr dirty="0"/>
          </a:p>
          <a:p>
            <a:pPr marL="306000" marR="0" lvl="0" indent="-306000" algn="l" rtl="0">
              <a:lnSpc>
                <a:spcPct val="100000"/>
              </a:lnSpc>
              <a:spcBef>
                <a:spcPts val="906"/>
              </a:spcBef>
              <a:spcAft>
                <a:spcPts val="0"/>
              </a:spcAft>
              <a:buSzPts val="1656"/>
              <a:buChar char="◼"/>
            </a:pPr>
            <a:r>
              <a:rPr lang="es-ES" dirty="0">
                <a:solidFill>
                  <a:schemeClr val="lt1"/>
                </a:solidFill>
              </a:rPr>
              <a:t>CONCLUSIONES</a:t>
            </a:r>
            <a:endParaRPr dirty="0"/>
          </a:p>
          <a:p>
            <a:pPr marL="306000" marR="0" lvl="0" indent="-306000" algn="l" rtl="0">
              <a:lnSpc>
                <a:spcPct val="100000"/>
              </a:lnSpc>
              <a:spcBef>
                <a:spcPts val="906"/>
              </a:spcBef>
              <a:spcAft>
                <a:spcPts val="0"/>
              </a:spcAft>
              <a:buSzPts val="1656"/>
              <a:buChar char="◼"/>
            </a:pPr>
            <a:r>
              <a:rPr lang="es-ES" dirty="0">
                <a:solidFill>
                  <a:schemeClr val="lt1"/>
                </a:solidFill>
              </a:rPr>
              <a:t>RECOMENDACIONES</a:t>
            </a:r>
            <a:endParaRPr dirty="0"/>
          </a:p>
        </p:txBody>
      </p:sp>
      <p:pic>
        <p:nvPicPr>
          <p:cNvPr id="108" name="Google Shape;108;p14" descr="Resultado de imagen para AGENDA PNG"/>
          <p:cNvPicPr preferRelativeResize="0"/>
          <p:nvPr/>
        </p:nvPicPr>
        <p:blipFill rotWithShape="1">
          <a:blip r:embed="rId3">
            <a:alphaModFix/>
          </a:blip>
          <a:srcRect/>
          <a:stretch/>
        </p:blipFill>
        <p:spPr>
          <a:xfrm>
            <a:off x="4791522" y="1935576"/>
            <a:ext cx="6489819" cy="3007477"/>
          </a:xfrm>
          <a:prstGeom prst="rect">
            <a:avLst/>
          </a:prstGeom>
          <a:noFill/>
          <a:ln>
            <a:noFill/>
          </a:ln>
        </p:spPr>
      </p:pic>
      <p:sp>
        <p:nvSpPr>
          <p:cNvPr id="109" name="Google Shape;109;p14"/>
          <p:cNvSpPr txBox="1"/>
          <p:nvPr/>
        </p:nvSpPr>
        <p:spPr>
          <a:xfrm>
            <a:off x="11817675" y="6474048"/>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Gill Sans"/>
              <a:buNone/>
            </a:pPr>
            <a:r>
              <a:rPr lang="es-ES" sz="2000" b="0" i="0" u="none" strike="noStrike" cap="none">
                <a:solidFill>
                  <a:srgbClr val="000000"/>
                </a:solidFill>
                <a:latin typeface="Gill Sans"/>
                <a:ea typeface="Gill Sans"/>
                <a:cs typeface="Gill Sans"/>
                <a:sym typeface="Gill Sans"/>
              </a:rPr>
              <a:t>2</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15" name="Google Shape;115;p15"/>
          <p:cNvSpPr txBox="1">
            <a:spLocks noGrp="1"/>
          </p:cNvSpPr>
          <p:nvPr>
            <p:ph type="body" idx="1"/>
          </p:nvPr>
        </p:nvSpPr>
        <p:spPr>
          <a:xfrm>
            <a:off x="581192" y="2180496"/>
            <a:ext cx="8589300" cy="36783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656"/>
              <a:buChar char="∙"/>
            </a:pPr>
            <a:r>
              <a:rPr lang="es-ES" b="1" dirty="0">
                <a:latin typeface="Cambria"/>
                <a:ea typeface="Cambria"/>
                <a:cs typeface="Cambria"/>
                <a:sym typeface="Cambria"/>
              </a:rPr>
              <a:t>1</a:t>
            </a:r>
            <a:r>
              <a:rPr lang="es-ES" sz="1800" b="1" dirty="0">
                <a:latin typeface="Cambria"/>
                <a:ea typeface="Cambria"/>
                <a:cs typeface="Cambria"/>
                <a:sym typeface="Cambria"/>
              </a:rPr>
              <a:t>.1	OBJETIVO</a:t>
            </a:r>
            <a:endParaRPr b="1" dirty="0"/>
          </a:p>
          <a:p>
            <a:pPr marL="342900" marR="0" lvl="0" indent="-237744" algn="just" rtl="0">
              <a:lnSpc>
                <a:spcPct val="107000"/>
              </a:lnSpc>
              <a:spcBef>
                <a:spcPts val="0"/>
              </a:spcBef>
              <a:spcAft>
                <a:spcPts val="0"/>
              </a:spcAft>
              <a:buSzPts val="1656"/>
              <a:buFont typeface="Noto Sans Symbols"/>
              <a:buNone/>
            </a:pPr>
            <a:endParaRPr sz="1800" dirty="0">
              <a:latin typeface="Cambria"/>
              <a:ea typeface="Cambria"/>
              <a:cs typeface="Cambria"/>
              <a:sym typeface="Cambria"/>
            </a:endParaRPr>
          </a:p>
          <a:p>
            <a:pPr marL="457200" lvl="0" indent="-333756" algn="just" rtl="0">
              <a:lnSpc>
                <a:spcPct val="107000"/>
              </a:lnSpc>
              <a:spcBef>
                <a:spcPts val="0"/>
              </a:spcBef>
              <a:spcAft>
                <a:spcPts val="0"/>
              </a:spcAft>
              <a:buSzPts val="1656"/>
              <a:buChar char="∙"/>
            </a:pPr>
            <a:r>
              <a:rPr lang="es-ES" dirty="0">
                <a:latin typeface="Cambria"/>
                <a:ea typeface="Cambria"/>
                <a:cs typeface="Cambria"/>
                <a:sym typeface="Cambria"/>
              </a:rPr>
              <a:t>Desarrollar e implementar un Web </a:t>
            </a:r>
            <a:r>
              <a:rPr lang="es-ES" dirty="0" err="1">
                <a:latin typeface="Cambria"/>
                <a:ea typeface="Cambria"/>
                <a:cs typeface="Cambria"/>
                <a:sym typeface="Cambria"/>
              </a:rPr>
              <a:t>Service</a:t>
            </a:r>
            <a:r>
              <a:rPr lang="es-ES" dirty="0">
                <a:latin typeface="Cambria"/>
                <a:ea typeface="Cambria"/>
                <a:cs typeface="Cambria"/>
                <a:sym typeface="Cambria"/>
              </a:rPr>
              <a:t> utilizando SOAP mediante DOTNET para realizar conversiones de unidades y 4 clientes: consola, escritorio, web y móvil</a:t>
            </a:r>
            <a:endParaRPr dirty="0">
              <a:latin typeface="Cambria"/>
              <a:ea typeface="Cambria"/>
              <a:cs typeface="Cambria"/>
              <a:sym typeface="Cambria"/>
            </a:endParaRPr>
          </a:p>
        </p:txBody>
      </p:sp>
      <p:sp>
        <p:nvSpPr>
          <p:cNvPr id="116" name="Google Shape;116;p1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OBJETIVO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SERVIDOR SOAP</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CONSOLA</a:t>
            </a:r>
            <a:endParaRPr sz="1200" b="1" i="0" u="none" strike="noStrike" cap="none" dirty="0">
              <a:solidFill>
                <a:schemeClr val="lt1"/>
              </a:solidFill>
              <a:latin typeface="Gill Sans"/>
              <a:ea typeface="Gill Sans"/>
              <a:cs typeface="Gill Sans"/>
              <a:sym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MÓVIL</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3997"/>
            <a:ext cx="8589300" cy="16335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785"/>
              <a:buChar char="∙"/>
            </a:pPr>
            <a:r>
              <a:rPr lang="es-ES" b="1" dirty="0">
                <a:latin typeface="Cambria"/>
                <a:ea typeface="Cambria"/>
                <a:cs typeface="Cambria"/>
                <a:sym typeface="Cambria"/>
              </a:rPr>
              <a:t>1.2.1 	Servidor IIS</a:t>
            </a:r>
            <a:endParaRPr b="1" dirty="0">
              <a:latin typeface="Cambria"/>
              <a:ea typeface="Cambria"/>
              <a:cs typeface="Cambria"/>
              <a:sym typeface="Cambria"/>
            </a:endParaRPr>
          </a:p>
          <a:p>
            <a:pPr marL="0" marR="0" lvl="0" indent="0" algn="just" rtl="0">
              <a:lnSpc>
                <a:spcPct val="107000"/>
              </a:lnSpc>
              <a:spcBef>
                <a:spcPts val="0"/>
              </a:spcBef>
              <a:spcAft>
                <a:spcPts val="0"/>
              </a:spcAft>
              <a:buSzPts val="1948"/>
              <a:buNone/>
            </a:pPr>
            <a:endParaRPr dirty="0">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dirty="0">
                <a:latin typeface="Cambria"/>
                <a:ea typeface="Cambria"/>
                <a:cs typeface="Cambria"/>
                <a:sym typeface="Cambria"/>
              </a:rPr>
              <a:t>En primer lugar, es necesario dirigirse a las “Características de Windows” para activar la característica “Internet </a:t>
            </a:r>
            <a:r>
              <a:rPr lang="es-ES" dirty="0" err="1">
                <a:latin typeface="Cambria"/>
                <a:ea typeface="Cambria"/>
                <a:cs typeface="Cambria"/>
                <a:sym typeface="Cambria"/>
              </a:rPr>
              <a:t>Information</a:t>
            </a:r>
            <a:r>
              <a:rPr lang="es-ES" dirty="0">
                <a:latin typeface="Cambria"/>
                <a:ea typeface="Cambria"/>
                <a:cs typeface="Cambria"/>
                <a:sym typeface="Cambria"/>
              </a:rPr>
              <a:t> </a:t>
            </a:r>
            <a:r>
              <a:rPr lang="es-ES" dirty="0" err="1">
                <a:latin typeface="Cambria"/>
                <a:ea typeface="Cambria"/>
                <a:cs typeface="Cambria"/>
                <a:sym typeface="Cambria"/>
              </a:rPr>
              <a:t>Services</a:t>
            </a:r>
            <a:r>
              <a:rPr lang="es-ES" dirty="0">
                <a:latin typeface="Cambria"/>
                <a:ea typeface="Cambria"/>
                <a:cs typeface="Cambria"/>
                <a:sym typeface="Cambria"/>
              </a:rPr>
              <a:t>” que es IIS que nos permitirá levantar el servidor web</a:t>
            </a:r>
            <a:endParaRPr sz="1800" dirty="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pic>
        <p:nvPicPr>
          <p:cNvPr id="4" name="Picture 3">
            <a:extLst>
              <a:ext uri="{FF2B5EF4-FFF2-40B4-BE49-F238E27FC236}">
                <a16:creationId xmlns:a16="http://schemas.microsoft.com/office/drawing/2014/main" id="{3B84A9C4-6D5F-B677-918E-B9A5ADB2BC54}"/>
              </a:ext>
            </a:extLst>
          </p:cNvPr>
          <p:cNvPicPr>
            <a:picLocks noChangeAspect="1"/>
          </p:cNvPicPr>
          <p:nvPr/>
        </p:nvPicPr>
        <p:blipFill>
          <a:blip r:embed="rId3"/>
          <a:stretch>
            <a:fillRect/>
          </a:stretch>
        </p:blipFill>
        <p:spPr>
          <a:xfrm>
            <a:off x="3182001" y="3696868"/>
            <a:ext cx="3387681" cy="303830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30" name="Google Shape;130;p17"/>
          <p:cNvSpPr txBox="1">
            <a:spLocks noGrp="1"/>
          </p:cNvSpPr>
          <p:nvPr>
            <p:ph type="body" idx="1"/>
          </p:nvPr>
        </p:nvSpPr>
        <p:spPr>
          <a:xfrm>
            <a:off x="581192" y="1601262"/>
            <a:ext cx="8589300" cy="16335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656"/>
              <a:buFont typeface="Noto Sans Symbols"/>
              <a:buChar char="∙"/>
            </a:pPr>
            <a:r>
              <a:rPr lang="es-ES" dirty="0">
                <a:latin typeface="Cambria"/>
                <a:ea typeface="Cambria"/>
                <a:cs typeface="Cambria"/>
                <a:sym typeface="Cambria"/>
              </a:rPr>
              <a:t>Para comprobar la activación de IIS, se puede escribir en el navegador “localhost” lo cual nos llevará a la pantalla de internet </a:t>
            </a:r>
            <a:r>
              <a:rPr lang="es-ES" dirty="0" err="1">
                <a:latin typeface="Cambria"/>
                <a:ea typeface="Cambria"/>
                <a:cs typeface="Cambria"/>
                <a:sym typeface="Cambria"/>
              </a:rPr>
              <a:t>information</a:t>
            </a:r>
            <a:r>
              <a:rPr lang="es-ES" dirty="0">
                <a:latin typeface="Cambria"/>
                <a:ea typeface="Cambria"/>
                <a:cs typeface="Cambria"/>
                <a:sym typeface="Cambria"/>
              </a:rPr>
              <a:t> </a:t>
            </a:r>
            <a:r>
              <a:rPr lang="es-ES" dirty="0" err="1">
                <a:latin typeface="Cambria"/>
                <a:ea typeface="Cambria"/>
                <a:cs typeface="Cambria"/>
                <a:sym typeface="Cambria"/>
              </a:rPr>
              <a:t>services</a:t>
            </a:r>
            <a:endParaRPr dirty="0">
              <a:latin typeface="Cambria"/>
              <a:ea typeface="Cambria"/>
              <a:cs typeface="Cambria"/>
              <a:sym typeface="Cambria"/>
            </a:endParaRPr>
          </a:p>
        </p:txBody>
      </p:sp>
      <p:sp>
        <p:nvSpPr>
          <p:cNvPr id="131" name="Google Shape;131;p1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pic>
        <p:nvPicPr>
          <p:cNvPr id="4" name="Picture 3">
            <a:extLst>
              <a:ext uri="{FF2B5EF4-FFF2-40B4-BE49-F238E27FC236}">
                <a16:creationId xmlns:a16="http://schemas.microsoft.com/office/drawing/2014/main" id="{5D9F0330-3474-2F7B-1858-70600316D528}"/>
              </a:ext>
            </a:extLst>
          </p:cNvPr>
          <p:cNvPicPr>
            <a:picLocks noChangeAspect="1"/>
          </p:cNvPicPr>
          <p:nvPr/>
        </p:nvPicPr>
        <p:blipFill>
          <a:blip r:embed="rId3"/>
          <a:stretch>
            <a:fillRect/>
          </a:stretch>
        </p:blipFill>
        <p:spPr>
          <a:xfrm>
            <a:off x="1604460" y="2910406"/>
            <a:ext cx="6542780" cy="380921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46" name="Google Shape;146;p19"/>
          <p:cNvSpPr txBox="1">
            <a:spLocks noGrp="1"/>
          </p:cNvSpPr>
          <p:nvPr>
            <p:ph type="body" idx="1"/>
          </p:nvPr>
        </p:nvSpPr>
        <p:spPr>
          <a:xfrm>
            <a:off x="581192" y="1941603"/>
            <a:ext cx="8589300" cy="16335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785"/>
              <a:buChar char="∙"/>
            </a:pPr>
            <a:r>
              <a:rPr lang="es-ES" b="1" dirty="0">
                <a:latin typeface="Cambria"/>
                <a:ea typeface="Cambria"/>
                <a:cs typeface="Cambria"/>
                <a:sym typeface="Cambria"/>
              </a:rPr>
              <a:t>1.2.2 	Creación del Proyecto</a:t>
            </a:r>
            <a:endParaRPr b="1" dirty="0">
              <a:latin typeface="Cambria"/>
              <a:ea typeface="Cambria"/>
              <a:cs typeface="Cambria"/>
              <a:sym typeface="Cambria"/>
            </a:endParaRPr>
          </a:p>
          <a:p>
            <a:pPr marL="0" marR="0" lvl="0" indent="0" algn="just" rtl="0">
              <a:lnSpc>
                <a:spcPct val="107000"/>
              </a:lnSpc>
              <a:spcBef>
                <a:spcPts val="0"/>
              </a:spcBef>
              <a:spcAft>
                <a:spcPts val="0"/>
              </a:spcAft>
              <a:buSzPts val="1948"/>
              <a:buNone/>
            </a:pPr>
            <a:endParaRPr dirty="0">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dirty="0">
                <a:latin typeface="Cambria"/>
                <a:ea typeface="Cambria"/>
                <a:cs typeface="Cambria"/>
                <a:sym typeface="Cambria"/>
              </a:rPr>
              <a:t>Una vez activado IIS, se debe descargar como herramientas “Windows </a:t>
            </a:r>
            <a:r>
              <a:rPr lang="es-ES" dirty="0" err="1">
                <a:latin typeface="Cambria"/>
                <a:ea typeface="Cambria"/>
                <a:cs typeface="Cambria"/>
                <a:sym typeface="Cambria"/>
              </a:rPr>
              <a:t>Communication</a:t>
            </a:r>
            <a:r>
              <a:rPr lang="es-ES" dirty="0">
                <a:latin typeface="Cambria"/>
                <a:ea typeface="Cambria"/>
                <a:cs typeface="Cambria"/>
                <a:sym typeface="Cambria"/>
              </a:rPr>
              <a:t> </a:t>
            </a:r>
            <a:r>
              <a:rPr lang="es-ES" dirty="0" err="1">
                <a:latin typeface="Cambria"/>
                <a:ea typeface="Cambria"/>
                <a:cs typeface="Cambria"/>
                <a:sym typeface="Cambria"/>
              </a:rPr>
              <a:t>Foundation</a:t>
            </a:r>
            <a:r>
              <a:rPr lang="es-ES" dirty="0">
                <a:latin typeface="Cambria"/>
                <a:ea typeface="Cambria"/>
                <a:cs typeface="Cambria"/>
                <a:sym typeface="Cambria"/>
              </a:rPr>
              <a:t>”</a:t>
            </a:r>
            <a:endParaRPr dirty="0">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dirty="0">
              <a:latin typeface="Cambria"/>
              <a:ea typeface="Cambria"/>
              <a:cs typeface="Cambria"/>
              <a:sym typeface="Cambria"/>
            </a:endParaRPr>
          </a:p>
        </p:txBody>
      </p:sp>
      <p:sp>
        <p:nvSpPr>
          <p:cNvPr id="147" name="Google Shape;147;p1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pic>
        <p:nvPicPr>
          <p:cNvPr id="4" name="Picture 3">
            <a:extLst>
              <a:ext uri="{FF2B5EF4-FFF2-40B4-BE49-F238E27FC236}">
                <a16:creationId xmlns:a16="http://schemas.microsoft.com/office/drawing/2014/main" id="{1EF7A7BB-E00D-CD47-A837-9B4F19F77F3A}"/>
              </a:ext>
            </a:extLst>
          </p:cNvPr>
          <p:cNvPicPr>
            <a:picLocks noChangeAspect="1"/>
          </p:cNvPicPr>
          <p:nvPr/>
        </p:nvPicPr>
        <p:blipFill>
          <a:blip r:embed="rId3"/>
          <a:stretch>
            <a:fillRect/>
          </a:stretch>
        </p:blipFill>
        <p:spPr>
          <a:xfrm>
            <a:off x="2259510" y="3340476"/>
            <a:ext cx="5245161" cy="329396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54" name="Google Shape;154;p20"/>
          <p:cNvSpPr txBox="1">
            <a:spLocks noGrp="1"/>
          </p:cNvSpPr>
          <p:nvPr>
            <p:ph type="body" idx="1"/>
          </p:nvPr>
        </p:nvSpPr>
        <p:spPr>
          <a:xfrm>
            <a:off x="463956" y="1966545"/>
            <a:ext cx="8744040" cy="1165731"/>
          </a:xfrm>
          <a:prstGeom prst="rect">
            <a:avLst/>
          </a:prstGeom>
          <a:noFill/>
          <a:ln>
            <a:noFill/>
          </a:ln>
        </p:spPr>
        <p:txBody>
          <a:bodyPr spcFirstLastPara="1" wrap="square" lIns="91425" tIns="45700" rIns="91425" bIns="45700" anchor="ctr" anchorCtr="0">
            <a:noAutofit/>
          </a:bodyPr>
          <a:lstStyle/>
          <a:p>
            <a:pPr marL="457200" lvl="0" indent="-333756" algn="just" rtl="0">
              <a:lnSpc>
                <a:spcPct val="107000"/>
              </a:lnSpc>
              <a:spcBef>
                <a:spcPts val="0"/>
              </a:spcBef>
              <a:spcAft>
                <a:spcPts val="0"/>
              </a:spcAft>
              <a:buSzPts val="1656"/>
              <a:buChar char="∙"/>
            </a:pPr>
            <a:r>
              <a:rPr lang="es-ES" dirty="0">
                <a:latin typeface="Cambria"/>
                <a:ea typeface="Cambria"/>
                <a:cs typeface="Cambria"/>
                <a:sym typeface="Cambria"/>
              </a:rPr>
              <a:t>Se debe crear un proyecto WCF y colocar como nombre CONV_SOAP_DOTNET, que va a ser el proyecto que tendrá el servidor</a:t>
            </a:r>
            <a:endParaRPr dirty="0">
              <a:latin typeface="Cambria"/>
              <a:ea typeface="Cambria"/>
              <a:cs typeface="Cambria"/>
              <a:sym typeface="Cambria"/>
            </a:endParaRPr>
          </a:p>
        </p:txBody>
      </p:sp>
      <p:sp>
        <p:nvSpPr>
          <p:cNvPr id="155" name="Google Shape;155;p2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pic>
        <p:nvPicPr>
          <p:cNvPr id="4" name="Picture 3">
            <a:extLst>
              <a:ext uri="{FF2B5EF4-FFF2-40B4-BE49-F238E27FC236}">
                <a16:creationId xmlns:a16="http://schemas.microsoft.com/office/drawing/2014/main" id="{24B9E11F-EA53-C191-B006-3DC65512D6E5}"/>
              </a:ext>
            </a:extLst>
          </p:cNvPr>
          <p:cNvPicPr>
            <a:picLocks noChangeAspect="1"/>
          </p:cNvPicPr>
          <p:nvPr/>
        </p:nvPicPr>
        <p:blipFill>
          <a:blip r:embed="rId3"/>
          <a:stretch>
            <a:fillRect/>
          </a:stretch>
        </p:blipFill>
        <p:spPr>
          <a:xfrm>
            <a:off x="1812728" y="3053450"/>
            <a:ext cx="6046496" cy="347503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63" name="Google Shape;163;p21"/>
          <p:cNvSpPr txBox="1">
            <a:spLocks noGrp="1"/>
          </p:cNvSpPr>
          <p:nvPr>
            <p:ph type="body" idx="1"/>
          </p:nvPr>
        </p:nvSpPr>
        <p:spPr>
          <a:xfrm>
            <a:off x="317589" y="2143663"/>
            <a:ext cx="4557900" cy="38700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677"/>
              <a:buChar char="∙"/>
            </a:pPr>
            <a:r>
              <a:rPr lang="es-ES" b="1" dirty="0">
                <a:latin typeface="Cambria"/>
                <a:ea typeface="Cambria"/>
                <a:cs typeface="Cambria"/>
                <a:sym typeface="Cambria"/>
              </a:rPr>
              <a:t>ESTRUCTURA MVC</a:t>
            </a:r>
            <a:endParaRPr b="1" dirty="0">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b="1" dirty="0">
              <a:latin typeface="Cambria"/>
              <a:ea typeface="Cambria"/>
              <a:cs typeface="Cambria"/>
              <a:sym typeface="Cambria"/>
            </a:endParaRPr>
          </a:p>
          <a:p>
            <a:pPr marL="457200" lvl="0" indent="-335090" algn="just" rtl="0">
              <a:lnSpc>
                <a:spcPct val="107000"/>
              </a:lnSpc>
              <a:spcBef>
                <a:spcPts val="0"/>
              </a:spcBef>
              <a:spcAft>
                <a:spcPts val="0"/>
              </a:spcAft>
              <a:buSzPts val="1677"/>
              <a:buFont typeface="Cambria"/>
              <a:buChar char="∙"/>
            </a:pPr>
            <a:r>
              <a:rPr lang="es-ES" dirty="0">
                <a:latin typeface="Cambria"/>
                <a:ea typeface="Cambria"/>
                <a:cs typeface="Cambria"/>
                <a:sym typeface="Cambria"/>
              </a:rPr>
              <a:t>Aplicando un patrón arquitectónico MVC y configuración de DOTNET para levantar el servidor web</a:t>
            </a:r>
            <a:endParaRPr sz="1677" b="1" dirty="0">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591" dirty="0">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dirty="0">
              <a:latin typeface="Cambria"/>
              <a:ea typeface="Cambria"/>
              <a:cs typeface="Cambria"/>
              <a:sym typeface="Cambria"/>
            </a:endParaRPr>
          </a:p>
        </p:txBody>
      </p:sp>
      <p:sp>
        <p:nvSpPr>
          <p:cNvPr id="164" name="Google Shape;164;p2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pic>
        <p:nvPicPr>
          <p:cNvPr id="4" name="Picture 3">
            <a:extLst>
              <a:ext uri="{FF2B5EF4-FFF2-40B4-BE49-F238E27FC236}">
                <a16:creationId xmlns:a16="http://schemas.microsoft.com/office/drawing/2014/main" id="{524974EC-9A60-62FD-4007-29806DBAB8EC}"/>
              </a:ext>
            </a:extLst>
          </p:cNvPr>
          <p:cNvPicPr>
            <a:picLocks noChangeAspect="1"/>
          </p:cNvPicPr>
          <p:nvPr/>
        </p:nvPicPr>
        <p:blipFill>
          <a:blip r:embed="rId3"/>
          <a:stretch>
            <a:fillRect/>
          </a:stretch>
        </p:blipFill>
        <p:spPr>
          <a:xfrm>
            <a:off x="6412502" y="2268059"/>
            <a:ext cx="2100414" cy="403773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71" name="Google Shape;171;p22"/>
          <p:cNvSpPr txBox="1">
            <a:spLocks noGrp="1"/>
          </p:cNvSpPr>
          <p:nvPr>
            <p:ph type="body" idx="1"/>
          </p:nvPr>
        </p:nvSpPr>
        <p:spPr>
          <a:xfrm>
            <a:off x="581192" y="1755678"/>
            <a:ext cx="8589300" cy="16335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785"/>
              <a:buChar char="∙"/>
            </a:pPr>
            <a:r>
              <a:rPr lang="es-ES" b="1" dirty="0">
                <a:latin typeface="Cambria"/>
                <a:ea typeface="Cambria"/>
                <a:cs typeface="Cambria"/>
                <a:sym typeface="Cambria"/>
              </a:rPr>
              <a:t>1.2.3 	Creación del </a:t>
            </a:r>
            <a:r>
              <a:rPr lang="es-ES" b="1" dirty="0" err="1">
                <a:latin typeface="Cambria"/>
                <a:ea typeface="Cambria"/>
                <a:cs typeface="Cambria"/>
                <a:sym typeface="Cambria"/>
              </a:rPr>
              <a:t>WebService</a:t>
            </a:r>
            <a:endParaRPr dirty="0">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dirty="0">
                <a:latin typeface="Cambria"/>
                <a:ea typeface="Cambria"/>
                <a:cs typeface="Cambria"/>
                <a:sym typeface="Cambria"/>
              </a:rPr>
              <a:t>Dentro del proyecto se debe crear un contrato y la clase que implementa el contrato de los datos</a:t>
            </a:r>
            <a:endParaRPr dirty="0">
              <a:latin typeface="Cambria"/>
              <a:ea typeface="Cambria"/>
              <a:cs typeface="Cambria"/>
              <a:sym typeface="Cambria"/>
            </a:endParaRPr>
          </a:p>
        </p:txBody>
      </p:sp>
      <p:sp>
        <p:nvSpPr>
          <p:cNvPr id="172" name="Google Shape;172;p22"/>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pic>
        <p:nvPicPr>
          <p:cNvPr id="3" name="Picture 2">
            <a:extLst>
              <a:ext uri="{FF2B5EF4-FFF2-40B4-BE49-F238E27FC236}">
                <a16:creationId xmlns:a16="http://schemas.microsoft.com/office/drawing/2014/main" id="{95190D08-7ACC-2E98-2436-7C3E266292F6}"/>
              </a:ext>
            </a:extLst>
          </p:cNvPr>
          <p:cNvPicPr>
            <a:picLocks noChangeAspect="1"/>
          </p:cNvPicPr>
          <p:nvPr/>
        </p:nvPicPr>
        <p:blipFill>
          <a:blip r:embed="rId3"/>
          <a:stretch>
            <a:fillRect/>
          </a:stretch>
        </p:blipFill>
        <p:spPr>
          <a:xfrm>
            <a:off x="301213" y="3326748"/>
            <a:ext cx="5440589" cy="3079311"/>
          </a:xfrm>
          <a:prstGeom prst="rect">
            <a:avLst/>
          </a:prstGeom>
        </p:spPr>
      </p:pic>
      <p:pic>
        <p:nvPicPr>
          <p:cNvPr id="6" name="Picture 5">
            <a:extLst>
              <a:ext uri="{FF2B5EF4-FFF2-40B4-BE49-F238E27FC236}">
                <a16:creationId xmlns:a16="http://schemas.microsoft.com/office/drawing/2014/main" id="{1FBE4982-C4BF-639F-F080-7EBF92AA8C07}"/>
              </a:ext>
            </a:extLst>
          </p:cNvPr>
          <p:cNvPicPr>
            <a:picLocks noChangeAspect="1"/>
          </p:cNvPicPr>
          <p:nvPr/>
        </p:nvPicPr>
        <p:blipFill>
          <a:blip r:embed="rId4"/>
          <a:stretch>
            <a:fillRect/>
          </a:stretch>
        </p:blipFill>
        <p:spPr>
          <a:xfrm>
            <a:off x="5111865" y="3716781"/>
            <a:ext cx="4165229" cy="208506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80" name="Google Shape;180;p23"/>
          <p:cNvSpPr txBox="1">
            <a:spLocks noGrp="1"/>
          </p:cNvSpPr>
          <p:nvPr>
            <p:ph type="body" idx="1"/>
          </p:nvPr>
        </p:nvSpPr>
        <p:spPr>
          <a:xfrm>
            <a:off x="581199" y="2180500"/>
            <a:ext cx="2821028" cy="2961645"/>
          </a:xfrm>
          <a:prstGeom prst="rect">
            <a:avLst/>
          </a:prstGeom>
          <a:noFill/>
          <a:ln>
            <a:noFill/>
          </a:ln>
        </p:spPr>
        <p:txBody>
          <a:bodyPr spcFirstLastPara="1" wrap="square" lIns="91425" tIns="45700" rIns="91425" bIns="45700" anchor="ctr" anchorCtr="0">
            <a:noAutofit/>
          </a:bodyPr>
          <a:lstStyle/>
          <a:p>
            <a:pPr marL="457200" lvl="0" indent="-335090" rtl="0">
              <a:lnSpc>
                <a:spcPct val="107000"/>
              </a:lnSpc>
              <a:spcBef>
                <a:spcPts val="0"/>
              </a:spcBef>
              <a:spcAft>
                <a:spcPts val="0"/>
              </a:spcAft>
              <a:buSzPts val="1677"/>
              <a:buFont typeface="Cambria"/>
              <a:buChar char="∙"/>
            </a:pPr>
            <a:r>
              <a:rPr lang="es-ES" sz="1400" b="1" dirty="0">
                <a:latin typeface="Cambria"/>
                <a:ea typeface="Cambria"/>
                <a:cs typeface="Cambria"/>
                <a:sym typeface="Cambria"/>
              </a:rPr>
              <a:t>Se codifica el </a:t>
            </a:r>
            <a:r>
              <a:rPr lang="es-ES" sz="1400" b="1" dirty="0" err="1">
                <a:latin typeface="Cambria"/>
                <a:ea typeface="Cambria"/>
                <a:cs typeface="Cambria"/>
                <a:sym typeface="Cambria"/>
              </a:rPr>
              <a:t>webservice</a:t>
            </a:r>
            <a:r>
              <a:rPr lang="es-ES" sz="1400" b="1" dirty="0">
                <a:latin typeface="Cambria"/>
                <a:ea typeface="Cambria"/>
                <a:cs typeface="Cambria"/>
                <a:sym typeface="Cambria"/>
              </a:rPr>
              <a:t> bajo los siguientes lineamientos</a:t>
            </a:r>
            <a:endParaRPr sz="1400" b="1" dirty="0">
              <a:latin typeface="Cambria"/>
              <a:ea typeface="Cambria"/>
              <a:cs typeface="Cambria"/>
              <a:sym typeface="Cambria"/>
            </a:endParaRPr>
          </a:p>
          <a:p>
            <a:pPr marL="457200" lvl="0" indent="-335090" rtl="0">
              <a:lnSpc>
                <a:spcPct val="107000"/>
              </a:lnSpc>
              <a:spcBef>
                <a:spcPts val="0"/>
              </a:spcBef>
              <a:spcAft>
                <a:spcPts val="0"/>
              </a:spcAft>
              <a:buSzPts val="1677"/>
              <a:buFont typeface="Cambria"/>
              <a:buChar char="∙"/>
            </a:pPr>
            <a:r>
              <a:rPr lang="es-ES" sz="1400" dirty="0">
                <a:latin typeface="Cambria"/>
                <a:ea typeface="Cambria"/>
                <a:cs typeface="Cambria"/>
                <a:sym typeface="Cambria"/>
              </a:rPr>
              <a:t>1.	Se dejan preparado el contrato y su implementación en una interfaz que será implementada posteriormente</a:t>
            </a:r>
            <a:endParaRPr sz="1400" dirty="0">
              <a:latin typeface="Cambria"/>
              <a:ea typeface="Cambria"/>
              <a:cs typeface="Cambria"/>
              <a:sym typeface="Cambria"/>
            </a:endParaRPr>
          </a:p>
        </p:txBody>
      </p:sp>
      <p:sp>
        <p:nvSpPr>
          <p:cNvPr id="181" name="Google Shape;181;p23"/>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182" name="Google Shape;182;p23"/>
          <p:cNvGraphicFramePr/>
          <p:nvPr>
            <p:extLst>
              <p:ext uri="{D42A27DB-BD31-4B8C-83A1-F6EECF244321}">
                <p14:modId xmlns:p14="http://schemas.microsoft.com/office/powerpoint/2010/main" val="1818993987"/>
              </p:ext>
            </p:extLst>
          </p:nvPr>
        </p:nvGraphicFramePr>
        <p:xfrm>
          <a:off x="3615279" y="2835825"/>
          <a:ext cx="5400050" cy="2306320"/>
        </p:xfrm>
        <a:graphic>
          <a:graphicData uri="http://schemas.openxmlformats.org/drawingml/2006/table">
            <a:tbl>
              <a:tblPr>
                <a:noFill/>
                <a:tableStyleId>{BF136021-7255-42B7-A7E7-87A8D8FFE9CA}</a:tableStyleId>
              </a:tblPr>
              <a:tblGrid>
                <a:gridCol w="5400050">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err="1">
                          <a:solidFill>
                            <a:srgbClr val="4F81BD"/>
                          </a:solidFill>
                          <a:latin typeface="Calibri"/>
                          <a:ea typeface="Calibri"/>
                          <a:cs typeface="Calibri"/>
                          <a:sym typeface="Calibri"/>
                        </a:rPr>
                        <a:t>namespace</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CONV_SOAP_DOTNET.Contratos</a:t>
                      </a: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ServiceContract</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Namespace</a:t>
                      </a:r>
                      <a:r>
                        <a:rPr lang="es-ES" sz="1100" dirty="0">
                          <a:solidFill>
                            <a:srgbClr val="4F81BD"/>
                          </a:solidFill>
                          <a:latin typeface="Calibri"/>
                          <a:ea typeface="Calibri"/>
                          <a:cs typeface="Calibri"/>
                          <a:sym typeface="Calibri"/>
                        </a:rPr>
                        <a:t> = "http://monster/servicioconversionunidades")]</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public</a:t>
                      </a:r>
                      <a:r>
                        <a:rPr lang="es-ES" sz="1100" dirty="0">
                          <a:solidFill>
                            <a:srgbClr val="4F81BD"/>
                          </a:solidFill>
                          <a:latin typeface="Calibri"/>
                          <a:ea typeface="Calibri"/>
                          <a:cs typeface="Calibri"/>
                          <a:sym typeface="Calibri"/>
                        </a:rPr>
                        <a:t> interface </a:t>
                      </a:r>
                      <a:r>
                        <a:rPr lang="es-ES" sz="1100" dirty="0" err="1">
                          <a:solidFill>
                            <a:srgbClr val="4F81BD"/>
                          </a:solidFill>
                          <a:latin typeface="Calibri"/>
                          <a:ea typeface="Calibri"/>
                          <a:cs typeface="Calibri"/>
                          <a:sym typeface="Calibri"/>
                        </a:rPr>
                        <a:t>IServicioConversionUnidades</a:t>
                      </a: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OperationContract</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RespuestaInicioSesion</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IniciarSesion</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SolicitudInicioSesion</a:t>
                      </a:r>
                      <a:r>
                        <a:rPr lang="es-ES" sz="1100" dirty="0">
                          <a:solidFill>
                            <a:srgbClr val="4F81BD"/>
                          </a:solidFill>
                          <a:latin typeface="Calibri"/>
                          <a:ea typeface="Calibri"/>
                          <a:cs typeface="Calibri"/>
                          <a:sym typeface="Calibri"/>
                        </a:rPr>
                        <a:t> solicitud);</a:t>
                      </a:r>
                    </a:p>
                    <a:p>
                      <a:pPr marL="0" lvl="0" indent="0" algn="l" rtl="0">
                        <a:spcBef>
                          <a:spcPts val="0"/>
                        </a:spcBef>
                        <a:spcAft>
                          <a:spcPts val="0"/>
                        </a:spcAft>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OperationContract</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RespuestaConversionMensaje</a:t>
                      </a:r>
                      <a:r>
                        <a:rPr lang="es-ES" sz="1100" dirty="0">
                          <a:solidFill>
                            <a:srgbClr val="4F81BD"/>
                          </a:solidFill>
                          <a:latin typeface="Calibri"/>
                          <a:ea typeface="Calibri"/>
                          <a:cs typeface="Calibri"/>
                          <a:sym typeface="Calibri"/>
                        </a:rPr>
                        <a:t> Convertir(</a:t>
                      </a:r>
                      <a:r>
                        <a:rPr lang="es-ES" sz="1100" dirty="0" err="1">
                          <a:solidFill>
                            <a:srgbClr val="4F81BD"/>
                          </a:solidFill>
                          <a:latin typeface="Calibri"/>
                          <a:ea typeface="Calibri"/>
                          <a:cs typeface="Calibri"/>
                          <a:sym typeface="Calibri"/>
                        </a:rPr>
                        <a:t>SolicitudConversionMensaje</a:t>
                      </a:r>
                      <a:r>
                        <a:rPr lang="es-ES" sz="1100" dirty="0">
                          <a:solidFill>
                            <a:srgbClr val="4F81BD"/>
                          </a:solidFill>
                          <a:latin typeface="Calibri"/>
                          <a:ea typeface="Calibri"/>
                          <a:cs typeface="Calibri"/>
                          <a:sym typeface="Calibri"/>
                        </a:rPr>
                        <a:t> solicitud);</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a:t>
                      </a: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88" name="Google Shape;188;p24"/>
          <p:cNvSpPr txBox="1">
            <a:spLocks noGrp="1"/>
          </p:cNvSpPr>
          <p:nvPr>
            <p:ph type="body" idx="1"/>
          </p:nvPr>
        </p:nvSpPr>
        <p:spPr>
          <a:xfrm>
            <a:off x="440100" y="2299082"/>
            <a:ext cx="3120251" cy="1987846"/>
          </a:xfrm>
          <a:prstGeom prst="rect">
            <a:avLst/>
          </a:prstGeom>
          <a:noFill/>
          <a:ln>
            <a:noFill/>
          </a:ln>
        </p:spPr>
        <p:txBody>
          <a:bodyPr spcFirstLastPara="1" wrap="square" lIns="91425" tIns="45700" rIns="91425" bIns="45700" anchor="ctr" anchorCtr="0">
            <a:normAutofit/>
          </a:bodyPr>
          <a:lstStyle/>
          <a:p>
            <a:pPr marL="457200" lvl="0" indent="-335090" rtl="0">
              <a:lnSpc>
                <a:spcPct val="107000"/>
              </a:lnSpc>
              <a:spcBef>
                <a:spcPts val="0"/>
              </a:spcBef>
              <a:spcAft>
                <a:spcPts val="0"/>
              </a:spcAft>
              <a:buSzPts val="1677"/>
              <a:buFont typeface="Cambria"/>
              <a:buChar char="∙"/>
            </a:pPr>
            <a:r>
              <a:rPr lang="es-ES" sz="1400" dirty="0">
                <a:latin typeface="Cambria"/>
                <a:ea typeface="Cambria"/>
                <a:cs typeface="Cambria"/>
                <a:sym typeface="Cambria"/>
              </a:rPr>
              <a:t>2.	Se configura el </a:t>
            </a:r>
            <a:r>
              <a:rPr lang="es-ES" sz="1400" dirty="0" err="1">
                <a:latin typeface="Cambria"/>
                <a:ea typeface="Cambria"/>
                <a:cs typeface="Cambria"/>
                <a:sym typeface="Cambria"/>
              </a:rPr>
              <a:t>endpoint</a:t>
            </a:r>
            <a:r>
              <a:rPr lang="es-ES" sz="1400" dirty="0">
                <a:latin typeface="Cambria"/>
                <a:ea typeface="Cambria"/>
                <a:cs typeface="Cambria"/>
                <a:sym typeface="Cambria"/>
              </a:rPr>
              <a:t> de nuestro servicio web.</a:t>
            </a:r>
            <a:endParaRPr sz="1400" dirty="0">
              <a:latin typeface="Cambria"/>
              <a:ea typeface="Cambria"/>
              <a:cs typeface="Cambria"/>
              <a:sym typeface="Cambria"/>
            </a:endParaRPr>
          </a:p>
          <a:p>
            <a:pPr marL="457200" lvl="0" indent="-335090" rtl="0">
              <a:lnSpc>
                <a:spcPct val="107000"/>
              </a:lnSpc>
              <a:spcBef>
                <a:spcPts val="0"/>
              </a:spcBef>
              <a:spcAft>
                <a:spcPts val="0"/>
              </a:spcAft>
              <a:buSzPts val="1677"/>
              <a:buFont typeface="Cambria"/>
              <a:buChar char="∙"/>
            </a:pPr>
            <a:r>
              <a:rPr lang="es-ES" sz="1400" dirty="0">
                <a:latin typeface="Cambria"/>
                <a:ea typeface="Cambria"/>
                <a:cs typeface="Cambria"/>
                <a:sym typeface="Cambria"/>
              </a:rPr>
              <a:t>3.	Se crean los atributos respectivos.</a:t>
            </a:r>
            <a:endParaRPr sz="1400" b="1" dirty="0">
              <a:latin typeface="Cambria"/>
              <a:ea typeface="Cambria"/>
              <a:cs typeface="Cambria"/>
              <a:sym typeface="Cambria"/>
            </a:endParaRPr>
          </a:p>
        </p:txBody>
      </p:sp>
      <p:sp>
        <p:nvSpPr>
          <p:cNvPr id="189" name="Google Shape;189;p24"/>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190" name="Google Shape;190;p24"/>
          <p:cNvGraphicFramePr/>
          <p:nvPr>
            <p:extLst>
              <p:ext uri="{D42A27DB-BD31-4B8C-83A1-F6EECF244321}">
                <p14:modId xmlns:p14="http://schemas.microsoft.com/office/powerpoint/2010/main" val="2238073970"/>
              </p:ext>
            </p:extLst>
          </p:nvPr>
        </p:nvGraphicFramePr>
        <p:xfrm>
          <a:off x="3709687" y="1960288"/>
          <a:ext cx="5400050" cy="4653280"/>
        </p:xfrm>
        <a:graphic>
          <a:graphicData uri="http://schemas.openxmlformats.org/drawingml/2006/table">
            <a:tbl>
              <a:tblPr>
                <a:noFill/>
                <a:tableStyleId>{BF136021-7255-42B7-A7E7-87A8D8FFE9CA}</a:tableStyleId>
              </a:tblPr>
              <a:tblGrid>
                <a:gridCol w="5400050">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s-ES" sz="1100" dirty="0">
                          <a:solidFill>
                            <a:srgbClr val="4F81BD"/>
                          </a:solidFill>
                          <a:latin typeface="Calibri"/>
                          <a:ea typeface="Calibri"/>
                          <a:cs typeface="Calibri"/>
                          <a:sym typeface="Calibri"/>
                        </a:rPr>
                        <a:t>&lt;</a:t>
                      </a:r>
                      <a:r>
                        <a:rPr lang="es-ES" sz="1100" dirty="0" err="1">
                          <a:solidFill>
                            <a:srgbClr val="4F81BD"/>
                          </a:solidFill>
                          <a:latin typeface="Calibri"/>
                          <a:ea typeface="Calibri"/>
                          <a:cs typeface="Calibri"/>
                          <a:sym typeface="Calibri"/>
                        </a:rPr>
                        <a:t>system.serviceModel</a:t>
                      </a:r>
                      <a:r>
                        <a:rPr lang="es-ES" sz="1100" dirty="0">
                          <a:solidFill>
                            <a:srgbClr val="4F81BD"/>
                          </a:solidFill>
                          <a:latin typeface="Calibri"/>
                          <a:ea typeface="Calibri"/>
                          <a:cs typeface="Calibri"/>
                          <a:sym typeface="Calibri"/>
                        </a:rPr>
                        <a:t>&gt;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&lt;</a:t>
                      </a:r>
                      <a:r>
                        <a:rPr lang="es-ES" sz="1100" dirty="0" err="1">
                          <a:solidFill>
                            <a:srgbClr val="4F81BD"/>
                          </a:solidFill>
                          <a:latin typeface="Calibri"/>
                          <a:ea typeface="Calibri"/>
                          <a:cs typeface="Calibri"/>
                          <a:sym typeface="Calibri"/>
                        </a:rPr>
                        <a:t>services</a:t>
                      </a:r>
                      <a:r>
                        <a:rPr lang="es-ES" sz="1100" dirty="0">
                          <a:solidFill>
                            <a:srgbClr val="4F81BD"/>
                          </a:solidFill>
                          <a:latin typeface="Calibri"/>
                          <a:ea typeface="Calibri"/>
                          <a:cs typeface="Calibri"/>
                          <a:sym typeface="Calibri"/>
                        </a:rPr>
                        <a:t>&gt;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&lt;</a:t>
                      </a:r>
                      <a:r>
                        <a:rPr lang="es-ES" sz="1100" dirty="0" err="1">
                          <a:solidFill>
                            <a:srgbClr val="4F81BD"/>
                          </a:solidFill>
                          <a:latin typeface="Calibri"/>
                          <a:ea typeface="Calibri"/>
                          <a:cs typeface="Calibri"/>
                          <a:sym typeface="Calibri"/>
                        </a:rPr>
                        <a:t>service</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name</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CONV_SOAP_DOTNET.Servicios.ServicioConversionUnidades</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behaviorConfiguration</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ComportamientoServicio</a:t>
                      </a:r>
                      <a:r>
                        <a:rPr lang="es-ES" sz="1100" dirty="0">
                          <a:solidFill>
                            <a:srgbClr val="4F81BD"/>
                          </a:solidFill>
                          <a:latin typeface="Calibri"/>
                          <a:ea typeface="Calibri"/>
                          <a:cs typeface="Calibri"/>
                          <a:sym typeface="Calibri"/>
                        </a:rPr>
                        <a:t>"&gt;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&lt;</a:t>
                      </a:r>
                      <a:r>
                        <a:rPr lang="es-ES" sz="1100" dirty="0" err="1">
                          <a:solidFill>
                            <a:srgbClr val="4F81BD"/>
                          </a:solidFill>
                          <a:latin typeface="Calibri"/>
                          <a:ea typeface="Calibri"/>
                          <a:cs typeface="Calibri"/>
                          <a:sym typeface="Calibri"/>
                        </a:rPr>
                        <a:t>endpoint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address</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binding</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basicHttpBinding</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contract</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CONV_SOAP_DOTNET.Contratos.IServicioConversionUnidades</a:t>
                      </a:r>
                      <a:r>
                        <a:rPr lang="es-ES" sz="1100" dirty="0">
                          <a:solidFill>
                            <a:srgbClr val="4F81BD"/>
                          </a:solidFill>
                          <a:latin typeface="Calibri"/>
                          <a:ea typeface="Calibri"/>
                          <a:cs typeface="Calibri"/>
                          <a:sym typeface="Calibri"/>
                        </a:rPr>
                        <a:t>" /&gt;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&lt;</a:t>
                      </a:r>
                      <a:r>
                        <a:rPr lang="es-ES" sz="1100" dirty="0" err="1">
                          <a:solidFill>
                            <a:srgbClr val="4F81BD"/>
                          </a:solidFill>
                          <a:latin typeface="Calibri"/>
                          <a:ea typeface="Calibri"/>
                          <a:cs typeface="Calibri"/>
                          <a:sym typeface="Calibri"/>
                        </a:rPr>
                        <a:t>endpoint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address</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mex</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binding</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mexHttpBinding</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contract</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IMetadataExchange</a:t>
                      </a:r>
                      <a:r>
                        <a:rPr lang="es-ES" sz="1100" dirty="0">
                          <a:solidFill>
                            <a:srgbClr val="4F81BD"/>
                          </a:solidFill>
                          <a:latin typeface="Calibri"/>
                          <a:ea typeface="Calibri"/>
                          <a:cs typeface="Calibri"/>
                          <a:sym typeface="Calibri"/>
                        </a:rPr>
                        <a:t>" /&gt;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&lt;/</a:t>
                      </a:r>
                      <a:r>
                        <a:rPr lang="es-ES" sz="1100" dirty="0" err="1">
                          <a:solidFill>
                            <a:srgbClr val="4F81BD"/>
                          </a:solidFill>
                          <a:latin typeface="Calibri"/>
                          <a:ea typeface="Calibri"/>
                          <a:cs typeface="Calibri"/>
                          <a:sym typeface="Calibri"/>
                        </a:rPr>
                        <a:t>service</a:t>
                      </a:r>
                      <a:r>
                        <a:rPr lang="es-ES" sz="1100" dirty="0">
                          <a:solidFill>
                            <a:srgbClr val="4F81BD"/>
                          </a:solidFill>
                          <a:latin typeface="Calibri"/>
                          <a:ea typeface="Calibri"/>
                          <a:cs typeface="Calibri"/>
                          <a:sym typeface="Calibri"/>
                        </a:rPr>
                        <a:t>&gt;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&lt;/</a:t>
                      </a:r>
                      <a:r>
                        <a:rPr lang="es-ES" sz="1100" dirty="0" err="1">
                          <a:solidFill>
                            <a:srgbClr val="4F81BD"/>
                          </a:solidFill>
                          <a:latin typeface="Calibri"/>
                          <a:ea typeface="Calibri"/>
                          <a:cs typeface="Calibri"/>
                          <a:sym typeface="Calibri"/>
                        </a:rPr>
                        <a:t>services</a:t>
                      </a:r>
                      <a:r>
                        <a:rPr lang="es-ES" sz="1100" dirty="0">
                          <a:solidFill>
                            <a:srgbClr val="4F81BD"/>
                          </a:solidFill>
                          <a:latin typeface="Calibri"/>
                          <a:ea typeface="Calibri"/>
                          <a:cs typeface="Calibri"/>
                          <a:sym typeface="Calibri"/>
                        </a:rPr>
                        <a:t>&gt;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&lt;</a:t>
                      </a:r>
                      <a:r>
                        <a:rPr lang="es-ES" sz="1100" dirty="0" err="1">
                          <a:solidFill>
                            <a:srgbClr val="4F81BD"/>
                          </a:solidFill>
                          <a:latin typeface="Calibri"/>
                          <a:ea typeface="Calibri"/>
                          <a:cs typeface="Calibri"/>
                          <a:sym typeface="Calibri"/>
                        </a:rPr>
                        <a:t>behaviors</a:t>
                      </a:r>
                      <a:r>
                        <a:rPr lang="es-ES" sz="1100" dirty="0">
                          <a:solidFill>
                            <a:srgbClr val="4F81BD"/>
                          </a:solidFill>
                          <a:latin typeface="Calibri"/>
                          <a:ea typeface="Calibri"/>
                          <a:cs typeface="Calibri"/>
                          <a:sym typeface="Calibri"/>
                        </a:rPr>
                        <a:t>&gt;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&lt;</a:t>
                      </a:r>
                      <a:r>
                        <a:rPr lang="es-ES" sz="1100" dirty="0" err="1">
                          <a:solidFill>
                            <a:srgbClr val="4F81BD"/>
                          </a:solidFill>
                          <a:latin typeface="Calibri"/>
                          <a:ea typeface="Calibri"/>
                          <a:cs typeface="Calibri"/>
                          <a:sym typeface="Calibri"/>
                        </a:rPr>
                        <a:t>serviceBehaviors</a:t>
                      </a:r>
                      <a:r>
                        <a:rPr lang="es-ES" sz="1100" dirty="0">
                          <a:solidFill>
                            <a:srgbClr val="4F81BD"/>
                          </a:solidFill>
                          <a:latin typeface="Calibri"/>
                          <a:ea typeface="Calibri"/>
                          <a:cs typeface="Calibri"/>
                          <a:sym typeface="Calibri"/>
                        </a:rPr>
                        <a:t>&gt;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&lt;</a:t>
                      </a:r>
                      <a:r>
                        <a:rPr lang="es-ES" sz="1100" dirty="0" err="1">
                          <a:solidFill>
                            <a:srgbClr val="4F81BD"/>
                          </a:solidFill>
                          <a:latin typeface="Calibri"/>
                          <a:ea typeface="Calibri"/>
                          <a:cs typeface="Calibri"/>
                          <a:sym typeface="Calibri"/>
                        </a:rPr>
                        <a:t>behavior</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name</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ComportamientoServicio</a:t>
                      </a:r>
                      <a:r>
                        <a:rPr lang="es-ES" sz="1100" dirty="0">
                          <a:solidFill>
                            <a:srgbClr val="4F81BD"/>
                          </a:solidFill>
                          <a:latin typeface="Calibri"/>
                          <a:ea typeface="Calibri"/>
                          <a:cs typeface="Calibri"/>
                          <a:sym typeface="Calibri"/>
                        </a:rPr>
                        <a:t>"&gt;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&lt;!-- Para evitar revelar información de los metadatos, establezca los valores siguientes en false antes de la implementación --&gt;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&lt;</a:t>
                      </a:r>
                      <a:r>
                        <a:rPr lang="es-ES" sz="1100" dirty="0" err="1">
                          <a:solidFill>
                            <a:srgbClr val="4F81BD"/>
                          </a:solidFill>
                          <a:latin typeface="Calibri"/>
                          <a:ea typeface="Calibri"/>
                          <a:cs typeface="Calibri"/>
                          <a:sym typeface="Calibri"/>
                        </a:rPr>
                        <a:t>serviceMetadata</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httpGetEnabled</a:t>
                      </a:r>
                      <a:r>
                        <a:rPr lang="es-ES" sz="1100" dirty="0">
                          <a:solidFill>
                            <a:srgbClr val="4F81BD"/>
                          </a:solidFill>
                          <a:latin typeface="Calibri"/>
                          <a:ea typeface="Calibri"/>
                          <a:cs typeface="Calibri"/>
                          <a:sym typeface="Calibri"/>
                        </a:rPr>
                        <a:t>="true" </a:t>
                      </a:r>
                      <a:r>
                        <a:rPr lang="es-ES" sz="1100" dirty="0" err="1">
                          <a:solidFill>
                            <a:srgbClr val="4F81BD"/>
                          </a:solidFill>
                          <a:latin typeface="Calibri"/>
                          <a:ea typeface="Calibri"/>
                          <a:cs typeface="Calibri"/>
                          <a:sym typeface="Calibri"/>
                        </a:rPr>
                        <a:t>httpsGetEnabled</a:t>
                      </a:r>
                      <a:r>
                        <a:rPr lang="es-ES" sz="1100" dirty="0">
                          <a:solidFill>
                            <a:srgbClr val="4F81BD"/>
                          </a:solidFill>
                          <a:latin typeface="Calibri"/>
                          <a:ea typeface="Calibri"/>
                          <a:cs typeface="Calibri"/>
                          <a:sym typeface="Calibri"/>
                        </a:rPr>
                        <a:t>="true"/&gt;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&lt;!-- Para recibir detalles de las excepciones en los errores para la depuración, establezca el siguiente valor en true. Para no revelar información sobre las excepciones establézcalo en false antes de la implementación --&gt;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&lt;</a:t>
                      </a:r>
                      <a:r>
                        <a:rPr lang="es-ES" sz="1100" dirty="0" err="1">
                          <a:solidFill>
                            <a:srgbClr val="4F81BD"/>
                          </a:solidFill>
                          <a:latin typeface="Calibri"/>
                          <a:ea typeface="Calibri"/>
                          <a:cs typeface="Calibri"/>
                          <a:sym typeface="Calibri"/>
                        </a:rPr>
                        <a:t>serviceDebug</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includeExceptionDetailInFaults</a:t>
                      </a:r>
                      <a:r>
                        <a:rPr lang="es-ES" sz="1100" dirty="0">
                          <a:solidFill>
                            <a:srgbClr val="4F81BD"/>
                          </a:solidFill>
                          <a:latin typeface="Calibri"/>
                          <a:ea typeface="Calibri"/>
                          <a:cs typeface="Calibri"/>
                          <a:sym typeface="Calibri"/>
                        </a:rPr>
                        <a:t>="false"/&gt;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&lt;/</a:t>
                      </a:r>
                      <a:r>
                        <a:rPr lang="es-ES" sz="1100" dirty="0" err="1">
                          <a:solidFill>
                            <a:srgbClr val="4F81BD"/>
                          </a:solidFill>
                          <a:latin typeface="Calibri"/>
                          <a:ea typeface="Calibri"/>
                          <a:cs typeface="Calibri"/>
                          <a:sym typeface="Calibri"/>
                        </a:rPr>
                        <a:t>behavior</a:t>
                      </a:r>
                      <a:r>
                        <a:rPr lang="es-ES" sz="1100" dirty="0">
                          <a:solidFill>
                            <a:srgbClr val="4F81BD"/>
                          </a:solidFill>
                          <a:latin typeface="Calibri"/>
                          <a:ea typeface="Calibri"/>
                          <a:cs typeface="Calibri"/>
                          <a:sym typeface="Calibri"/>
                        </a:rPr>
                        <a:t>&gt;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&lt;/</a:t>
                      </a:r>
                      <a:r>
                        <a:rPr lang="es-ES" sz="1100" dirty="0" err="1">
                          <a:solidFill>
                            <a:srgbClr val="4F81BD"/>
                          </a:solidFill>
                          <a:latin typeface="Calibri"/>
                          <a:ea typeface="Calibri"/>
                          <a:cs typeface="Calibri"/>
                          <a:sym typeface="Calibri"/>
                        </a:rPr>
                        <a:t>serviceBehaviors</a:t>
                      </a:r>
                      <a:r>
                        <a:rPr lang="es-ES" sz="1100" dirty="0">
                          <a:solidFill>
                            <a:srgbClr val="4F81BD"/>
                          </a:solidFill>
                          <a:latin typeface="Calibri"/>
                          <a:ea typeface="Calibri"/>
                          <a:cs typeface="Calibri"/>
                          <a:sym typeface="Calibri"/>
                        </a:rPr>
                        <a:t>&gt;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&lt;/</a:t>
                      </a:r>
                      <a:r>
                        <a:rPr lang="es-ES" sz="1100" dirty="0" err="1">
                          <a:solidFill>
                            <a:srgbClr val="4F81BD"/>
                          </a:solidFill>
                          <a:latin typeface="Calibri"/>
                          <a:ea typeface="Calibri"/>
                          <a:cs typeface="Calibri"/>
                          <a:sym typeface="Calibri"/>
                        </a:rPr>
                        <a:t>behaviors</a:t>
                      </a:r>
                      <a:r>
                        <a:rPr lang="es-ES" sz="1100" dirty="0">
                          <a:solidFill>
                            <a:srgbClr val="4F81BD"/>
                          </a:solidFill>
                          <a:latin typeface="Calibri"/>
                          <a:ea typeface="Calibri"/>
                          <a:cs typeface="Calibri"/>
                          <a:sym typeface="Calibri"/>
                        </a:rPr>
                        <a:t>&gt;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&lt;!-- </a:t>
                      </a:r>
                      <a:r>
                        <a:rPr lang="es-ES" sz="1100" dirty="0" err="1">
                          <a:solidFill>
                            <a:srgbClr val="4F81BD"/>
                          </a:solidFill>
                          <a:latin typeface="Calibri"/>
                          <a:ea typeface="Calibri"/>
                          <a:cs typeface="Calibri"/>
                          <a:sym typeface="Calibri"/>
                        </a:rPr>
                        <a:t>minFreeMemoryPercentageToActivateService</a:t>
                      </a:r>
                      <a:r>
                        <a:rPr lang="es-ES" sz="1100" dirty="0">
                          <a:solidFill>
                            <a:srgbClr val="4F81BD"/>
                          </a:solidFill>
                          <a:latin typeface="Calibri"/>
                          <a:ea typeface="Calibri"/>
                          <a:cs typeface="Calibri"/>
                          <a:sym typeface="Calibri"/>
                        </a:rPr>
                        <a:t>="0": evita que la puerta de memoria de WCF bloquee la activación en equipos de desarrollo con poca RAM libre. --&gt;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&lt;</a:t>
                      </a:r>
                      <a:r>
                        <a:rPr lang="es-ES" sz="1100" dirty="0" err="1">
                          <a:solidFill>
                            <a:srgbClr val="4F81BD"/>
                          </a:solidFill>
                          <a:latin typeface="Calibri"/>
                          <a:ea typeface="Calibri"/>
                          <a:cs typeface="Calibri"/>
                          <a:sym typeface="Calibri"/>
                        </a:rPr>
                        <a:t>serviceHostingEnvironment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aspNetCompatibilityEnabled</a:t>
                      </a:r>
                      <a:r>
                        <a:rPr lang="es-ES" sz="1100" dirty="0">
                          <a:solidFill>
                            <a:srgbClr val="4F81BD"/>
                          </a:solidFill>
                          <a:latin typeface="Calibri"/>
                          <a:ea typeface="Calibri"/>
                          <a:cs typeface="Calibri"/>
                          <a:sym typeface="Calibri"/>
                        </a:rPr>
                        <a:t>="true" </a:t>
                      </a:r>
                      <a:r>
                        <a:rPr lang="es-ES" sz="1100" dirty="0" err="1">
                          <a:solidFill>
                            <a:srgbClr val="4F81BD"/>
                          </a:solidFill>
                          <a:latin typeface="Calibri"/>
                          <a:ea typeface="Calibri"/>
                          <a:cs typeface="Calibri"/>
                          <a:sym typeface="Calibri"/>
                        </a:rPr>
                        <a:t>multipleSiteBindingsEnabled</a:t>
                      </a:r>
                      <a:r>
                        <a:rPr lang="es-ES" sz="1100" dirty="0">
                          <a:solidFill>
                            <a:srgbClr val="4F81BD"/>
                          </a:solidFill>
                          <a:latin typeface="Calibri"/>
                          <a:ea typeface="Calibri"/>
                          <a:cs typeface="Calibri"/>
                          <a:sym typeface="Calibri"/>
                        </a:rPr>
                        <a:t>="true" </a:t>
                      </a:r>
                      <a:r>
                        <a:rPr lang="es-ES" sz="1100" dirty="0" err="1">
                          <a:solidFill>
                            <a:srgbClr val="4F81BD"/>
                          </a:solidFill>
                          <a:latin typeface="Calibri"/>
                          <a:ea typeface="Calibri"/>
                          <a:cs typeface="Calibri"/>
                          <a:sym typeface="Calibri"/>
                        </a:rPr>
                        <a:t>minFreeMemoryPercentageToActivateService</a:t>
                      </a:r>
                      <a:r>
                        <a:rPr lang="es-ES" sz="1100" dirty="0">
                          <a:solidFill>
                            <a:srgbClr val="4F81BD"/>
                          </a:solidFill>
                          <a:latin typeface="Calibri"/>
                          <a:ea typeface="Calibri"/>
                          <a:cs typeface="Calibri"/>
                          <a:sym typeface="Calibri"/>
                        </a:rPr>
                        <a:t>="0" /&gt;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&lt;/</a:t>
                      </a:r>
                      <a:r>
                        <a:rPr lang="es-ES" sz="1100" dirty="0" err="1">
                          <a:solidFill>
                            <a:srgbClr val="4F81BD"/>
                          </a:solidFill>
                          <a:latin typeface="Calibri"/>
                          <a:ea typeface="Calibri"/>
                          <a:cs typeface="Calibri"/>
                          <a:sym typeface="Calibri"/>
                        </a:rPr>
                        <a:t>system.serviceModel</a:t>
                      </a:r>
                      <a:r>
                        <a:rPr lang="es-ES" sz="1100" dirty="0">
                          <a:solidFill>
                            <a:srgbClr val="4F81BD"/>
                          </a:solidFill>
                          <a:latin typeface="Calibri"/>
                          <a:ea typeface="Calibri"/>
                          <a:cs typeface="Calibri"/>
                          <a:sym typeface="Calibri"/>
                        </a:rPr>
                        <a:t>&gt;</a:t>
                      </a:r>
                      <a:endParaRPr sz="11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97" name="Google Shape;197;p25"/>
          <p:cNvSpPr txBox="1">
            <a:spLocks noGrp="1"/>
          </p:cNvSpPr>
          <p:nvPr>
            <p:ph type="body" idx="1"/>
          </p:nvPr>
        </p:nvSpPr>
        <p:spPr>
          <a:xfrm>
            <a:off x="581200" y="2180500"/>
            <a:ext cx="2402100" cy="3965700"/>
          </a:xfrm>
          <a:prstGeom prst="rect">
            <a:avLst/>
          </a:prstGeom>
          <a:noFill/>
          <a:ln>
            <a:noFill/>
          </a:ln>
        </p:spPr>
        <p:txBody>
          <a:bodyPr spcFirstLastPara="1" wrap="square" lIns="91425" tIns="45700" rIns="91425" bIns="45700" anchor="ctr" anchorCtr="0">
            <a:normAutofit/>
          </a:bodyPr>
          <a:lstStyle/>
          <a:p>
            <a:pPr marL="457200" lvl="0" indent="-335090" algn="just" rtl="0">
              <a:lnSpc>
                <a:spcPct val="107000"/>
              </a:lnSpc>
              <a:spcBef>
                <a:spcPts val="0"/>
              </a:spcBef>
              <a:spcAft>
                <a:spcPts val="0"/>
              </a:spcAft>
              <a:buSzPts val="1677"/>
              <a:buFont typeface="Cambria"/>
              <a:buChar char="∙"/>
            </a:pPr>
            <a:r>
              <a:rPr lang="es-ES" sz="1400" dirty="0">
                <a:latin typeface="Cambria"/>
                <a:ea typeface="Cambria"/>
                <a:cs typeface="Cambria"/>
                <a:sym typeface="Cambria"/>
              </a:rPr>
              <a:t>4. Se crean los métodos respectivos, incluyendo el de autenticación</a:t>
            </a:r>
            <a:endParaRPr sz="1400" b="1" dirty="0">
              <a:latin typeface="Cambria"/>
              <a:ea typeface="Cambria"/>
              <a:cs typeface="Cambria"/>
              <a:sym typeface="Cambria"/>
            </a:endParaRPr>
          </a:p>
          <a:p>
            <a:pPr marL="0" lvl="0" indent="0" algn="just" rtl="0">
              <a:lnSpc>
                <a:spcPct val="107000"/>
              </a:lnSpc>
              <a:spcBef>
                <a:spcPts val="0"/>
              </a:spcBef>
              <a:spcAft>
                <a:spcPts val="0"/>
              </a:spcAft>
              <a:buSzPts val="1656"/>
              <a:buNone/>
            </a:pPr>
            <a:endParaRPr sz="1400" b="1" dirty="0">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400" dirty="0">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400" dirty="0">
              <a:latin typeface="Cambria"/>
              <a:ea typeface="Cambria"/>
              <a:cs typeface="Cambria"/>
              <a:sym typeface="Cambria"/>
            </a:endParaRPr>
          </a:p>
        </p:txBody>
      </p:sp>
      <p:sp>
        <p:nvSpPr>
          <p:cNvPr id="198" name="Google Shape;198;p2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199" name="Google Shape;199;p25"/>
          <p:cNvGraphicFramePr/>
          <p:nvPr>
            <p:extLst>
              <p:ext uri="{D42A27DB-BD31-4B8C-83A1-F6EECF244321}">
                <p14:modId xmlns:p14="http://schemas.microsoft.com/office/powerpoint/2010/main" val="273953271"/>
              </p:ext>
            </p:extLst>
          </p:nvPr>
        </p:nvGraphicFramePr>
        <p:xfrm>
          <a:off x="3359983" y="1854200"/>
          <a:ext cx="5647030" cy="2207054"/>
        </p:xfrm>
        <a:graphic>
          <a:graphicData uri="http://schemas.openxmlformats.org/drawingml/2006/table">
            <a:tbl>
              <a:tblPr>
                <a:noFill/>
                <a:tableStyleId>{BF136021-7255-42B7-A7E7-87A8D8FFE9CA}</a:tableStyleId>
              </a:tblPr>
              <a:tblGrid>
                <a:gridCol w="5647030">
                  <a:extLst>
                    <a:ext uri="{9D8B030D-6E8A-4147-A177-3AD203B41FA5}">
                      <a16:colId xmlns:a16="http://schemas.microsoft.com/office/drawing/2014/main" val="20000"/>
                    </a:ext>
                  </a:extLst>
                </a:gridCol>
              </a:tblGrid>
              <a:tr h="2207054">
                <a:tc>
                  <a:txBody>
                    <a:bodyPr/>
                    <a:lstStyle/>
                    <a:p>
                      <a:pPr marL="0" lvl="0" indent="0" algn="l" rtl="0">
                        <a:spcBef>
                          <a:spcPts val="0"/>
                        </a:spcBef>
                        <a:spcAft>
                          <a:spcPts val="0"/>
                        </a:spcAft>
                        <a:buNone/>
                      </a:pPr>
                      <a:r>
                        <a:rPr lang="es-ES" sz="1000" dirty="0" err="1">
                          <a:solidFill>
                            <a:srgbClr val="4F81BD"/>
                          </a:solidFill>
                          <a:latin typeface="Calibri"/>
                          <a:ea typeface="Calibri"/>
                          <a:cs typeface="Calibri"/>
                          <a:sym typeface="Calibri"/>
                        </a:rPr>
                        <a:t>namespace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CONV_SOAP_DOTNET.Servicios.Conversores</a:t>
                      </a: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interface </a:t>
                      </a:r>
                      <a:r>
                        <a:rPr lang="es-ES" sz="1000" dirty="0" err="1">
                          <a:solidFill>
                            <a:srgbClr val="4F81BD"/>
                          </a:solidFill>
                          <a:latin typeface="Calibri"/>
                          <a:ea typeface="Calibri"/>
                          <a:cs typeface="Calibri"/>
                          <a:sym typeface="Calibri"/>
                        </a:rPr>
                        <a:t>IConversorUnidad</a:t>
                      </a: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CategoriaUnidad</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Categoria</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get</a:t>
                      </a: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bool</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EsUnidadValida</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unidad);</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double</a:t>
                      </a:r>
                      <a:r>
                        <a:rPr lang="es-ES" sz="1000" dirty="0">
                          <a:solidFill>
                            <a:srgbClr val="4F81BD"/>
                          </a:solidFill>
                          <a:latin typeface="Calibri"/>
                          <a:ea typeface="Calibri"/>
                          <a:cs typeface="Calibri"/>
                          <a:sym typeface="Calibri"/>
                        </a:rPr>
                        <a:t> Convertir(</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unidadOrigen</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unidadDestino</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double</a:t>
                      </a:r>
                      <a:r>
                        <a:rPr lang="es-ES" sz="1000" dirty="0">
                          <a:solidFill>
                            <a:srgbClr val="4F81BD"/>
                          </a:solidFill>
                          <a:latin typeface="Calibri"/>
                          <a:ea typeface="Calibri"/>
                          <a:cs typeface="Calibri"/>
                          <a:sym typeface="Calibri"/>
                        </a:rPr>
                        <a:t> valor);</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void</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ValidarRango</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unidad, </a:t>
                      </a:r>
                      <a:r>
                        <a:rPr lang="es-ES" sz="1000" dirty="0" err="1">
                          <a:solidFill>
                            <a:srgbClr val="4F81BD"/>
                          </a:solidFill>
                          <a:latin typeface="Calibri"/>
                          <a:ea typeface="Calibri"/>
                          <a:cs typeface="Calibri"/>
                          <a:sym typeface="Calibri"/>
                        </a:rPr>
                        <a:t>double</a:t>
                      </a:r>
                      <a:r>
                        <a:rPr lang="es-ES" sz="1000" dirty="0">
                          <a:solidFill>
                            <a:srgbClr val="4F81BD"/>
                          </a:solidFill>
                          <a:latin typeface="Calibri"/>
                          <a:ea typeface="Calibri"/>
                          <a:cs typeface="Calibri"/>
                          <a:sym typeface="Calibri"/>
                        </a:rPr>
                        <a:t> valor);</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a:t>
                      </a:r>
                    </a:p>
                  </a:txBody>
                  <a:tcPr marL="63500" marR="63500" marT="63500" marB="63500"/>
                </a:tc>
                <a:extLst>
                  <a:ext uri="{0D108BD9-81ED-4DB2-BD59-A6C34878D82A}">
                    <a16:rowId xmlns:a16="http://schemas.microsoft.com/office/drawing/2014/main" val="10000"/>
                  </a:ext>
                </a:extLst>
              </a:tr>
            </a:tbl>
          </a:graphicData>
        </a:graphic>
      </p:graphicFrame>
      <p:graphicFrame>
        <p:nvGraphicFramePr>
          <p:cNvPr id="2" name="Google Shape;199;p25">
            <a:extLst>
              <a:ext uri="{FF2B5EF4-FFF2-40B4-BE49-F238E27FC236}">
                <a16:creationId xmlns:a16="http://schemas.microsoft.com/office/drawing/2014/main" id="{997F1A1D-16BC-0D61-7975-C974E980889A}"/>
              </a:ext>
            </a:extLst>
          </p:cNvPr>
          <p:cNvGraphicFramePr/>
          <p:nvPr>
            <p:extLst>
              <p:ext uri="{D42A27DB-BD31-4B8C-83A1-F6EECF244321}">
                <p14:modId xmlns:p14="http://schemas.microsoft.com/office/powerpoint/2010/main" val="2277602273"/>
              </p:ext>
            </p:extLst>
          </p:nvPr>
        </p:nvGraphicFramePr>
        <p:xfrm>
          <a:off x="3359983" y="4263767"/>
          <a:ext cx="5520406" cy="1651000"/>
        </p:xfrm>
        <a:graphic>
          <a:graphicData uri="http://schemas.openxmlformats.org/drawingml/2006/table">
            <a:tbl>
              <a:tblPr>
                <a:noFill/>
                <a:tableStyleId>{BF136021-7255-42B7-A7E7-87A8D8FFE9CA}</a:tableStyleId>
              </a:tblPr>
              <a:tblGrid>
                <a:gridCol w="5520406">
                  <a:extLst>
                    <a:ext uri="{9D8B030D-6E8A-4147-A177-3AD203B41FA5}">
                      <a16:colId xmlns:a16="http://schemas.microsoft.com/office/drawing/2014/main" val="20000"/>
                    </a:ext>
                  </a:extLst>
                </a:gridCol>
              </a:tblGrid>
              <a:tr h="1634525">
                <a:tc>
                  <a:txBody>
                    <a:bodyPr/>
                    <a:lstStyle/>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bool</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ValidarToken</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token)</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if</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string.IsNullOrWhiteSpace</a:t>
                      </a:r>
                      <a:r>
                        <a:rPr lang="es-ES" sz="1000" dirty="0">
                          <a:solidFill>
                            <a:srgbClr val="4F81BD"/>
                          </a:solidFill>
                          <a:latin typeface="Calibri"/>
                          <a:ea typeface="Calibri"/>
                          <a:cs typeface="Calibri"/>
                          <a:sym typeface="Calibri"/>
                        </a:rPr>
                        <a:t>(token))</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false;</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tokens.ContainsKey</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token.Trim</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graphicFrame>
        <p:nvGraphicFramePr>
          <p:cNvPr id="204" name="Google Shape;204;p26"/>
          <p:cNvGraphicFramePr/>
          <p:nvPr>
            <p:extLst>
              <p:ext uri="{D42A27DB-BD31-4B8C-83A1-F6EECF244321}">
                <p14:modId xmlns:p14="http://schemas.microsoft.com/office/powerpoint/2010/main" val="3115336750"/>
              </p:ext>
            </p:extLst>
          </p:nvPr>
        </p:nvGraphicFramePr>
        <p:xfrm>
          <a:off x="3304503" y="1878245"/>
          <a:ext cx="5518221" cy="4089400"/>
        </p:xfrm>
        <a:graphic>
          <a:graphicData uri="http://schemas.openxmlformats.org/drawingml/2006/table">
            <a:tbl>
              <a:tblPr>
                <a:noFill/>
                <a:tableStyleId>{BF136021-7255-42B7-A7E7-87A8D8FFE9CA}</a:tableStyleId>
              </a:tblPr>
              <a:tblGrid>
                <a:gridCol w="5518221">
                  <a:extLst>
                    <a:ext uri="{9D8B030D-6E8A-4147-A177-3AD203B41FA5}">
                      <a16:colId xmlns:a16="http://schemas.microsoft.com/office/drawing/2014/main" val="20000"/>
                    </a:ext>
                  </a:extLst>
                </a:gridCol>
              </a:tblGrid>
              <a:tr h="3742900">
                <a:tc>
                  <a:txBody>
                    <a:bodyPr/>
                    <a:lstStyle/>
                    <a:p>
                      <a:pPr marL="0" lvl="0" indent="0" algn="l" rtl="0">
                        <a:spcBef>
                          <a:spcPts val="0"/>
                        </a:spcBef>
                        <a:spcAft>
                          <a:spcPts val="0"/>
                        </a:spcAft>
                        <a:buNone/>
                      </a:pP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class</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RegistroConversores</a:t>
                      </a: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private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static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readonly</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RegistroConversores</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InstanciaCompartida</a:t>
                      </a:r>
                      <a:r>
                        <a:rPr lang="es-ES" sz="1000" dirty="0">
                          <a:solidFill>
                            <a:srgbClr val="4F81BD"/>
                          </a:solidFill>
                          <a:latin typeface="Calibri"/>
                          <a:ea typeface="Calibri"/>
                          <a:cs typeface="Calibri"/>
                          <a:sym typeface="Calibri"/>
                        </a:rPr>
                        <a:t> = new </a:t>
                      </a:r>
                      <a:r>
                        <a:rPr lang="es-ES" sz="1000" dirty="0" err="1">
                          <a:solidFill>
                            <a:srgbClr val="4F81BD"/>
                          </a:solidFill>
                          <a:latin typeface="Calibri"/>
                          <a:ea typeface="Calibri"/>
                          <a:cs typeface="Calibri"/>
                          <a:sym typeface="Calibri"/>
                        </a:rPr>
                        <a:t>RegistroConversores</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private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readonly</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Dictionary</a:t>
                      </a:r>
                      <a:r>
                        <a:rPr lang="es-ES" sz="1000" dirty="0">
                          <a:solidFill>
                            <a:srgbClr val="4F81BD"/>
                          </a:solidFill>
                          <a:latin typeface="Calibri"/>
                          <a:ea typeface="Calibri"/>
                          <a:cs typeface="Calibri"/>
                          <a:sym typeface="Calibri"/>
                        </a:rPr>
                        <a:t>&lt;</a:t>
                      </a:r>
                      <a:r>
                        <a:rPr lang="es-ES" sz="1000" dirty="0" err="1">
                          <a:solidFill>
                            <a:srgbClr val="4F81BD"/>
                          </a:solidFill>
                          <a:latin typeface="Calibri"/>
                          <a:ea typeface="Calibri"/>
                          <a:cs typeface="Calibri"/>
                          <a:sym typeface="Calibri"/>
                        </a:rPr>
                        <a:t>CategoriaUnidad</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IConversorUnidad</a:t>
                      </a:r>
                      <a:r>
                        <a:rPr lang="es-ES" sz="1000" dirty="0">
                          <a:solidFill>
                            <a:srgbClr val="4F81BD"/>
                          </a:solidFill>
                          <a:latin typeface="Calibri"/>
                          <a:ea typeface="Calibri"/>
                          <a:cs typeface="Calibri"/>
                          <a:sym typeface="Calibri"/>
                        </a:rPr>
                        <a:t>&gt; conversores;</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private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RegistroConversores</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conversores = new </a:t>
                      </a:r>
                      <a:r>
                        <a:rPr lang="es-ES" sz="1000" dirty="0" err="1">
                          <a:solidFill>
                            <a:srgbClr val="4F81BD"/>
                          </a:solidFill>
                          <a:latin typeface="Calibri"/>
                          <a:ea typeface="Calibri"/>
                          <a:cs typeface="Calibri"/>
                          <a:sym typeface="Calibri"/>
                        </a:rPr>
                        <a:t>Dictionary</a:t>
                      </a:r>
                      <a:r>
                        <a:rPr lang="es-ES" sz="1000" dirty="0">
                          <a:solidFill>
                            <a:srgbClr val="4F81BD"/>
                          </a:solidFill>
                          <a:latin typeface="Calibri"/>
                          <a:ea typeface="Calibri"/>
                          <a:cs typeface="Calibri"/>
                          <a:sym typeface="Calibri"/>
                        </a:rPr>
                        <a:t>&lt;</a:t>
                      </a:r>
                      <a:r>
                        <a:rPr lang="es-ES" sz="1000" dirty="0" err="1">
                          <a:solidFill>
                            <a:srgbClr val="4F81BD"/>
                          </a:solidFill>
                          <a:latin typeface="Calibri"/>
                          <a:ea typeface="Calibri"/>
                          <a:cs typeface="Calibri"/>
                          <a:sym typeface="Calibri"/>
                        </a:rPr>
                        <a:t>CategoriaUnidad</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IConversorUnidad</a:t>
                      </a:r>
                      <a:r>
                        <a:rPr lang="es-ES" sz="1000" dirty="0">
                          <a:solidFill>
                            <a:srgbClr val="4F81BD"/>
                          </a:solidFill>
                          <a:latin typeface="Calibri"/>
                          <a:ea typeface="Calibri"/>
                          <a:cs typeface="Calibri"/>
                          <a:sym typeface="Calibri"/>
                        </a:rPr>
                        <a:t>&gt;();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Registrar(new </a:t>
                      </a:r>
                      <a:r>
                        <a:rPr lang="es-ES" sz="1000" dirty="0" err="1">
                          <a:solidFill>
                            <a:srgbClr val="4F81BD"/>
                          </a:solidFill>
                          <a:latin typeface="Calibri"/>
                          <a:ea typeface="Calibri"/>
                          <a:cs typeface="Calibri"/>
                          <a:sym typeface="Calibri"/>
                        </a:rPr>
                        <a:t>ConversorTemperatura</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Registrar(new </a:t>
                      </a:r>
                      <a:r>
                        <a:rPr lang="es-ES" sz="1000" dirty="0" err="1">
                          <a:solidFill>
                            <a:srgbClr val="4F81BD"/>
                          </a:solidFill>
                          <a:latin typeface="Calibri"/>
                          <a:ea typeface="Calibri"/>
                          <a:cs typeface="Calibri"/>
                          <a:sym typeface="Calibri"/>
                        </a:rPr>
                        <a:t>ConversorLongitud</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Registrar(new </a:t>
                      </a:r>
                      <a:r>
                        <a:rPr lang="es-ES" sz="1000" dirty="0" err="1">
                          <a:solidFill>
                            <a:srgbClr val="4F81BD"/>
                          </a:solidFill>
                          <a:latin typeface="Calibri"/>
                          <a:ea typeface="Calibri"/>
                          <a:cs typeface="Calibri"/>
                          <a:sym typeface="Calibri"/>
                        </a:rPr>
                        <a:t>ConversorMasa</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static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RegistroConversores</a:t>
                      </a:r>
                      <a:r>
                        <a:rPr lang="es-ES" sz="1000" dirty="0">
                          <a:solidFill>
                            <a:srgbClr val="4F81BD"/>
                          </a:solidFill>
                          <a:latin typeface="Calibri"/>
                          <a:ea typeface="Calibri"/>
                          <a:cs typeface="Calibri"/>
                          <a:sym typeface="Calibri"/>
                        </a:rPr>
                        <a:t> Actual</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get</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InstanciaCompartida</a:t>
                      </a: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void</a:t>
                      </a:r>
                      <a:r>
                        <a:rPr lang="es-ES" sz="1000" dirty="0">
                          <a:solidFill>
                            <a:srgbClr val="4F81BD"/>
                          </a:solidFill>
                          <a:latin typeface="Calibri"/>
                          <a:ea typeface="Calibri"/>
                          <a:cs typeface="Calibri"/>
                          <a:sym typeface="Calibri"/>
                        </a:rPr>
                        <a:t> Registrar(</a:t>
                      </a:r>
                      <a:r>
                        <a:rPr lang="es-ES" sz="1000" dirty="0" err="1">
                          <a:solidFill>
                            <a:srgbClr val="4F81BD"/>
                          </a:solidFill>
                          <a:latin typeface="Calibri"/>
                          <a:ea typeface="Calibri"/>
                          <a:cs typeface="Calibri"/>
                          <a:sym typeface="Calibri"/>
                        </a:rPr>
                        <a:t>IConversorUnidad</a:t>
                      </a:r>
                      <a:r>
                        <a:rPr lang="es-ES" sz="1000" dirty="0">
                          <a:solidFill>
                            <a:srgbClr val="4F81BD"/>
                          </a:solidFill>
                          <a:latin typeface="Calibri"/>
                          <a:ea typeface="Calibri"/>
                          <a:cs typeface="Calibri"/>
                          <a:sym typeface="Calibri"/>
                        </a:rPr>
                        <a:t> conversor)</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if</a:t>
                      </a:r>
                      <a:r>
                        <a:rPr lang="es-ES" sz="1000" dirty="0">
                          <a:solidFill>
                            <a:srgbClr val="4F81BD"/>
                          </a:solidFill>
                          <a:latin typeface="Calibri"/>
                          <a:ea typeface="Calibri"/>
                          <a:cs typeface="Calibri"/>
                          <a:sym typeface="Calibri"/>
                        </a:rPr>
                        <a:t> (conversor == </a:t>
                      </a:r>
                      <a:r>
                        <a:rPr lang="es-ES" sz="1000" dirty="0" err="1">
                          <a:solidFill>
                            <a:srgbClr val="4F81BD"/>
                          </a:solidFill>
                          <a:latin typeface="Calibri"/>
                          <a:ea typeface="Calibri"/>
                          <a:cs typeface="Calibri"/>
                          <a:sym typeface="Calibri"/>
                        </a:rPr>
                        <a:t>null</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throw</a:t>
                      </a:r>
                      <a:r>
                        <a:rPr lang="es-ES" sz="1000" dirty="0">
                          <a:solidFill>
                            <a:srgbClr val="4F81BD"/>
                          </a:solidFill>
                          <a:latin typeface="Calibri"/>
                          <a:ea typeface="Calibri"/>
                          <a:cs typeface="Calibri"/>
                          <a:sym typeface="Calibri"/>
                        </a:rPr>
                        <a:t> new </a:t>
                      </a:r>
                      <a:r>
                        <a:rPr lang="es-ES" sz="1000" dirty="0" err="1">
                          <a:solidFill>
                            <a:srgbClr val="4F81BD"/>
                          </a:solidFill>
                          <a:latin typeface="Calibri"/>
                          <a:ea typeface="Calibri"/>
                          <a:cs typeface="Calibri"/>
                          <a:sym typeface="Calibri"/>
                        </a:rPr>
                        <a:t>ArgumentNullException</a:t>
                      </a:r>
                      <a:r>
                        <a:rPr lang="es-ES" sz="1000" dirty="0">
                          <a:solidFill>
                            <a:srgbClr val="4F81BD"/>
                          </a:solidFill>
                          <a:latin typeface="Calibri"/>
                          <a:ea typeface="Calibri"/>
                          <a:cs typeface="Calibri"/>
                          <a:sym typeface="Calibri"/>
                        </a:rPr>
                        <a:t>("conversor");</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conversores[</a:t>
                      </a:r>
                      <a:r>
                        <a:rPr lang="es-ES" sz="1000" dirty="0" err="1">
                          <a:solidFill>
                            <a:srgbClr val="4F81BD"/>
                          </a:solidFill>
                          <a:latin typeface="Calibri"/>
                          <a:ea typeface="Calibri"/>
                          <a:cs typeface="Calibri"/>
                          <a:sym typeface="Calibri"/>
                        </a:rPr>
                        <a:t>conversor.Categoria</a:t>
                      </a:r>
                      <a:r>
                        <a:rPr lang="es-ES" sz="1000" dirty="0">
                          <a:solidFill>
                            <a:srgbClr val="4F81BD"/>
                          </a:solidFill>
                          <a:latin typeface="Calibri"/>
                          <a:ea typeface="Calibri"/>
                          <a:cs typeface="Calibri"/>
                          <a:sym typeface="Calibri"/>
                        </a:rPr>
                        <a:t>] = conversor;</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a:t>
                      </a:r>
                    </a:p>
                  </a:txBody>
                  <a:tcPr marL="63500" marR="63500" marT="63500" marB="63500"/>
                </a:tc>
                <a:extLst>
                  <a:ext uri="{0D108BD9-81ED-4DB2-BD59-A6C34878D82A}">
                    <a16:rowId xmlns:a16="http://schemas.microsoft.com/office/drawing/2014/main" val="10000"/>
                  </a:ext>
                </a:extLst>
              </a:tr>
            </a:tbl>
          </a:graphicData>
        </a:graphic>
      </p:graphicFrame>
      <p:sp>
        <p:nvSpPr>
          <p:cNvPr id="205" name="Google Shape;205;p2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06" name="Google Shape;206;p26"/>
          <p:cNvSpPr txBox="1">
            <a:spLocks noGrp="1"/>
          </p:cNvSpPr>
          <p:nvPr>
            <p:ph type="body" idx="1"/>
          </p:nvPr>
        </p:nvSpPr>
        <p:spPr>
          <a:xfrm>
            <a:off x="581200" y="2180500"/>
            <a:ext cx="2402100" cy="3965700"/>
          </a:xfrm>
          <a:prstGeom prst="rect">
            <a:avLst/>
          </a:prstGeom>
          <a:noFill/>
          <a:ln>
            <a:noFill/>
          </a:ln>
        </p:spPr>
        <p:txBody>
          <a:bodyPr spcFirstLastPara="1" wrap="square" lIns="91425" tIns="45700" rIns="91425" bIns="45700" anchor="ctr" anchorCtr="0">
            <a:normAutofit/>
          </a:bodyPr>
          <a:lstStyle/>
          <a:p>
            <a:pPr marL="457200" lvl="0" indent="-335090" algn="just" rtl="0">
              <a:lnSpc>
                <a:spcPct val="107000"/>
              </a:lnSpc>
              <a:spcBef>
                <a:spcPts val="0"/>
              </a:spcBef>
              <a:spcAft>
                <a:spcPts val="0"/>
              </a:spcAft>
              <a:buSzPts val="1677"/>
              <a:buFont typeface="Cambria"/>
              <a:buChar char="∙"/>
            </a:pPr>
            <a:r>
              <a:rPr lang="es-ES" sz="1677" dirty="0">
                <a:latin typeface="Cambria"/>
                <a:ea typeface="Cambria"/>
                <a:cs typeface="Cambria"/>
                <a:sym typeface="Cambria"/>
              </a:rPr>
              <a:t>4. Se crean los métodos respectivos, incluyendo el de autenticación</a:t>
            </a:r>
            <a:endParaRPr sz="1677" b="1" dirty="0">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591" dirty="0">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dirty="0">
              <a:latin typeface="Cambria"/>
              <a:ea typeface="Cambria"/>
              <a:cs typeface="Cambria"/>
              <a:sym typeface="Cambria"/>
            </a:endParaRPr>
          </a:p>
        </p:txBody>
      </p:sp>
      <p:sp>
        <p:nvSpPr>
          <p:cNvPr id="207" name="Google Shape;207;p2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3">
          <a:extLst>
            <a:ext uri="{FF2B5EF4-FFF2-40B4-BE49-F238E27FC236}">
              <a16:creationId xmlns:a16="http://schemas.microsoft.com/office/drawing/2014/main" id="{A620FEAD-21BF-7EC6-9E29-05FBB08593F8}"/>
            </a:ext>
          </a:extLst>
        </p:cNvPr>
        <p:cNvGrpSpPr/>
        <p:nvPr/>
      </p:nvGrpSpPr>
      <p:grpSpPr>
        <a:xfrm>
          <a:off x="0" y="0"/>
          <a:ext cx="0" cy="0"/>
          <a:chOff x="0" y="0"/>
          <a:chExt cx="0" cy="0"/>
        </a:xfrm>
      </p:grpSpPr>
      <p:graphicFrame>
        <p:nvGraphicFramePr>
          <p:cNvPr id="204" name="Google Shape;204;p26">
            <a:extLst>
              <a:ext uri="{FF2B5EF4-FFF2-40B4-BE49-F238E27FC236}">
                <a16:creationId xmlns:a16="http://schemas.microsoft.com/office/drawing/2014/main" id="{EF4A4FF5-7F25-57CB-FAD5-6B4E3B511076}"/>
              </a:ext>
            </a:extLst>
          </p:cNvPr>
          <p:cNvGraphicFramePr/>
          <p:nvPr>
            <p:extLst>
              <p:ext uri="{D42A27DB-BD31-4B8C-83A1-F6EECF244321}">
                <p14:modId xmlns:p14="http://schemas.microsoft.com/office/powerpoint/2010/main" val="108636419"/>
              </p:ext>
            </p:extLst>
          </p:nvPr>
        </p:nvGraphicFramePr>
        <p:xfrm>
          <a:off x="3622992" y="2919710"/>
          <a:ext cx="5422153" cy="2222435"/>
        </p:xfrm>
        <a:graphic>
          <a:graphicData uri="http://schemas.openxmlformats.org/drawingml/2006/table">
            <a:tbl>
              <a:tblPr>
                <a:noFill/>
                <a:tableStyleId>{BF136021-7255-42B7-A7E7-87A8D8FFE9CA}</a:tableStyleId>
              </a:tblPr>
              <a:tblGrid>
                <a:gridCol w="5422153">
                  <a:extLst>
                    <a:ext uri="{9D8B030D-6E8A-4147-A177-3AD203B41FA5}">
                      <a16:colId xmlns:a16="http://schemas.microsoft.com/office/drawing/2014/main" val="20000"/>
                    </a:ext>
                  </a:extLst>
                </a:gridCol>
              </a:tblGrid>
              <a:tr h="2222435">
                <a:tc>
                  <a:txBody>
                    <a:bodyPr/>
                    <a:lstStyle/>
                    <a:p>
                      <a:pPr marL="0" lvl="0" indent="0" algn="l" rtl="0">
                        <a:spcBef>
                          <a:spcPts val="0"/>
                        </a:spcBef>
                        <a:spcAft>
                          <a:spcPts val="0"/>
                        </a:spcAft>
                        <a:buNone/>
                      </a:pP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IConversorUnidad</a:t>
                      </a:r>
                      <a:r>
                        <a:rPr lang="es-ES" sz="1000" dirty="0">
                          <a:solidFill>
                            <a:srgbClr val="4F81BD"/>
                          </a:solidFill>
                          <a:latin typeface="Calibri"/>
                          <a:ea typeface="Calibri"/>
                          <a:cs typeface="Calibri"/>
                          <a:sym typeface="Calibri"/>
                        </a:rPr>
                        <a:t> Obtener(</a:t>
                      </a:r>
                      <a:r>
                        <a:rPr lang="es-ES" sz="1000" dirty="0" err="1">
                          <a:solidFill>
                            <a:srgbClr val="4F81BD"/>
                          </a:solidFill>
                          <a:latin typeface="Calibri"/>
                          <a:ea typeface="Calibri"/>
                          <a:cs typeface="Calibri"/>
                          <a:sym typeface="Calibri"/>
                        </a:rPr>
                        <a:t>CategoriaUnidad</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categoria</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IConversorUnidad</a:t>
                      </a:r>
                      <a:r>
                        <a:rPr lang="es-ES" sz="1000" dirty="0">
                          <a:solidFill>
                            <a:srgbClr val="4F81BD"/>
                          </a:solidFill>
                          <a:latin typeface="Calibri"/>
                          <a:ea typeface="Calibri"/>
                          <a:cs typeface="Calibri"/>
                          <a:sym typeface="Calibri"/>
                        </a:rPr>
                        <a:t> conversor;</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if</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conversores.TryGetValue</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categoria</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out</a:t>
                      </a:r>
                      <a:r>
                        <a:rPr lang="es-ES" sz="1000" dirty="0">
                          <a:solidFill>
                            <a:srgbClr val="4F81BD"/>
                          </a:solidFill>
                          <a:latin typeface="Calibri"/>
                          <a:ea typeface="Calibri"/>
                          <a:cs typeface="Calibri"/>
                          <a:sym typeface="Calibri"/>
                        </a:rPr>
                        <a:t> conversor))</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throw</a:t>
                      </a:r>
                      <a:r>
                        <a:rPr lang="es-ES" sz="1000" dirty="0">
                          <a:solidFill>
                            <a:srgbClr val="4F81BD"/>
                          </a:solidFill>
                          <a:latin typeface="Calibri"/>
                          <a:ea typeface="Calibri"/>
                          <a:cs typeface="Calibri"/>
                          <a:sym typeface="Calibri"/>
                        </a:rPr>
                        <a:t> new </a:t>
                      </a:r>
                      <a:r>
                        <a:rPr lang="es-ES" sz="1000" dirty="0" err="1">
                          <a:solidFill>
                            <a:srgbClr val="4F81BD"/>
                          </a:solidFill>
                          <a:latin typeface="Calibri"/>
                          <a:ea typeface="Calibri"/>
                          <a:cs typeface="Calibri"/>
                          <a:sym typeface="Calibri"/>
                        </a:rPr>
                        <a:t>ArgumentOutOfRangeException</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categoria</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string.Format</a:t>
                      </a:r>
                      <a:r>
                        <a:rPr lang="es-ES" sz="1000" dirty="0">
                          <a:solidFill>
                            <a:srgbClr val="4F81BD"/>
                          </a:solidFill>
                          <a:latin typeface="Calibri"/>
                          <a:ea typeface="Calibri"/>
                          <a:cs typeface="Calibri"/>
                          <a:sym typeface="Calibri"/>
                        </a:rPr>
                        <a:t>("No existe un conversor registrado para la categoría '{0}'.", </a:t>
                      </a:r>
                      <a:r>
                        <a:rPr lang="es-ES" sz="1000" dirty="0" err="1">
                          <a:solidFill>
                            <a:srgbClr val="4F81BD"/>
                          </a:solidFill>
                          <a:latin typeface="Calibri"/>
                          <a:ea typeface="Calibri"/>
                          <a:cs typeface="Calibri"/>
                          <a:sym typeface="Calibri"/>
                        </a:rPr>
                        <a:t>categoria</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conversor;</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a:t>
                      </a:r>
                    </a:p>
                  </a:txBody>
                  <a:tcPr marL="63500" marR="63500" marT="63500" marB="63500"/>
                </a:tc>
                <a:extLst>
                  <a:ext uri="{0D108BD9-81ED-4DB2-BD59-A6C34878D82A}">
                    <a16:rowId xmlns:a16="http://schemas.microsoft.com/office/drawing/2014/main" val="10000"/>
                  </a:ext>
                </a:extLst>
              </a:tr>
            </a:tbl>
          </a:graphicData>
        </a:graphic>
      </p:graphicFrame>
      <p:sp>
        <p:nvSpPr>
          <p:cNvPr id="205" name="Google Shape;205;p26">
            <a:extLst>
              <a:ext uri="{FF2B5EF4-FFF2-40B4-BE49-F238E27FC236}">
                <a16:creationId xmlns:a16="http://schemas.microsoft.com/office/drawing/2014/main" id="{0BB75406-6C66-9320-FE11-0B2B917ECAAF}"/>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06" name="Google Shape;206;p26">
            <a:extLst>
              <a:ext uri="{FF2B5EF4-FFF2-40B4-BE49-F238E27FC236}">
                <a16:creationId xmlns:a16="http://schemas.microsoft.com/office/drawing/2014/main" id="{8759F4C1-C2A7-07E7-0E56-86B5A66D60C1}"/>
              </a:ext>
            </a:extLst>
          </p:cNvPr>
          <p:cNvSpPr txBox="1">
            <a:spLocks noGrp="1"/>
          </p:cNvSpPr>
          <p:nvPr>
            <p:ph type="body" idx="1"/>
          </p:nvPr>
        </p:nvSpPr>
        <p:spPr>
          <a:xfrm>
            <a:off x="581200" y="2180500"/>
            <a:ext cx="2402100" cy="3965700"/>
          </a:xfrm>
          <a:prstGeom prst="rect">
            <a:avLst/>
          </a:prstGeom>
          <a:noFill/>
          <a:ln>
            <a:noFill/>
          </a:ln>
        </p:spPr>
        <p:txBody>
          <a:bodyPr spcFirstLastPara="1" wrap="square" lIns="91425" tIns="45700" rIns="91425" bIns="45700" anchor="ctr" anchorCtr="0">
            <a:normAutofit/>
          </a:bodyPr>
          <a:lstStyle/>
          <a:p>
            <a:pPr marL="457200" lvl="0" indent="-335090" algn="just" rtl="0">
              <a:lnSpc>
                <a:spcPct val="107000"/>
              </a:lnSpc>
              <a:spcBef>
                <a:spcPts val="0"/>
              </a:spcBef>
              <a:spcAft>
                <a:spcPts val="0"/>
              </a:spcAft>
              <a:buSzPts val="1677"/>
              <a:buFont typeface="Cambria"/>
              <a:buChar char="∙"/>
            </a:pPr>
            <a:r>
              <a:rPr lang="es-ES" sz="1677" dirty="0">
                <a:latin typeface="Cambria"/>
                <a:ea typeface="Cambria"/>
                <a:cs typeface="Cambria"/>
                <a:sym typeface="Cambria"/>
              </a:rPr>
              <a:t>4. Se crean los métodos respectivos, incluyendo el de autenticación</a:t>
            </a:r>
            <a:endParaRPr sz="1677" b="1" dirty="0">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591" dirty="0">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dirty="0">
              <a:latin typeface="Cambria"/>
              <a:ea typeface="Cambria"/>
              <a:cs typeface="Cambria"/>
              <a:sym typeface="Cambria"/>
            </a:endParaRPr>
          </a:p>
        </p:txBody>
      </p:sp>
      <p:sp>
        <p:nvSpPr>
          <p:cNvPr id="207" name="Google Shape;207;p26">
            <a:extLst>
              <a:ext uri="{FF2B5EF4-FFF2-40B4-BE49-F238E27FC236}">
                <a16:creationId xmlns:a16="http://schemas.microsoft.com/office/drawing/2014/main" id="{D66BCFA1-82AF-B690-12B6-3F708D59EF61}"/>
              </a:ext>
            </a:extLst>
          </p:cNvPr>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Tree>
    <p:extLst>
      <p:ext uri="{BB962C8B-B14F-4D97-AF65-F5344CB8AC3E}">
        <p14:creationId xmlns:p14="http://schemas.microsoft.com/office/powerpoint/2010/main" val="8451048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2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21" name="Google Shape;221;p28"/>
          <p:cNvSpPr txBox="1">
            <a:spLocks noGrp="1"/>
          </p:cNvSpPr>
          <p:nvPr>
            <p:ph type="body" idx="1"/>
          </p:nvPr>
        </p:nvSpPr>
        <p:spPr>
          <a:xfrm>
            <a:off x="581192" y="1876272"/>
            <a:ext cx="8589300" cy="1248600"/>
          </a:xfrm>
          <a:prstGeom prst="rect">
            <a:avLst/>
          </a:prstGeom>
          <a:noFill/>
          <a:ln>
            <a:noFill/>
          </a:ln>
        </p:spPr>
        <p:txBody>
          <a:bodyPr spcFirstLastPara="1" wrap="square" lIns="91425" tIns="45700" rIns="91425" bIns="45700" anchor="ctr" anchorCtr="0">
            <a:normAutofit/>
          </a:bodyPr>
          <a:lstStyle/>
          <a:p>
            <a:pPr marL="457200" lvl="0" indent="-327406" algn="just" rtl="0">
              <a:lnSpc>
                <a:spcPct val="107000"/>
              </a:lnSpc>
              <a:spcBef>
                <a:spcPts val="0"/>
              </a:spcBef>
              <a:spcAft>
                <a:spcPts val="0"/>
              </a:spcAft>
              <a:buSzPts val="1556"/>
              <a:buChar char="∙"/>
            </a:pPr>
            <a:r>
              <a:rPr lang="es-ES" sz="1400" dirty="0">
                <a:latin typeface="Cambria"/>
                <a:ea typeface="Cambria"/>
                <a:cs typeface="Cambria"/>
                <a:sym typeface="Cambria"/>
              </a:rPr>
              <a:t>Dentro del archivo </a:t>
            </a:r>
            <a:r>
              <a:rPr lang="es-ES" sz="1400" dirty="0" err="1">
                <a:latin typeface="Cambria"/>
                <a:ea typeface="Cambria"/>
                <a:cs typeface="Cambria"/>
                <a:sym typeface="Cambria"/>
              </a:rPr>
              <a:t>svc</a:t>
            </a:r>
            <a:r>
              <a:rPr lang="es-ES" sz="1400" dirty="0">
                <a:latin typeface="Cambria"/>
                <a:ea typeface="Cambria"/>
                <a:cs typeface="Cambria"/>
                <a:sym typeface="Cambria"/>
              </a:rPr>
              <a:t> se concentra la lógica q</a:t>
            </a:r>
            <a:r>
              <a:rPr lang="es-MX" sz="1400" dirty="0" err="1">
                <a:latin typeface="Cambria"/>
                <a:ea typeface="Cambria"/>
                <a:cs typeface="Cambria"/>
                <a:sym typeface="Cambria"/>
              </a:rPr>
              <a:t>ue</a:t>
            </a:r>
            <a:r>
              <a:rPr lang="es-MX" sz="1400" dirty="0">
                <a:latin typeface="Cambria"/>
                <a:ea typeface="Cambria"/>
                <a:cs typeface="Cambria"/>
                <a:sym typeface="Cambria"/>
              </a:rPr>
              <a:t> se puede observar en la Tabla junto a la complementaria para gestionar la autenticación con tokens y la autenticación que maneja credenciales </a:t>
            </a:r>
            <a:r>
              <a:rPr lang="es-MX" sz="1400" dirty="0" err="1">
                <a:latin typeface="Cambria"/>
                <a:ea typeface="Cambria"/>
                <a:cs typeface="Cambria"/>
                <a:sym typeface="Cambria"/>
              </a:rPr>
              <a:t>hardcodeadas</a:t>
            </a:r>
            <a:r>
              <a:rPr lang="es-MX" sz="1400" dirty="0">
                <a:latin typeface="Cambria"/>
                <a:ea typeface="Cambria"/>
                <a:cs typeface="Cambria"/>
                <a:sym typeface="Cambria"/>
              </a:rPr>
              <a:t> en código (Usuario: </a:t>
            </a:r>
            <a:r>
              <a:rPr lang="es-MX" sz="1400" b="1" dirty="0">
                <a:latin typeface="Cambria"/>
                <a:ea typeface="Cambria"/>
                <a:cs typeface="Cambria"/>
                <a:sym typeface="Cambria"/>
              </a:rPr>
              <a:t>MONSTER</a:t>
            </a:r>
            <a:r>
              <a:rPr lang="es-MX" sz="1400" dirty="0">
                <a:latin typeface="Cambria"/>
                <a:ea typeface="Cambria"/>
                <a:cs typeface="Cambria"/>
                <a:sym typeface="Cambria"/>
              </a:rPr>
              <a:t>, Contraseña: </a:t>
            </a:r>
            <a:r>
              <a:rPr lang="es-MX" sz="1400" b="1" dirty="0">
                <a:latin typeface="Cambria"/>
                <a:ea typeface="Cambria"/>
                <a:cs typeface="Cambria"/>
                <a:sym typeface="Cambria"/>
              </a:rPr>
              <a:t>MONSTER9</a:t>
            </a:r>
            <a:r>
              <a:rPr lang="es-MX" sz="1400" dirty="0">
                <a:latin typeface="Cambria"/>
                <a:ea typeface="Cambria"/>
                <a:cs typeface="Cambria"/>
                <a:sym typeface="Cambria"/>
              </a:rPr>
              <a:t>)</a:t>
            </a:r>
          </a:p>
        </p:txBody>
      </p:sp>
      <p:sp>
        <p:nvSpPr>
          <p:cNvPr id="222" name="Google Shape;222;p28"/>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pic>
        <p:nvPicPr>
          <p:cNvPr id="6" name="Picture 5">
            <a:extLst>
              <a:ext uri="{FF2B5EF4-FFF2-40B4-BE49-F238E27FC236}">
                <a16:creationId xmlns:a16="http://schemas.microsoft.com/office/drawing/2014/main" id="{0F3A2F7B-2C45-D9FE-0EAA-C3BF5A863978}"/>
              </a:ext>
            </a:extLst>
          </p:cNvPr>
          <p:cNvPicPr>
            <a:picLocks noChangeAspect="1"/>
          </p:cNvPicPr>
          <p:nvPr/>
        </p:nvPicPr>
        <p:blipFill>
          <a:blip r:embed="rId3"/>
          <a:stretch>
            <a:fillRect/>
          </a:stretch>
        </p:blipFill>
        <p:spPr>
          <a:xfrm>
            <a:off x="1069810" y="3429000"/>
            <a:ext cx="7612064" cy="213221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30" name="Google Shape;230;p29"/>
          <p:cNvSpPr txBox="1">
            <a:spLocks noGrp="1"/>
          </p:cNvSpPr>
          <p:nvPr>
            <p:ph type="body" idx="1"/>
          </p:nvPr>
        </p:nvSpPr>
        <p:spPr>
          <a:xfrm>
            <a:off x="581200" y="1876275"/>
            <a:ext cx="2132400" cy="4701300"/>
          </a:xfrm>
          <a:prstGeom prst="rect">
            <a:avLst/>
          </a:prstGeom>
          <a:noFill/>
          <a:ln>
            <a:noFill/>
          </a:ln>
        </p:spPr>
        <p:txBody>
          <a:bodyPr spcFirstLastPara="1" wrap="square" lIns="91425" tIns="45700" rIns="91425" bIns="45700" anchor="ctr" anchorCtr="0">
            <a:normAutofit/>
          </a:bodyPr>
          <a:lstStyle/>
          <a:p>
            <a:pPr marL="457200" lvl="0" indent="-327406" algn="just" rtl="0">
              <a:lnSpc>
                <a:spcPct val="107000"/>
              </a:lnSpc>
              <a:spcBef>
                <a:spcPts val="0"/>
              </a:spcBef>
              <a:spcAft>
                <a:spcPts val="0"/>
              </a:spcAft>
              <a:buSzPts val="1556"/>
              <a:buChar char="∙"/>
            </a:pPr>
            <a:r>
              <a:rPr lang="es-ES" sz="1400" dirty="0">
                <a:latin typeface="Cambria"/>
                <a:ea typeface="Cambria"/>
                <a:cs typeface="Cambria"/>
                <a:sym typeface="Cambria"/>
              </a:rPr>
              <a:t>Esta clase contiene la lógica que se puede observar en la Tabla junto a la complementaria para gestionar la autenticación con tokens</a:t>
            </a:r>
            <a:endParaRPr sz="1400" dirty="0">
              <a:latin typeface="Cambria"/>
              <a:ea typeface="Cambria"/>
              <a:cs typeface="Cambria"/>
              <a:sym typeface="Cambria"/>
            </a:endParaRPr>
          </a:p>
        </p:txBody>
      </p:sp>
      <p:sp>
        <p:nvSpPr>
          <p:cNvPr id="231" name="Google Shape;231;p2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232" name="Google Shape;232;p29"/>
          <p:cNvGraphicFramePr/>
          <p:nvPr>
            <p:extLst>
              <p:ext uri="{D42A27DB-BD31-4B8C-83A1-F6EECF244321}">
                <p14:modId xmlns:p14="http://schemas.microsoft.com/office/powerpoint/2010/main" val="3546154239"/>
              </p:ext>
            </p:extLst>
          </p:nvPr>
        </p:nvGraphicFramePr>
        <p:xfrm>
          <a:off x="2931674" y="2418012"/>
          <a:ext cx="6062675" cy="3816071"/>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3816071">
                <a:tc>
                  <a:txBody>
                    <a:bodyPr/>
                    <a:lstStyle/>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public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class</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AlmacenTokens</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IAlmacenTokens</a:t>
                      </a:r>
                      <a:endParaRPr lang="es-ES" sz="900" dirty="0">
                        <a:solidFill>
                          <a:srgbClr val="4F81BD"/>
                        </a:solidFill>
                        <a:latin typeface="Calibri"/>
                        <a:ea typeface="Calibri"/>
                        <a:cs typeface="Calibri"/>
                        <a:sym typeface="Calibri"/>
                      </a:endParaRP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private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static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readonly</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AlmacenTokens</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InstanciaCompartida</a:t>
                      </a:r>
                      <a:r>
                        <a:rPr lang="es-ES" sz="900" dirty="0">
                          <a:solidFill>
                            <a:srgbClr val="4F81BD"/>
                          </a:solidFill>
                          <a:latin typeface="Calibri"/>
                          <a:ea typeface="Calibri"/>
                          <a:cs typeface="Calibri"/>
                          <a:sym typeface="Calibri"/>
                        </a:rPr>
                        <a:t> = new </a:t>
                      </a:r>
                      <a:r>
                        <a:rPr lang="es-ES" sz="900" dirty="0" err="1">
                          <a:solidFill>
                            <a:srgbClr val="4F81BD"/>
                          </a:solidFill>
                          <a:latin typeface="Calibri"/>
                          <a:ea typeface="Calibri"/>
                          <a:cs typeface="Calibri"/>
                          <a:sym typeface="Calibri"/>
                        </a:rPr>
                        <a:t>AlmacenTokens</a:t>
                      </a:r>
                      <a:r>
                        <a:rPr lang="es-ES" sz="90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900" dirty="0">
                        <a:solidFill>
                          <a:srgbClr val="4F81BD"/>
                        </a:solidFill>
                        <a:latin typeface="Calibri"/>
                        <a:ea typeface="Calibri"/>
                        <a:cs typeface="Calibri"/>
                        <a:sym typeface="Calibri"/>
                      </a:endParaRP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private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readonly</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ConcurrentDictionary</a:t>
                      </a:r>
                      <a:r>
                        <a:rPr lang="es-ES" sz="900" dirty="0">
                          <a:solidFill>
                            <a:srgbClr val="4F81BD"/>
                          </a:solidFill>
                          <a:latin typeface="Calibri"/>
                          <a:ea typeface="Calibri"/>
                          <a:cs typeface="Calibri"/>
                          <a:sym typeface="Calibri"/>
                        </a:rPr>
                        <a:t>&lt;</a:t>
                      </a:r>
                      <a:r>
                        <a:rPr lang="es-ES" sz="900" dirty="0" err="1">
                          <a:solidFill>
                            <a:srgbClr val="4F81BD"/>
                          </a:solidFill>
                          <a:latin typeface="Calibri"/>
                          <a:ea typeface="Calibri"/>
                          <a:cs typeface="Calibri"/>
                          <a:sym typeface="Calibri"/>
                        </a:rPr>
                        <a:t>string</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EntradaToken</a:t>
                      </a:r>
                      <a:r>
                        <a:rPr lang="es-ES" sz="900" dirty="0">
                          <a:solidFill>
                            <a:srgbClr val="4F81BD"/>
                          </a:solidFill>
                          <a:latin typeface="Calibri"/>
                          <a:ea typeface="Calibri"/>
                          <a:cs typeface="Calibri"/>
                          <a:sym typeface="Calibri"/>
                        </a:rPr>
                        <a:t>&gt; tokens =</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new </a:t>
                      </a:r>
                      <a:r>
                        <a:rPr lang="es-ES" sz="900" dirty="0" err="1">
                          <a:solidFill>
                            <a:srgbClr val="4F81BD"/>
                          </a:solidFill>
                          <a:latin typeface="Calibri"/>
                          <a:ea typeface="Calibri"/>
                          <a:cs typeface="Calibri"/>
                          <a:sym typeface="Calibri"/>
                        </a:rPr>
                        <a:t>ConcurrentDictionary</a:t>
                      </a:r>
                      <a:r>
                        <a:rPr lang="es-ES" sz="900" dirty="0">
                          <a:solidFill>
                            <a:srgbClr val="4F81BD"/>
                          </a:solidFill>
                          <a:latin typeface="Calibri"/>
                          <a:ea typeface="Calibri"/>
                          <a:cs typeface="Calibri"/>
                          <a:sym typeface="Calibri"/>
                        </a:rPr>
                        <a:t>&lt;</a:t>
                      </a:r>
                      <a:r>
                        <a:rPr lang="es-ES" sz="900" dirty="0" err="1">
                          <a:solidFill>
                            <a:srgbClr val="4F81BD"/>
                          </a:solidFill>
                          <a:latin typeface="Calibri"/>
                          <a:ea typeface="Calibri"/>
                          <a:cs typeface="Calibri"/>
                          <a:sym typeface="Calibri"/>
                        </a:rPr>
                        <a:t>string</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EntradaToken</a:t>
                      </a:r>
                      <a:r>
                        <a:rPr lang="es-ES" sz="900" dirty="0">
                          <a:solidFill>
                            <a:srgbClr val="4F81BD"/>
                          </a:solidFill>
                          <a:latin typeface="Calibri"/>
                          <a:ea typeface="Calibri"/>
                          <a:cs typeface="Calibri"/>
                          <a:sym typeface="Calibri"/>
                        </a:rPr>
                        <a:t>&gt;(</a:t>
                      </a:r>
                      <a:r>
                        <a:rPr lang="es-ES" sz="900" dirty="0" err="1">
                          <a:solidFill>
                            <a:srgbClr val="4F81BD"/>
                          </a:solidFill>
                          <a:latin typeface="Calibri"/>
                          <a:ea typeface="Calibri"/>
                          <a:cs typeface="Calibri"/>
                          <a:sym typeface="Calibri"/>
                        </a:rPr>
                        <a:t>StringComparer.Ordinal</a:t>
                      </a:r>
                      <a:r>
                        <a:rPr lang="es-ES" sz="90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900" dirty="0">
                        <a:solidFill>
                          <a:srgbClr val="4F81BD"/>
                        </a:solidFill>
                        <a:latin typeface="Calibri"/>
                        <a:ea typeface="Calibri"/>
                        <a:cs typeface="Calibri"/>
                        <a:sym typeface="Calibri"/>
                      </a:endParaRP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public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static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AlmacenTokens</a:t>
                      </a:r>
                      <a:r>
                        <a:rPr lang="es-ES" sz="900" dirty="0">
                          <a:solidFill>
                            <a:srgbClr val="4F81BD"/>
                          </a:solidFill>
                          <a:latin typeface="Calibri"/>
                          <a:ea typeface="Calibri"/>
                          <a:cs typeface="Calibri"/>
                          <a:sym typeface="Calibri"/>
                        </a:rPr>
                        <a:t> Instancia</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get</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return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InstanciaCompartida</a:t>
                      </a:r>
                      <a:r>
                        <a:rPr lang="es-ES" sz="9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900" dirty="0">
                        <a:solidFill>
                          <a:srgbClr val="4F81BD"/>
                        </a:solidFill>
                        <a:latin typeface="Calibri"/>
                        <a:ea typeface="Calibri"/>
                        <a:cs typeface="Calibri"/>
                        <a:sym typeface="Calibri"/>
                      </a:endParaRP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public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string</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GenerarToken</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string</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nombreUsuario</a:t>
                      </a:r>
                      <a:r>
                        <a:rPr lang="es-ES" sz="900" dirty="0">
                          <a:solidFill>
                            <a:srgbClr val="4F81BD"/>
                          </a:solidFill>
                          <a:latin typeface="Calibri"/>
                          <a:ea typeface="Calibri"/>
                          <a:cs typeface="Calibri"/>
                          <a:sym typeface="Calibri"/>
                        </a:rPr>
                        <a:t>)</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string</a:t>
                      </a:r>
                      <a:r>
                        <a:rPr lang="es-ES" sz="900" dirty="0">
                          <a:solidFill>
                            <a:srgbClr val="4F81BD"/>
                          </a:solidFill>
                          <a:latin typeface="Calibri"/>
                          <a:ea typeface="Calibri"/>
                          <a:cs typeface="Calibri"/>
                          <a:sym typeface="Calibri"/>
                        </a:rPr>
                        <a:t> token = </a:t>
                      </a:r>
                      <a:r>
                        <a:rPr lang="es-ES" sz="900" dirty="0" err="1">
                          <a:solidFill>
                            <a:srgbClr val="4F81BD"/>
                          </a:solidFill>
                          <a:latin typeface="Calibri"/>
                          <a:ea typeface="Calibri"/>
                          <a:cs typeface="Calibri"/>
                          <a:sym typeface="Calibri"/>
                        </a:rPr>
                        <a:t>Guid.NewGuid</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ToString</a:t>
                      </a:r>
                      <a:r>
                        <a:rPr lang="es-ES" sz="900" dirty="0">
                          <a:solidFill>
                            <a:srgbClr val="4F81BD"/>
                          </a:solidFill>
                          <a:latin typeface="Calibri"/>
                          <a:ea typeface="Calibri"/>
                          <a:cs typeface="Calibri"/>
                          <a:sym typeface="Calibri"/>
                        </a:rPr>
                        <a:t>("N");</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tokens[token] = new </a:t>
                      </a:r>
                      <a:r>
                        <a:rPr lang="es-ES" sz="900" dirty="0" err="1">
                          <a:solidFill>
                            <a:srgbClr val="4F81BD"/>
                          </a:solidFill>
                          <a:latin typeface="Calibri"/>
                          <a:ea typeface="Calibri"/>
                          <a:cs typeface="Calibri"/>
                          <a:sym typeface="Calibri"/>
                        </a:rPr>
                        <a:t>EntradaToken</a:t>
                      </a:r>
                      <a:endParaRPr lang="es-ES" sz="900" dirty="0">
                        <a:solidFill>
                          <a:srgbClr val="4F81BD"/>
                        </a:solidFill>
                        <a:latin typeface="Calibri"/>
                        <a:ea typeface="Calibri"/>
                        <a:cs typeface="Calibri"/>
                        <a:sym typeface="Calibri"/>
                      </a:endParaRP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NombreUsuario</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nombreUsuario</a:t>
                      </a:r>
                      <a:r>
                        <a:rPr lang="es-ES" sz="900" dirty="0">
                          <a:solidFill>
                            <a:srgbClr val="4F81BD"/>
                          </a:solidFill>
                          <a:latin typeface="Calibri"/>
                          <a:ea typeface="Calibri"/>
                          <a:cs typeface="Calibri"/>
                          <a:sym typeface="Calibri"/>
                        </a:rPr>
                        <a:t>,</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FechaEmision</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DateTime.UtcNow</a:t>
                      </a:r>
                      <a:r>
                        <a:rPr lang="es-ES" sz="900" dirty="0">
                          <a:solidFill>
                            <a:srgbClr val="4F81BD"/>
                          </a:solidFill>
                          <a:latin typeface="Calibri"/>
                          <a:ea typeface="Calibri"/>
                          <a:cs typeface="Calibri"/>
                          <a:sym typeface="Calibri"/>
                        </a:rPr>
                        <a:t>,</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FechaExpiracion</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null</a:t>
                      </a:r>
                      <a:endParaRPr lang="es-ES" sz="900" dirty="0">
                        <a:solidFill>
                          <a:srgbClr val="4F81BD"/>
                        </a:solidFill>
                        <a:latin typeface="Calibri"/>
                        <a:ea typeface="Calibri"/>
                        <a:cs typeface="Calibri"/>
                        <a:sym typeface="Calibri"/>
                      </a:endParaRP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900" dirty="0">
                        <a:solidFill>
                          <a:srgbClr val="4F81BD"/>
                        </a:solidFill>
                        <a:latin typeface="Calibri"/>
                        <a:ea typeface="Calibri"/>
                        <a:cs typeface="Calibri"/>
                        <a:sym typeface="Calibri"/>
                      </a:endParaRP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return</a:t>
                      </a:r>
                      <a:r>
                        <a:rPr lang="es-ES" sz="900" dirty="0">
                          <a:solidFill>
                            <a:srgbClr val="4F81BD"/>
                          </a:solidFill>
                          <a:latin typeface="Calibri"/>
                          <a:ea typeface="Calibri"/>
                          <a:cs typeface="Calibri"/>
                          <a:sym typeface="Calibri"/>
                        </a:rPr>
                        <a:t> token;</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endParaRPr sz="9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38" name="Google Shape;238;p30"/>
          <p:cNvSpPr txBox="1">
            <a:spLocks noGrp="1"/>
          </p:cNvSpPr>
          <p:nvPr>
            <p:ph type="body" idx="1"/>
          </p:nvPr>
        </p:nvSpPr>
        <p:spPr>
          <a:xfrm>
            <a:off x="581200" y="1876275"/>
            <a:ext cx="2132400" cy="4701300"/>
          </a:xfrm>
          <a:prstGeom prst="rect">
            <a:avLst/>
          </a:prstGeom>
          <a:noFill/>
          <a:ln>
            <a:noFill/>
          </a:ln>
        </p:spPr>
        <p:txBody>
          <a:bodyPr spcFirstLastPara="1" wrap="square" lIns="91425" tIns="45700" rIns="91425" bIns="45700" anchor="ctr" anchorCtr="0">
            <a:normAutofit/>
          </a:bodyPr>
          <a:lstStyle/>
          <a:p>
            <a:pPr marL="457200" lvl="0" indent="-327406" algn="just" rtl="0">
              <a:lnSpc>
                <a:spcPct val="107000"/>
              </a:lnSpc>
              <a:spcBef>
                <a:spcPts val="0"/>
              </a:spcBef>
              <a:spcAft>
                <a:spcPts val="0"/>
              </a:spcAft>
              <a:buSzPts val="1556"/>
              <a:buChar char="∙"/>
            </a:pPr>
            <a:r>
              <a:rPr lang="es-ES" sz="1400" dirty="0">
                <a:latin typeface="Cambria"/>
                <a:ea typeface="Cambria"/>
                <a:cs typeface="Cambria"/>
                <a:sym typeface="Cambria"/>
              </a:rPr>
              <a:t>Esta clase contiene la lógica que se puede observar en la Tabla junto a la complementaria para gestionar la autenticación con tokens y la autenticación que maneja credenciales quemadas en código.</a:t>
            </a:r>
            <a:endParaRPr sz="1400" dirty="0">
              <a:latin typeface="Cambria"/>
              <a:ea typeface="Cambria"/>
              <a:cs typeface="Cambria"/>
              <a:sym typeface="Cambria"/>
            </a:endParaRPr>
          </a:p>
        </p:txBody>
      </p:sp>
      <p:sp>
        <p:nvSpPr>
          <p:cNvPr id="239" name="Google Shape;239;p3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240" name="Google Shape;240;p30"/>
          <p:cNvGraphicFramePr/>
          <p:nvPr>
            <p:extLst>
              <p:ext uri="{D42A27DB-BD31-4B8C-83A1-F6EECF244321}">
                <p14:modId xmlns:p14="http://schemas.microsoft.com/office/powerpoint/2010/main" val="68837778"/>
              </p:ext>
            </p:extLst>
          </p:nvPr>
        </p:nvGraphicFramePr>
        <p:xfrm>
          <a:off x="3064604" y="2179007"/>
          <a:ext cx="6062675" cy="378460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1951625">
                <a:tc>
                  <a:txBody>
                    <a:bodyPr/>
                    <a:lstStyle/>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public</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bool</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ValidarToken</a:t>
                      </a:r>
                      <a:r>
                        <a:rPr lang="es-ES" sz="1200" dirty="0">
                          <a:solidFill>
                            <a:srgbClr val="4F81BD"/>
                          </a:solidFill>
                          <a:latin typeface="Calibri"/>
                          <a:ea typeface="Calibri"/>
                          <a:cs typeface="Calibri"/>
                          <a:sym typeface="Calibri"/>
                        </a:rPr>
                        <a:t>(</a:t>
                      </a:r>
                      <a:r>
                        <a:rPr lang="es-ES" sz="1200" dirty="0" err="1">
                          <a:solidFill>
                            <a:srgbClr val="4F81BD"/>
                          </a:solidFill>
                          <a:latin typeface="Calibri"/>
                          <a:ea typeface="Calibri"/>
                          <a:cs typeface="Calibri"/>
                          <a:sym typeface="Calibri"/>
                        </a:rPr>
                        <a:t>string</a:t>
                      </a:r>
                      <a:r>
                        <a:rPr lang="es-ES" sz="1200" dirty="0">
                          <a:solidFill>
                            <a:srgbClr val="4F81BD"/>
                          </a:solidFill>
                          <a:latin typeface="Calibri"/>
                          <a:ea typeface="Calibri"/>
                          <a:cs typeface="Calibri"/>
                          <a:sym typeface="Calibri"/>
                        </a:rPr>
                        <a:t> token)</a:t>
                      </a: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if</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string.IsNullOrWhiteSpace</a:t>
                      </a:r>
                      <a:r>
                        <a:rPr lang="es-ES" sz="1200" dirty="0">
                          <a:solidFill>
                            <a:srgbClr val="4F81BD"/>
                          </a:solidFill>
                          <a:latin typeface="Calibri"/>
                          <a:ea typeface="Calibri"/>
                          <a:cs typeface="Calibri"/>
                          <a:sym typeface="Calibri"/>
                        </a:rPr>
                        <a:t>(token))</a:t>
                      </a: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return</a:t>
                      </a:r>
                      <a:r>
                        <a:rPr lang="es-ES" sz="1200" dirty="0">
                          <a:solidFill>
                            <a:srgbClr val="4F81BD"/>
                          </a:solidFill>
                          <a:latin typeface="Calibri"/>
                          <a:ea typeface="Calibri"/>
                          <a:cs typeface="Calibri"/>
                          <a:sym typeface="Calibri"/>
                        </a:rPr>
                        <a:t> false;</a:t>
                      </a: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200" dirty="0">
                        <a:solidFill>
                          <a:srgbClr val="4F81BD"/>
                        </a:solidFill>
                        <a:latin typeface="Calibri"/>
                        <a:ea typeface="Calibri"/>
                        <a:cs typeface="Calibri"/>
                        <a:sym typeface="Calibri"/>
                      </a:endParaRP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return</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tokens.ContainsKey</a:t>
                      </a:r>
                      <a:r>
                        <a:rPr lang="es-ES" sz="1200" dirty="0">
                          <a:solidFill>
                            <a:srgbClr val="4F81BD"/>
                          </a:solidFill>
                          <a:latin typeface="Calibri"/>
                          <a:ea typeface="Calibri"/>
                          <a:cs typeface="Calibri"/>
                          <a:sym typeface="Calibri"/>
                        </a:rPr>
                        <a:t>(</a:t>
                      </a:r>
                      <a:r>
                        <a:rPr lang="es-ES" sz="1200" dirty="0" err="1">
                          <a:solidFill>
                            <a:srgbClr val="4F81BD"/>
                          </a:solidFill>
                          <a:latin typeface="Calibri"/>
                          <a:ea typeface="Calibri"/>
                          <a:cs typeface="Calibri"/>
                          <a:sym typeface="Calibri"/>
                        </a:rPr>
                        <a:t>token.Trim</a:t>
                      </a:r>
                      <a:r>
                        <a:rPr lang="es-ES" sz="12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200" dirty="0">
                        <a:solidFill>
                          <a:srgbClr val="4F81BD"/>
                        </a:solidFill>
                        <a:latin typeface="Calibri"/>
                        <a:ea typeface="Calibri"/>
                        <a:cs typeface="Calibri"/>
                        <a:sym typeface="Calibri"/>
                      </a:endParaRPr>
                    </a:p>
                    <a:p>
                      <a:pPr marL="0" lvl="0" indent="0" algn="l" rtl="0">
                        <a:spcBef>
                          <a:spcPts val="0"/>
                        </a:spcBef>
                        <a:spcAft>
                          <a:spcPts val="0"/>
                        </a:spcAft>
                        <a:buNone/>
                      </a:pPr>
                      <a:r>
                        <a:rPr lang="es-ES" sz="1200" dirty="0" err="1">
                          <a:solidFill>
                            <a:srgbClr val="4F81BD"/>
                          </a:solidFill>
                          <a:latin typeface="Calibri"/>
                          <a:ea typeface="Calibri"/>
                          <a:cs typeface="Calibri"/>
                          <a:sym typeface="Calibri"/>
                        </a:rPr>
                        <a:t>public</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void</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RevocarToken</a:t>
                      </a:r>
                      <a:r>
                        <a:rPr lang="es-ES" sz="1200" dirty="0">
                          <a:solidFill>
                            <a:srgbClr val="4F81BD"/>
                          </a:solidFill>
                          <a:latin typeface="Calibri"/>
                          <a:ea typeface="Calibri"/>
                          <a:cs typeface="Calibri"/>
                          <a:sym typeface="Calibri"/>
                        </a:rPr>
                        <a:t>(</a:t>
                      </a:r>
                      <a:r>
                        <a:rPr lang="es-ES" sz="1200" dirty="0" err="1">
                          <a:solidFill>
                            <a:srgbClr val="4F81BD"/>
                          </a:solidFill>
                          <a:latin typeface="Calibri"/>
                          <a:ea typeface="Calibri"/>
                          <a:cs typeface="Calibri"/>
                          <a:sym typeface="Calibri"/>
                        </a:rPr>
                        <a:t>string</a:t>
                      </a:r>
                      <a:r>
                        <a:rPr lang="es-ES" sz="1200" dirty="0">
                          <a:solidFill>
                            <a:srgbClr val="4F81BD"/>
                          </a:solidFill>
                          <a:latin typeface="Calibri"/>
                          <a:ea typeface="Calibri"/>
                          <a:cs typeface="Calibri"/>
                          <a:sym typeface="Calibri"/>
                        </a:rPr>
                        <a:t> token)</a:t>
                      </a: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if</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string.IsNullOrWhiteSpace</a:t>
                      </a:r>
                      <a:r>
                        <a:rPr lang="es-ES" sz="1200" dirty="0">
                          <a:solidFill>
                            <a:srgbClr val="4F81BD"/>
                          </a:solidFill>
                          <a:latin typeface="Calibri"/>
                          <a:ea typeface="Calibri"/>
                          <a:cs typeface="Calibri"/>
                          <a:sym typeface="Calibri"/>
                        </a:rPr>
                        <a:t>(token))</a:t>
                      </a: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return</a:t>
                      </a:r>
                      <a:r>
                        <a:rPr lang="es-ES" sz="12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200" dirty="0">
                        <a:solidFill>
                          <a:srgbClr val="4F81BD"/>
                        </a:solidFill>
                        <a:latin typeface="Calibri"/>
                        <a:ea typeface="Calibri"/>
                        <a:cs typeface="Calibri"/>
                        <a:sym typeface="Calibri"/>
                      </a:endParaRP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EntradaToken</a:t>
                      </a:r>
                      <a:r>
                        <a:rPr lang="es-ES" sz="1200" dirty="0">
                          <a:solidFill>
                            <a:srgbClr val="4F81BD"/>
                          </a:solidFill>
                          <a:latin typeface="Calibri"/>
                          <a:ea typeface="Calibri"/>
                          <a:cs typeface="Calibri"/>
                          <a:sym typeface="Calibri"/>
                        </a:rPr>
                        <a:t> entrada;</a:t>
                      </a: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tokens.TryRemove</a:t>
                      </a:r>
                      <a:r>
                        <a:rPr lang="es-ES" sz="1200" dirty="0">
                          <a:solidFill>
                            <a:srgbClr val="4F81BD"/>
                          </a:solidFill>
                          <a:latin typeface="Calibri"/>
                          <a:ea typeface="Calibri"/>
                          <a:cs typeface="Calibri"/>
                          <a:sym typeface="Calibri"/>
                        </a:rPr>
                        <a:t>(</a:t>
                      </a:r>
                      <a:r>
                        <a:rPr lang="es-ES" sz="1200" dirty="0" err="1">
                          <a:solidFill>
                            <a:srgbClr val="4F81BD"/>
                          </a:solidFill>
                          <a:latin typeface="Calibri"/>
                          <a:ea typeface="Calibri"/>
                          <a:cs typeface="Calibri"/>
                          <a:sym typeface="Calibri"/>
                        </a:rPr>
                        <a:t>token.Trim</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out</a:t>
                      </a:r>
                      <a:r>
                        <a:rPr lang="es-ES" sz="1200" dirty="0">
                          <a:solidFill>
                            <a:srgbClr val="4F81BD"/>
                          </a:solidFill>
                          <a:latin typeface="Calibri"/>
                          <a:ea typeface="Calibri"/>
                          <a:cs typeface="Calibri"/>
                          <a:sym typeface="Calibri"/>
                        </a:rPr>
                        <a:t> entrada);</a:t>
                      </a: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endParaRPr sz="9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3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46" name="Google Shape;246;p31"/>
          <p:cNvSpPr txBox="1">
            <a:spLocks noGrp="1"/>
          </p:cNvSpPr>
          <p:nvPr>
            <p:ph type="body" idx="1"/>
          </p:nvPr>
        </p:nvSpPr>
        <p:spPr>
          <a:xfrm>
            <a:off x="581192" y="1867767"/>
            <a:ext cx="8014948" cy="1808733"/>
          </a:xfrm>
          <a:prstGeom prst="rect">
            <a:avLst/>
          </a:prstGeom>
          <a:noFill/>
          <a:ln>
            <a:noFill/>
          </a:ln>
        </p:spPr>
        <p:txBody>
          <a:bodyPr spcFirstLastPara="1" wrap="square" lIns="91425" tIns="45700" rIns="91425" bIns="45700" anchor="ctr" anchorCtr="0">
            <a:noAutofit/>
          </a:bodyPr>
          <a:lstStyle/>
          <a:p>
            <a:pPr marL="342900" lvl="0" indent="-342900" algn="just" rtl="0">
              <a:lnSpc>
                <a:spcPct val="107000"/>
              </a:lnSpc>
              <a:spcBef>
                <a:spcPts val="0"/>
              </a:spcBef>
              <a:spcAft>
                <a:spcPts val="0"/>
              </a:spcAft>
              <a:buSzPts val="1785"/>
              <a:buChar char="∙"/>
            </a:pPr>
            <a:r>
              <a:rPr lang="es-ES" sz="1600" b="1" dirty="0">
                <a:latin typeface="Cambria"/>
                <a:ea typeface="Cambria"/>
                <a:cs typeface="Cambria"/>
                <a:sym typeface="Cambria"/>
              </a:rPr>
              <a:t>1.2.5	Lógica</a:t>
            </a:r>
            <a:endParaRPr sz="1600" dirty="0">
              <a:latin typeface="Cambria"/>
              <a:ea typeface="Cambria"/>
              <a:cs typeface="Cambria"/>
              <a:sym typeface="Cambria"/>
            </a:endParaRPr>
          </a:p>
          <a:p>
            <a:pPr marL="0" lvl="0" indent="0" algn="just" rtl="0">
              <a:lnSpc>
                <a:spcPct val="107000"/>
              </a:lnSpc>
              <a:spcBef>
                <a:spcPts val="0"/>
              </a:spcBef>
              <a:spcAft>
                <a:spcPts val="0"/>
              </a:spcAft>
              <a:buNone/>
            </a:pPr>
            <a:endParaRPr sz="1600" dirty="0">
              <a:latin typeface="Cambria"/>
              <a:ea typeface="Cambria"/>
              <a:cs typeface="Cambria"/>
              <a:sym typeface="Cambria"/>
            </a:endParaRPr>
          </a:p>
          <a:p>
            <a:pPr marL="0" lvl="0" indent="0" algn="just" rtl="0">
              <a:lnSpc>
                <a:spcPct val="107000"/>
              </a:lnSpc>
              <a:spcBef>
                <a:spcPts val="0"/>
              </a:spcBef>
              <a:spcAft>
                <a:spcPts val="0"/>
              </a:spcAft>
              <a:buNone/>
            </a:pPr>
            <a:r>
              <a:rPr lang="es-ES" sz="1600" dirty="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600" dirty="0">
              <a:latin typeface="Cambria"/>
              <a:ea typeface="Cambria"/>
              <a:cs typeface="Cambria"/>
              <a:sym typeface="Cambria"/>
            </a:endParaRPr>
          </a:p>
        </p:txBody>
      </p:sp>
      <p:sp>
        <p:nvSpPr>
          <p:cNvPr id="247" name="Google Shape;247;p3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248" name="Google Shape;248;p31"/>
          <p:cNvGraphicFramePr/>
          <p:nvPr>
            <p:extLst>
              <p:ext uri="{D42A27DB-BD31-4B8C-83A1-F6EECF244321}">
                <p14:modId xmlns:p14="http://schemas.microsoft.com/office/powerpoint/2010/main" val="3490172720"/>
              </p:ext>
            </p:extLst>
          </p:nvPr>
        </p:nvGraphicFramePr>
        <p:xfrm>
          <a:off x="669529" y="3948349"/>
          <a:ext cx="6062675" cy="195580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1160900">
                <a:tc>
                  <a:txBody>
                    <a:bodyPr/>
                    <a:lstStyle/>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public</a:t>
                      </a:r>
                      <a:r>
                        <a:rPr lang="es-ES" sz="1200" dirty="0">
                          <a:solidFill>
                            <a:srgbClr val="4F81BD"/>
                          </a:solidFill>
                          <a:latin typeface="Calibri"/>
                          <a:ea typeface="Calibri"/>
                          <a:cs typeface="Calibri"/>
                          <a:sym typeface="Calibri"/>
                        </a:rPr>
                        <a:t> interface </a:t>
                      </a:r>
                      <a:r>
                        <a:rPr lang="es-ES" sz="1200" dirty="0" err="1">
                          <a:solidFill>
                            <a:srgbClr val="4F81BD"/>
                          </a:solidFill>
                          <a:latin typeface="Calibri"/>
                          <a:ea typeface="Calibri"/>
                          <a:cs typeface="Calibri"/>
                          <a:sym typeface="Calibri"/>
                        </a:rPr>
                        <a:t>IConversorUnidad</a:t>
                      </a:r>
                      <a:endParaRPr lang="es-ES" sz="1200" dirty="0">
                        <a:solidFill>
                          <a:srgbClr val="4F81BD"/>
                        </a:solidFill>
                        <a:latin typeface="Calibri"/>
                        <a:ea typeface="Calibri"/>
                        <a:cs typeface="Calibri"/>
                        <a:sym typeface="Calibri"/>
                      </a:endParaRP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CategoriaUnidad</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Categoria</a:t>
                      </a:r>
                      <a:r>
                        <a:rPr lang="es-ES" sz="1200" dirty="0">
                          <a:solidFill>
                            <a:srgbClr val="4F81BD"/>
                          </a:solidFill>
                          <a:latin typeface="Calibri"/>
                          <a:ea typeface="Calibri"/>
                          <a:cs typeface="Calibri"/>
                          <a:sym typeface="Calibri"/>
                        </a:rPr>
                        <a:t> { </a:t>
                      </a:r>
                      <a:r>
                        <a:rPr lang="es-ES" sz="1200" dirty="0" err="1">
                          <a:solidFill>
                            <a:srgbClr val="4F81BD"/>
                          </a:solidFill>
                          <a:latin typeface="Calibri"/>
                          <a:ea typeface="Calibri"/>
                          <a:cs typeface="Calibri"/>
                          <a:sym typeface="Calibri"/>
                        </a:rPr>
                        <a:t>get</a:t>
                      </a:r>
                      <a:r>
                        <a:rPr lang="es-ES" sz="12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200" dirty="0">
                        <a:solidFill>
                          <a:srgbClr val="4F81BD"/>
                        </a:solidFill>
                        <a:latin typeface="Calibri"/>
                        <a:ea typeface="Calibri"/>
                        <a:cs typeface="Calibri"/>
                        <a:sym typeface="Calibri"/>
                      </a:endParaRP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bool</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EsUnidadValida</a:t>
                      </a:r>
                      <a:r>
                        <a:rPr lang="es-ES" sz="1200" dirty="0">
                          <a:solidFill>
                            <a:srgbClr val="4F81BD"/>
                          </a:solidFill>
                          <a:latin typeface="Calibri"/>
                          <a:ea typeface="Calibri"/>
                          <a:cs typeface="Calibri"/>
                          <a:sym typeface="Calibri"/>
                        </a:rPr>
                        <a:t>(</a:t>
                      </a:r>
                      <a:r>
                        <a:rPr lang="es-ES" sz="1200" dirty="0" err="1">
                          <a:solidFill>
                            <a:srgbClr val="4F81BD"/>
                          </a:solidFill>
                          <a:latin typeface="Calibri"/>
                          <a:ea typeface="Calibri"/>
                          <a:cs typeface="Calibri"/>
                          <a:sym typeface="Calibri"/>
                        </a:rPr>
                        <a:t>string</a:t>
                      </a:r>
                      <a:r>
                        <a:rPr lang="es-ES" sz="1200" dirty="0">
                          <a:solidFill>
                            <a:srgbClr val="4F81BD"/>
                          </a:solidFill>
                          <a:latin typeface="Calibri"/>
                          <a:ea typeface="Calibri"/>
                          <a:cs typeface="Calibri"/>
                          <a:sym typeface="Calibri"/>
                        </a:rPr>
                        <a:t> unidad);</a:t>
                      </a:r>
                    </a:p>
                    <a:p>
                      <a:pPr marL="0" lvl="0" indent="0" algn="l" rtl="0">
                        <a:spcBef>
                          <a:spcPts val="0"/>
                        </a:spcBef>
                        <a:spcAft>
                          <a:spcPts val="0"/>
                        </a:spcAft>
                        <a:buNone/>
                      </a:pPr>
                      <a:endParaRPr lang="es-ES" sz="1200" dirty="0">
                        <a:solidFill>
                          <a:srgbClr val="4F81BD"/>
                        </a:solidFill>
                        <a:latin typeface="Calibri"/>
                        <a:ea typeface="Calibri"/>
                        <a:cs typeface="Calibri"/>
                        <a:sym typeface="Calibri"/>
                      </a:endParaRP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double</a:t>
                      </a:r>
                      <a:r>
                        <a:rPr lang="es-ES" sz="1200" dirty="0">
                          <a:solidFill>
                            <a:srgbClr val="4F81BD"/>
                          </a:solidFill>
                          <a:latin typeface="Calibri"/>
                          <a:ea typeface="Calibri"/>
                          <a:cs typeface="Calibri"/>
                          <a:sym typeface="Calibri"/>
                        </a:rPr>
                        <a:t> Convertir(</a:t>
                      </a:r>
                      <a:r>
                        <a:rPr lang="es-ES" sz="1200" dirty="0" err="1">
                          <a:solidFill>
                            <a:srgbClr val="4F81BD"/>
                          </a:solidFill>
                          <a:latin typeface="Calibri"/>
                          <a:ea typeface="Calibri"/>
                          <a:cs typeface="Calibri"/>
                          <a:sym typeface="Calibri"/>
                        </a:rPr>
                        <a:t>string</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unidadOrigen</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string</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unidadDestino</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double</a:t>
                      </a:r>
                      <a:r>
                        <a:rPr lang="es-ES" sz="1200" dirty="0">
                          <a:solidFill>
                            <a:srgbClr val="4F81BD"/>
                          </a:solidFill>
                          <a:latin typeface="Calibri"/>
                          <a:ea typeface="Calibri"/>
                          <a:cs typeface="Calibri"/>
                          <a:sym typeface="Calibri"/>
                        </a:rPr>
                        <a:t> valor);</a:t>
                      </a:r>
                    </a:p>
                    <a:p>
                      <a:pPr marL="0" lvl="0" indent="0" algn="l" rtl="0">
                        <a:spcBef>
                          <a:spcPts val="0"/>
                        </a:spcBef>
                        <a:spcAft>
                          <a:spcPts val="0"/>
                        </a:spcAft>
                        <a:buNone/>
                      </a:pPr>
                      <a:endParaRPr lang="es-ES" sz="1200" dirty="0">
                        <a:solidFill>
                          <a:srgbClr val="4F81BD"/>
                        </a:solidFill>
                        <a:latin typeface="Calibri"/>
                        <a:ea typeface="Calibri"/>
                        <a:cs typeface="Calibri"/>
                        <a:sym typeface="Calibri"/>
                      </a:endParaRP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void</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ValidarRango</a:t>
                      </a:r>
                      <a:r>
                        <a:rPr lang="es-ES" sz="1200" dirty="0">
                          <a:solidFill>
                            <a:srgbClr val="4F81BD"/>
                          </a:solidFill>
                          <a:latin typeface="Calibri"/>
                          <a:ea typeface="Calibri"/>
                          <a:cs typeface="Calibri"/>
                          <a:sym typeface="Calibri"/>
                        </a:rPr>
                        <a:t>(</a:t>
                      </a:r>
                      <a:r>
                        <a:rPr lang="es-ES" sz="1200" dirty="0" err="1">
                          <a:solidFill>
                            <a:srgbClr val="4F81BD"/>
                          </a:solidFill>
                          <a:latin typeface="Calibri"/>
                          <a:ea typeface="Calibri"/>
                          <a:cs typeface="Calibri"/>
                          <a:sym typeface="Calibri"/>
                        </a:rPr>
                        <a:t>string</a:t>
                      </a:r>
                      <a:r>
                        <a:rPr lang="es-ES" sz="1200" dirty="0">
                          <a:solidFill>
                            <a:srgbClr val="4F81BD"/>
                          </a:solidFill>
                          <a:latin typeface="Calibri"/>
                          <a:ea typeface="Calibri"/>
                          <a:cs typeface="Calibri"/>
                          <a:sym typeface="Calibri"/>
                        </a:rPr>
                        <a:t> unidad, </a:t>
                      </a:r>
                      <a:r>
                        <a:rPr lang="es-ES" sz="1200" dirty="0" err="1">
                          <a:solidFill>
                            <a:srgbClr val="4F81BD"/>
                          </a:solidFill>
                          <a:latin typeface="Calibri"/>
                          <a:ea typeface="Calibri"/>
                          <a:cs typeface="Calibri"/>
                          <a:sym typeface="Calibri"/>
                        </a:rPr>
                        <a:t>double</a:t>
                      </a:r>
                      <a:r>
                        <a:rPr lang="es-ES" sz="1200" dirty="0">
                          <a:solidFill>
                            <a:srgbClr val="4F81BD"/>
                          </a:solidFill>
                          <a:latin typeface="Calibri"/>
                          <a:ea typeface="Calibri"/>
                          <a:cs typeface="Calibri"/>
                          <a:sym typeface="Calibri"/>
                        </a:rPr>
                        <a:t> valor);</a:t>
                      </a: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endParaRPr sz="9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54" name="Google Shape;254;p32"/>
          <p:cNvSpPr txBox="1">
            <a:spLocks noGrp="1"/>
          </p:cNvSpPr>
          <p:nvPr>
            <p:ph type="body" idx="1"/>
          </p:nvPr>
        </p:nvSpPr>
        <p:spPr>
          <a:xfrm>
            <a:off x="581200" y="3037175"/>
            <a:ext cx="2132400" cy="2605800"/>
          </a:xfrm>
          <a:prstGeom prst="rect">
            <a:avLst/>
          </a:prstGeom>
          <a:noFill/>
          <a:ln>
            <a:noFill/>
          </a:ln>
        </p:spPr>
        <p:txBody>
          <a:bodyPr spcFirstLastPara="1" wrap="square" lIns="91425" tIns="45700" rIns="91425" bIns="45700" anchor="ctr" anchorCtr="0">
            <a:noAutofit/>
          </a:bodyPr>
          <a:lstStyle/>
          <a:p>
            <a:pPr marL="0" lvl="0" indent="0" algn="just" rtl="0">
              <a:lnSpc>
                <a:spcPct val="107000"/>
              </a:lnSpc>
              <a:spcBef>
                <a:spcPts val="0"/>
              </a:spcBef>
              <a:spcAft>
                <a:spcPts val="0"/>
              </a:spcAft>
              <a:buNone/>
            </a:pPr>
            <a:r>
              <a:rPr lang="es-ES" sz="1400" dirty="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400" dirty="0">
              <a:latin typeface="Cambria"/>
              <a:ea typeface="Cambria"/>
              <a:cs typeface="Cambria"/>
              <a:sym typeface="Cambria"/>
            </a:endParaRPr>
          </a:p>
        </p:txBody>
      </p:sp>
      <p:sp>
        <p:nvSpPr>
          <p:cNvPr id="255" name="Google Shape;255;p32"/>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256" name="Google Shape;256;p32"/>
          <p:cNvGraphicFramePr/>
          <p:nvPr>
            <p:extLst>
              <p:ext uri="{D42A27DB-BD31-4B8C-83A1-F6EECF244321}">
                <p14:modId xmlns:p14="http://schemas.microsoft.com/office/powerpoint/2010/main" val="1016848973"/>
              </p:ext>
            </p:extLst>
          </p:nvPr>
        </p:nvGraphicFramePr>
        <p:xfrm>
          <a:off x="2959648" y="2159450"/>
          <a:ext cx="7494168" cy="4089400"/>
        </p:xfrm>
        <a:graphic>
          <a:graphicData uri="http://schemas.openxmlformats.org/drawingml/2006/table">
            <a:tbl>
              <a:tblPr>
                <a:noFill/>
                <a:tableStyleId>{BF136021-7255-42B7-A7E7-87A8D8FFE9CA}</a:tableStyleId>
              </a:tblPr>
              <a:tblGrid>
                <a:gridCol w="7494168">
                  <a:extLst>
                    <a:ext uri="{9D8B030D-6E8A-4147-A177-3AD203B41FA5}">
                      <a16:colId xmlns:a16="http://schemas.microsoft.com/office/drawing/2014/main" val="20000"/>
                    </a:ext>
                  </a:extLst>
                </a:gridCol>
              </a:tblGrid>
              <a:tr h="1160900">
                <a:tc>
                  <a:txBody>
                    <a:bodyPr/>
                    <a:lstStyle/>
                    <a:p>
                      <a:pPr marL="0" lvl="0" indent="0" algn="l" rtl="0">
                        <a:spcBef>
                          <a:spcPts val="0"/>
                        </a:spcBef>
                        <a:spcAft>
                          <a:spcPts val="0"/>
                        </a:spcAft>
                        <a:buNone/>
                      </a:pP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class</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ConversorLongitud</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IConversorUnidad</a:t>
                      </a: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private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const</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double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MetrosPorYarda</a:t>
                      </a:r>
                      <a:r>
                        <a:rPr lang="es-ES" sz="1000" dirty="0">
                          <a:solidFill>
                            <a:srgbClr val="4F81BD"/>
                          </a:solidFill>
                          <a:latin typeface="Calibri"/>
                          <a:ea typeface="Calibri"/>
                          <a:cs typeface="Calibri"/>
                          <a:sym typeface="Calibri"/>
                        </a:rPr>
                        <a:t> = 0.9144;</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private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const</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double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MetrosPorMilla</a:t>
                      </a:r>
                      <a:r>
                        <a:rPr lang="es-ES" sz="1000" dirty="0">
                          <a:solidFill>
                            <a:srgbClr val="4F81BD"/>
                          </a:solidFill>
                          <a:latin typeface="Calibri"/>
                          <a:ea typeface="Calibri"/>
                          <a:cs typeface="Calibri"/>
                          <a:sym typeface="Calibri"/>
                        </a:rPr>
                        <a:t> = 1609.344;</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private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readonly</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Dictionary</a:t>
                      </a:r>
                      <a:r>
                        <a:rPr lang="es-ES" sz="1000" dirty="0">
                          <a:solidFill>
                            <a:srgbClr val="4F81BD"/>
                          </a:solidFill>
                          <a:latin typeface="Calibri"/>
                          <a:ea typeface="Calibri"/>
                          <a:cs typeface="Calibri"/>
                          <a:sym typeface="Calibri"/>
                        </a:rPr>
                        <a:t>&lt;</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UnidadLongitud</a:t>
                      </a:r>
                      <a:r>
                        <a:rPr lang="es-ES" sz="1000" dirty="0">
                          <a:solidFill>
                            <a:srgbClr val="4F81BD"/>
                          </a:solidFill>
                          <a:latin typeface="Calibri"/>
                          <a:ea typeface="Calibri"/>
                          <a:cs typeface="Calibri"/>
                          <a:sym typeface="Calibri"/>
                        </a:rPr>
                        <a:t>&gt; unidades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new </a:t>
                      </a:r>
                      <a:r>
                        <a:rPr lang="es-ES" sz="1000" dirty="0" err="1">
                          <a:solidFill>
                            <a:srgbClr val="4F81BD"/>
                          </a:solidFill>
                          <a:latin typeface="Calibri"/>
                          <a:ea typeface="Calibri"/>
                          <a:cs typeface="Calibri"/>
                          <a:sym typeface="Calibri"/>
                        </a:rPr>
                        <a:t>Dictionary</a:t>
                      </a:r>
                      <a:r>
                        <a:rPr lang="es-ES" sz="1000" dirty="0">
                          <a:solidFill>
                            <a:srgbClr val="4F81BD"/>
                          </a:solidFill>
                          <a:latin typeface="Calibri"/>
                          <a:ea typeface="Calibri"/>
                          <a:cs typeface="Calibri"/>
                          <a:sym typeface="Calibri"/>
                        </a:rPr>
                        <a:t>&lt;</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UnidadLongitud</a:t>
                      </a:r>
                      <a:r>
                        <a:rPr lang="es-ES" sz="1000" dirty="0">
                          <a:solidFill>
                            <a:srgbClr val="4F81BD"/>
                          </a:solidFill>
                          <a:latin typeface="Calibri"/>
                          <a:ea typeface="Calibri"/>
                          <a:cs typeface="Calibri"/>
                          <a:sym typeface="Calibri"/>
                        </a:rPr>
                        <a:t>&gt;(</a:t>
                      </a:r>
                      <a:r>
                        <a:rPr lang="es-ES" sz="1000" dirty="0" err="1">
                          <a:solidFill>
                            <a:srgbClr val="4F81BD"/>
                          </a:solidFill>
                          <a:latin typeface="Calibri"/>
                          <a:ea typeface="Calibri"/>
                          <a:cs typeface="Calibri"/>
                          <a:sym typeface="Calibri"/>
                        </a:rPr>
                        <a:t>StringComparer.Ordinal</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 "MILLA", </a:t>
                      </a:r>
                      <a:r>
                        <a:rPr lang="es-ES" sz="1000" dirty="0" err="1">
                          <a:solidFill>
                            <a:srgbClr val="4F81BD"/>
                          </a:solidFill>
                          <a:latin typeface="Calibri"/>
                          <a:ea typeface="Calibri"/>
                          <a:cs typeface="Calibri"/>
                          <a:sym typeface="Calibri"/>
                        </a:rPr>
                        <a:t>UnidadLongitud.Milla</a:t>
                      </a: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 "YARDA", </a:t>
                      </a:r>
                      <a:r>
                        <a:rPr lang="es-ES" sz="1000" dirty="0" err="1">
                          <a:solidFill>
                            <a:srgbClr val="4F81BD"/>
                          </a:solidFill>
                          <a:latin typeface="Calibri"/>
                          <a:ea typeface="Calibri"/>
                          <a:cs typeface="Calibri"/>
                          <a:sym typeface="Calibri"/>
                        </a:rPr>
                        <a:t>UnidadLongitud.Yarda</a:t>
                      </a: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 "KILOMETRO", </a:t>
                      </a:r>
                      <a:r>
                        <a:rPr lang="es-ES" sz="1000" dirty="0" err="1">
                          <a:solidFill>
                            <a:srgbClr val="4F81BD"/>
                          </a:solidFill>
                          <a:latin typeface="Calibri"/>
                          <a:ea typeface="Calibri"/>
                          <a:cs typeface="Calibri"/>
                          <a:sym typeface="Calibri"/>
                        </a:rPr>
                        <a:t>UnidadLongitud.Kilometro</a:t>
                      </a: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 "METRO", </a:t>
                      </a:r>
                      <a:r>
                        <a:rPr lang="es-ES" sz="1000" dirty="0" err="1">
                          <a:solidFill>
                            <a:srgbClr val="4F81BD"/>
                          </a:solidFill>
                          <a:latin typeface="Calibri"/>
                          <a:ea typeface="Calibri"/>
                          <a:cs typeface="Calibri"/>
                          <a:sym typeface="Calibri"/>
                        </a:rPr>
                        <a:t>UnidadLongitud.Metro</a:t>
                      </a: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 "CENTIMETRO", </a:t>
                      </a:r>
                      <a:r>
                        <a:rPr lang="es-ES" sz="1000" dirty="0" err="1">
                          <a:solidFill>
                            <a:srgbClr val="4F81BD"/>
                          </a:solidFill>
                          <a:latin typeface="Calibri"/>
                          <a:ea typeface="Calibri"/>
                          <a:cs typeface="Calibri"/>
                          <a:sym typeface="Calibri"/>
                        </a:rPr>
                        <a:t>UnidadLongitud.Centimetro</a:t>
                      </a: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CategoriaUnidad</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Categoria</a:t>
                      </a: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get</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CategoriaUnidad.Longitud</a:t>
                      </a: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bool</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EsUnidadValida</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unidad)</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clave = Normalizar(unidad);</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clave != </a:t>
                      </a:r>
                      <a:r>
                        <a:rPr lang="es-ES" sz="1000" dirty="0" err="1">
                          <a:solidFill>
                            <a:srgbClr val="4F81BD"/>
                          </a:solidFill>
                          <a:latin typeface="Calibri"/>
                          <a:ea typeface="Calibri"/>
                          <a:cs typeface="Calibri"/>
                          <a:sym typeface="Calibri"/>
                        </a:rPr>
                        <a:t>null</a:t>
                      </a:r>
                      <a:r>
                        <a:rPr lang="es-ES" sz="1000" dirty="0">
                          <a:solidFill>
                            <a:srgbClr val="4F81BD"/>
                          </a:solidFill>
                          <a:latin typeface="Calibri"/>
                          <a:ea typeface="Calibri"/>
                          <a:cs typeface="Calibri"/>
                          <a:sym typeface="Calibri"/>
                        </a:rPr>
                        <a:t> &amp;&amp; </a:t>
                      </a:r>
                      <a:r>
                        <a:rPr lang="es-ES" sz="1000" dirty="0" err="1">
                          <a:solidFill>
                            <a:srgbClr val="4F81BD"/>
                          </a:solidFill>
                          <a:latin typeface="Calibri"/>
                          <a:ea typeface="Calibri"/>
                          <a:cs typeface="Calibri"/>
                          <a:sym typeface="Calibri"/>
                        </a:rPr>
                        <a:t>unidades.ContainsKey</a:t>
                      </a:r>
                      <a:r>
                        <a:rPr lang="es-ES" sz="1000" dirty="0">
                          <a:solidFill>
                            <a:srgbClr val="4F81BD"/>
                          </a:solidFill>
                          <a:latin typeface="Calibri"/>
                          <a:ea typeface="Calibri"/>
                          <a:cs typeface="Calibri"/>
                          <a:sym typeface="Calibri"/>
                        </a:rPr>
                        <a:t>(clave);</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a:t>
                      </a:r>
                      <a:endParaRPr sz="10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3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62" name="Google Shape;262;p33"/>
          <p:cNvSpPr txBox="1">
            <a:spLocks noGrp="1"/>
          </p:cNvSpPr>
          <p:nvPr>
            <p:ph type="body" idx="1"/>
          </p:nvPr>
        </p:nvSpPr>
        <p:spPr>
          <a:xfrm>
            <a:off x="581200" y="3037175"/>
            <a:ext cx="2132400" cy="2605800"/>
          </a:xfrm>
          <a:prstGeom prst="rect">
            <a:avLst/>
          </a:prstGeom>
          <a:noFill/>
          <a:ln>
            <a:noFill/>
          </a:ln>
        </p:spPr>
        <p:txBody>
          <a:bodyPr spcFirstLastPara="1" wrap="square" lIns="91425" tIns="45700" rIns="91425" bIns="45700" anchor="ctr" anchorCtr="0">
            <a:noAutofit/>
          </a:bodyPr>
          <a:lstStyle/>
          <a:p>
            <a:pPr marL="0" lvl="0" indent="0" algn="just" rtl="0">
              <a:lnSpc>
                <a:spcPct val="107000"/>
              </a:lnSpc>
              <a:spcBef>
                <a:spcPts val="0"/>
              </a:spcBef>
              <a:spcAft>
                <a:spcPts val="0"/>
              </a:spcAft>
              <a:buNone/>
            </a:pPr>
            <a:r>
              <a:rPr lang="es-ES" sz="1400" dirty="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400" dirty="0">
              <a:latin typeface="Cambria"/>
              <a:ea typeface="Cambria"/>
              <a:cs typeface="Cambria"/>
              <a:sym typeface="Cambria"/>
            </a:endParaRPr>
          </a:p>
        </p:txBody>
      </p:sp>
      <p:sp>
        <p:nvSpPr>
          <p:cNvPr id="263" name="Google Shape;263;p33"/>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264" name="Google Shape;264;p33"/>
          <p:cNvGraphicFramePr/>
          <p:nvPr>
            <p:extLst>
              <p:ext uri="{D42A27DB-BD31-4B8C-83A1-F6EECF244321}">
                <p14:modId xmlns:p14="http://schemas.microsoft.com/office/powerpoint/2010/main" val="2360992151"/>
              </p:ext>
            </p:extLst>
          </p:nvPr>
        </p:nvGraphicFramePr>
        <p:xfrm>
          <a:off x="3017311" y="2538391"/>
          <a:ext cx="6062675" cy="378460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1160900">
                <a:tc>
                  <a:txBody>
                    <a:bodyPr/>
                    <a:lstStyle/>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class</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ConversorMasa</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IConversorUnidad</a:t>
                      </a: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private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const</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double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KilogramosPorOnza</a:t>
                      </a:r>
                      <a:r>
                        <a:rPr lang="es-ES" sz="1000" dirty="0">
                          <a:solidFill>
                            <a:srgbClr val="4F81BD"/>
                          </a:solidFill>
                          <a:latin typeface="Calibri"/>
                          <a:ea typeface="Calibri"/>
                          <a:cs typeface="Calibri"/>
                          <a:sym typeface="Calibri"/>
                        </a:rPr>
                        <a:t> = 0.028349523125;</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private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readonly</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Dictionary</a:t>
                      </a:r>
                      <a:r>
                        <a:rPr lang="es-ES" sz="1000" dirty="0">
                          <a:solidFill>
                            <a:srgbClr val="4F81BD"/>
                          </a:solidFill>
                          <a:latin typeface="Calibri"/>
                          <a:ea typeface="Calibri"/>
                          <a:cs typeface="Calibri"/>
                          <a:sym typeface="Calibri"/>
                        </a:rPr>
                        <a:t>&lt;</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UnidadMasa</a:t>
                      </a:r>
                      <a:r>
                        <a:rPr lang="es-ES" sz="1000" dirty="0">
                          <a:solidFill>
                            <a:srgbClr val="4F81BD"/>
                          </a:solidFill>
                          <a:latin typeface="Calibri"/>
                          <a:ea typeface="Calibri"/>
                          <a:cs typeface="Calibri"/>
                          <a:sym typeface="Calibri"/>
                        </a:rPr>
                        <a:t>&gt; unidades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new </a:t>
                      </a:r>
                      <a:r>
                        <a:rPr lang="es-ES" sz="1000" dirty="0" err="1">
                          <a:solidFill>
                            <a:srgbClr val="4F81BD"/>
                          </a:solidFill>
                          <a:latin typeface="Calibri"/>
                          <a:ea typeface="Calibri"/>
                          <a:cs typeface="Calibri"/>
                          <a:sym typeface="Calibri"/>
                        </a:rPr>
                        <a:t>Dictionary</a:t>
                      </a:r>
                      <a:r>
                        <a:rPr lang="es-ES" sz="1000" dirty="0">
                          <a:solidFill>
                            <a:srgbClr val="4F81BD"/>
                          </a:solidFill>
                          <a:latin typeface="Calibri"/>
                          <a:ea typeface="Calibri"/>
                          <a:cs typeface="Calibri"/>
                          <a:sym typeface="Calibri"/>
                        </a:rPr>
                        <a:t>&lt;</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UnidadMasa</a:t>
                      </a:r>
                      <a:r>
                        <a:rPr lang="es-ES" sz="1000" dirty="0">
                          <a:solidFill>
                            <a:srgbClr val="4F81BD"/>
                          </a:solidFill>
                          <a:latin typeface="Calibri"/>
                          <a:ea typeface="Calibri"/>
                          <a:cs typeface="Calibri"/>
                          <a:sym typeface="Calibri"/>
                        </a:rPr>
                        <a:t>&gt;(</a:t>
                      </a:r>
                      <a:r>
                        <a:rPr lang="es-ES" sz="1000" dirty="0" err="1">
                          <a:solidFill>
                            <a:srgbClr val="4F81BD"/>
                          </a:solidFill>
                          <a:latin typeface="Calibri"/>
                          <a:ea typeface="Calibri"/>
                          <a:cs typeface="Calibri"/>
                          <a:sym typeface="Calibri"/>
                        </a:rPr>
                        <a:t>StringComparer.Ordinal</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 "TONELADA", </a:t>
                      </a:r>
                      <a:r>
                        <a:rPr lang="es-ES" sz="1000" dirty="0" err="1">
                          <a:solidFill>
                            <a:srgbClr val="4F81BD"/>
                          </a:solidFill>
                          <a:latin typeface="Calibri"/>
                          <a:ea typeface="Calibri"/>
                          <a:cs typeface="Calibri"/>
                          <a:sym typeface="Calibri"/>
                        </a:rPr>
                        <a:t>UnidadMasa.Tonelada</a:t>
                      </a: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 "ONZA", </a:t>
                      </a:r>
                      <a:r>
                        <a:rPr lang="es-ES" sz="1000" dirty="0" err="1">
                          <a:solidFill>
                            <a:srgbClr val="4F81BD"/>
                          </a:solidFill>
                          <a:latin typeface="Calibri"/>
                          <a:ea typeface="Calibri"/>
                          <a:cs typeface="Calibri"/>
                          <a:sym typeface="Calibri"/>
                        </a:rPr>
                        <a:t>UnidadMasa.Onza</a:t>
                      </a: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 "KILOGRAMO", </a:t>
                      </a:r>
                      <a:r>
                        <a:rPr lang="es-ES" sz="1000" dirty="0" err="1">
                          <a:solidFill>
                            <a:srgbClr val="4F81BD"/>
                          </a:solidFill>
                          <a:latin typeface="Calibri"/>
                          <a:ea typeface="Calibri"/>
                          <a:cs typeface="Calibri"/>
                          <a:sym typeface="Calibri"/>
                        </a:rPr>
                        <a:t>UnidadMasa.Kilogramo</a:t>
                      </a: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 "GRAMO", </a:t>
                      </a:r>
                      <a:r>
                        <a:rPr lang="es-ES" sz="1000" dirty="0" err="1">
                          <a:solidFill>
                            <a:srgbClr val="4F81BD"/>
                          </a:solidFill>
                          <a:latin typeface="Calibri"/>
                          <a:ea typeface="Calibri"/>
                          <a:cs typeface="Calibri"/>
                          <a:sym typeface="Calibri"/>
                        </a:rPr>
                        <a:t>UnidadMasa.Gramo</a:t>
                      </a: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CategoriaUnidad</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Categoria</a:t>
                      </a: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get</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CategoriaUnidad.Masa</a:t>
                      </a: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bool</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EsUnidadValida</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unidad)</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clave = Normalizar(unidad);</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clave != </a:t>
                      </a:r>
                      <a:r>
                        <a:rPr lang="es-ES" sz="1000" dirty="0" err="1">
                          <a:solidFill>
                            <a:srgbClr val="4F81BD"/>
                          </a:solidFill>
                          <a:latin typeface="Calibri"/>
                          <a:ea typeface="Calibri"/>
                          <a:cs typeface="Calibri"/>
                          <a:sym typeface="Calibri"/>
                        </a:rPr>
                        <a:t>null</a:t>
                      </a:r>
                      <a:r>
                        <a:rPr lang="es-ES" sz="1000" dirty="0">
                          <a:solidFill>
                            <a:srgbClr val="4F81BD"/>
                          </a:solidFill>
                          <a:latin typeface="Calibri"/>
                          <a:ea typeface="Calibri"/>
                          <a:cs typeface="Calibri"/>
                          <a:sym typeface="Calibri"/>
                        </a:rPr>
                        <a:t> &amp;&amp; </a:t>
                      </a:r>
                      <a:r>
                        <a:rPr lang="es-ES" sz="1000" dirty="0" err="1">
                          <a:solidFill>
                            <a:srgbClr val="4F81BD"/>
                          </a:solidFill>
                          <a:latin typeface="Calibri"/>
                          <a:ea typeface="Calibri"/>
                          <a:cs typeface="Calibri"/>
                          <a:sym typeface="Calibri"/>
                        </a:rPr>
                        <a:t>unidades.ContainsKey</a:t>
                      </a:r>
                      <a:r>
                        <a:rPr lang="es-ES" sz="1000" dirty="0">
                          <a:solidFill>
                            <a:srgbClr val="4F81BD"/>
                          </a:solidFill>
                          <a:latin typeface="Calibri"/>
                          <a:ea typeface="Calibri"/>
                          <a:cs typeface="Calibri"/>
                          <a:sym typeface="Calibri"/>
                        </a:rPr>
                        <a:t>(clave);</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3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70" name="Google Shape;270;p34"/>
          <p:cNvSpPr txBox="1">
            <a:spLocks noGrp="1"/>
          </p:cNvSpPr>
          <p:nvPr>
            <p:ph type="body" idx="1"/>
          </p:nvPr>
        </p:nvSpPr>
        <p:spPr>
          <a:xfrm>
            <a:off x="581200" y="3037175"/>
            <a:ext cx="2132400" cy="2605800"/>
          </a:xfrm>
          <a:prstGeom prst="rect">
            <a:avLst/>
          </a:prstGeom>
          <a:noFill/>
          <a:ln>
            <a:noFill/>
          </a:ln>
        </p:spPr>
        <p:txBody>
          <a:bodyPr spcFirstLastPara="1" wrap="square" lIns="91425" tIns="45700" rIns="91425" bIns="45700" anchor="ctr" anchorCtr="0">
            <a:noAutofit/>
          </a:bodyPr>
          <a:lstStyle/>
          <a:p>
            <a:pPr marL="0" lvl="0" indent="0" algn="just" rtl="0">
              <a:lnSpc>
                <a:spcPct val="107000"/>
              </a:lnSpc>
              <a:spcBef>
                <a:spcPts val="0"/>
              </a:spcBef>
              <a:spcAft>
                <a:spcPts val="0"/>
              </a:spcAft>
              <a:buNone/>
            </a:pPr>
            <a:r>
              <a:rPr lang="es-ES" sz="1400" dirty="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400" dirty="0">
              <a:latin typeface="Cambria"/>
              <a:ea typeface="Cambria"/>
              <a:cs typeface="Cambria"/>
              <a:sym typeface="Cambria"/>
            </a:endParaRPr>
          </a:p>
        </p:txBody>
      </p:sp>
      <p:sp>
        <p:nvSpPr>
          <p:cNvPr id="271" name="Google Shape;271;p34"/>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272" name="Google Shape;272;p34"/>
          <p:cNvGraphicFramePr/>
          <p:nvPr>
            <p:extLst>
              <p:ext uri="{D42A27DB-BD31-4B8C-83A1-F6EECF244321}">
                <p14:modId xmlns:p14="http://schemas.microsoft.com/office/powerpoint/2010/main" val="3215319047"/>
              </p:ext>
            </p:extLst>
          </p:nvPr>
        </p:nvGraphicFramePr>
        <p:xfrm>
          <a:off x="2891513" y="2209650"/>
          <a:ext cx="6062675" cy="411988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1160900">
                <a:tc>
                  <a:txBody>
                    <a:bodyPr/>
                    <a:lstStyle/>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public</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class</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ConversorTemperatura</a:t>
                      </a:r>
                      <a:r>
                        <a:rPr lang="es-ES" sz="1200" dirty="0">
                          <a:solidFill>
                            <a:srgbClr val="4F81BD"/>
                          </a:solidFill>
                          <a:latin typeface="Calibri"/>
                          <a:ea typeface="Calibri"/>
                          <a:cs typeface="Calibri"/>
                          <a:sym typeface="Calibri"/>
                        </a:rPr>
                        <a:t> : </a:t>
                      </a:r>
                      <a:r>
                        <a:rPr lang="es-ES" sz="1200" dirty="0" err="1">
                          <a:solidFill>
                            <a:srgbClr val="4F81BD"/>
                          </a:solidFill>
                          <a:latin typeface="Calibri"/>
                          <a:ea typeface="Calibri"/>
                          <a:cs typeface="Calibri"/>
                          <a:sym typeface="Calibri"/>
                        </a:rPr>
                        <a:t>IConversorUnidad</a:t>
                      </a:r>
                      <a:endParaRPr lang="es-ES" sz="1200" dirty="0">
                        <a:solidFill>
                          <a:srgbClr val="4F81BD"/>
                        </a:solidFill>
                        <a:latin typeface="Calibri"/>
                        <a:ea typeface="Calibri"/>
                        <a:cs typeface="Calibri"/>
                        <a:sym typeface="Calibri"/>
                      </a:endParaRP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private</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readonly</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Dictionary</a:t>
                      </a:r>
                      <a:r>
                        <a:rPr lang="es-ES" sz="1200" dirty="0">
                          <a:solidFill>
                            <a:srgbClr val="4F81BD"/>
                          </a:solidFill>
                          <a:latin typeface="Calibri"/>
                          <a:ea typeface="Calibri"/>
                          <a:cs typeface="Calibri"/>
                          <a:sym typeface="Calibri"/>
                        </a:rPr>
                        <a:t>&lt;</a:t>
                      </a:r>
                      <a:r>
                        <a:rPr lang="es-ES" sz="1200" dirty="0" err="1">
                          <a:solidFill>
                            <a:srgbClr val="4F81BD"/>
                          </a:solidFill>
                          <a:latin typeface="Calibri"/>
                          <a:ea typeface="Calibri"/>
                          <a:cs typeface="Calibri"/>
                          <a:sym typeface="Calibri"/>
                        </a:rPr>
                        <a:t>string</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UnidadTemperatura</a:t>
                      </a:r>
                      <a:r>
                        <a:rPr lang="es-ES" sz="1200" dirty="0">
                          <a:solidFill>
                            <a:srgbClr val="4F81BD"/>
                          </a:solidFill>
                          <a:latin typeface="Calibri"/>
                          <a:ea typeface="Calibri"/>
                          <a:cs typeface="Calibri"/>
                          <a:sym typeface="Calibri"/>
                        </a:rPr>
                        <a:t>&gt; unidades =</a:t>
                      </a:r>
                    </a:p>
                    <a:p>
                      <a:pPr marL="0" lvl="0" indent="0" algn="l" rtl="0">
                        <a:spcBef>
                          <a:spcPts val="0"/>
                        </a:spcBef>
                        <a:spcAft>
                          <a:spcPts val="0"/>
                        </a:spcAft>
                        <a:buNone/>
                      </a:pPr>
                      <a:r>
                        <a:rPr lang="es-ES" sz="1200" dirty="0">
                          <a:solidFill>
                            <a:srgbClr val="4F81BD"/>
                          </a:solidFill>
                          <a:latin typeface="Calibri"/>
                          <a:ea typeface="Calibri"/>
                          <a:cs typeface="Calibri"/>
                          <a:sym typeface="Calibri"/>
                        </a:rPr>
                        <a:t>         new </a:t>
                      </a:r>
                      <a:r>
                        <a:rPr lang="es-ES" sz="1200" dirty="0" err="1">
                          <a:solidFill>
                            <a:srgbClr val="4F81BD"/>
                          </a:solidFill>
                          <a:latin typeface="Calibri"/>
                          <a:ea typeface="Calibri"/>
                          <a:cs typeface="Calibri"/>
                          <a:sym typeface="Calibri"/>
                        </a:rPr>
                        <a:t>Dictionary</a:t>
                      </a:r>
                      <a:r>
                        <a:rPr lang="es-ES" sz="1200" dirty="0">
                          <a:solidFill>
                            <a:srgbClr val="4F81BD"/>
                          </a:solidFill>
                          <a:latin typeface="Calibri"/>
                          <a:ea typeface="Calibri"/>
                          <a:cs typeface="Calibri"/>
                          <a:sym typeface="Calibri"/>
                        </a:rPr>
                        <a:t>&lt;</a:t>
                      </a:r>
                      <a:r>
                        <a:rPr lang="es-ES" sz="1200" dirty="0" err="1">
                          <a:solidFill>
                            <a:srgbClr val="4F81BD"/>
                          </a:solidFill>
                          <a:latin typeface="Calibri"/>
                          <a:ea typeface="Calibri"/>
                          <a:cs typeface="Calibri"/>
                          <a:sym typeface="Calibri"/>
                        </a:rPr>
                        <a:t>string</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UnidadTemperatura</a:t>
                      </a:r>
                      <a:r>
                        <a:rPr lang="es-ES" sz="1200" dirty="0">
                          <a:solidFill>
                            <a:srgbClr val="4F81BD"/>
                          </a:solidFill>
                          <a:latin typeface="Calibri"/>
                          <a:ea typeface="Calibri"/>
                          <a:cs typeface="Calibri"/>
                          <a:sym typeface="Calibri"/>
                        </a:rPr>
                        <a:t>&gt;(</a:t>
                      </a:r>
                      <a:r>
                        <a:rPr lang="es-ES" sz="1200" dirty="0" err="1">
                          <a:solidFill>
                            <a:srgbClr val="4F81BD"/>
                          </a:solidFill>
                          <a:latin typeface="Calibri"/>
                          <a:ea typeface="Calibri"/>
                          <a:cs typeface="Calibri"/>
                          <a:sym typeface="Calibri"/>
                        </a:rPr>
                        <a:t>StringComparer.Ordinal</a:t>
                      </a:r>
                      <a:r>
                        <a:rPr lang="es-ES" sz="12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200" dirty="0">
                          <a:solidFill>
                            <a:srgbClr val="4F81BD"/>
                          </a:solidFill>
                          <a:latin typeface="Calibri"/>
                          <a:ea typeface="Calibri"/>
                          <a:cs typeface="Calibri"/>
                          <a:sym typeface="Calibri"/>
                        </a:rPr>
                        <a:t>             { "CELSIUS", </a:t>
                      </a:r>
                      <a:r>
                        <a:rPr lang="es-ES" sz="1200" dirty="0" err="1">
                          <a:solidFill>
                            <a:srgbClr val="4F81BD"/>
                          </a:solidFill>
                          <a:latin typeface="Calibri"/>
                          <a:ea typeface="Calibri"/>
                          <a:cs typeface="Calibri"/>
                          <a:sym typeface="Calibri"/>
                        </a:rPr>
                        <a:t>UnidadTemperatura.Celsius</a:t>
                      </a:r>
                      <a:r>
                        <a:rPr lang="es-ES" sz="12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200" dirty="0">
                          <a:solidFill>
                            <a:srgbClr val="4F81BD"/>
                          </a:solidFill>
                          <a:latin typeface="Calibri"/>
                          <a:ea typeface="Calibri"/>
                          <a:cs typeface="Calibri"/>
                          <a:sym typeface="Calibri"/>
                        </a:rPr>
                        <a:t>             { "FAHRENHEIT", </a:t>
                      </a:r>
                      <a:r>
                        <a:rPr lang="es-ES" sz="1200" dirty="0" err="1">
                          <a:solidFill>
                            <a:srgbClr val="4F81BD"/>
                          </a:solidFill>
                          <a:latin typeface="Calibri"/>
                          <a:ea typeface="Calibri"/>
                          <a:cs typeface="Calibri"/>
                          <a:sym typeface="Calibri"/>
                        </a:rPr>
                        <a:t>UnidadTemperatura.Fahrenheit</a:t>
                      </a:r>
                      <a:r>
                        <a:rPr lang="es-ES" sz="12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200" dirty="0">
                          <a:solidFill>
                            <a:srgbClr val="4F81BD"/>
                          </a:solidFill>
                          <a:latin typeface="Calibri"/>
                          <a:ea typeface="Calibri"/>
                          <a:cs typeface="Calibri"/>
                          <a:sym typeface="Calibri"/>
                        </a:rPr>
                        <a:t>             { "KELVIN", </a:t>
                      </a:r>
                      <a:r>
                        <a:rPr lang="es-ES" sz="1200" dirty="0" err="1">
                          <a:solidFill>
                            <a:srgbClr val="4F81BD"/>
                          </a:solidFill>
                          <a:latin typeface="Calibri"/>
                          <a:ea typeface="Calibri"/>
                          <a:cs typeface="Calibri"/>
                          <a:sym typeface="Calibri"/>
                        </a:rPr>
                        <a:t>UnidadTemperatura.Kelvin</a:t>
                      </a:r>
                      <a:r>
                        <a:rPr lang="es-ES" sz="12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200" dirty="0">
                          <a:solidFill>
                            <a:srgbClr val="4F81BD"/>
                          </a:solidFill>
                          <a:latin typeface="Calibri"/>
                          <a:ea typeface="Calibri"/>
                          <a:cs typeface="Calibri"/>
                          <a:sym typeface="Calibri"/>
                        </a:rPr>
                        <a:t>             { "RANKINE", </a:t>
                      </a:r>
                      <a:r>
                        <a:rPr lang="es-ES" sz="1200" dirty="0" err="1">
                          <a:solidFill>
                            <a:srgbClr val="4F81BD"/>
                          </a:solidFill>
                          <a:latin typeface="Calibri"/>
                          <a:ea typeface="Calibri"/>
                          <a:cs typeface="Calibri"/>
                          <a:sym typeface="Calibri"/>
                        </a:rPr>
                        <a:t>UnidadTemperatura.Rankine</a:t>
                      </a:r>
                      <a:r>
                        <a:rPr lang="es-ES" sz="12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200" dirty="0">
                        <a:solidFill>
                          <a:srgbClr val="4F81BD"/>
                        </a:solidFill>
                        <a:latin typeface="Calibri"/>
                        <a:ea typeface="Calibri"/>
                        <a:cs typeface="Calibri"/>
                        <a:sym typeface="Calibri"/>
                      </a:endParaRP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public</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CategoriaUnidad</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Categoria</a:t>
                      </a:r>
                      <a:endParaRPr lang="es-ES" sz="1200" dirty="0">
                        <a:solidFill>
                          <a:srgbClr val="4F81BD"/>
                        </a:solidFill>
                        <a:latin typeface="Calibri"/>
                        <a:ea typeface="Calibri"/>
                        <a:cs typeface="Calibri"/>
                        <a:sym typeface="Calibri"/>
                      </a:endParaRP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get</a:t>
                      </a:r>
                      <a:r>
                        <a:rPr lang="es-ES" sz="1200" dirty="0">
                          <a:solidFill>
                            <a:srgbClr val="4F81BD"/>
                          </a:solidFill>
                          <a:latin typeface="Calibri"/>
                          <a:ea typeface="Calibri"/>
                          <a:cs typeface="Calibri"/>
                          <a:sym typeface="Calibri"/>
                        </a:rPr>
                        <a:t> { </a:t>
                      </a:r>
                      <a:r>
                        <a:rPr lang="es-ES" sz="1200" dirty="0" err="1">
                          <a:solidFill>
                            <a:srgbClr val="4F81BD"/>
                          </a:solidFill>
                          <a:latin typeface="Calibri"/>
                          <a:ea typeface="Calibri"/>
                          <a:cs typeface="Calibri"/>
                          <a:sym typeface="Calibri"/>
                        </a:rPr>
                        <a:t>return</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CategoriaUnidad.Temperatura</a:t>
                      </a:r>
                      <a:r>
                        <a:rPr lang="es-ES" sz="12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200" dirty="0">
                        <a:solidFill>
                          <a:srgbClr val="4F81BD"/>
                        </a:solidFill>
                        <a:latin typeface="Calibri"/>
                        <a:ea typeface="Calibri"/>
                        <a:cs typeface="Calibri"/>
                        <a:sym typeface="Calibri"/>
                      </a:endParaRP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public</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bool</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EsUnidadValida</a:t>
                      </a:r>
                      <a:r>
                        <a:rPr lang="es-ES" sz="1200" dirty="0">
                          <a:solidFill>
                            <a:srgbClr val="4F81BD"/>
                          </a:solidFill>
                          <a:latin typeface="Calibri"/>
                          <a:ea typeface="Calibri"/>
                          <a:cs typeface="Calibri"/>
                          <a:sym typeface="Calibri"/>
                        </a:rPr>
                        <a:t>(</a:t>
                      </a:r>
                      <a:r>
                        <a:rPr lang="es-ES" sz="1200" dirty="0" err="1">
                          <a:solidFill>
                            <a:srgbClr val="4F81BD"/>
                          </a:solidFill>
                          <a:latin typeface="Calibri"/>
                          <a:ea typeface="Calibri"/>
                          <a:cs typeface="Calibri"/>
                          <a:sym typeface="Calibri"/>
                        </a:rPr>
                        <a:t>string</a:t>
                      </a:r>
                      <a:r>
                        <a:rPr lang="es-ES" sz="1200" dirty="0">
                          <a:solidFill>
                            <a:srgbClr val="4F81BD"/>
                          </a:solidFill>
                          <a:latin typeface="Calibri"/>
                          <a:ea typeface="Calibri"/>
                          <a:cs typeface="Calibri"/>
                          <a:sym typeface="Calibri"/>
                        </a:rPr>
                        <a:t> unidad)</a:t>
                      </a: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string</a:t>
                      </a:r>
                      <a:r>
                        <a:rPr lang="es-ES" sz="1200" dirty="0">
                          <a:solidFill>
                            <a:srgbClr val="4F81BD"/>
                          </a:solidFill>
                          <a:latin typeface="Calibri"/>
                          <a:ea typeface="Calibri"/>
                          <a:cs typeface="Calibri"/>
                          <a:sym typeface="Calibri"/>
                        </a:rPr>
                        <a:t> clave = Normalizar(unidad);</a:t>
                      </a: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return</a:t>
                      </a:r>
                      <a:r>
                        <a:rPr lang="es-ES" sz="1200" dirty="0">
                          <a:solidFill>
                            <a:srgbClr val="4F81BD"/>
                          </a:solidFill>
                          <a:latin typeface="Calibri"/>
                          <a:ea typeface="Calibri"/>
                          <a:cs typeface="Calibri"/>
                          <a:sym typeface="Calibri"/>
                        </a:rPr>
                        <a:t> clave != </a:t>
                      </a:r>
                      <a:r>
                        <a:rPr lang="es-ES" sz="1200" dirty="0" err="1">
                          <a:solidFill>
                            <a:srgbClr val="4F81BD"/>
                          </a:solidFill>
                          <a:latin typeface="Calibri"/>
                          <a:ea typeface="Calibri"/>
                          <a:cs typeface="Calibri"/>
                          <a:sym typeface="Calibri"/>
                        </a:rPr>
                        <a:t>null</a:t>
                      </a:r>
                      <a:r>
                        <a:rPr lang="es-ES" sz="1200" dirty="0">
                          <a:solidFill>
                            <a:srgbClr val="4F81BD"/>
                          </a:solidFill>
                          <a:latin typeface="Calibri"/>
                          <a:ea typeface="Calibri"/>
                          <a:cs typeface="Calibri"/>
                          <a:sym typeface="Calibri"/>
                        </a:rPr>
                        <a:t> &amp;&amp; </a:t>
                      </a:r>
                      <a:r>
                        <a:rPr lang="es-ES" sz="1200" dirty="0" err="1">
                          <a:solidFill>
                            <a:srgbClr val="4F81BD"/>
                          </a:solidFill>
                          <a:latin typeface="Calibri"/>
                          <a:ea typeface="Calibri"/>
                          <a:cs typeface="Calibri"/>
                          <a:sym typeface="Calibri"/>
                        </a:rPr>
                        <a:t>unidades.ContainsKey</a:t>
                      </a:r>
                      <a:r>
                        <a:rPr lang="es-ES" sz="1200" dirty="0">
                          <a:solidFill>
                            <a:srgbClr val="4F81BD"/>
                          </a:solidFill>
                          <a:latin typeface="Calibri"/>
                          <a:ea typeface="Calibri"/>
                          <a:cs typeface="Calibri"/>
                          <a:sym typeface="Calibri"/>
                        </a:rPr>
                        <a:t>(clave);</a:t>
                      </a: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p>
                    <a:p>
                      <a:pPr marL="0" lvl="0" indent="0" algn="l" rtl="0">
                        <a:spcBef>
                          <a:spcPts val="0"/>
                        </a:spcBef>
                        <a:spcAft>
                          <a:spcPts val="0"/>
                        </a:spcAft>
                        <a:buNone/>
                      </a:pPr>
                      <a:endParaRPr sz="10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3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78" name="Google Shape;278;p35"/>
          <p:cNvSpPr txBox="1">
            <a:spLocks noGrp="1"/>
          </p:cNvSpPr>
          <p:nvPr>
            <p:ph type="body" idx="1"/>
          </p:nvPr>
        </p:nvSpPr>
        <p:spPr>
          <a:xfrm>
            <a:off x="581200" y="3037175"/>
            <a:ext cx="2132400" cy="2605800"/>
          </a:xfrm>
          <a:prstGeom prst="rect">
            <a:avLst/>
          </a:prstGeom>
          <a:noFill/>
          <a:ln>
            <a:noFill/>
          </a:ln>
        </p:spPr>
        <p:txBody>
          <a:bodyPr spcFirstLastPara="1" wrap="square" lIns="91425" tIns="45700" rIns="91425" bIns="45700" anchor="ctr" anchorCtr="0">
            <a:noAutofit/>
          </a:bodyPr>
          <a:lstStyle/>
          <a:p>
            <a:pPr marL="0" lvl="0" indent="0" algn="just" rtl="0">
              <a:lnSpc>
                <a:spcPct val="107000"/>
              </a:lnSpc>
              <a:spcBef>
                <a:spcPts val="0"/>
              </a:spcBef>
              <a:spcAft>
                <a:spcPts val="0"/>
              </a:spcAft>
              <a:buNone/>
            </a:pPr>
            <a:r>
              <a:rPr lang="es-ES" sz="1400" dirty="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400" dirty="0">
              <a:latin typeface="Cambria"/>
              <a:ea typeface="Cambria"/>
              <a:cs typeface="Cambria"/>
              <a:sym typeface="Cambria"/>
            </a:endParaRPr>
          </a:p>
        </p:txBody>
      </p:sp>
      <p:sp>
        <p:nvSpPr>
          <p:cNvPr id="279" name="Google Shape;279;p3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280" name="Google Shape;280;p35"/>
          <p:cNvGraphicFramePr/>
          <p:nvPr>
            <p:extLst>
              <p:ext uri="{D42A27DB-BD31-4B8C-83A1-F6EECF244321}">
                <p14:modId xmlns:p14="http://schemas.microsoft.com/office/powerpoint/2010/main" val="2674062956"/>
              </p:ext>
            </p:extLst>
          </p:nvPr>
        </p:nvGraphicFramePr>
        <p:xfrm>
          <a:off x="2891513" y="1838175"/>
          <a:ext cx="6647903" cy="4851400"/>
        </p:xfrm>
        <a:graphic>
          <a:graphicData uri="http://schemas.openxmlformats.org/drawingml/2006/table">
            <a:tbl>
              <a:tblPr>
                <a:noFill/>
                <a:tableStyleId>{BF136021-7255-42B7-A7E7-87A8D8FFE9CA}</a:tableStyleId>
              </a:tblPr>
              <a:tblGrid>
                <a:gridCol w="6647903">
                  <a:extLst>
                    <a:ext uri="{9D8B030D-6E8A-4147-A177-3AD203B41FA5}">
                      <a16:colId xmlns:a16="http://schemas.microsoft.com/office/drawing/2014/main" val="20000"/>
                    </a:ext>
                  </a:extLst>
                </a:gridCol>
              </a:tblGrid>
              <a:tr h="954503">
                <a:tc>
                  <a:txBody>
                    <a:bodyPr/>
                    <a:lstStyle/>
                    <a:p>
                      <a:pPr marL="0" lvl="0" indent="0" algn="l" rtl="0">
                        <a:spcBef>
                          <a:spcPts val="0"/>
                        </a:spcBef>
                        <a:spcAft>
                          <a:spcPts val="0"/>
                        </a:spcAft>
                        <a:buNone/>
                      </a:pPr>
                      <a:r>
                        <a:rPr lang="es-ES" sz="1000" dirty="0" err="1">
                          <a:solidFill>
                            <a:srgbClr val="4F81BD"/>
                          </a:solidFill>
                          <a:latin typeface="Calibri"/>
                          <a:ea typeface="Calibri"/>
                          <a:cs typeface="Calibri"/>
                          <a:sym typeface="Calibri"/>
                        </a:rPr>
                        <a:t>private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RegistroConversores</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conversores = new </a:t>
                      </a:r>
                      <a:r>
                        <a:rPr lang="es-ES" sz="1000" dirty="0" err="1">
                          <a:solidFill>
                            <a:srgbClr val="4F81BD"/>
                          </a:solidFill>
                          <a:latin typeface="Calibri"/>
                          <a:ea typeface="Calibri"/>
                          <a:cs typeface="Calibri"/>
                          <a:sym typeface="Calibri"/>
                        </a:rPr>
                        <a:t>Dictionary</a:t>
                      </a:r>
                      <a:r>
                        <a:rPr lang="es-ES" sz="1000" dirty="0">
                          <a:solidFill>
                            <a:srgbClr val="4F81BD"/>
                          </a:solidFill>
                          <a:latin typeface="Calibri"/>
                          <a:ea typeface="Calibri"/>
                          <a:cs typeface="Calibri"/>
                          <a:sym typeface="Calibri"/>
                        </a:rPr>
                        <a:t>&lt;</a:t>
                      </a:r>
                      <a:r>
                        <a:rPr lang="es-ES" sz="1000" dirty="0" err="1">
                          <a:solidFill>
                            <a:srgbClr val="4F81BD"/>
                          </a:solidFill>
                          <a:latin typeface="Calibri"/>
                          <a:ea typeface="Calibri"/>
                          <a:cs typeface="Calibri"/>
                          <a:sym typeface="Calibri"/>
                        </a:rPr>
                        <a:t>CategoriaUnidad</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IConversorUnidad</a:t>
                      </a:r>
                      <a:r>
                        <a:rPr lang="es-ES" sz="1000" dirty="0">
                          <a:solidFill>
                            <a:srgbClr val="4F81BD"/>
                          </a:solidFill>
                          <a:latin typeface="Calibri"/>
                          <a:ea typeface="Calibri"/>
                          <a:cs typeface="Calibri"/>
                          <a:sym typeface="Calibri"/>
                        </a:rPr>
                        <a:t>&gt;();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Registrar(new </a:t>
                      </a:r>
                      <a:r>
                        <a:rPr lang="es-ES" sz="1000" dirty="0" err="1">
                          <a:solidFill>
                            <a:srgbClr val="4F81BD"/>
                          </a:solidFill>
                          <a:latin typeface="Calibri"/>
                          <a:ea typeface="Calibri"/>
                          <a:cs typeface="Calibri"/>
                          <a:sym typeface="Calibri"/>
                        </a:rPr>
                        <a:t>ConversorTemperatura</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Registrar(new </a:t>
                      </a:r>
                      <a:r>
                        <a:rPr lang="es-ES" sz="1000" dirty="0" err="1">
                          <a:solidFill>
                            <a:srgbClr val="4F81BD"/>
                          </a:solidFill>
                          <a:latin typeface="Calibri"/>
                          <a:ea typeface="Calibri"/>
                          <a:cs typeface="Calibri"/>
                          <a:sym typeface="Calibri"/>
                        </a:rPr>
                        <a:t>ConversorLongitud</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Registrar(new </a:t>
                      </a:r>
                      <a:r>
                        <a:rPr lang="es-ES" sz="1000" dirty="0" err="1">
                          <a:solidFill>
                            <a:srgbClr val="4F81BD"/>
                          </a:solidFill>
                          <a:latin typeface="Calibri"/>
                          <a:ea typeface="Calibri"/>
                          <a:cs typeface="Calibri"/>
                          <a:sym typeface="Calibri"/>
                        </a:rPr>
                        <a:t>ConversorMasa</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static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RegistroConversores</a:t>
                      </a:r>
                      <a:r>
                        <a:rPr lang="es-ES" sz="1000" dirty="0">
                          <a:solidFill>
                            <a:srgbClr val="4F81BD"/>
                          </a:solidFill>
                          <a:latin typeface="Calibri"/>
                          <a:ea typeface="Calibri"/>
                          <a:cs typeface="Calibri"/>
                          <a:sym typeface="Calibri"/>
                        </a:rPr>
                        <a:t> Actual</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get</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InstanciaCompartida</a:t>
                      </a: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void</a:t>
                      </a:r>
                      <a:r>
                        <a:rPr lang="es-ES" sz="1000" dirty="0">
                          <a:solidFill>
                            <a:srgbClr val="4F81BD"/>
                          </a:solidFill>
                          <a:latin typeface="Calibri"/>
                          <a:ea typeface="Calibri"/>
                          <a:cs typeface="Calibri"/>
                          <a:sym typeface="Calibri"/>
                        </a:rPr>
                        <a:t> Registrar(</a:t>
                      </a:r>
                      <a:r>
                        <a:rPr lang="es-ES" sz="1000" dirty="0" err="1">
                          <a:solidFill>
                            <a:srgbClr val="4F81BD"/>
                          </a:solidFill>
                          <a:latin typeface="Calibri"/>
                          <a:ea typeface="Calibri"/>
                          <a:cs typeface="Calibri"/>
                          <a:sym typeface="Calibri"/>
                        </a:rPr>
                        <a:t>IConversorUnidad</a:t>
                      </a:r>
                      <a:r>
                        <a:rPr lang="es-ES" sz="1000" dirty="0">
                          <a:solidFill>
                            <a:srgbClr val="4F81BD"/>
                          </a:solidFill>
                          <a:latin typeface="Calibri"/>
                          <a:ea typeface="Calibri"/>
                          <a:cs typeface="Calibri"/>
                          <a:sym typeface="Calibri"/>
                        </a:rPr>
                        <a:t> conversor)</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if</a:t>
                      </a:r>
                      <a:r>
                        <a:rPr lang="es-ES" sz="1000" dirty="0">
                          <a:solidFill>
                            <a:srgbClr val="4F81BD"/>
                          </a:solidFill>
                          <a:latin typeface="Calibri"/>
                          <a:ea typeface="Calibri"/>
                          <a:cs typeface="Calibri"/>
                          <a:sym typeface="Calibri"/>
                        </a:rPr>
                        <a:t> (conversor == </a:t>
                      </a:r>
                      <a:r>
                        <a:rPr lang="es-ES" sz="1000" dirty="0" err="1">
                          <a:solidFill>
                            <a:srgbClr val="4F81BD"/>
                          </a:solidFill>
                          <a:latin typeface="Calibri"/>
                          <a:ea typeface="Calibri"/>
                          <a:cs typeface="Calibri"/>
                          <a:sym typeface="Calibri"/>
                        </a:rPr>
                        <a:t>null</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throw</a:t>
                      </a:r>
                      <a:r>
                        <a:rPr lang="es-ES" sz="1000" dirty="0">
                          <a:solidFill>
                            <a:srgbClr val="4F81BD"/>
                          </a:solidFill>
                          <a:latin typeface="Calibri"/>
                          <a:ea typeface="Calibri"/>
                          <a:cs typeface="Calibri"/>
                          <a:sym typeface="Calibri"/>
                        </a:rPr>
                        <a:t> new </a:t>
                      </a:r>
                      <a:r>
                        <a:rPr lang="es-ES" sz="1000" dirty="0" err="1">
                          <a:solidFill>
                            <a:srgbClr val="4F81BD"/>
                          </a:solidFill>
                          <a:latin typeface="Calibri"/>
                          <a:ea typeface="Calibri"/>
                          <a:cs typeface="Calibri"/>
                          <a:sym typeface="Calibri"/>
                        </a:rPr>
                        <a:t>ArgumentNullException</a:t>
                      </a:r>
                      <a:r>
                        <a:rPr lang="es-ES" sz="1000" dirty="0">
                          <a:solidFill>
                            <a:srgbClr val="4F81BD"/>
                          </a:solidFill>
                          <a:latin typeface="Calibri"/>
                          <a:ea typeface="Calibri"/>
                          <a:cs typeface="Calibri"/>
                          <a:sym typeface="Calibri"/>
                        </a:rPr>
                        <a:t>("conversor");</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conversores[</a:t>
                      </a:r>
                      <a:r>
                        <a:rPr lang="es-ES" sz="1000" dirty="0" err="1">
                          <a:solidFill>
                            <a:srgbClr val="4F81BD"/>
                          </a:solidFill>
                          <a:latin typeface="Calibri"/>
                          <a:ea typeface="Calibri"/>
                          <a:cs typeface="Calibri"/>
                          <a:sym typeface="Calibri"/>
                        </a:rPr>
                        <a:t>conversor.Categoria</a:t>
                      </a:r>
                      <a:r>
                        <a:rPr lang="es-ES" sz="1000" dirty="0">
                          <a:solidFill>
                            <a:srgbClr val="4F81BD"/>
                          </a:solidFill>
                          <a:latin typeface="Calibri"/>
                          <a:ea typeface="Calibri"/>
                          <a:cs typeface="Calibri"/>
                          <a:sym typeface="Calibri"/>
                        </a:rPr>
                        <a:t>] = conversor;</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IConversorUnidad</a:t>
                      </a:r>
                      <a:r>
                        <a:rPr lang="es-ES" sz="1000" dirty="0">
                          <a:solidFill>
                            <a:srgbClr val="4F81BD"/>
                          </a:solidFill>
                          <a:latin typeface="Calibri"/>
                          <a:ea typeface="Calibri"/>
                          <a:cs typeface="Calibri"/>
                          <a:sym typeface="Calibri"/>
                        </a:rPr>
                        <a:t> Obtener(</a:t>
                      </a:r>
                      <a:r>
                        <a:rPr lang="es-ES" sz="1000" dirty="0" err="1">
                          <a:solidFill>
                            <a:srgbClr val="4F81BD"/>
                          </a:solidFill>
                          <a:latin typeface="Calibri"/>
                          <a:ea typeface="Calibri"/>
                          <a:cs typeface="Calibri"/>
                          <a:sym typeface="Calibri"/>
                        </a:rPr>
                        <a:t>CategoriaUnidad</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categoria</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IConversorUnidad</a:t>
                      </a:r>
                      <a:r>
                        <a:rPr lang="es-ES" sz="1000" dirty="0">
                          <a:solidFill>
                            <a:srgbClr val="4F81BD"/>
                          </a:solidFill>
                          <a:latin typeface="Calibri"/>
                          <a:ea typeface="Calibri"/>
                          <a:cs typeface="Calibri"/>
                          <a:sym typeface="Calibri"/>
                        </a:rPr>
                        <a:t> conversor;</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if</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conversores.TryGetValue</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categoria</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out</a:t>
                      </a:r>
                      <a:r>
                        <a:rPr lang="es-ES" sz="1000" dirty="0">
                          <a:solidFill>
                            <a:srgbClr val="4F81BD"/>
                          </a:solidFill>
                          <a:latin typeface="Calibri"/>
                          <a:ea typeface="Calibri"/>
                          <a:cs typeface="Calibri"/>
                          <a:sym typeface="Calibri"/>
                        </a:rPr>
                        <a:t> conversor))</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throw</a:t>
                      </a:r>
                      <a:r>
                        <a:rPr lang="es-ES" sz="1000" dirty="0">
                          <a:solidFill>
                            <a:srgbClr val="4F81BD"/>
                          </a:solidFill>
                          <a:latin typeface="Calibri"/>
                          <a:ea typeface="Calibri"/>
                          <a:cs typeface="Calibri"/>
                          <a:sym typeface="Calibri"/>
                        </a:rPr>
                        <a:t> new </a:t>
                      </a:r>
                      <a:r>
                        <a:rPr lang="es-ES" sz="1000" dirty="0" err="1">
                          <a:solidFill>
                            <a:srgbClr val="4F81BD"/>
                          </a:solidFill>
                          <a:latin typeface="Calibri"/>
                          <a:ea typeface="Calibri"/>
                          <a:cs typeface="Calibri"/>
                          <a:sym typeface="Calibri"/>
                        </a:rPr>
                        <a:t>ArgumentOutOfRangeException</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categoria</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string.Format</a:t>
                      </a:r>
                      <a:r>
                        <a:rPr lang="es-ES" sz="1000" dirty="0">
                          <a:solidFill>
                            <a:srgbClr val="4F81BD"/>
                          </a:solidFill>
                          <a:latin typeface="Calibri"/>
                          <a:ea typeface="Calibri"/>
                          <a:cs typeface="Calibri"/>
                          <a:sym typeface="Calibri"/>
                        </a:rPr>
                        <a:t>("No existe un conversor registrado para la categoría '{0}'.", </a:t>
                      </a:r>
                      <a:r>
                        <a:rPr lang="es-ES" sz="1000" dirty="0" err="1">
                          <a:solidFill>
                            <a:srgbClr val="4F81BD"/>
                          </a:solidFill>
                          <a:latin typeface="Calibri"/>
                          <a:ea typeface="Calibri"/>
                          <a:cs typeface="Calibri"/>
                          <a:sym typeface="Calibri"/>
                        </a:rPr>
                        <a:t>categoria</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conversor;</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a:t>
                      </a:r>
                      <a:endParaRPr sz="8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86" name="Google Shape;286;p36"/>
          <p:cNvSpPr txBox="1">
            <a:spLocks noGrp="1"/>
          </p:cNvSpPr>
          <p:nvPr>
            <p:ph type="body" idx="1"/>
          </p:nvPr>
        </p:nvSpPr>
        <p:spPr>
          <a:xfrm>
            <a:off x="581200" y="3037175"/>
            <a:ext cx="2132400" cy="2605800"/>
          </a:xfrm>
          <a:prstGeom prst="rect">
            <a:avLst/>
          </a:prstGeom>
          <a:noFill/>
          <a:ln>
            <a:noFill/>
          </a:ln>
        </p:spPr>
        <p:txBody>
          <a:bodyPr spcFirstLastPara="1" wrap="square" lIns="91425" tIns="45700" rIns="91425" bIns="45700" anchor="ctr" anchorCtr="0">
            <a:normAutofit/>
          </a:bodyPr>
          <a:lstStyle/>
          <a:p>
            <a:pPr marL="0" lvl="0" indent="0" algn="just" rtl="0">
              <a:lnSpc>
                <a:spcPct val="107000"/>
              </a:lnSpc>
              <a:spcBef>
                <a:spcPts val="0"/>
              </a:spcBef>
              <a:spcAft>
                <a:spcPts val="0"/>
              </a:spcAft>
              <a:buNone/>
            </a:pPr>
            <a:r>
              <a:rPr lang="es-ES" sz="1400" dirty="0">
                <a:latin typeface="Cambria"/>
                <a:ea typeface="Cambria"/>
                <a:cs typeface="Cambria"/>
                <a:sym typeface="Cambria"/>
              </a:rPr>
              <a:t>Aplicando una interfaz con el fin de hacer que el servicio pueda inyectar cualquier tipo de conversión sin limitarse a uno en concreto como se puede ver en la Tabla del Servicio</a:t>
            </a:r>
            <a:endParaRPr sz="1400" dirty="0">
              <a:latin typeface="Cambria"/>
              <a:ea typeface="Cambria"/>
              <a:cs typeface="Cambria"/>
              <a:sym typeface="Cambria"/>
            </a:endParaRPr>
          </a:p>
        </p:txBody>
      </p:sp>
      <p:sp>
        <p:nvSpPr>
          <p:cNvPr id="287" name="Google Shape;287;p3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288" name="Google Shape;288;p36"/>
          <p:cNvGraphicFramePr/>
          <p:nvPr>
            <p:extLst>
              <p:ext uri="{D42A27DB-BD31-4B8C-83A1-F6EECF244321}">
                <p14:modId xmlns:p14="http://schemas.microsoft.com/office/powerpoint/2010/main" val="2840730751"/>
              </p:ext>
            </p:extLst>
          </p:nvPr>
        </p:nvGraphicFramePr>
        <p:xfrm>
          <a:off x="3017311" y="3429000"/>
          <a:ext cx="6062675" cy="195580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1160900">
                <a:tc>
                  <a:txBody>
                    <a:bodyPr/>
                    <a:lstStyle/>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public</a:t>
                      </a:r>
                      <a:r>
                        <a:rPr lang="es-ES" sz="1200" dirty="0">
                          <a:solidFill>
                            <a:srgbClr val="4F81BD"/>
                          </a:solidFill>
                          <a:latin typeface="Calibri"/>
                          <a:ea typeface="Calibri"/>
                          <a:cs typeface="Calibri"/>
                          <a:sym typeface="Calibri"/>
                        </a:rPr>
                        <a:t> interface </a:t>
                      </a:r>
                      <a:r>
                        <a:rPr lang="es-ES" sz="1200" dirty="0" err="1">
                          <a:solidFill>
                            <a:srgbClr val="4F81BD"/>
                          </a:solidFill>
                          <a:latin typeface="Calibri"/>
                          <a:ea typeface="Calibri"/>
                          <a:cs typeface="Calibri"/>
                          <a:sym typeface="Calibri"/>
                        </a:rPr>
                        <a:t>IConversorUnidad</a:t>
                      </a:r>
                      <a:endParaRPr lang="es-ES" sz="1200" dirty="0">
                        <a:solidFill>
                          <a:srgbClr val="4F81BD"/>
                        </a:solidFill>
                        <a:latin typeface="Calibri"/>
                        <a:ea typeface="Calibri"/>
                        <a:cs typeface="Calibri"/>
                        <a:sym typeface="Calibri"/>
                      </a:endParaRP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CategoriaUnidad</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Categoria</a:t>
                      </a:r>
                      <a:r>
                        <a:rPr lang="es-ES" sz="1200" dirty="0">
                          <a:solidFill>
                            <a:srgbClr val="4F81BD"/>
                          </a:solidFill>
                          <a:latin typeface="Calibri"/>
                          <a:ea typeface="Calibri"/>
                          <a:cs typeface="Calibri"/>
                          <a:sym typeface="Calibri"/>
                        </a:rPr>
                        <a:t> { </a:t>
                      </a:r>
                      <a:r>
                        <a:rPr lang="es-ES" sz="1200" dirty="0" err="1">
                          <a:solidFill>
                            <a:srgbClr val="4F81BD"/>
                          </a:solidFill>
                          <a:latin typeface="Calibri"/>
                          <a:ea typeface="Calibri"/>
                          <a:cs typeface="Calibri"/>
                          <a:sym typeface="Calibri"/>
                        </a:rPr>
                        <a:t>get</a:t>
                      </a:r>
                      <a:r>
                        <a:rPr lang="es-ES" sz="12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200" dirty="0">
                        <a:solidFill>
                          <a:srgbClr val="4F81BD"/>
                        </a:solidFill>
                        <a:latin typeface="Calibri"/>
                        <a:ea typeface="Calibri"/>
                        <a:cs typeface="Calibri"/>
                        <a:sym typeface="Calibri"/>
                      </a:endParaRP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bool</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EsUnidadValida</a:t>
                      </a:r>
                      <a:r>
                        <a:rPr lang="es-ES" sz="1200" dirty="0">
                          <a:solidFill>
                            <a:srgbClr val="4F81BD"/>
                          </a:solidFill>
                          <a:latin typeface="Calibri"/>
                          <a:ea typeface="Calibri"/>
                          <a:cs typeface="Calibri"/>
                          <a:sym typeface="Calibri"/>
                        </a:rPr>
                        <a:t>(</a:t>
                      </a:r>
                      <a:r>
                        <a:rPr lang="es-ES" sz="1200" dirty="0" err="1">
                          <a:solidFill>
                            <a:srgbClr val="4F81BD"/>
                          </a:solidFill>
                          <a:latin typeface="Calibri"/>
                          <a:ea typeface="Calibri"/>
                          <a:cs typeface="Calibri"/>
                          <a:sym typeface="Calibri"/>
                        </a:rPr>
                        <a:t>string</a:t>
                      </a:r>
                      <a:r>
                        <a:rPr lang="es-ES" sz="1200" dirty="0">
                          <a:solidFill>
                            <a:srgbClr val="4F81BD"/>
                          </a:solidFill>
                          <a:latin typeface="Calibri"/>
                          <a:ea typeface="Calibri"/>
                          <a:cs typeface="Calibri"/>
                          <a:sym typeface="Calibri"/>
                        </a:rPr>
                        <a:t> unidad);</a:t>
                      </a:r>
                    </a:p>
                    <a:p>
                      <a:pPr marL="0" lvl="0" indent="0" algn="l" rtl="0">
                        <a:spcBef>
                          <a:spcPts val="0"/>
                        </a:spcBef>
                        <a:spcAft>
                          <a:spcPts val="0"/>
                        </a:spcAft>
                        <a:buNone/>
                      </a:pPr>
                      <a:endParaRPr lang="es-ES" sz="1200" dirty="0">
                        <a:solidFill>
                          <a:srgbClr val="4F81BD"/>
                        </a:solidFill>
                        <a:latin typeface="Calibri"/>
                        <a:ea typeface="Calibri"/>
                        <a:cs typeface="Calibri"/>
                        <a:sym typeface="Calibri"/>
                      </a:endParaRP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double</a:t>
                      </a:r>
                      <a:r>
                        <a:rPr lang="es-ES" sz="1200" dirty="0">
                          <a:solidFill>
                            <a:srgbClr val="4F81BD"/>
                          </a:solidFill>
                          <a:latin typeface="Calibri"/>
                          <a:ea typeface="Calibri"/>
                          <a:cs typeface="Calibri"/>
                          <a:sym typeface="Calibri"/>
                        </a:rPr>
                        <a:t> Convertir(</a:t>
                      </a:r>
                      <a:r>
                        <a:rPr lang="es-ES" sz="1200" dirty="0" err="1">
                          <a:solidFill>
                            <a:srgbClr val="4F81BD"/>
                          </a:solidFill>
                          <a:latin typeface="Calibri"/>
                          <a:ea typeface="Calibri"/>
                          <a:cs typeface="Calibri"/>
                          <a:sym typeface="Calibri"/>
                        </a:rPr>
                        <a:t>string</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unidadOrigen</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string</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unidadDestino</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double</a:t>
                      </a:r>
                      <a:r>
                        <a:rPr lang="es-ES" sz="1200" dirty="0">
                          <a:solidFill>
                            <a:srgbClr val="4F81BD"/>
                          </a:solidFill>
                          <a:latin typeface="Calibri"/>
                          <a:ea typeface="Calibri"/>
                          <a:cs typeface="Calibri"/>
                          <a:sym typeface="Calibri"/>
                        </a:rPr>
                        <a:t> valor);</a:t>
                      </a:r>
                    </a:p>
                    <a:p>
                      <a:pPr marL="0" lvl="0" indent="0" algn="l" rtl="0">
                        <a:spcBef>
                          <a:spcPts val="0"/>
                        </a:spcBef>
                        <a:spcAft>
                          <a:spcPts val="0"/>
                        </a:spcAft>
                        <a:buNone/>
                      </a:pPr>
                      <a:endParaRPr lang="es-ES" sz="1200" dirty="0">
                        <a:solidFill>
                          <a:srgbClr val="4F81BD"/>
                        </a:solidFill>
                        <a:latin typeface="Calibri"/>
                        <a:ea typeface="Calibri"/>
                        <a:cs typeface="Calibri"/>
                        <a:sym typeface="Calibri"/>
                      </a:endParaRP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void</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ValidarRango</a:t>
                      </a:r>
                      <a:r>
                        <a:rPr lang="es-ES" sz="1200" dirty="0">
                          <a:solidFill>
                            <a:srgbClr val="4F81BD"/>
                          </a:solidFill>
                          <a:latin typeface="Calibri"/>
                          <a:ea typeface="Calibri"/>
                          <a:cs typeface="Calibri"/>
                          <a:sym typeface="Calibri"/>
                        </a:rPr>
                        <a:t>(</a:t>
                      </a:r>
                      <a:r>
                        <a:rPr lang="es-ES" sz="1200" dirty="0" err="1">
                          <a:solidFill>
                            <a:srgbClr val="4F81BD"/>
                          </a:solidFill>
                          <a:latin typeface="Calibri"/>
                          <a:ea typeface="Calibri"/>
                          <a:cs typeface="Calibri"/>
                          <a:sym typeface="Calibri"/>
                        </a:rPr>
                        <a:t>string</a:t>
                      </a:r>
                      <a:r>
                        <a:rPr lang="es-ES" sz="1200" dirty="0">
                          <a:solidFill>
                            <a:srgbClr val="4F81BD"/>
                          </a:solidFill>
                          <a:latin typeface="Calibri"/>
                          <a:ea typeface="Calibri"/>
                          <a:cs typeface="Calibri"/>
                          <a:sym typeface="Calibri"/>
                        </a:rPr>
                        <a:t> unidad, </a:t>
                      </a:r>
                      <a:r>
                        <a:rPr lang="es-ES" sz="1200" dirty="0" err="1">
                          <a:solidFill>
                            <a:srgbClr val="4F81BD"/>
                          </a:solidFill>
                          <a:latin typeface="Calibri"/>
                          <a:ea typeface="Calibri"/>
                          <a:cs typeface="Calibri"/>
                          <a:sym typeface="Calibri"/>
                        </a:rPr>
                        <a:t>double</a:t>
                      </a:r>
                      <a:r>
                        <a:rPr lang="es-ES" sz="1200" dirty="0">
                          <a:solidFill>
                            <a:srgbClr val="4F81BD"/>
                          </a:solidFill>
                          <a:latin typeface="Calibri"/>
                          <a:ea typeface="Calibri"/>
                          <a:cs typeface="Calibri"/>
                          <a:sym typeface="Calibri"/>
                        </a:rPr>
                        <a:t> valor);</a:t>
                      </a: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endParaRPr sz="12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3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94" name="Google Shape;294;p37"/>
          <p:cNvSpPr txBox="1">
            <a:spLocks noGrp="1"/>
          </p:cNvSpPr>
          <p:nvPr>
            <p:ph type="body" idx="1"/>
          </p:nvPr>
        </p:nvSpPr>
        <p:spPr>
          <a:xfrm>
            <a:off x="490582" y="2007528"/>
            <a:ext cx="3323537" cy="45588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785"/>
              <a:buChar char="∙"/>
            </a:pPr>
            <a:r>
              <a:rPr lang="es-ES" sz="1600" b="1" dirty="0">
                <a:latin typeface="Cambria"/>
                <a:ea typeface="Cambria"/>
                <a:cs typeface="Cambria"/>
                <a:sym typeface="Cambria"/>
              </a:rPr>
              <a:t>1.2.6 	Ejecución en Servidor</a:t>
            </a:r>
            <a:endParaRPr sz="1600" dirty="0">
              <a:latin typeface="Cambria"/>
              <a:ea typeface="Cambria"/>
              <a:cs typeface="Cambria"/>
              <a:sym typeface="Cambria"/>
            </a:endParaRPr>
          </a:p>
          <a:p>
            <a:pPr marL="342900" lvl="0" indent="-323850" algn="just">
              <a:lnSpc>
                <a:spcPct val="107000"/>
              </a:lnSpc>
              <a:spcBef>
                <a:spcPts val="0"/>
              </a:spcBef>
              <a:buSzPts val="1356"/>
              <a:buFont typeface="Cambria"/>
              <a:buChar char="∙"/>
            </a:pPr>
            <a:r>
              <a:rPr lang="es-ES" sz="1600" dirty="0">
                <a:latin typeface="Cambria"/>
                <a:ea typeface="Cambria"/>
                <a:cs typeface="Cambria"/>
                <a:sym typeface="Cambria"/>
              </a:rPr>
              <a:t>Se ejecuta el programa corriendo en nuestro servidor IIS y se comprueba que el contrato WSDL esté correcto en la ruta: </a:t>
            </a:r>
          </a:p>
          <a:p>
            <a:pPr marL="342900" lvl="0" indent="-323850" algn="just">
              <a:lnSpc>
                <a:spcPct val="107000"/>
              </a:lnSpc>
              <a:spcBef>
                <a:spcPts val="0"/>
              </a:spcBef>
              <a:buSzPts val="1356"/>
              <a:buFont typeface="Cambria"/>
              <a:buChar char="∙"/>
            </a:pPr>
            <a:endParaRPr lang="es-ES" sz="1600" dirty="0">
              <a:latin typeface="Cambria"/>
              <a:ea typeface="Cambria"/>
              <a:cs typeface="Cambria"/>
              <a:sym typeface="Cambria"/>
            </a:endParaRPr>
          </a:p>
          <a:p>
            <a:pPr marL="342900" lvl="0" indent="-323850" algn="just">
              <a:lnSpc>
                <a:spcPct val="107000"/>
              </a:lnSpc>
              <a:spcBef>
                <a:spcPts val="0"/>
              </a:spcBef>
              <a:buSzPts val="1356"/>
              <a:buFont typeface="Cambria"/>
              <a:buChar char="∙"/>
            </a:pPr>
            <a:r>
              <a:rPr lang="es-ES" sz="1600" i="1" dirty="0">
                <a:solidFill>
                  <a:schemeClr val="accent1">
                    <a:lumMod val="60000"/>
                    <a:lumOff val="40000"/>
                  </a:schemeClr>
                </a:solidFill>
                <a:latin typeface="Cambria"/>
                <a:ea typeface="Cambria"/>
                <a:cs typeface="Cambria"/>
                <a:sym typeface="Cambria"/>
              </a:rPr>
              <a:t>http://localhost:49159/Servicios/ServicioConversionUnidades.svc?wsdl</a:t>
            </a:r>
            <a:endParaRPr sz="1800" dirty="0">
              <a:latin typeface="Cambria"/>
              <a:ea typeface="Cambria"/>
              <a:cs typeface="Cambria"/>
              <a:sym typeface="Cambria"/>
            </a:endParaRPr>
          </a:p>
        </p:txBody>
      </p:sp>
      <p:sp>
        <p:nvSpPr>
          <p:cNvPr id="295" name="Google Shape;295;p3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pic>
        <p:nvPicPr>
          <p:cNvPr id="4" name="Picture 3">
            <a:extLst>
              <a:ext uri="{FF2B5EF4-FFF2-40B4-BE49-F238E27FC236}">
                <a16:creationId xmlns:a16="http://schemas.microsoft.com/office/drawing/2014/main" id="{91A05828-D6DF-C98C-F5AE-EE4C379C241D}"/>
              </a:ext>
            </a:extLst>
          </p:cNvPr>
          <p:cNvPicPr>
            <a:picLocks noChangeAspect="1"/>
          </p:cNvPicPr>
          <p:nvPr/>
        </p:nvPicPr>
        <p:blipFill>
          <a:blip r:embed="rId3"/>
          <a:stretch>
            <a:fillRect/>
          </a:stretch>
        </p:blipFill>
        <p:spPr>
          <a:xfrm>
            <a:off x="3936687" y="2293867"/>
            <a:ext cx="5313461" cy="313486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38"/>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OBJETIVO</a:t>
            </a:r>
            <a:endParaRPr sz="1400" b="0" i="0" u="none" strike="noStrike" cap="none" dirty="0">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chemeClr val="accent2"/>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SERVIDOR SOAP</a:t>
            </a:r>
            <a:endParaRPr sz="1400" b="0" i="0" u="none" strike="noStrike" cap="none" dirty="0">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MOVIL</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02" name="Google Shape;302;p3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DESARROLLO</a:t>
            </a:r>
            <a:endParaRPr dirty="0"/>
          </a:p>
        </p:txBody>
      </p:sp>
      <p:sp>
        <p:nvSpPr>
          <p:cNvPr id="303" name="Google Shape;303;p38"/>
          <p:cNvSpPr txBox="1">
            <a:spLocks noGrp="1"/>
          </p:cNvSpPr>
          <p:nvPr>
            <p:ph type="body" idx="1"/>
          </p:nvPr>
        </p:nvSpPr>
        <p:spPr>
          <a:xfrm>
            <a:off x="498873" y="1713397"/>
            <a:ext cx="8581500" cy="1471595"/>
          </a:xfrm>
          <a:prstGeom prst="rect">
            <a:avLst/>
          </a:prstGeom>
          <a:noFill/>
          <a:ln>
            <a:noFill/>
          </a:ln>
        </p:spPr>
        <p:txBody>
          <a:bodyPr spcFirstLastPara="1" wrap="square" lIns="91425" tIns="45700" rIns="91425" bIns="45700" anchor="ctr" anchorCtr="0">
            <a:noAutofit/>
          </a:bodyPr>
          <a:lstStyle/>
          <a:p>
            <a:pPr marL="0" lvl="0" indent="0" algn="just" rtl="0">
              <a:lnSpc>
                <a:spcPct val="115000"/>
              </a:lnSpc>
              <a:spcBef>
                <a:spcPts val="1200"/>
              </a:spcBef>
              <a:spcAft>
                <a:spcPts val="0"/>
              </a:spcAft>
              <a:buClr>
                <a:schemeClr val="dk1"/>
              </a:buClr>
              <a:buSzPct val="70332"/>
              <a:buFont typeface="Arial"/>
              <a:buNone/>
            </a:pPr>
            <a:r>
              <a:rPr lang="es-MX" sz="1400" b="1" dirty="0">
                <a:latin typeface="Cambria"/>
                <a:ea typeface="Cambria"/>
                <a:cs typeface="Cambria"/>
                <a:sym typeface="Cambria"/>
              </a:rPr>
              <a:t>1.3  CREACIÓN DEL PROYECTO CLIENTE CONSOLA</a:t>
            </a:r>
          </a:p>
          <a:p>
            <a:pPr marL="422426" lvl="0" indent="-285750" algn="just" rtl="0">
              <a:lnSpc>
                <a:spcPct val="115000"/>
              </a:lnSpc>
              <a:spcBef>
                <a:spcPts val="0"/>
              </a:spcBef>
              <a:spcAft>
                <a:spcPts val="0"/>
              </a:spcAft>
              <a:buSzPct val="100064"/>
              <a:buFont typeface="Arial" panose="020B0604020202020204" pitchFamily="34" charset="0"/>
              <a:buChar char="•"/>
            </a:pPr>
            <a:r>
              <a:rPr lang="es-MX" sz="1400" dirty="0">
                <a:latin typeface="Cambria"/>
                <a:ea typeface="Cambria"/>
                <a:cs typeface="Cambria"/>
                <a:sym typeface="Cambria"/>
              </a:rPr>
              <a:t>Para el cliente consola se uso Visual Studio en el cual se debe crear un nuevo proyecto para ello se seleccionó al momento de crear un proyecto, el tipo “Aplicación de consola”</a:t>
            </a:r>
          </a:p>
          <a:p>
            <a:pPr marL="422426" lvl="0" indent="-285750" algn="just" rtl="0">
              <a:lnSpc>
                <a:spcPct val="115000"/>
              </a:lnSpc>
              <a:spcBef>
                <a:spcPts val="0"/>
              </a:spcBef>
              <a:spcAft>
                <a:spcPts val="0"/>
              </a:spcAft>
              <a:buSzPct val="100064"/>
              <a:buFont typeface="Arial" panose="020B0604020202020204" pitchFamily="34" charset="0"/>
              <a:buChar char="•"/>
            </a:pPr>
            <a:r>
              <a:rPr lang="es-MX" sz="1400" dirty="0">
                <a:latin typeface="Cambria"/>
                <a:ea typeface="Cambria"/>
                <a:cs typeface="Cambria"/>
                <a:sym typeface="Cambria"/>
              </a:rPr>
              <a:t>Se asigna un nombre al proyecto, se da una </a:t>
            </a:r>
            <a:r>
              <a:rPr lang="es-MX" sz="1400" dirty="0" err="1">
                <a:latin typeface="Cambria"/>
                <a:ea typeface="Cambria"/>
                <a:cs typeface="Cambria"/>
                <a:sym typeface="Cambria"/>
              </a:rPr>
              <a:t>ubicacion</a:t>
            </a:r>
            <a:r>
              <a:rPr lang="es-MX" sz="1400" dirty="0">
                <a:latin typeface="Cambria"/>
                <a:ea typeface="Cambria"/>
                <a:cs typeface="Cambria"/>
                <a:sym typeface="Cambria"/>
              </a:rPr>
              <a:t>, y se configura cada carpeta conforme el patrón arquitectónico MVC</a:t>
            </a:r>
            <a:endParaRPr sz="1400" dirty="0">
              <a:latin typeface="Cambria"/>
              <a:ea typeface="Cambria"/>
              <a:cs typeface="Cambria"/>
              <a:sym typeface="Cambria"/>
            </a:endParaRPr>
          </a:p>
        </p:txBody>
      </p:sp>
      <p:pic>
        <p:nvPicPr>
          <p:cNvPr id="4" name="Picture 3">
            <a:extLst>
              <a:ext uri="{FF2B5EF4-FFF2-40B4-BE49-F238E27FC236}">
                <a16:creationId xmlns:a16="http://schemas.microsoft.com/office/drawing/2014/main" id="{99895D50-25B0-75C5-720E-AF18EFAD5D11}"/>
              </a:ext>
            </a:extLst>
          </p:cNvPr>
          <p:cNvPicPr>
            <a:picLocks noChangeAspect="1"/>
          </p:cNvPicPr>
          <p:nvPr/>
        </p:nvPicPr>
        <p:blipFill>
          <a:blip r:embed="rId3"/>
          <a:stretch>
            <a:fillRect/>
          </a:stretch>
        </p:blipFill>
        <p:spPr>
          <a:xfrm>
            <a:off x="498873" y="3381445"/>
            <a:ext cx="4665369" cy="2869324"/>
          </a:xfrm>
          <a:prstGeom prst="rect">
            <a:avLst/>
          </a:prstGeom>
        </p:spPr>
      </p:pic>
      <p:pic>
        <p:nvPicPr>
          <p:cNvPr id="9" name="Picture 8">
            <a:extLst>
              <a:ext uri="{FF2B5EF4-FFF2-40B4-BE49-F238E27FC236}">
                <a16:creationId xmlns:a16="http://schemas.microsoft.com/office/drawing/2014/main" id="{B64ABE4D-79AC-0C70-ED83-7E735E166313}"/>
              </a:ext>
            </a:extLst>
          </p:cNvPr>
          <p:cNvPicPr>
            <a:picLocks noChangeAspect="1"/>
          </p:cNvPicPr>
          <p:nvPr/>
        </p:nvPicPr>
        <p:blipFill>
          <a:blip r:embed="rId4"/>
          <a:stretch>
            <a:fillRect/>
          </a:stretch>
        </p:blipFill>
        <p:spPr>
          <a:xfrm>
            <a:off x="6176021" y="3182532"/>
            <a:ext cx="2465472" cy="3430702"/>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3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OBJETIVO</a:t>
            </a:r>
            <a:endParaRPr sz="1400" b="0" i="0" u="none" strike="noStrike" cap="none" dirty="0">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chemeClr val="accent2"/>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SERVIDOR SOAP</a:t>
            </a:r>
            <a:endParaRPr sz="1400" b="0" i="0" u="none" strike="noStrike" cap="none" dirty="0">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MOVIL</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11" name="Google Shape;311;p3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12" name="Google Shape;312;p39"/>
          <p:cNvSpPr txBox="1">
            <a:spLocks noGrp="1"/>
          </p:cNvSpPr>
          <p:nvPr>
            <p:ph type="body" idx="1"/>
          </p:nvPr>
        </p:nvSpPr>
        <p:spPr>
          <a:xfrm>
            <a:off x="581192" y="1785292"/>
            <a:ext cx="8581500" cy="2149500"/>
          </a:xfrm>
          <a:prstGeom prst="rect">
            <a:avLst/>
          </a:prstGeom>
          <a:noFill/>
          <a:ln>
            <a:noFill/>
          </a:ln>
        </p:spPr>
        <p:txBody>
          <a:bodyPr spcFirstLastPara="1" wrap="square" lIns="91425" tIns="45700" rIns="91425" bIns="45700" anchor="ctr" anchorCtr="0">
            <a:normAutofit/>
          </a:bodyPr>
          <a:lstStyle/>
          <a:p>
            <a:pPr marL="415036" indent="-285750">
              <a:lnSpc>
                <a:spcPct val="115000"/>
              </a:lnSpc>
              <a:spcBef>
                <a:spcPts val="0"/>
              </a:spcBef>
              <a:buSzPts val="1564"/>
              <a:buFont typeface="Arial" panose="020B0604020202020204" pitchFamily="34" charset="0"/>
              <a:buChar char="•"/>
            </a:pPr>
            <a:r>
              <a:rPr lang="es-ES" sz="1564" dirty="0">
                <a:latin typeface="Cambria"/>
                <a:ea typeface="Cambria"/>
                <a:cs typeface="Cambria"/>
                <a:sym typeface="Cambria"/>
              </a:rPr>
              <a:t>Una vez que se creó el proyecto se debe generar las diferentes carpetas, donde se colocarán los archivos con código fuente, se deberá ejecutar utilizando el compilador de visual </a:t>
            </a:r>
            <a:r>
              <a:rPr lang="es-ES" sz="1564" dirty="0" err="1">
                <a:latin typeface="Cambria"/>
                <a:ea typeface="Cambria"/>
                <a:cs typeface="Cambria"/>
                <a:sym typeface="Cambria"/>
              </a:rPr>
              <a:t>studio</a:t>
            </a:r>
            <a:endParaRPr sz="1564" dirty="0">
              <a:latin typeface="Cambria"/>
              <a:ea typeface="Cambria"/>
              <a:cs typeface="Cambria"/>
              <a:sym typeface="Cambria"/>
            </a:endParaRPr>
          </a:p>
          <a:p>
            <a:pPr marL="0" lvl="0" indent="0" algn="l" rtl="0">
              <a:lnSpc>
                <a:spcPct val="115000"/>
              </a:lnSpc>
              <a:spcBef>
                <a:spcPts val="1200"/>
              </a:spcBef>
              <a:spcAft>
                <a:spcPts val="1200"/>
              </a:spcAft>
              <a:buSzPts val="1656"/>
              <a:buNone/>
            </a:pPr>
            <a:endParaRPr sz="1670" dirty="0">
              <a:latin typeface="Cambria"/>
              <a:ea typeface="Cambria"/>
              <a:cs typeface="Cambria"/>
              <a:sym typeface="Cambria"/>
            </a:endParaRPr>
          </a:p>
        </p:txBody>
      </p:sp>
      <p:pic>
        <p:nvPicPr>
          <p:cNvPr id="2" name="Picture 1">
            <a:extLst>
              <a:ext uri="{FF2B5EF4-FFF2-40B4-BE49-F238E27FC236}">
                <a16:creationId xmlns:a16="http://schemas.microsoft.com/office/drawing/2014/main" id="{93EA493C-2DB8-6587-1AFB-CF72483D8EE8}"/>
              </a:ext>
            </a:extLst>
          </p:cNvPr>
          <p:cNvPicPr>
            <a:picLocks noChangeAspect="1"/>
          </p:cNvPicPr>
          <p:nvPr/>
        </p:nvPicPr>
        <p:blipFill>
          <a:blip r:embed="rId3"/>
          <a:stretch>
            <a:fillRect/>
          </a:stretch>
        </p:blipFill>
        <p:spPr>
          <a:xfrm>
            <a:off x="1108089" y="3001299"/>
            <a:ext cx="2465472" cy="3430702"/>
          </a:xfrm>
          <a:prstGeom prst="rect">
            <a:avLst/>
          </a:prstGeom>
        </p:spPr>
      </p:pic>
      <p:pic>
        <p:nvPicPr>
          <p:cNvPr id="5" name="Picture 4">
            <a:extLst>
              <a:ext uri="{FF2B5EF4-FFF2-40B4-BE49-F238E27FC236}">
                <a16:creationId xmlns:a16="http://schemas.microsoft.com/office/drawing/2014/main" id="{6AA33E47-75D2-8FAD-EDBD-3EC77B9C4D3D}"/>
              </a:ext>
            </a:extLst>
          </p:cNvPr>
          <p:cNvPicPr>
            <a:picLocks noChangeAspect="1"/>
          </p:cNvPicPr>
          <p:nvPr/>
        </p:nvPicPr>
        <p:blipFill>
          <a:blip r:embed="rId4"/>
          <a:stretch>
            <a:fillRect/>
          </a:stretch>
        </p:blipFill>
        <p:spPr>
          <a:xfrm>
            <a:off x="3762403" y="4004228"/>
            <a:ext cx="5400289" cy="74233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4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19" name="Google Shape;319;p40"/>
          <p:cNvSpPr txBox="1">
            <a:spLocks noGrp="1"/>
          </p:cNvSpPr>
          <p:nvPr>
            <p:ph type="body" idx="1"/>
          </p:nvPr>
        </p:nvSpPr>
        <p:spPr>
          <a:xfrm>
            <a:off x="581200" y="1876275"/>
            <a:ext cx="2132400" cy="47013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400" dirty="0">
                <a:solidFill>
                  <a:schemeClr val="dk1"/>
                </a:solidFill>
                <a:latin typeface="Calibri"/>
                <a:ea typeface="Calibri"/>
                <a:cs typeface="Calibri"/>
                <a:sym typeface="Calibri"/>
              </a:rPr>
              <a:t>A continuación se detallarán las clases principales con su código fuente.</a:t>
            </a:r>
            <a:endParaRPr sz="1400" dirty="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400" dirty="0">
              <a:latin typeface="Cambria"/>
              <a:ea typeface="Cambria"/>
              <a:cs typeface="Cambria"/>
              <a:sym typeface="Cambria"/>
            </a:endParaRPr>
          </a:p>
        </p:txBody>
      </p:sp>
      <p:sp>
        <p:nvSpPr>
          <p:cNvPr id="320" name="Google Shape;320;p4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321" name="Google Shape;321;p40"/>
          <p:cNvGraphicFramePr/>
          <p:nvPr>
            <p:extLst>
              <p:ext uri="{D42A27DB-BD31-4B8C-83A1-F6EECF244321}">
                <p14:modId xmlns:p14="http://schemas.microsoft.com/office/powerpoint/2010/main" val="1677508001"/>
              </p:ext>
            </p:extLst>
          </p:nvPr>
        </p:nvGraphicFramePr>
        <p:xfrm>
          <a:off x="2998075" y="1854200"/>
          <a:ext cx="6195850" cy="5003800"/>
        </p:xfrm>
        <a:graphic>
          <a:graphicData uri="http://schemas.openxmlformats.org/drawingml/2006/table">
            <a:tbl>
              <a:tblPr>
                <a:noFill/>
                <a:tableStyleId>{BF136021-7255-42B7-A7E7-87A8D8FFE9CA}</a:tableStyleId>
              </a:tblPr>
              <a:tblGrid>
                <a:gridCol w="6195850">
                  <a:extLst>
                    <a:ext uri="{9D8B030D-6E8A-4147-A177-3AD203B41FA5}">
                      <a16:colId xmlns:a16="http://schemas.microsoft.com/office/drawing/2014/main" val="20000"/>
                    </a:ext>
                  </a:extLst>
                </a:gridCol>
              </a:tblGrid>
              <a:tr h="4895228">
                <a:tc>
                  <a:txBody>
                    <a:bodyPr/>
                    <a:lstStyle/>
                    <a:p>
                      <a:pPr marL="0" lvl="0" indent="0" algn="l" rtl="0">
                        <a:spcBef>
                          <a:spcPts val="0"/>
                        </a:spcBef>
                        <a:spcAft>
                          <a:spcPts val="0"/>
                        </a:spcAft>
                        <a:buClr>
                          <a:schemeClr val="dk1"/>
                        </a:buClr>
                        <a:buSzPts val="1100"/>
                        <a:buFont typeface="Arial"/>
                        <a:buNone/>
                      </a:pPr>
                      <a:r>
                        <a:rPr lang="es-ES" sz="1000" dirty="0" err="1">
                          <a:solidFill>
                            <a:srgbClr val="4F81BD"/>
                          </a:solidFill>
                          <a:latin typeface="Calibri"/>
                          <a:ea typeface="Calibri"/>
                          <a:cs typeface="Calibri"/>
                          <a:sym typeface="Calibri"/>
                        </a:rPr>
                        <a:t>using</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Microsoft.Extensions.Configuration</a:t>
                      </a:r>
                      <a:r>
                        <a:rPr lang="es-ES" sz="10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000" dirty="0" err="1">
                          <a:solidFill>
                            <a:srgbClr val="4F81BD"/>
                          </a:solidFill>
                          <a:latin typeface="Calibri"/>
                          <a:ea typeface="Calibri"/>
                          <a:cs typeface="Calibri"/>
                          <a:sym typeface="Calibri"/>
                        </a:rPr>
                        <a:t>namespace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ClienteConsolaConversion.Configuracion</a:t>
                      </a:r>
                      <a:endParaRPr lang="es-ES" sz="1000" dirty="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class</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ConfiguracionCliente</a:t>
                      </a:r>
                      <a:endParaRPr lang="es-ES" sz="1000" dirty="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const</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UrlEndpointPorDefecto</a:t>
                      </a:r>
                      <a:r>
                        <a:rPr lang="es-ES" sz="1000" dirty="0">
                          <a:solidFill>
                            <a:srgbClr val="4F81BD"/>
                          </a:solidFill>
                          <a:latin typeface="Calibri"/>
                          <a:ea typeface="Calibri"/>
                          <a:cs typeface="Calibri"/>
                          <a:sym typeface="Calibri"/>
                        </a:rPr>
                        <a:t> =  "http://localhost:49159/Servicios/</a:t>
                      </a:r>
                      <a:r>
                        <a:rPr lang="es-ES" sz="1000" dirty="0" err="1">
                          <a:solidFill>
                            <a:srgbClr val="4F81BD"/>
                          </a:solidFill>
                          <a:latin typeface="Calibri"/>
                          <a:ea typeface="Calibri"/>
                          <a:cs typeface="Calibri"/>
                          <a:sym typeface="Calibri"/>
                        </a:rPr>
                        <a:t>ServicioConversionUnidades.svc</a:t>
                      </a:r>
                      <a:r>
                        <a:rPr lang="es-ES" sz="10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UrlEndpoint</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get</a:t>
                      </a:r>
                      <a:r>
                        <a:rPr lang="es-ES" sz="10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private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ConfiguracionCliente</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urlEndpoint</a:t>
                      </a:r>
                      <a:r>
                        <a:rPr lang="es-ES" sz="10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UrlEndpoint</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urlEndpoint</a:t>
                      </a:r>
                      <a:r>
                        <a:rPr lang="es-ES" sz="10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static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ConfiguracionCliente</a:t>
                      </a:r>
                      <a:r>
                        <a:rPr lang="es-ES" sz="1000" dirty="0">
                          <a:solidFill>
                            <a:srgbClr val="4F81BD"/>
                          </a:solidFill>
                          <a:latin typeface="Calibri"/>
                          <a:ea typeface="Calibri"/>
                          <a:cs typeface="Calibri"/>
                          <a:sym typeface="Calibri"/>
                        </a:rPr>
                        <a:t> Cargar()</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urlEndpoint</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null</a:t>
                      </a:r>
                      <a:r>
                        <a:rPr lang="es-ES" sz="10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try</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IConfiguration</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configuracion</a:t>
                      </a:r>
                      <a:r>
                        <a:rPr lang="es-ES" sz="1000" dirty="0">
                          <a:solidFill>
                            <a:srgbClr val="4F81BD"/>
                          </a:solidFill>
                          <a:latin typeface="Calibri"/>
                          <a:ea typeface="Calibri"/>
                          <a:cs typeface="Calibri"/>
                          <a:sym typeface="Calibri"/>
                        </a:rPr>
                        <a:t> = new </a:t>
                      </a:r>
                      <a:r>
                        <a:rPr lang="es-ES" sz="1000" dirty="0" err="1">
                          <a:solidFill>
                            <a:srgbClr val="4F81BD"/>
                          </a:solidFill>
                          <a:latin typeface="Calibri"/>
                          <a:ea typeface="Calibri"/>
                          <a:cs typeface="Calibri"/>
                          <a:sym typeface="Calibri"/>
                        </a:rPr>
                        <a:t>ConfigurationBuilder</a:t>
                      </a:r>
                      <a:r>
                        <a:rPr lang="es-ES" sz="10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SetBasePath</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AppContext.BaseDirectory</a:t>
                      </a:r>
                      <a:r>
                        <a:rPr lang="es-ES" sz="10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AddJsonFile</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appsettings.json</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optional</a:t>
                      </a:r>
                      <a:r>
                        <a:rPr lang="es-ES" sz="1000" dirty="0">
                          <a:solidFill>
                            <a:srgbClr val="4F81BD"/>
                          </a:solidFill>
                          <a:latin typeface="Calibri"/>
                          <a:ea typeface="Calibri"/>
                          <a:cs typeface="Calibri"/>
                          <a:sym typeface="Calibri"/>
                        </a:rPr>
                        <a:t>: true, </a:t>
                      </a:r>
                      <a:r>
                        <a:rPr lang="es-ES" sz="1000" dirty="0" err="1">
                          <a:solidFill>
                            <a:srgbClr val="4F81BD"/>
                          </a:solidFill>
                          <a:latin typeface="Calibri"/>
                          <a:ea typeface="Calibri"/>
                          <a:cs typeface="Calibri"/>
                          <a:sym typeface="Calibri"/>
                        </a:rPr>
                        <a:t>reloadOnChange</a:t>
                      </a:r>
                      <a:r>
                        <a:rPr lang="es-ES" sz="1000" dirty="0">
                          <a:solidFill>
                            <a:srgbClr val="4F81BD"/>
                          </a:solidFill>
                          <a:latin typeface="Calibri"/>
                          <a:ea typeface="Calibri"/>
                          <a:cs typeface="Calibri"/>
                          <a:sym typeface="Calibri"/>
                        </a:rPr>
                        <a:t>: false)</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Build</a:t>
                      </a:r>
                      <a:r>
                        <a:rPr lang="es-ES" sz="10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urlEndpoint</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configuracion</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Servicio:UrlEndpoint</a:t>
                      </a:r>
                      <a:r>
                        <a:rPr lang="es-ES" sz="10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catch (</a:t>
                      </a:r>
                      <a:r>
                        <a:rPr lang="es-ES" sz="1000" dirty="0" err="1">
                          <a:solidFill>
                            <a:srgbClr val="4F81BD"/>
                          </a:solidFill>
                          <a:latin typeface="Calibri"/>
                          <a:ea typeface="Calibri"/>
                          <a:cs typeface="Calibri"/>
                          <a:sym typeface="Calibri"/>
                        </a:rPr>
                        <a:t>Exception</a:t>
                      </a:r>
                      <a:r>
                        <a:rPr lang="es-ES" sz="10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 Si el archivo no se puede leer se usa el </a:t>
                      </a:r>
                      <a:r>
                        <a:rPr lang="es-ES" sz="1000" dirty="0" err="1">
                          <a:solidFill>
                            <a:srgbClr val="4F81BD"/>
                          </a:solidFill>
                          <a:latin typeface="Calibri"/>
                          <a:ea typeface="Calibri"/>
                          <a:cs typeface="Calibri"/>
                          <a:sym typeface="Calibri"/>
                        </a:rPr>
                        <a:t>endpoint</a:t>
                      </a:r>
                      <a:r>
                        <a:rPr lang="es-ES" sz="1000" dirty="0">
                          <a:solidFill>
                            <a:srgbClr val="4F81BD"/>
                          </a:solidFill>
                          <a:latin typeface="Calibri"/>
                          <a:ea typeface="Calibri"/>
                          <a:cs typeface="Calibri"/>
                          <a:sym typeface="Calibri"/>
                        </a:rPr>
                        <a:t> por defecto.</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new </a:t>
                      </a:r>
                      <a:r>
                        <a:rPr lang="es-ES" sz="1000" dirty="0" err="1">
                          <a:solidFill>
                            <a:srgbClr val="4F81BD"/>
                          </a:solidFill>
                          <a:latin typeface="Calibri"/>
                          <a:ea typeface="Calibri"/>
                          <a:cs typeface="Calibri"/>
                          <a:sym typeface="Calibri"/>
                        </a:rPr>
                        <a:t>ConfiguracionCliente</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urlEndpoint.Trim</a:t>
                      </a:r>
                      <a:r>
                        <a:rPr lang="es-ES" sz="10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a:t>
                      </a: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4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28" name="Google Shape;328;p4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329" name="Google Shape;329;p41"/>
          <p:cNvGraphicFramePr/>
          <p:nvPr>
            <p:extLst>
              <p:ext uri="{D42A27DB-BD31-4B8C-83A1-F6EECF244321}">
                <p14:modId xmlns:p14="http://schemas.microsoft.com/office/powerpoint/2010/main" val="2297810163"/>
              </p:ext>
            </p:extLst>
          </p:nvPr>
        </p:nvGraphicFramePr>
        <p:xfrm>
          <a:off x="2898722" y="2418012"/>
          <a:ext cx="6062675" cy="3566293"/>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3566293">
                <a:tc>
                  <a:txBody>
                    <a:bodyPr/>
                    <a:lstStyle/>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public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class</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SesionActual</a:t>
                      </a:r>
                      <a:endParaRPr lang="es-ES" sz="1100" dirty="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public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string</a:t>
                      </a:r>
                      <a:r>
                        <a:rPr lang="es-ES" sz="1100" dirty="0">
                          <a:solidFill>
                            <a:srgbClr val="4F81BD"/>
                          </a:solidFill>
                          <a:latin typeface="Calibri"/>
                          <a:ea typeface="Calibri"/>
                          <a:cs typeface="Calibri"/>
                          <a:sym typeface="Calibri"/>
                        </a:rPr>
                        <a:t>? Token { </a:t>
                      </a:r>
                      <a:r>
                        <a:rPr lang="es-ES" sz="1100" dirty="0" err="1">
                          <a:solidFill>
                            <a:srgbClr val="4F81BD"/>
                          </a:solidFill>
                          <a:latin typeface="Calibri"/>
                          <a:ea typeface="Calibri"/>
                          <a:cs typeface="Calibri"/>
                          <a:sym typeface="Calibri"/>
                        </a:rPr>
                        <a:t>get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private</a:t>
                      </a:r>
                      <a:r>
                        <a:rPr lang="es-ES" sz="1100" dirty="0">
                          <a:solidFill>
                            <a:srgbClr val="4F81BD"/>
                          </a:solidFill>
                          <a:latin typeface="Calibri"/>
                          <a:ea typeface="Calibri"/>
                          <a:cs typeface="Calibri"/>
                          <a:sym typeface="Calibri"/>
                        </a:rPr>
                        <a:t> set; }</a:t>
                      </a:r>
                    </a:p>
                    <a:p>
                      <a:pPr marL="0" lvl="0" indent="0" algn="l" rtl="0">
                        <a:spcBef>
                          <a:spcPts val="0"/>
                        </a:spcBef>
                        <a:spcAft>
                          <a:spcPts val="0"/>
                        </a:spcAft>
                        <a:buClr>
                          <a:schemeClr val="dk1"/>
                        </a:buClr>
                        <a:buSzPts val="1100"/>
                        <a:buFont typeface="Arial"/>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public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string</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NombreUsuario</a:t>
                      </a:r>
                      <a:r>
                        <a:rPr lang="es-ES" sz="1100" dirty="0">
                          <a:solidFill>
                            <a:srgbClr val="4F81BD"/>
                          </a:solidFill>
                          <a:latin typeface="Calibri"/>
                          <a:ea typeface="Calibri"/>
                          <a:cs typeface="Calibri"/>
                          <a:sym typeface="Calibri"/>
                        </a:rPr>
                        <a:t> { </a:t>
                      </a:r>
                      <a:r>
                        <a:rPr lang="es-ES" sz="1100" dirty="0" err="1">
                          <a:solidFill>
                            <a:srgbClr val="4F81BD"/>
                          </a:solidFill>
                          <a:latin typeface="Calibri"/>
                          <a:ea typeface="Calibri"/>
                          <a:cs typeface="Calibri"/>
                          <a:sym typeface="Calibri"/>
                        </a:rPr>
                        <a:t>get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private</a:t>
                      </a:r>
                      <a:r>
                        <a:rPr lang="es-ES" sz="1100" dirty="0">
                          <a:solidFill>
                            <a:srgbClr val="4F81BD"/>
                          </a:solidFill>
                          <a:latin typeface="Calibri"/>
                          <a:ea typeface="Calibri"/>
                          <a:cs typeface="Calibri"/>
                          <a:sym typeface="Calibri"/>
                        </a:rPr>
                        <a:t> set; }</a:t>
                      </a:r>
                    </a:p>
                    <a:p>
                      <a:pPr marL="0" lvl="0" indent="0" algn="l" rtl="0">
                        <a:spcBef>
                          <a:spcPts val="0"/>
                        </a:spcBef>
                        <a:spcAft>
                          <a:spcPts val="0"/>
                        </a:spcAft>
                        <a:buClr>
                          <a:schemeClr val="dk1"/>
                        </a:buClr>
                        <a:buSzPts val="1100"/>
                        <a:buFont typeface="Arial"/>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public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bool</a:t>
                      </a:r>
                      <a:r>
                        <a:rPr lang="es-ES" sz="1100" dirty="0">
                          <a:solidFill>
                            <a:srgbClr val="4F81BD"/>
                          </a:solidFill>
                          <a:latin typeface="Calibri"/>
                          <a:ea typeface="Calibri"/>
                          <a:cs typeface="Calibri"/>
                          <a:sym typeface="Calibri"/>
                        </a:rPr>
                        <a:t> Autenticado =&gt; !</a:t>
                      </a:r>
                      <a:r>
                        <a:rPr lang="es-ES" sz="1100" dirty="0" err="1">
                          <a:solidFill>
                            <a:srgbClr val="4F81BD"/>
                          </a:solidFill>
                          <a:latin typeface="Calibri"/>
                          <a:ea typeface="Calibri"/>
                          <a:cs typeface="Calibri"/>
                          <a:sym typeface="Calibri"/>
                        </a:rPr>
                        <a:t>string.IsNullOrEmpty</a:t>
                      </a:r>
                      <a:r>
                        <a:rPr lang="es-ES" sz="1100" dirty="0">
                          <a:solidFill>
                            <a:srgbClr val="4F81BD"/>
                          </a:solidFill>
                          <a:latin typeface="Calibri"/>
                          <a:ea typeface="Calibri"/>
                          <a:cs typeface="Calibri"/>
                          <a:sym typeface="Calibri"/>
                        </a:rPr>
                        <a:t>(Token);</a:t>
                      </a:r>
                    </a:p>
                    <a:p>
                      <a:pPr marL="0" lvl="0" indent="0" algn="l" rtl="0">
                        <a:spcBef>
                          <a:spcPts val="0"/>
                        </a:spcBef>
                        <a:spcAft>
                          <a:spcPts val="0"/>
                        </a:spcAft>
                        <a:buClr>
                          <a:schemeClr val="dk1"/>
                        </a:buClr>
                        <a:buSzPts val="1100"/>
                        <a:buFont typeface="Arial"/>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public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void</a:t>
                      </a:r>
                      <a:r>
                        <a:rPr lang="es-ES" sz="1100" dirty="0">
                          <a:solidFill>
                            <a:srgbClr val="4F81BD"/>
                          </a:solidFill>
                          <a:latin typeface="Calibri"/>
                          <a:ea typeface="Calibri"/>
                          <a:cs typeface="Calibri"/>
                          <a:sym typeface="Calibri"/>
                        </a:rPr>
                        <a:t> Iniciar(</a:t>
                      </a:r>
                      <a:r>
                        <a:rPr lang="es-ES" sz="1100" dirty="0" err="1">
                          <a:solidFill>
                            <a:srgbClr val="4F81BD"/>
                          </a:solidFill>
                          <a:latin typeface="Calibri"/>
                          <a:ea typeface="Calibri"/>
                          <a:cs typeface="Calibri"/>
                          <a:sym typeface="Calibri"/>
                        </a:rPr>
                        <a:t>string</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nombreUsuario</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string</a:t>
                      </a:r>
                      <a:r>
                        <a:rPr lang="es-ES" sz="1100" dirty="0">
                          <a:solidFill>
                            <a:srgbClr val="4F81BD"/>
                          </a:solidFill>
                          <a:latin typeface="Calibri"/>
                          <a:ea typeface="Calibri"/>
                          <a:cs typeface="Calibri"/>
                          <a:sym typeface="Calibri"/>
                        </a:rPr>
                        <a:t> token)</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NombreUsuario</a:t>
                      </a:r>
                      <a:r>
                        <a:rPr lang="es-ES" sz="1100" dirty="0">
                          <a:solidFill>
                            <a:srgbClr val="4F81BD"/>
                          </a:solidFill>
                          <a:latin typeface="Calibri"/>
                          <a:ea typeface="Calibri"/>
                          <a:cs typeface="Calibri"/>
                          <a:sym typeface="Calibri"/>
                        </a:rPr>
                        <a:t> = </a:t>
                      </a:r>
                      <a:r>
                        <a:rPr lang="es-ES" sz="1100" dirty="0" err="1">
                          <a:solidFill>
                            <a:srgbClr val="4F81BD"/>
                          </a:solidFill>
                          <a:latin typeface="Calibri"/>
                          <a:ea typeface="Calibri"/>
                          <a:cs typeface="Calibri"/>
                          <a:sym typeface="Calibri"/>
                        </a:rPr>
                        <a:t>nombreUsuario</a:t>
                      </a:r>
                      <a:r>
                        <a:rPr lang="es-ES" sz="11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Token = token;</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public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void</a:t>
                      </a:r>
                      <a:r>
                        <a:rPr lang="es-ES" sz="1100" dirty="0">
                          <a:solidFill>
                            <a:srgbClr val="4F81BD"/>
                          </a:solidFill>
                          <a:latin typeface="Calibri"/>
                          <a:ea typeface="Calibri"/>
                          <a:cs typeface="Calibri"/>
                          <a:sym typeface="Calibri"/>
                        </a:rPr>
                        <a:t> Cerrar()</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NombreUsuario</a:t>
                      </a:r>
                      <a:r>
                        <a:rPr lang="es-ES" sz="1100" dirty="0">
                          <a:solidFill>
                            <a:srgbClr val="4F81BD"/>
                          </a:solidFill>
                          <a:latin typeface="Calibri"/>
                          <a:ea typeface="Calibri"/>
                          <a:cs typeface="Calibri"/>
                          <a:sym typeface="Calibri"/>
                        </a:rPr>
                        <a:t> = </a:t>
                      </a:r>
                      <a:r>
                        <a:rPr lang="es-ES" sz="1100" dirty="0" err="1">
                          <a:solidFill>
                            <a:srgbClr val="4F81BD"/>
                          </a:solidFill>
                          <a:latin typeface="Calibri"/>
                          <a:ea typeface="Calibri"/>
                          <a:cs typeface="Calibri"/>
                          <a:sym typeface="Calibri"/>
                        </a:rPr>
                        <a:t>null</a:t>
                      </a:r>
                      <a:r>
                        <a:rPr lang="es-ES" sz="11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Token = </a:t>
                      </a:r>
                      <a:r>
                        <a:rPr lang="es-ES" sz="1100" dirty="0" err="1">
                          <a:solidFill>
                            <a:srgbClr val="4F81BD"/>
                          </a:solidFill>
                          <a:latin typeface="Calibri"/>
                          <a:ea typeface="Calibri"/>
                          <a:cs typeface="Calibri"/>
                          <a:sym typeface="Calibri"/>
                        </a:rPr>
                        <a:t>null</a:t>
                      </a:r>
                      <a:r>
                        <a:rPr lang="es-ES" sz="11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a:t>
                      </a:r>
                    </a:p>
                  </a:txBody>
                  <a:tcPr marL="63500" marR="63500" marT="63500" marB="63500"/>
                </a:tc>
                <a:extLst>
                  <a:ext uri="{0D108BD9-81ED-4DB2-BD59-A6C34878D82A}">
                    <a16:rowId xmlns:a16="http://schemas.microsoft.com/office/drawing/2014/main" val="10000"/>
                  </a:ext>
                </a:extLst>
              </a:tr>
            </a:tbl>
          </a:graphicData>
        </a:graphic>
      </p:graphicFrame>
      <p:sp>
        <p:nvSpPr>
          <p:cNvPr id="5" name="Google Shape;319;p40">
            <a:extLst>
              <a:ext uri="{FF2B5EF4-FFF2-40B4-BE49-F238E27FC236}">
                <a16:creationId xmlns:a16="http://schemas.microsoft.com/office/drawing/2014/main" id="{2348F5FA-412C-637F-1F87-8B5060DD5713}"/>
              </a:ext>
            </a:extLst>
          </p:cNvPr>
          <p:cNvSpPr txBox="1">
            <a:spLocks noGrp="1"/>
          </p:cNvSpPr>
          <p:nvPr>
            <p:ph type="body" idx="1"/>
          </p:nvPr>
        </p:nvSpPr>
        <p:spPr>
          <a:xfrm>
            <a:off x="581200" y="1876275"/>
            <a:ext cx="2132400" cy="47013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400" dirty="0">
                <a:solidFill>
                  <a:schemeClr val="dk1"/>
                </a:solidFill>
                <a:latin typeface="Calibri"/>
                <a:ea typeface="Calibri"/>
                <a:cs typeface="Calibri"/>
                <a:sym typeface="Calibri"/>
              </a:rPr>
              <a:t>A continuación se detallarán las clases principales con su código fuente.</a:t>
            </a:r>
            <a:endParaRPr sz="1400" dirty="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400" dirty="0">
              <a:latin typeface="Cambria"/>
              <a:ea typeface="Cambria"/>
              <a:cs typeface="Cambria"/>
              <a:sym typeface="Cambri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4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36" name="Google Shape;336;p42"/>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337" name="Google Shape;337;p42"/>
          <p:cNvGraphicFramePr/>
          <p:nvPr>
            <p:extLst>
              <p:ext uri="{D42A27DB-BD31-4B8C-83A1-F6EECF244321}">
                <p14:modId xmlns:p14="http://schemas.microsoft.com/office/powerpoint/2010/main" val="502774610"/>
              </p:ext>
            </p:extLst>
          </p:nvPr>
        </p:nvGraphicFramePr>
        <p:xfrm>
          <a:off x="3258803" y="3352738"/>
          <a:ext cx="5439425" cy="1748374"/>
        </p:xfrm>
        <a:graphic>
          <a:graphicData uri="http://schemas.openxmlformats.org/drawingml/2006/table">
            <a:tbl>
              <a:tblPr>
                <a:noFill/>
                <a:tableStyleId>{BF136021-7255-42B7-A7E7-87A8D8FFE9CA}</a:tableStyleId>
              </a:tblPr>
              <a:tblGrid>
                <a:gridCol w="5439425">
                  <a:extLst>
                    <a:ext uri="{9D8B030D-6E8A-4147-A177-3AD203B41FA5}">
                      <a16:colId xmlns:a16="http://schemas.microsoft.com/office/drawing/2014/main" val="20000"/>
                    </a:ext>
                  </a:extLst>
                </a:gridCol>
              </a:tblGrid>
              <a:tr h="1748374">
                <a:tc>
                  <a:txBody>
                    <a:bodyPr/>
                    <a:lstStyle/>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pt-BR" sz="1100" dirty="0">
                          <a:solidFill>
                            <a:srgbClr val="4F81BD"/>
                          </a:solidFill>
                          <a:latin typeface="Calibri"/>
                          <a:ea typeface="Calibri"/>
                          <a:cs typeface="Calibri"/>
                          <a:sym typeface="Calibri"/>
                        </a:rPr>
                        <a:t> public enum CategoriaUnidad</a:t>
                      </a:r>
                    </a:p>
                    <a:p>
                      <a:pPr marL="0" lvl="0" indent="0" algn="l" rtl="0">
                        <a:spcBef>
                          <a:spcPts val="0"/>
                        </a:spcBef>
                        <a:spcAft>
                          <a:spcPts val="0"/>
                        </a:spcAft>
                        <a:buClr>
                          <a:schemeClr val="dk1"/>
                        </a:buClr>
                        <a:buSzPts val="1100"/>
                        <a:buFont typeface="Arial"/>
                        <a:buNone/>
                      </a:pPr>
                      <a:r>
                        <a:rPr lang="pt-BR" sz="11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pt-BR" sz="1100" dirty="0">
                          <a:solidFill>
                            <a:srgbClr val="4F81BD"/>
                          </a:solidFill>
                          <a:latin typeface="Calibri"/>
                          <a:ea typeface="Calibri"/>
                          <a:cs typeface="Calibri"/>
                          <a:sym typeface="Calibri"/>
                        </a:rPr>
                        <a:t>        Temperatura,</a:t>
                      </a:r>
                    </a:p>
                    <a:p>
                      <a:pPr marL="0" lvl="0" indent="0" algn="l" rtl="0">
                        <a:spcBef>
                          <a:spcPts val="0"/>
                        </a:spcBef>
                        <a:spcAft>
                          <a:spcPts val="0"/>
                        </a:spcAft>
                        <a:buClr>
                          <a:schemeClr val="dk1"/>
                        </a:buClr>
                        <a:buSzPts val="1100"/>
                        <a:buFont typeface="Arial"/>
                        <a:buNone/>
                      </a:pPr>
                      <a:r>
                        <a:rPr lang="pt-BR" sz="1100" dirty="0">
                          <a:solidFill>
                            <a:srgbClr val="4F81BD"/>
                          </a:solidFill>
                          <a:latin typeface="Calibri"/>
                          <a:ea typeface="Calibri"/>
                          <a:cs typeface="Calibri"/>
                          <a:sym typeface="Calibri"/>
                        </a:rPr>
                        <a:t>        Longitud,</a:t>
                      </a:r>
                    </a:p>
                    <a:p>
                      <a:pPr marL="0" lvl="0" indent="0" algn="l" rtl="0">
                        <a:spcBef>
                          <a:spcPts val="0"/>
                        </a:spcBef>
                        <a:spcAft>
                          <a:spcPts val="0"/>
                        </a:spcAft>
                        <a:buClr>
                          <a:schemeClr val="dk1"/>
                        </a:buClr>
                        <a:buSzPts val="1100"/>
                        <a:buFont typeface="Arial"/>
                        <a:buNone/>
                      </a:pPr>
                      <a:r>
                        <a:rPr lang="pt-BR" sz="1100" dirty="0">
                          <a:solidFill>
                            <a:srgbClr val="4F81BD"/>
                          </a:solidFill>
                          <a:latin typeface="Calibri"/>
                          <a:ea typeface="Calibri"/>
                          <a:cs typeface="Calibri"/>
                          <a:sym typeface="Calibri"/>
                        </a:rPr>
                        <a:t>        Masa</a:t>
                      </a:r>
                    </a:p>
                    <a:p>
                      <a:pPr marL="0" lvl="0" indent="0" algn="l" rtl="0">
                        <a:spcBef>
                          <a:spcPts val="0"/>
                        </a:spcBef>
                        <a:spcAft>
                          <a:spcPts val="0"/>
                        </a:spcAft>
                        <a:buClr>
                          <a:schemeClr val="dk1"/>
                        </a:buClr>
                        <a:buSzPts val="1100"/>
                        <a:buFont typeface="Arial"/>
                        <a:buNone/>
                      </a:pPr>
                      <a:r>
                        <a:rPr lang="pt-BR" sz="1100" dirty="0">
                          <a:solidFill>
                            <a:srgbClr val="4F81BD"/>
                          </a:solidFill>
                          <a:latin typeface="Calibri"/>
                          <a:ea typeface="Calibri"/>
                          <a:cs typeface="Calibri"/>
                          <a:sym typeface="Calibri"/>
                        </a:rPr>
                        <a:t>    }</a:t>
                      </a:r>
                      <a:endParaRPr sz="11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4" name="Google Shape;319;p40">
            <a:extLst>
              <a:ext uri="{FF2B5EF4-FFF2-40B4-BE49-F238E27FC236}">
                <a16:creationId xmlns:a16="http://schemas.microsoft.com/office/drawing/2014/main" id="{CB1440CD-484E-713C-F3FF-CC800025A4E3}"/>
              </a:ext>
            </a:extLst>
          </p:cNvPr>
          <p:cNvSpPr txBox="1">
            <a:spLocks noGrp="1"/>
          </p:cNvSpPr>
          <p:nvPr>
            <p:ph type="body" idx="1"/>
          </p:nvPr>
        </p:nvSpPr>
        <p:spPr>
          <a:xfrm>
            <a:off x="581200" y="1876275"/>
            <a:ext cx="2132400" cy="47013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400" dirty="0">
                <a:solidFill>
                  <a:schemeClr val="dk1"/>
                </a:solidFill>
                <a:latin typeface="Calibri"/>
                <a:ea typeface="Calibri"/>
                <a:cs typeface="Calibri"/>
                <a:sym typeface="Calibri"/>
              </a:rPr>
              <a:t>A continuación se detallarán las clases principales con su código fuente.</a:t>
            </a:r>
            <a:endParaRPr sz="1400" dirty="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400" dirty="0">
              <a:latin typeface="Cambria"/>
              <a:ea typeface="Cambria"/>
              <a:cs typeface="Cambria"/>
              <a:sym typeface="Cambri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4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43" name="Google Shape;343;p43"/>
          <p:cNvSpPr txBox="1">
            <a:spLocks noGrp="1"/>
          </p:cNvSpPr>
          <p:nvPr>
            <p:ph type="body" idx="1"/>
          </p:nvPr>
        </p:nvSpPr>
        <p:spPr>
          <a:xfrm>
            <a:off x="830650" y="2141151"/>
            <a:ext cx="7742247" cy="906849"/>
          </a:xfrm>
          <a:prstGeom prst="rect">
            <a:avLst/>
          </a:prstGeom>
          <a:noFill/>
          <a:ln>
            <a:noFill/>
          </a:ln>
        </p:spPr>
        <p:txBody>
          <a:bodyPr spcFirstLastPara="1" wrap="square" lIns="91425" tIns="45700" rIns="91425" bIns="45700" anchor="ctr" anchorCtr="0">
            <a:normAutofit fontScale="92500" lnSpcReduction="20000"/>
          </a:bodyPr>
          <a:lstStyle/>
          <a:p>
            <a:pPr marL="457200" lvl="0" indent="-327406" algn="l" rtl="0">
              <a:lnSpc>
                <a:spcPct val="150000"/>
              </a:lnSpc>
              <a:spcBef>
                <a:spcPts val="0"/>
              </a:spcBef>
              <a:spcAft>
                <a:spcPts val="0"/>
              </a:spcAft>
              <a:buSzPts val="1556"/>
              <a:buChar char="∙"/>
            </a:pPr>
            <a:r>
              <a:rPr lang="es-MX" sz="1400" dirty="0">
                <a:solidFill>
                  <a:schemeClr val="dk1"/>
                </a:solidFill>
                <a:latin typeface="Calibri"/>
                <a:ea typeface="Calibri"/>
                <a:cs typeface="Calibri"/>
                <a:sym typeface="Calibri"/>
              </a:rPr>
              <a:t>Se deberá configurar un archivo </a:t>
            </a:r>
            <a:r>
              <a:rPr lang="es-MX" sz="1400" dirty="0" err="1">
                <a:solidFill>
                  <a:schemeClr val="dk1"/>
                </a:solidFill>
                <a:latin typeface="Calibri"/>
                <a:ea typeface="Calibri"/>
                <a:cs typeface="Calibri"/>
                <a:sym typeface="Calibri"/>
              </a:rPr>
              <a:t>appsettings</a:t>
            </a:r>
            <a:r>
              <a:rPr lang="es-MX" sz="1400" dirty="0">
                <a:solidFill>
                  <a:schemeClr val="dk1"/>
                </a:solidFill>
                <a:latin typeface="Calibri"/>
                <a:ea typeface="Calibri"/>
                <a:cs typeface="Calibri"/>
                <a:sym typeface="Calibri"/>
              </a:rPr>
              <a:t> para contener la </a:t>
            </a:r>
            <a:r>
              <a:rPr lang="es-MX" sz="1400" dirty="0" err="1">
                <a:solidFill>
                  <a:schemeClr val="dk1"/>
                </a:solidFill>
                <a:latin typeface="Calibri"/>
                <a:ea typeface="Calibri"/>
                <a:cs typeface="Calibri"/>
                <a:sym typeface="Calibri"/>
              </a:rPr>
              <a:t>url</a:t>
            </a:r>
            <a:r>
              <a:rPr lang="es-MX" sz="1400" dirty="0">
                <a:solidFill>
                  <a:schemeClr val="dk1"/>
                </a:solidFill>
                <a:latin typeface="Calibri"/>
                <a:ea typeface="Calibri"/>
                <a:cs typeface="Calibri"/>
                <a:sym typeface="Calibri"/>
              </a:rPr>
              <a:t> del servidor y el </a:t>
            </a:r>
            <a:r>
              <a:rPr lang="es-MX" sz="1400" dirty="0" err="1">
                <a:solidFill>
                  <a:schemeClr val="dk1"/>
                </a:solidFill>
                <a:latin typeface="Calibri"/>
                <a:ea typeface="Calibri"/>
                <a:cs typeface="Calibri"/>
                <a:sym typeface="Calibri"/>
              </a:rPr>
              <a:t>endpoint</a:t>
            </a:r>
            <a:r>
              <a:rPr lang="es-MX" sz="1400" dirty="0">
                <a:solidFill>
                  <a:schemeClr val="dk1"/>
                </a:solidFill>
                <a:latin typeface="Calibri"/>
                <a:ea typeface="Calibri"/>
                <a:cs typeface="Calibri"/>
                <a:sym typeface="Calibri"/>
              </a:rPr>
              <a:t> respectivo, también si es necesario se podrían crear secretos en un archivo </a:t>
            </a:r>
            <a:r>
              <a:rPr lang="es-MX" sz="1400" dirty="0" err="1">
                <a:solidFill>
                  <a:schemeClr val="dk1"/>
                </a:solidFill>
                <a:latin typeface="Calibri"/>
                <a:ea typeface="Calibri"/>
                <a:cs typeface="Calibri"/>
                <a:sym typeface="Calibri"/>
              </a:rPr>
              <a:t>secret.json</a:t>
            </a:r>
            <a:r>
              <a:rPr lang="es-MX" sz="1400" dirty="0">
                <a:solidFill>
                  <a:schemeClr val="dk1"/>
                </a:solidFill>
                <a:latin typeface="Calibri"/>
                <a:ea typeface="Calibri"/>
                <a:cs typeface="Calibri"/>
                <a:sym typeface="Calibri"/>
              </a:rPr>
              <a:t> para manejar variables de entorno sensibles</a:t>
            </a:r>
            <a:endParaRPr sz="1200" dirty="0">
              <a:latin typeface="Cambria"/>
              <a:ea typeface="Cambria"/>
              <a:cs typeface="Cambria"/>
              <a:sym typeface="Cambria"/>
            </a:endParaRPr>
          </a:p>
        </p:txBody>
      </p:sp>
      <p:sp>
        <p:nvSpPr>
          <p:cNvPr id="344" name="Google Shape;344;p43"/>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346" name="Google Shape;346;p43"/>
          <p:cNvGraphicFramePr/>
          <p:nvPr>
            <p:extLst>
              <p:ext uri="{D42A27DB-BD31-4B8C-83A1-F6EECF244321}">
                <p14:modId xmlns:p14="http://schemas.microsoft.com/office/powerpoint/2010/main" val="1259679645"/>
              </p:ext>
            </p:extLst>
          </p:nvPr>
        </p:nvGraphicFramePr>
        <p:xfrm>
          <a:off x="1538726" y="3164758"/>
          <a:ext cx="6326093" cy="1300480"/>
        </p:xfrm>
        <a:graphic>
          <a:graphicData uri="http://schemas.openxmlformats.org/drawingml/2006/table">
            <a:tbl>
              <a:tblPr>
                <a:noFill/>
                <a:tableStyleId>{BF136021-7255-42B7-A7E7-87A8D8FFE9CA}</a:tableStyleId>
              </a:tblPr>
              <a:tblGrid>
                <a:gridCol w="6326093">
                  <a:extLst>
                    <a:ext uri="{9D8B030D-6E8A-4147-A177-3AD203B41FA5}">
                      <a16:colId xmlns:a16="http://schemas.microsoft.com/office/drawing/2014/main" val="20000"/>
                    </a:ext>
                  </a:extLst>
                </a:gridCol>
              </a:tblGrid>
              <a:tr h="1272407">
                <a:tc>
                  <a:txBody>
                    <a:bodyPr/>
                    <a:lstStyle/>
                    <a:p>
                      <a:pPr marL="0" lvl="0" indent="0" algn="l" rtl="0">
                        <a:spcBef>
                          <a:spcPts val="0"/>
                        </a:spcBef>
                        <a:spcAft>
                          <a:spcPts val="0"/>
                        </a:spcAft>
                        <a:buNone/>
                      </a:pP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"Servicio":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UrlEndpoint</a:t>
                      </a:r>
                      <a:r>
                        <a:rPr lang="es-ES" sz="1100" dirty="0">
                          <a:solidFill>
                            <a:srgbClr val="4F81BD"/>
                          </a:solidFill>
                          <a:latin typeface="Calibri"/>
                          <a:ea typeface="Calibri"/>
                          <a:cs typeface="Calibri"/>
                          <a:sym typeface="Calibri"/>
                        </a:rPr>
                        <a:t>": "http://localhost:49159/Servicios/</a:t>
                      </a:r>
                      <a:r>
                        <a:rPr lang="es-ES" sz="1100" dirty="0" err="1">
                          <a:solidFill>
                            <a:srgbClr val="4F81BD"/>
                          </a:solidFill>
                          <a:latin typeface="Calibri"/>
                          <a:ea typeface="Calibri"/>
                          <a:cs typeface="Calibri"/>
                          <a:sym typeface="Calibri"/>
                        </a:rPr>
                        <a:t>ServicioConversionUnidades.svc</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endParaRPr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endParaRPr sz="11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4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53" name="Google Shape;353;p44"/>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354" name="Google Shape;354;p44"/>
          <p:cNvGraphicFramePr/>
          <p:nvPr>
            <p:extLst>
              <p:ext uri="{D42A27DB-BD31-4B8C-83A1-F6EECF244321}">
                <p14:modId xmlns:p14="http://schemas.microsoft.com/office/powerpoint/2010/main" val="2042600398"/>
              </p:ext>
            </p:extLst>
          </p:nvPr>
        </p:nvGraphicFramePr>
        <p:xfrm>
          <a:off x="2035369" y="1902078"/>
          <a:ext cx="3517216" cy="4769700"/>
        </p:xfrm>
        <a:graphic>
          <a:graphicData uri="http://schemas.openxmlformats.org/drawingml/2006/table">
            <a:tbl>
              <a:tblPr>
                <a:noFill/>
                <a:tableStyleId>{BF136021-7255-42B7-A7E7-87A8D8FFE9CA}</a:tableStyleId>
              </a:tblPr>
              <a:tblGrid>
                <a:gridCol w="3517216">
                  <a:extLst>
                    <a:ext uri="{9D8B030D-6E8A-4147-A177-3AD203B41FA5}">
                      <a16:colId xmlns:a16="http://schemas.microsoft.com/office/drawing/2014/main" val="20000"/>
                    </a:ext>
                  </a:extLst>
                </a:gridCol>
              </a:tblGrid>
              <a:tr h="4769700">
                <a:tc>
                  <a:txBody>
                    <a:bodyPr/>
                    <a:lstStyle/>
                    <a:p>
                      <a:pPr marL="0" lvl="0" indent="0" algn="l" rtl="0">
                        <a:spcBef>
                          <a:spcPts val="0"/>
                        </a:spcBef>
                        <a:spcAft>
                          <a:spcPts val="0"/>
                        </a:spcAft>
                        <a:buNone/>
                      </a:pPr>
                      <a:r>
                        <a:rPr lang="es-ES" sz="1050" dirty="0" err="1">
                          <a:solidFill>
                            <a:srgbClr val="4F81BD"/>
                          </a:solidFill>
                          <a:latin typeface="Calibri"/>
                          <a:ea typeface="Calibri"/>
                          <a:cs typeface="Calibri"/>
                          <a:sym typeface="Calibri"/>
                        </a:rPr>
                        <a:t>public</a:t>
                      </a: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async</a:t>
                      </a: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Task</a:t>
                      </a:r>
                      <a:r>
                        <a:rPr lang="es-ES" sz="1050" dirty="0">
                          <a:solidFill>
                            <a:srgbClr val="4F81BD"/>
                          </a:solidFill>
                          <a:latin typeface="Calibri"/>
                          <a:ea typeface="Calibri"/>
                          <a:cs typeface="Calibri"/>
                          <a:sym typeface="Calibri"/>
                        </a:rPr>
                        <a:t>&lt;</a:t>
                      </a:r>
                      <a:r>
                        <a:rPr lang="es-ES" sz="1050" dirty="0" err="1">
                          <a:solidFill>
                            <a:srgbClr val="4F81BD"/>
                          </a:solidFill>
                          <a:latin typeface="Calibri"/>
                          <a:ea typeface="Calibri"/>
                          <a:cs typeface="Calibri"/>
                          <a:sym typeface="Calibri"/>
                        </a:rPr>
                        <a:t>RespuestaInicioSesion</a:t>
                      </a:r>
                      <a:r>
                        <a:rPr lang="es-ES" sz="1050" dirty="0">
                          <a:solidFill>
                            <a:srgbClr val="4F81BD"/>
                          </a:solidFill>
                          <a:latin typeface="Calibri"/>
                          <a:ea typeface="Calibri"/>
                          <a:cs typeface="Calibri"/>
                          <a:sym typeface="Calibri"/>
                        </a:rPr>
                        <a:t>&gt; </a:t>
                      </a:r>
                      <a:r>
                        <a:rPr lang="es-ES" sz="1050" dirty="0" err="1">
                          <a:solidFill>
                            <a:srgbClr val="4F81BD"/>
                          </a:solidFill>
                          <a:latin typeface="Calibri"/>
                          <a:ea typeface="Calibri"/>
                          <a:cs typeface="Calibri"/>
                          <a:sym typeface="Calibri"/>
                        </a:rPr>
                        <a:t>IniciarSesionAsync</a:t>
                      </a:r>
                      <a:r>
                        <a:rPr lang="es-ES" sz="1050" dirty="0">
                          <a:solidFill>
                            <a:srgbClr val="4F81BD"/>
                          </a:solidFill>
                          <a:latin typeface="Calibri"/>
                          <a:ea typeface="Calibri"/>
                          <a:cs typeface="Calibri"/>
                          <a:sym typeface="Calibri"/>
                        </a:rPr>
                        <a:t>(</a:t>
                      </a:r>
                      <a:r>
                        <a:rPr lang="es-ES" sz="1050" dirty="0" err="1">
                          <a:solidFill>
                            <a:srgbClr val="4F81BD"/>
                          </a:solidFill>
                          <a:latin typeface="Calibri"/>
                          <a:ea typeface="Calibri"/>
                          <a:cs typeface="Calibri"/>
                          <a:sym typeface="Calibri"/>
                        </a:rPr>
                        <a:t>string</a:t>
                      </a:r>
                      <a:r>
                        <a:rPr lang="es-ES" sz="1050" dirty="0">
                          <a:solidFill>
                            <a:srgbClr val="4F81BD"/>
                          </a:solidFill>
                          <a:latin typeface="Calibri"/>
                          <a:ea typeface="Calibri"/>
                          <a:cs typeface="Calibri"/>
                          <a:sym typeface="Calibri"/>
                        </a:rPr>
                        <a:t> usuario, </a:t>
                      </a:r>
                      <a:r>
                        <a:rPr lang="es-ES" sz="1050" dirty="0" err="1">
                          <a:solidFill>
                            <a:srgbClr val="4F81BD"/>
                          </a:solidFill>
                          <a:latin typeface="Calibri"/>
                          <a:ea typeface="Calibri"/>
                          <a:cs typeface="Calibri"/>
                          <a:sym typeface="Calibri"/>
                        </a:rPr>
                        <a:t>string</a:t>
                      </a: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contrasena</a:t>
                      </a:r>
                      <a:r>
                        <a:rPr lang="es-ES" sz="105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ServicioConversionUnidadesClient</a:t>
                      </a:r>
                      <a:r>
                        <a:rPr lang="es-ES" sz="1050" dirty="0">
                          <a:solidFill>
                            <a:srgbClr val="4F81BD"/>
                          </a:solidFill>
                          <a:latin typeface="Calibri"/>
                          <a:ea typeface="Calibri"/>
                          <a:cs typeface="Calibri"/>
                          <a:sym typeface="Calibri"/>
                        </a:rPr>
                        <a:t>? cliente = </a:t>
                      </a:r>
                      <a:r>
                        <a:rPr lang="es-ES" sz="1050" dirty="0" err="1">
                          <a:solidFill>
                            <a:srgbClr val="4F81BD"/>
                          </a:solidFill>
                          <a:latin typeface="Calibri"/>
                          <a:ea typeface="Calibri"/>
                          <a:cs typeface="Calibri"/>
                          <a:sym typeface="Calibri"/>
                        </a:rPr>
                        <a:t>CrearCliente</a:t>
                      </a:r>
                      <a:r>
                        <a:rPr lang="es-ES" sz="105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1050" dirty="0">
                        <a:solidFill>
                          <a:srgbClr val="4F81BD"/>
                        </a:solidFill>
                        <a:latin typeface="Calibri"/>
                        <a:ea typeface="Calibri"/>
                        <a:cs typeface="Calibri"/>
                        <a:sym typeface="Calibri"/>
                      </a:endParaRPr>
                    </a:p>
                    <a:p>
                      <a:pPr marL="0" lvl="0" indent="0" algn="l" rtl="0">
                        <a:spcBef>
                          <a:spcPts val="0"/>
                        </a:spcBef>
                        <a:spcAft>
                          <a:spcPts val="0"/>
                        </a:spcAft>
                        <a:buNone/>
                      </a:pPr>
                      <a:r>
                        <a:rPr lang="es-ES" sz="1050" dirty="0">
                          <a:solidFill>
                            <a:srgbClr val="4F81BD"/>
                          </a:solidFill>
                          <a:latin typeface="Calibri"/>
                          <a:ea typeface="Calibri"/>
                          <a:cs typeface="Calibri"/>
                          <a:sym typeface="Calibri"/>
                        </a:rPr>
                        <a:t>    try</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var</a:t>
                      </a:r>
                      <a:r>
                        <a:rPr lang="es-ES" sz="1050" dirty="0">
                          <a:solidFill>
                            <a:srgbClr val="4F81BD"/>
                          </a:solidFill>
                          <a:latin typeface="Calibri"/>
                          <a:ea typeface="Calibri"/>
                          <a:cs typeface="Calibri"/>
                          <a:sym typeface="Calibri"/>
                        </a:rPr>
                        <a:t> solicitud = new </a:t>
                      </a:r>
                      <a:r>
                        <a:rPr lang="es-ES" sz="1050" dirty="0" err="1">
                          <a:solidFill>
                            <a:srgbClr val="4F81BD"/>
                          </a:solidFill>
                          <a:latin typeface="Calibri"/>
                          <a:ea typeface="Calibri"/>
                          <a:cs typeface="Calibri"/>
                          <a:sym typeface="Calibri"/>
                        </a:rPr>
                        <a:t>SolicitudInicioSesion</a:t>
                      </a:r>
                      <a:endParaRPr lang="es-ES" sz="1050" dirty="0">
                        <a:solidFill>
                          <a:srgbClr val="4F81BD"/>
                        </a:solidFill>
                        <a:latin typeface="Calibri"/>
                        <a:ea typeface="Calibri"/>
                        <a:cs typeface="Calibri"/>
                        <a:sym typeface="Calibri"/>
                      </a:endParaRP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NombreUsuario</a:t>
                      </a:r>
                      <a:r>
                        <a:rPr lang="es-ES" sz="1050" dirty="0">
                          <a:solidFill>
                            <a:srgbClr val="4F81BD"/>
                          </a:solidFill>
                          <a:latin typeface="Calibri"/>
                          <a:ea typeface="Calibri"/>
                          <a:cs typeface="Calibri"/>
                          <a:sym typeface="Calibri"/>
                        </a:rPr>
                        <a:t> = usuario,</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Contrasena</a:t>
                      </a:r>
                      <a:r>
                        <a:rPr lang="es-ES" sz="1050" dirty="0">
                          <a:solidFill>
                            <a:srgbClr val="4F81BD"/>
                          </a:solidFill>
                          <a:latin typeface="Calibri"/>
                          <a:ea typeface="Calibri"/>
                          <a:cs typeface="Calibri"/>
                          <a:sym typeface="Calibri"/>
                        </a:rPr>
                        <a:t> = </a:t>
                      </a:r>
                      <a:r>
                        <a:rPr lang="es-ES" sz="1050" dirty="0" err="1">
                          <a:solidFill>
                            <a:srgbClr val="4F81BD"/>
                          </a:solidFill>
                          <a:latin typeface="Calibri"/>
                          <a:ea typeface="Calibri"/>
                          <a:cs typeface="Calibri"/>
                          <a:sym typeface="Calibri"/>
                        </a:rPr>
                        <a:t>contrasena</a:t>
                      </a:r>
                      <a:endParaRPr lang="es-ES" sz="1050" dirty="0">
                        <a:solidFill>
                          <a:srgbClr val="4F81BD"/>
                        </a:solidFill>
                        <a:latin typeface="Calibri"/>
                        <a:ea typeface="Calibri"/>
                        <a:cs typeface="Calibri"/>
                        <a:sym typeface="Calibri"/>
                      </a:endParaRP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050" dirty="0">
                        <a:solidFill>
                          <a:srgbClr val="4F81BD"/>
                        </a:solidFill>
                        <a:latin typeface="Calibri"/>
                        <a:ea typeface="Calibri"/>
                        <a:cs typeface="Calibri"/>
                        <a:sym typeface="Calibri"/>
                      </a:endParaRP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return</a:t>
                      </a: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await</a:t>
                      </a: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cliente.IniciarSesionAsync</a:t>
                      </a:r>
                      <a:r>
                        <a:rPr lang="es-ES" sz="1050" dirty="0">
                          <a:solidFill>
                            <a:srgbClr val="4F81BD"/>
                          </a:solidFill>
                          <a:latin typeface="Calibri"/>
                          <a:ea typeface="Calibri"/>
                          <a:cs typeface="Calibri"/>
                          <a:sym typeface="Calibri"/>
                        </a:rPr>
                        <a:t>(solicitud);</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catch (</a:t>
                      </a:r>
                      <a:r>
                        <a:rPr lang="es-ES" sz="1050" dirty="0" err="1">
                          <a:solidFill>
                            <a:srgbClr val="4F81BD"/>
                          </a:solidFill>
                          <a:latin typeface="Calibri"/>
                          <a:ea typeface="Calibri"/>
                          <a:cs typeface="Calibri"/>
                          <a:sym typeface="Calibri"/>
                        </a:rPr>
                        <a:t>CommunicationException</a:t>
                      </a:r>
                      <a:r>
                        <a:rPr lang="es-ES" sz="105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return</a:t>
                      </a: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NuevaRespuestaInicioSesion</a:t>
                      </a:r>
                      <a:r>
                        <a:rPr lang="es-ES" sz="1050" dirty="0">
                          <a:solidFill>
                            <a:srgbClr val="4F81BD"/>
                          </a:solidFill>
                          <a:latin typeface="Calibri"/>
                          <a:ea typeface="Calibri"/>
                          <a:cs typeface="Calibri"/>
                          <a:sym typeface="Calibri"/>
                        </a:rPr>
                        <a:t>(</a:t>
                      </a:r>
                      <a:r>
                        <a:rPr lang="es-ES" sz="1050" dirty="0" err="1">
                          <a:solidFill>
                            <a:srgbClr val="4F81BD"/>
                          </a:solidFill>
                          <a:latin typeface="Calibri"/>
                          <a:ea typeface="Calibri"/>
                          <a:cs typeface="Calibri"/>
                          <a:sym typeface="Calibri"/>
                        </a:rPr>
                        <a:t>MensajeConexion</a:t>
                      </a:r>
                      <a:r>
                        <a:rPr lang="es-ES" sz="105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catch (</a:t>
                      </a:r>
                      <a:r>
                        <a:rPr lang="es-ES" sz="1050" dirty="0" err="1">
                          <a:solidFill>
                            <a:srgbClr val="4F81BD"/>
                          </a:solidFill>
                          <a:latin typeface="Calibri"/>
                          <a:ea typeface="Calibri"/>
                          <a:cs typeface="Calibri"/>
                          <a:sym typeface="Calibri"/>
                        </a:rPr>
                        <a:t>TimeoutException</a:t>
                      </a:r>
                      <a:r>
                        <a:rPr lang="es-ES" sz="105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return</a:t>
                      </a: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NuevaRespuestaInicioSesion</a:t>
                      </a:r>
                      <a:r>
                        <a:rPr lang="es-ES" sz="1050" dirty="0">
                          <a:solidFill>
                            <a:srgbClr val="4F81BD"/>
                          </a:solidFill>
                          <a:latin typeface="Calibri"/>
                          <a:ea typeface="Calibri"/>
                          <a:cs typeface="Calibri"/>
                          <a:sym typeface="Calibri"/>
                        </a:rPr>
                        <a:t>(</a:t>
                      </a:r>
                      <a:r>
                        <a:rPr lang="es-ES" sz="1050" dirty="0" err="1">
                          <a:solidFill>
                            <a:srgbClr val="4F81BD"/>
                          </a:solidFill>
                          <a:latin typeface="Calibri"/>
                          <a:ea typeface="Calibri"/>
                          <a:cs typeface="Calibri"/>
                          <a:sym typeface="Calibri"/>
                        </a:rPr>
                        <a:t>MensajeTiempoAgotado</a:t>
                      </a:r>
                      <a:r>
                        <a:rPr lang="es-ES" sz="105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finally</a:t>
                      </a:r>
                      <a:endParaRPr lang="es-ES" sz="1050" dirty="0">
                        <a:solidFill>
                          <a:srgbClr val="4F81BD"/>
                        </a:solidFill>
                        <a:latin typeface="Calibri"/>
                        <a:ea typeface="Calibri"/>
                        <a:cs typeface="Calibri"/>
                        <a:sym typeface="Calibri"/>
                      </a:endParaRP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Finalizar(cliente);</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a:t>
                      </a:r>
                    </a:p>
                  </a:txBody>
                  <a:tcPr marL="63500" marR="63500" marT="63500" marB="63500"/>
                </a:tc>
                <a:extLst>
                  <a:ext uri="{0D108BD9-81ED-4DB2-BD59-A6C34878D82A}">
                    <a16:rowId xmlns:a16="http://schemas.microsoft.com/office/drawing/2014/main" val="10000"/>
                  </a:ext>
                </a:extLst>
              </a:tr>
            </a:tbl>
          </a:graphicData>
        </a:graphic>
      </p:graphicFrame>
      <p:graphicFrame>
        <p:nvGraphicFramePr>
          <p:cNvPr id="355" name="Google Shape;355;p44"/>
          <p:cNvGraphicFramePr/>
          <p:nvPr>
            <p:extLst>
              <p:ext uri="{D42A27DB-BD31-4B8C-83A1-F6EECF244321}">
                <p14:modId xmlns:p14="http://schemas.microsoft.com/office/powerpoint/2010/main" val="1353961877"/>
              </p:ext>
            </p:extLst>
          </p:nvPr>
        </p:nvGraphicFramePr>
        <p:xfrm>
          <a:off x="5684672" y="1902078"/>
          <a:ext cx="3459328" cy="4767580"/>
        </p:xfrm>
        <a:graphic>
          <a:graphicData uri="http://schemas.openxmlformats.org/drawingml/2006/table">
            <a:tbl>
              <a:tblPr>
                <a:noFill/>
                <a:tableStyleId>{BF136021-7255-42B7-A7E7-87A8D8FFE9CA}</a:tableStyleId>
              </a:tblPr>
              <a:tblGrid>
                <a:gridCol w="3459328">
                  <a:extLst>
                    <a:ext uri="{9D8B030D-6E8A-4147-A177-3AD203B41FA5}">
                      <a16:colId xmlns:a16="http://schemas.microsoft.com/office/drawing/2014/main" val="20000"/>
                    </a:ext>
                  </a:extLst>
                </a:gridCol>
              </a:tblGrid>
              <a:tr h="3972225">
                <a:tc>
                  <a:txBody>
                    <a:bodyPr/>
                    <a:lstStyle/>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public</a:t>
                      </a: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async</a:t>
                      </a: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Task</a:t>
                      </a:r>
                      <a:r>
                        <a:rPr lang="es-ES" sz="1050" dirty="0">
                          <a:solidFill>
                            <a:srgbClr val="4F81BD"/>
                          </a:solidFill>
                          <a:latin typeface="Calibri"/>
                          <a:ea typeface="Calibri"/>
                          <a:cs typeface="Calibri"/>
                          <a:sym typeface="Calibri"/>
                        </a:rPr>
                        <a:t>&lt;</a:t>
                      </a:r>
                      <a:r>
                        <a:rPr lang="es-ES" sz="1050" dirty="0" err="1">
                          <a:solidFill>
                            <a:srgbClr val="4F81BD"/>
                          </a:solidFill>
                          <a:latin typeface="Calibri"/>
                          <a:ea typeface="Calibri"/>
                          <a:cs typeface="Calibri"/>
                          <a:sym typeface="Calibri"/>
                        </a:rPr>
                        <a:t>RespuestaConversion</a:t>
                      </a:r>
                      <a:r>
                        <a:rPr lang="es-ES" sz="1050" dirty="0">
                          <a:solidFill>
                            <a:srgbClr val="4F81BD"/>
                          </a:solidFill>
                          <a:latin typeface="Calibri"/>
                          <a:ea typeface="Calibri"/>
                          <a:cs typeface="Calibri"/>
                          <a:sym typeface="Calibri"/>
                        </a:rPr>
                        <a:t>&gt; </a:t>
                      </a:r>
                      <a:r>
                        <a:rPr lang="es-ES" sz="1050" dirty="0" err="1">
                          <a:solidFill>
                            <a:srgbClr val="4F81BD"/>
                          </a:solidFill>
                          <a:latin typeface="Calibri"/>
                          <a:ea typeface="Calibri"/>
                          <a:cs typeface="Calibri"/>
                          <a:sym typeface="Calibri"/>
                        </a:rPr>
                        <a:t>ConvertirAsync</a:t>
                      </a:r>
                      <a:r>
                        <a:rPr lang="es-ES" sz="105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string</a:t>
                      </a:r>
                      <a:r>
                        <a:rPr lang="es-ES" sz="1050" dirty="0">
                          <a:solidFill>
                            <a:srgbClr val="4F81BD"/>
                          </a:solidFill>
                          <a:latin typeface="Calibri"/>
                          <a:ea typeface="Calibri"/>
                          <a:cs typeface="Calibri"/>
                          <a:sym typeface="Calibri"/>
                        </a:rPr>
                        <a:t> token,</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CategoriaUnidad</a:t>
                      </a: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categoria</a:t>
                      </a:r>
                      <a:r>
                        <a:rPr lang="es-ES" sz="105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string</a:t>
                      </a: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unidadOrigen</a:t>
                      </a:r>
                      <a:r>
                        <a:rPr lang="es-ES" sz="105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string</a:t>
                      </a: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unidadDestino</a:t>
                      </a:r>
                      <a:r>
                        <a:rPr lang="es-ES" sz="105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double</a:t>
                      </a:r>
                      <a:r>
                        <a:rPr lang="es-ES" sz="1050" dirty="0">
                          <a:solidFill>
                            <a:srgbClr val="4F81BD"/>
                          </a:solidFill>
                          <a:latin typeface="Calibri"/>
                          <a:ea typeface="Calibri"/>
                          <a:cs typeface="Calibri"/>
                          <a:sym typeface="Calibri"/>
                        </a:rPr>
                        <a:t> valor)</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var</a:t>
                      </a:r>
                      <a:r>
                        <a:rPr lang="es-ES" sz="1050" dirty="0">
                          <a:solidFill>
                            <a:srgbClr val="4F81BD"/>
                          </a:solidFill>
                          <a:latin typeface="Calibri"/>
                          <a:ea typeface="Calibri"/>
                          <a:cs typeface="Calibri"/>
                          <a:sym typeface="Calibri"/>
                        </a:rPr>
                        <a:t> solicitud = new </a:t>
                      </a:r>
                      <a:r>
                        <a:rPr lang="es-ES" sz="1050" dirty="0" err="1">
                          <a:solidFill>
                            <a:srgbClr val="4F81BD"/>
                          </a:solidFill>
                          <a:latin typeface="Calibri"/>
                          <a:ea typeface="Calibri"/>
                          <a:cs typeface="Calibri"/>
                          <a:sym typeface="Calibri"/>
                        </a:rPr>
                        <a:t>SolicitudConversion</a:t>
                      </a:r>
                      <a:endParaRPr lang="es-ES" sz="1050" dirty="0">
                        <a:solidFill>
                          <a:srgbClr val="4F81BD"/>
                        </a:solidFill>
                        <a:latin typeface="Calibri"/>
                        <a:ea typeface="Calibri"/>
                        <a:cs typeface="Calibri"/>
                        <a:sym typeface="Calibri"/>
                      </a:endParaRP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Categoria</a:t>
                      </a:r>
                      <a:r>
                        <a:rPr lang="es-ES" sz="1050" dirty="0">
                          <a:solidFill>
                            <a:srgbClr val="4F81BD"/>
                          </a:solidFill>
                          <a:latin typeface="Calibri"/>
                          <a:ea typeface="Calibri"/>
                          <a:cs typeface="Calibri"/>
                          <a:sym typeface="Calibri"/>
                        </a:rPr>
                        <a:t> = </a:t>
                      </a:r>
                      <a:r>
                        <a:rPr lang="es-ES" sz="1050" dirty="0" err="1">
                          <a:solidFill>
                            <a:srgbClr val="4F81BD"/>
                          </a:solidFill>
                          <a:latin typeface="Calibri"/>
                          <a:ea typeface="Calibri"/>
                          <a:cs typeface="Calibri"/>
                          <a:sym typeface="Calibri"/>
                        </a:rPr>
                        <a:t>categoria.ToString</a:t>
                      </a:r>
                      <a:r>
                        <a:rPr lang="es-ES" sz="105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UnidadOrigen</a:t>
                      </a:r>
                      <a:r>
                        <a:rPr lang="es-ES" sz="1050" dirty="0">
                          <a:solidFill>
                            <a:srgbClr val="4F81BD"/>
                          </a:solidFill>
                          <a:latin typeface="Calibri"/>
                          <a:ea typeface="Calibri"/>
                          <a:cs typeface="Calibri"/>
                          <a:sym typeface="Calibri"/>
                        </a:rPr>
                        <a:t> = </a:t>
                      </a:r>
                      <a:r>
                        <a:rPr lang="es-ES" sz="1050" dirty="0" err="1">
                          <a:solidFill>
                            <a:srgbClr val="4F81BD"/>
                          </a:solidFill>
                          <a:latin typeface="Calibri"/>
                          <a:ea typeface="Calibri"/>
                          <a:cs typeface="Calibri"/>
                          <a:sym typeface="Calibri"/>
                        </a:rPr>
                        <a:t>unidadOrigen</a:t>
                      </a:r>
                      <a:r>
                        <a:rPr lang="es-ES" sz="105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UnidadDestino</a:t>
                      </a:r>
                      <a:r>
                        <a:rPr lang="es-ES" sz="1050" dirty="0">
                          <a:solidFill>
                            <a:srgbClr val="4F81BD"/>
                          </a:solidFill>
                          <a:latin typeface="Calibri"/>
                          <a:ea typeface="Calibri"/>
                          <a:cs typeface="Calibri"/>
                          <a:sym typeface="Calibri"/>
                        </a:rPr>
                        <a:t> = </a:t>
                      </a:r>
                      <a:r>
                        <a:rPr lang="es-ES" sz="1050" dirty="0" err="1">
                          <a:solidFill>
                            <a:srgbClr val="4F81BD"/>
                          </a:solidFill>
                          <a:latin typeface="Calibri"/>
                          <a:ea typeface="Calibri"/>
                          <a:cs typeface="Calibri"/>
                          <a:sym typeface="Calibri"/>
                        </a:rPr>
                        <a:t>unidadDestino</a:t>
                      </a:r>
                      <a:r>
                        <a:rPr lang="es-ES" sz="105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Valor = </a:t>
                      </a:r>
                      <a:r>
                        <a:rPr lang="es-ES" sz="1050" dirty="0" err="1">
                          <a:solidFill>
                            <a:srgbClr val="4F81BD"/>
                          </a:solidFill>
                          <a:latin typeface="Calibri"/>
                          <a:ea typeface="Calibri"/>
                          <a:cs typeface="Calibri"/>
                          <a:sym typeface="Calibri"/>
                        </a:rPr>
                        <a:t>valor.ToString</a:t>
                      </a:r>
                      <a:r>
                        <a:rPr lang="es-ES" sz="1050" dirty="0">
                          <a:solidFill>
                            <a:srgbClr val="4F81BD"/>
                          </a:solidFill>
                          <a:latin typeface="Calibri"/>
                          <a:ea typeface="Calibri"/>
                          <a:cs typeface="Calibri"/>
                          <a:sym typeface="Calibri"/>
                        </a:rPr>
                        <a:t>(</a:t>
                      </a:r>
                      <a:r>
                        <a:rPr lang="es-ES" sz="1050" dirty="0" err="1">
                          <a:solidFill>
                            <a:srgbClr val="4F81BD"/>
                          </a:solidFill>
                          <a:latin typeface="Calibri"/>
                          <a:ea typeface="Calibri"/>
                          <a:cs typeface="Calibri"/>
                          <a:sym typeface="Calibri"/>
                        </a:rPr>
                        <a:t>CultureInfo.InvariantCulture</a:t>
                      </a:r>
                      <a:r>
                        <a:rPr lang="es-ES" sz="105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050" dirty="0">
                        <a:solidFill>
                          <a:srgbClr val="4F81BD"/>
                        </a:solidFill>
                        <a:latin typeface="Calibri"/>
                        <a:ea typeface="Calibri"/>
                        <a:cs typeface="Calibri"/>
                        <a:sym typeface="Calibri"/>
                      </a:endParaRP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ServicioConversionUnidadesClient</a:t>
                      </a:r>
                      <a:r>
                        <a:rPr lang="es-ES" sz="1050" dirty="0">
                          <a:solidFill>
                            <a:srgbClr val="4F81BD"/>
                          </a:solidFill>
                          <a:latin typeface="Calibri"/>
                          <a:ea typeface="Calibri"/>
                          <a:cs typeface="Calibri"/>
                          <a:sym typeface="Calibri"/>
                        </a:rPr>
                        <a:t>? cliente = </a:t>
                      </a:r>
                      <a:r>
                        <a:rPr lang="es-ES" sz="1050" dirty="0" err="1">
                          <a:solidFill>
                            <a:srgbClr val="4F81BD"/>
                          </a:solidFill>
                          <a:latin typeface="Calibri"/>
                          <a:ea typeface="Calibri"/>
                          <a:cs typeface="Calibri"/>
                          <a:sym typeface="Calibri"/>
                        </a:rPr>
                        <a:t>CrearCliente</a:t>
                      </a:r>
                      <a:r>
                        <a:rPr lang="es-ES" sz="105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1050" dirty="0">
                        <a:solidFill>
                          <a:srgbClr val="4F81BD"/>
                        </a:solidFill>
                        <a:latin typeface="Calibri"/>
                        <a:ea typeface="Calibri"/>
                        <a:cs typeface="Calibri"/>
                        <a:sym typeface="Calibri"/>
                      </a:endParaRPr>
                    </a:p>
                    <a:p>
                      <a:pPr marL="0" lvl="0" indent="0" algn="l" rtl="0">
                        <a:spcBef>
                          <a:spcPts val="0"/>
                        </a:spcBef>
                        <a:spcAft>
                          <a:spcPts val="0"/>
                        </a:spcAft>
                        <a:buNone/>
                      </a:pPr>
                      <a:r>
                        <a:rPr lang="es-ES" sz="1050" dirty="0">
                          <a:solidFill>
                            <a:srgbClr val="4F81BD"/>
                          </a:solidFill>
                          <a:latin typeface="Calibri"/>
                          <a:ea typeface="Calibri"/>
                          <a:cs typeface="Calibri"/>
                          <a:sym typeface="Calibri"/>
                        </a:rPr>
                        <a:t>    try</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RespuestaConversionMensaje</a:t>
                      </a:r>
                      <a:r>
                        <a:rPr lang="es-ES" sz="1050" dirty="0">
                          <a:solidFill>
                            <a:srgbClr val="4F81BD"/>
                          </a:solidFill>
                          <a:latin typeface="Calibri"/>
                          <a:ea typeface="Calibri"/>
                          <a:cs typeface="Calibri"/>
                          <a:sym typeface="Calibri"/>
                        </a:rPr>
                        <a:t> respuesta = </a:t>
                      </a:r>
                      <a:r>
                        <a:rPr lang="es-ES" sz="1050" dirty="0" err="1">
                          <a:solidFill>
                            <a:srgbClr val="4F81BD"/>
                          </a:solidFill>
                          <a:latin typeface="Calibri"/>
                          <a:ea typeface="Calibri"/>
                          <a:cs typeface="Calibri"/>
                          <a:sym typeface="Calibri"/>
                        </a:rPr>
                        <a:t>await</a:t>
                      </a: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cliente.ConvertirAsync</a:t>
                      </a:r>
                      <a:r>
                        <a:rPr lang="es-ES" sz="1050" dirty="0">
                          <a:solidFill>
                            <a:srgbClr val="4F81BD"/>
                          </a:solidFill>
                          <a:latin typeface="Calibri"/>
                          <a:ea typeface="Calibri"/>
                          <a:cs typeface="Calibri"/>
                          <a:sym typeface="Calibri"/>
                        </a:rPr>
                        <a:t>(token, solicitud);</a:t>
                      </a:r>
                    </a:p>
                    <a:p>
                      <a:pPr marL="0" lvl="0" indent="0" algn="l" rtl="0">
                        <a:spcBef>
                          <a:spcPts val="0"/>
                        </a:spcBef>
                        <a:spcAft>
                          <a:spcPts val="0"/>
                        </a:spcAft>
                        <a:buNone/>
                      </a:pPr>
                      <a:endParaRPr lang="es-ES" sz="1050" dirty="0">
                        <a:solidFill>
                          <a:srgbClr val="4F81BD"/>
                        </a:solidFill>
                        <a:latin typeface="Calibri"/>
                        <a:ea typeface="Calibri"/>
                        <a:cs typeface="Calibri"/>
                        <a:sym typeface="Calibri"/>
                      </a:endParaRP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if</a:t>
                      </a:r>
                      <a:r>
                        <a:rPr lang="es-ES" sz="1050" dirty="0">
                          <a:solidFill>
                            <a:srgbClr val="4F81BD"/>
                          </a:solidFill>
                          <a:latin typeface="Calibri"/>
                          <a:ea typeface="Calibri"/>
                          <a:cs typeface="Calibri"/>
                          <a:sym typeface="Calibri"/>
                        </a:rPr>
                        <a:t> (respuesta?.</a:t>
                      </a:r>
                      <a:r>
                        <a:rPr lang="es-ES" sz="1050" dirty="0" err="1">
                          <a:solidFill>
                            <a:srgbClr val="4F81BD"/>
                          </a:solidFill>
                          <a:latin typeface="Calibri"/>
                          <a:ea typeface="Calibri"/>
                          <a:cs typeface="Calibri"/>
                          <a:sym typeface="Calibri"/>
                        </a:rPr>
                        <a:t>ConvertirResult</a:t>
                      </a: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is</a:t>
                      </a: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null</a:t>
                      </a:r>
                      <a:r>
                        <a:rPr lang="es-ES" sz="105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return</a:t>
                      </a: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NuevaRespuestaConversion</a:t>
                      </a:r>
                      <a:r>
                        <a:rPr lang="es-ES" sz="1050" dirty="0">
                          <a:solidFill>
                            <a:srgbClr val="4F81BD"/>
                          </a:solidFill>
                          <a:latin typeface="Calibri"/>
                          <a:ea typeface="Calibri"/>
                          <a:cs typeface="Calibri"/>
                          <a:sym typeface="Calibri"/>
                        </a:rPr>
                        <a:t>(</a:t>
                      </a:r>
                      <a:r>
                        <a:rPr lang="es-ES" sz="1050" dirty="0" err="1">
                          <a:solidFill>
                            <a:srgbClr val="4F81BD"/>
                          </a:solidFill>
                          <a:latin typeface="Calibri"/>
                          <a:ea typeface="Calibri"/>
                          <a:cs typeface="Calibri"/>
                          <a:sym typeface="Calibri"/>
                        </a:rPr>
                        <a:t>MensajeRespuestaVacia</a:t>
                      </a:r>
                      <a:r>
                        <a:rPr lang="es-ES" sz="105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05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4" name="Google Shape;319;p40">
            <a:extLst>
              <a:ext uri="{FF2B5EF4-FFF2-40B4-BE49-F238E27FC236}">
                <a16:creationId xmlns:a16="http://schemas.microsoft.com/office/drawing/2014/main" id="{C9AFB88C-A432-9504-50B3-CFBB6EF109C1}"/>
              </a:ext>
            </a:extLst>
          </p:cNvPr>
          <p:cNvSpPr txBox="1">
            <a:spLocks/>
          </p:cNvSpPr>
          <p:nvPr/>
        </p:nvSpPr>
        <p:spPr>
          <a:xfrm>
            <a:off x="-89075" y="1826848"/>
            <a:ext cx="1992355" cy="47013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indent="-327406">
              <a:lnSpc>
                <a:spcPct val="150000"/>
              </a:lnSpc>
              <a:spcBef>
                <a:spcPts val="0"/>
              </a:spcBef>
              <a:buSzPts val="1556"/>
              <a:buFont typeface="Noto Sans Symbols"/>
              <a:buChar char="∙"/>
            </a:pPr>
            <a:r>
              <a:rPr lang="es-MX" sz="1400" dirty="0">
                <a:solidFill>
                  <a:schemeClr val="dk1"/>
                </a:solidFill>
                <a:latin typeface="Calibri"/>
                <a:ea typeface="Calibri"/>
                <a:cs typeface="Calibri"/>
                <a:sym typeface="Calibri"/>
              </a:rPr>
              <a:t>A continuación se detallarán las clases principales con su código fuente.</a:t>
            </a:r>
          </a:p>
          <a:p>
            <a:pPr indent="-304800" algn="just">
              <a:lnSpc>
                <a:spcPct val="107000"/>
              </a:lnSpc>
              <a:spcBef>
                <a:spcPts val="0"/>
              </a:spcBef>
              <a:buSzPts val="1200"/>
              <a:buFont typeface="Cambria"/>
              <a:buChar char="∙"/>
            </a:pPr>
            <a:endParaRPr lang="es-MX" sz="1400" dirty="0">
              <a:latin typeface="Cambria"/>
              <a:ea typeface="Cambria"/>
              <a:cs typeface="Cambria"/>
              <a:sym typeface="Cambri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4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62" name="Google Shape;362;p4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363" name="Google Shape;363;p45"/>
          <p:cNvGraphicFramePr/>
          <p:nvPr>
            <p:extLst>
              <p:ext uri="{D42A27DB-BD31-4B8C-83A1-F6EECF244321}">
                <p14:modId xmlns:p14="http://schemas.microsoft.com/office/powerpoint/2010/main" val="2278026030"/>
              </p:ext>
            </p:extLst>
          </p:nvPr>
        </p:nvGraphicFramePr>
        <p:xfrm>
          <a:off x="1964150" y="1874095"/>
          <a:ext cx="3522650" cy="4820920"/>
        </p:xfrm>
        <a:graphic>
          <a:graphicData uri="http://schemas.openxmlformats.org/drawingml/2006/table">
            <a:tbl>
              <a:tblPr>
                <a:noFill/>
                <a:tableStyleId>{BF136021-7255-42B7-A7E7-87A8D8FFE9CA}</a:tableStyleId>
              </a:tblPr>
              <a:tblGrid>
                <a:gridCol w="3522650">
                  <a:extLst>
                    <a:ext uri="{9D8B030D-6E8A-4147-A177-3AD203B41FA5}">
                      <a16:colId xmlns:a16="http://schemas.microsoft.com/office/drawing/2014/main" val="20000"/>
                    </a:ext>
                  </a:extLst>
                </a:gridCol>
              </a:tblGrid>
              <a:tr h="3972225">
                <a:tc>
                  <a:txBody>
                    <a:bodyPr/>
                    <a:lstStyle/>
                    <a:p>
                      <a:pPr marL="0" lvl="0" indent="0" algn="l" rtl="0">
                        <a:spcBef>
                          <a:spcPts val="0"/>
                        </a:spcBef>
                        <a:spcAft>
                          <a:spcPts val="0"/>
                        </a:spcAft>
                        <a:buNone/>
                      </a:pPr>
                      <a:r>
                        <a:rPr lang="es-ES" sz="1100" dirty="0" err="1">
                          <a:solidFill>
                            <a:srgbClr val="4F81BD"/>
                          </a:solidFill>
                          <a:latin typeface="Calibri"/>
                          <a:ea typeface="Calibri"/>
                          <a:cs typeface="Calibri"/>
                          <a:sym typeface="Calibri"/>
                        </a:rPr>
                        <a:t>private</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static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void</a:t>
                      </a:r>
                      <a:r>
                        <a:rPr lang="es-ES" sz="1100" dirty="0">
                          <a:solidFill>
                            <a:srgbClr val="4F81BD"/>
                          </a:solidFill>
                          <a:latin typeface="Calibri"/>
                          <a:ea typeface="Calibri"/>
                          <a:cs typeface="Calibri"/>
                          <a:sym typeface="Calibri"/>
                        </a:rPr>
                        <a:t> Finalizar(</a:t>
                      </a:r>
                      <a:r>
                        <a:rPr lang="es-ES" sz="1100" dirty="0" err="1">
                          <a:solidFill>
                            <a:srgbClr val="4F81BD"/>
                          </a:solidFill>
                          <a:latin typeface="Calibri"/>
                          <a:ea typeface="Calibri"/>
                          <a:cs typeface="Calibri"/>
                          <a:sym typeface="Calibri"/>
                        </a:rPr>
                        <a:t>ServicioConversionUnidadesClient</a:t>
                      </a:r>
                      <a:r>
                        <a:rPr lang="es-ES" sz="1100" dirty="0">
                          <a:solidFill>
                            <a:srgbClr val="4F81BD"/>
                          </a:solidFill>
                          <a:latin typeface="Calibri"/>
                          <a:ea typeface="Calibri"/>
                          <a:cs typeface="Calibri"/>
                          <a:sym typeface="Calibri"/>
                        </a:rPr>
                        <a:t>? cliente)</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if</a:t>
                      </a:r>
                      <a:r>
                        <a:rPr lang="es-ES" sz="1100" dirty="0">
                          <a:solidFill>
                            <a:srgbClr val="4F81BD"/>
                          </a:solidFill>
                          <a:latin typeface="Calibri"/>
                          <a:ea typeface="Calibri"/>
                          <a:cs typeface="Calibri"/>
                          <a:sym typeface="Calibri"/>
                        </a:rPr>
                        <a:t> (cliente </a:t>
                      </a:r>
                      <a:r>
                        <a:rPr lang="es-ES" sz="1100" dirty="0" err="1">
                          <a:solidFill>
                            <a:srgbClr val="4F81BD"/>
                          </a:solidFill>
                          <a:latin typeface="Calibri"/>
                          <a:ea typeface="Calibri"/>
                          <a:cs typeface="Calibri"/>
                          <a:sym typeface="Calibri"/>
                        </a:rPr>
                        <a:t>is</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null</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return</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a:solidFill>
                            <a:srgbClr val="4F81BD"/>
                          </a:solidFill>
                          <a:latin typeface="Calibri"/>
                          <a:ea typeface="Calibri"/>
                          <a:cs typeface="Calibri"/>
                          <a:sym typeface="Calibri"/>
                        </a:rPr>
                        <a:t>    try</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if</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cliente.State</a:t>
                      </a:r>
                      <a:r>
                        <a:rPr lang="es-ES" sz="1100" dirty="0">
                          <a:solidFill>
                            <a:srgbClr val="4F81BD"/>
                          </a:solidFill>
                          <a:latin typeface="Calibri"/>
                          <a:ea typeface="Calibri"/>
                          <a:cs typeface="Calibri"/>
                          <a:sym typeface="Calibri"/>
                        </a:rPr>
                        <a:t> == </a:t>
                      </a:r>
                      <a:r>
                        <a:rPr lang="es-ES" sz="1100" dirty="0" err="1">
                          <a:solidFill>
                            <a:srgbClr val="4F81BD"/>
                          </a:solidFill>
                          <a:latin typeface="Calibri"/>
                          <a:ea typeface="Calibri"/>
                          <a:cs typeface="Calibri"/>
                          <a:sym typeface="Calibri"/>
                        </a:rPr>
                        <a:t>CommunicationState.Faulted</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cliente.Abort</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else</a:t>
                      </a: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cliente.Close</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catch (</a:t>
                      </a:r>
                      <a:r>
                        <a:rPr lang="es-ES" sz="1100" dirty="0" err="1">
                          <a:solidFill>
                            <a:srgbClr val="4F81BD"/>
                          </a:solidFill>
                          <a:latin typeface="Calibri"/>
                          <a:ea typeface="Calibri"/>
                          <a:cs typeface="Calibri"/>
                          <a:sym typeface="Calibri"/>
                        </a:rPr>
                        <a:t>CommunicationException</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cliente.Abort</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catch (</a:t>
                      </a:r>
                      <a:r>
                        <a:rPr lang="es-ES" sz="1100" dirty="0" err="1">
                          <a:solidFill>
                            <a:srgbClr val="4F81BD"/>
                          </a:solidFill>
                          <a:latin typeface="Calibri"/>
                          <a:ea typeface="Calibri"/>
                          <a:cs typeface="Calibri"/>
                          <a:sym typeface="Calibri"/>
                        </a:rPr>
                        <a:t>TimeoutException</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cliente.Abort</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endParaRPr sz="11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graphicFrame>
        <p:nvGraphicFramePr>
          <p:cNvPr id="364" name="Google Shape;364;p45"/>
          <p:cNvGraphicFramePr/>
          <p:nvPr>
            <p:extLst>
              <p:ext uri="{D42A27DB-BD31-4B8C-83A1-F6EECF244321}">
                <p14:modId xmlns:p14="http://schemas.microsoft.com/office/powerpoint/2010/main" val="1052188324"/>
              </p:ext>
            </p:extLst>
          </p:nvPr>
        </p:nvGraphicFramePr>
        <p:xfrm>
          <a:off x="5684675" y="1874095"/>
          <a:ext cx="3699025" cy="3972225"/>
        </p:xfrm>
        <a:graphic>
          <a:graphicData uri="http://schemas.openxmlformats.org/drawingml/2006/table">
            <a:tbl>
              <a:tblPr>
                <a:noFill/>
                <a:tableStyleId>{BF136021-7255-42B7-A7E7-87A8D8FFE9CA}</a:tableStyleId>
              </a:tblPr>
              <a:tblGrid>
                <a:gridCol w="3699025">
                  <a:extLst>
                    <a:ext uri="{9D8B030D-6E8A-4147-A177-3AD203B41FA5}">
                      <a16:colId xmlns:a16="http://schemas.microsoft.com/office/drawing/2014/main" val="20000"/>
                    </a:ext>
                  </a:extLst>
                </a:gridCol>
              </a:tblGrid>
              <a:tr h="3972225">
                <a:tc>
                  <a:txBody>
                    <a:bodyPr/>
                    <a:lstStyle/>
                    <a:p>
                      <a:pPr marL="0" lvl="0" indent="0" algn="l" rtl="0">
                        <a:spcBef>
                          <a:spcPts val="0"/>
                        </a:spcBef>
                        <a:spcAft>
                          <a:spcPts val="0"/>
                        </a:spcAft>
                        <a:buNone/>
                      </a:pPr>
                      <a:r>
                        <a:rPr lang="es-ES" sz="1100" dirty="0" err="1">
                          <a:solidFill>
                            <a:srgbClr val="4F81BD"/>
                          </a:solidFill>
                          <a:latin typeface="Calibri"/>
                          <a:ea typeface="Calibri"/>
                          <a:cs typeface="Calibri"/>
                          <a:sym typeface="Calibri"/>
                        </a:rPr>
                        <a:t>private</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static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RespuestaInicioSesion</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NuevaRespuestaInicioSesion</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string</a:t>
                      </a:r>
                      <a:r>
                        <a:rPr lang="es-ES" sz="1100" dirty="0">
                          <a:solidFill>
                            <a:srgbClr val="4F81BD"/>
                          </a:solidFill>
                          <a:latin typeface="Calibri"/>
                          <a:ea typeface="Calibri"/>
                          <a:cs typeface="Calibri"/>
                          <a:sym typeface="Calibri"/>
                        </a:rPr>
                        <a:t> mensaje)</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return</a:t>
                      </a:r>
                      <a:r>
                        <a:rPr lang="es-ES" sz="1100" dirty="0">
                          <a:solidFill>
                            <a:srgbClr val="4F81BD"/>
                          </a:solidFill>
                          <a:latin typeface="Calibri"/>
                          <a:ea typeface="Calibri"/>
                          <a:cs typeface="Calibri"/>
                          <a:sym typeface="Calibri"/>
                        </a:rPr>
                        <a:t> new </a:t>
                      </a:r>
                      <a:r>
                        <a:rPr lang="es-ES" sz="1100" dirty="0" err="1">
                          <a:solidFill>
                            <a:srgbClr val="4F81BD"/>
                          </a:solidFill>
                          <a:latin typeface="Calibri"/>
                          <a:ea typeface="Calibri"/>
                          <a:cs typeface="Calibri"/>
                          <a:sym typeface="Calibri"/>
                        </a:rPr>
                        <a:t>RespuestaInicioSesion</a:t>
                      </a: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Exito</a:t>
                      </a:r>
                      <a:r>
                        <a:rPr lang="es-ES" sz="1100" dirty="0">
                          <a:solidFill>
                            <a:srgbClr val="4F81BD"/>
                          </a:solidFill>
                          <a:latin typeface="Calibri"/>
                          <a:ea typeface="Calibri"/>
                          <a:cs typeface="Calibri"/>
                          <a:sym typeface="Calibri"/>
                        </a:rPr>
                        <a:t> = false,</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Mensaje = mensaje</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err="1">
                          <a:solidFill>
                            <a:srgbClr val="4F81BD"/>
                          </a:solidFill>
                          <a:latin typeface="Calibri"/>
                          <a:ea typeface="Calibri"/>
                          <a:cs typeface="Calibri"/>
                          <a:sym typeface="Calibri"/>
                        </a:rPr>
                        <a:t>private</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static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RespuestaConversion</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NuevaRespuestaConversion</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string</a:t>
                      </a:r>
                      <a:r>
                        <a:rPr lang="es-ES" sz="1100" dirty="0">
                          <a:solidFill>
                            <a:srgbClr val="4F81BD"/>
                          </a:solidFill>
                          <a:latin typeface="Calibri"/>
                          <a:ea typeface="Calibri"/>
                          <a:cs typeface="Calibri"/>
                          <a:sym typeface="Calibri"/>
                        </a:rPr>
                        <a:t> mensaje)</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return</a:t>
                      </a:r>
                      <a:r>
                        <a:rPr lang="es-ES" sz="1100" dirty="0">
                          <a:solidFill>
                            <a:srgbClr val="4F81BD"/>
                          </a:solidFill>
                          <a:latin typeface="Calibri"/>
                          <a:ea typeface="Calibri"/>
                          <a:cs typeface="Calibri"/>
                          <a:sym typeface="Calibri"/>
                        </a:rPr>
                        <a:t> new </a:t>
                      </a:r>
                      <a:r>
                        <a:rPr lang="es-ES" sz="1100" dirty="0" err="1">
                          <a:solidFill>
                            <a:srgbClr val="4F81BD"/>
                          </a:solidFill>
                          <a:latin typeface="Calibri"/>
                          <a:ea typeface="Calibri"/>
                          <a:cs typeface="Calibri"/>
                          <a:sym typeface="Calibri"/>
                        </a:rPr>
                        <a:t>RespuestaConversion</a:t>
                      </a: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Exito</a:t>
                      </a:r>
                      <a:r>
                        <a:rPr lang="es-ES" sz="1100" dirty="0">
                          <a:solidFill>
                            <a:srgbClr val="4F81BD"/>
                          </a:solidFill>
                          <a:latin typeface="Calibri"/>
                          <a:ea typeface="Calibri"/>
                          <a:cs typeface="Calibri"/>
                          <a:sym typeface="Calibri"/>
                        </a:rPr>
                        <a:t> = false,</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ValorConvertido</a:t>
                      </a:r>
                      <a:r>
                        <a:rPr lang="es-ES" sz="1100" dirty="0">
                          <a:solidFill>
                            <a:srgbClr val="4F81BD"/>
                          </a:solidFill>
                          <a:latin typeface="Calibri"/>
                          <a:ea typeface="Calibri"/>
                          <a:cs typeface="Calibri"/>
                          <a:sym typeface="Calibri"/>
                        </a:rPr>
                        <a:t> = 0.0,</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Mensaje = mensaje</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a:t>
                      </a:r>
                    </a:p>
                  </a:txBody>
                  <a:tcPr marL="63500" marR="63500" marT="63500" marB="63500"/>
                </a:tc>
                <a:extLst>
                  <a:ext uri="{0D108BD9-81ED-4DB2-BD59-A6C34878D82A}">
                    <a16:rowId xmlns:a16="http://schemas.microsoft.com/office/drawing/2014/main" val="10000"/>
                  </a:ext>
                </a:extLst>
              </a:tr>
            </a:tbl>
          </a:graphicData>
        </a:graphic>
      </p:graphicFrame>
      <p:sp>
        <p:nvSpPr>
          <p:cNvPr id="4" name="Google Shape;319;p40">
            <a:extLst>
              <a:ext uri="{FF2B5EF4-FFF2-40B4-BE49-F238E27FC236}">
                <a16:creationId xmlns:a16="http://schemas.microsoft.com/office/drawing/2014/main" id="{8215E44A-8DF1-C436-C40F-F9558F788280}"/>
              </a:ext>
            </a:extLst>
          </p:cNvPr>
          <p:cNvSpPr txBox="1">
            <a:spLocks noGrp="1"/>
          </p:cNvSpPr>
          <p:nvPr>
            <p:ph type="body" idx="1"/>
          </p:nvPr>
        </p:nvSpPr>
        <p:spPr>
          <a:xfrm>
            <a:off x="-86065" y="1874095"/>
            <a:ext cx="2132400" cy="47013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400" dirty="0">
                <a:solidFill>
                  <a:schemeClr val="dk1"/>
                </a:solidFill>
                <a:latin typeface="Calibri"/>
                <a:ea typeface="Calibri"/>
                <a:cs typeface="Calibri"/>
                <a:sym typeface="Calibri"/>
              </a:rPr>
              <a:t>A continuación se detallarán las clases principales con su código fuente.</a:t>
            </a:r>
            <a:endParaRPr sz="1400" dirty="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400" dirty="0">
              <a:latin typeface="Cambria"/>
              <a:ea typeface="Cambria"/>
              <a:cs typeface="Cambria"/>
              <a:sym typeface="Cambri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4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70" name="Google Shape;370;p46"/>
          <p:cNvSpPr txBox="1">
            <a:spLocks noGrp="1"/>
          </p:cNvSpPr>
          <p:nvPr>
            <p:ph type="body" idx="1"/>
          </p:nvPr>
        </p:nvSpPr>
        <p:spPr>
          <a:xfrm>
            <a:off x="344995" y="1959919"/>
            <a:ext cx="7513901" cy="75033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dirty="0">
                <a:solidFill>
                  <a:schemeClr val="dk1"/>
                </a:solidFill>
                <a:latin typeface="Calibri"/>
                <a:ea typeface="Calibri"/>
                <a:cs typeface="Calibri"/>
                <a:sym typeface="Calibri"/>
              </a:rPr>
              <a:t>Se puede verificar que el cliente funciona de forma correcta, se levanta y tiene comunicación </a:t>
            </a:r>
            <a:endParaRPr sz="1400" b="1" dirty="0">
              <a:solidFill>
                <a:srgbClr val="17365D"/>
              </a:solidFill>
              <a:latin typeface="Calibri"/>
              <a:ea typeface="Calibri"/>
              <a:cs typeface="Calibri"/>
              <a:sym typeface="Calibri"/>
            </a:endParaRPr>
          </a:p>
          <a:p>
            <a:pPr marL="457200" lvl="0" indent="-298450" algn="l" rtl="0">
              <a:lnSpc>
                <a:spcPct val="150000"/>
              </a:lnSpc>
              <a:spcBef>
                <a:spcPts val="0"/>
              </a:spcBef>
              <a:spcAft>
                <a:spcPts val="0"/>
              </a:spcAft>
              <a:buClr>
                <a:schemeClr val="dk1"/>
              </a:buClr>
              <a:buSzPts val="1100"/>
              <a:buFont typeface="Calibri"/>
              <a:buChar char="∙"/>
            </a:pPr>
            <a:endParaRPr sz="1100" dirty="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dirty="0">
              <a:latin typeface="Cambria"/>
              <a:ea typeface="Cambria"/>
              <a:cs typeface="Cambria"/>
              <a:sym typeface="Cambria"/>
            </a:endParaRPr>
          </a:p>
        </p:txBody>
      </p:sp>
      <p:sp>
        <p:nvSpPr>
          <p:cNvPr id="371" name="Google Shape;371;p4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6" name="Google Shape;571;p70">
            <a:extLst>
              <a:ext uri="{FF2B5EF4-FFF2-40B4-BE49-F238E27FC236}">
                <a16:creationId xmlns:a16="http://schemas.microsoft.com/office/drawing/2014/main" id="{9942F311-23DE-B8E9-7980-59A96BA2F09D}"/>
              </a:ext>
            </a:extLst>
          </p:cNvPr>
          <p:cNvSpPr txBox="1"/>
          <p:nvPr/>
        </p:nvSpPr>
        <p:spPr>
          <a:xfrm>
            <a:off x="344995" y="2212112"/>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dirty="0">
                <a:solidFill>
                  <a:srgbClr val="3D3D3D"/>
                </a:solidFill>
                <a:latin typeface="Cambria"/>
                <a:ea typeface="Cambria"/>
                <a:cs typeface="Cambria"/>
                <a:sym typeface="Cambria"/>
              </a:rPr>
              <a:t>Vista </a:t>
            </a:r>
            <a:r>
              <a:rPr lang="es-ES" sz="1800" b="1" dirty="0" err="1">
                <a:solidFill>
                  <a:srgbClr val="3D3D3D"/>
                </a:solidFill>
                <a:latin typeface="Cambria"/>
                <a:ea typeface="Cambria"/>
                <a:cs typeface="Cambria"/>
                <a:sym typeface="Cambria"/>
              </a:rPr>
              <a:t>login</a:t>
            </a:r>
            <a:endParaRPr sz="2000" b="0" i="0" u="none" strike="noStrike" cap="none" dirty="0">
              <a:solidFill>
                <a:srgbClr val="3D3D3D"/>
              </a:solidFill>
              <a:latin typeface="Cambria"/>
              <a:ea typeface="Cambria"/>
              <a:cs typeface="Cambria"/>
              <a:sym typeface="Cambria"/>
            </a:endParaRPr>
          </a:p>
        </p:txBody>
      </p:sp>
      <p:pic>
        <p:nvPicPr>
          <p:cNvPr id="8" name="Picture 7">
            <a:extLst>
              <a:ext uri="{FF2B5EF4-FFF2-40B4-BE49-F238E27FC236}">
                <a16:creationId xmlns:a16="http://schemas.microsoft.com/office/drawing/2014/main" id="{821C0A35-A4FF-20BA-9B57-13DFA8529254}"/>
              </a:ext>
            </a:extLst>
          </p:cNvPr>
          <p:cNvPicPr>
            <a:picLocks noChangeAspect="1"/>
          </p:cNvPicPr>
          <p:nvPr/>
        </p:nvPicPr>
        <p:blipFill>
          <a:blip r:embed="rId3"/>
          <a:stretch>
            <a:fillRect/>
          </a:stretch>
        </p:blipFill>
        <p:spPr>
          <a:xfrm>
            <a:off x="1005910" y="3206505"/>
            <a:ext cx="7254869" cy="2453853"/>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68">
          <a:extLst>
            <a:ext uri="{FF2B5EF4-FFF2-40B4-BE49-F238E27FC236}">
              <a16:creationId xmlns:a16="http://schemas.microsoft.com/office/drawing/2014/main" id="{618E9D3C-DDDE-6600-506B-61B45ADDC840}"/>
            </a:ext>
          </a:extLst>
        </p:cNvPr>
        <p:cNvGrpSpPr/>
        <p:nvPr/>
      </p:nvGrpSpPr>
      <p:grpSpPr>
        <a:xfrm>
          <a:off x="0" y="0"/>
          <a:ext cx="0" cy="0"/>
          <a:chOff x="0" y="0"/>
          <a:chExt cx="0" cy="0"/>
        </a:xfrm>
      </p:grpSpPr>
      <p:sp>
        <p:nvSpPr>
          <p:cNvPr id="369" name="Google Shape;369;p46">
            <a:extLst>
              <a:ext uri="{FF2B5EF4-FFF2-40B4-BE49-F238E27FC236}">
                <a16:creationId xmlns:a16="http://schemas.microsoft.com/office/drawing/2014/main" id="{8B7FD88F-1C93-6CB6-C555-333FAB2EFC73}"/>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71" name="Google Shape;371;p46">
            <a:extLst>
              <a:ext uri="{FF2B5EF4-FFF2-40B4-BE49-F238E27FC236}">
                <a16:creationId xmlns:a16="http://schemas.microsoft.com/office/drawing/2014/main" id="{CEC4D99B-30AD-77E7-E99D-1289C31C1475}"/>
              </a:ext>
            </a:extLst>
          </p:cNvPr>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6" name="Google Shape;571;p70">
            <a:extLst>
              <a:ext uri="{FF2B5EF4-FFF2-40B4-BE49-F238E27FC236}">
                <a16:creationId xmlns:a16="http://schemas.microsoft.com/office/drawing/2014/main" id="{001CE288-5C67-35B7-7D2E-A4C7BACC8EAC}"/>
              </a:ext>
            </a:extLst>
          </p:cNvPr>
          <p:cNvSpPr txBox="1"/>
          <p:nvPr/>
        </p:nvSpPr>
        <p:spPr>
          <a:xfrm>
            <a:off x="344995" y="2212112"/>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dirty="0">
                <a:solidFill>
                  <a:srgbClr val="3D3D3D"/>
                </a:solidFill>
                <a:latin typeface="Cambria"/>
                <a:ea typeface="Cambria"/>
                <a:cs typeface="Cambria"/>
                <a:sym typeface="Cambria"/>
              </a:rPr>
              <a:t>Vista menú</a:t>
            </a:r>
            <a:endParaRPr sz="2000" b="0" i="0" u="none" strike="noStrike" cap="none" dirty="0">
              <a:solidFill>
                <a:srgbClr val="3D3D3D"/>
              </a:solidFill>
              <a:latin typeface="Cambria"/>
              <a:ea typeface="Cambria"/>
              <a:cs typeface="Cambria"/>
              <a:sym typeface="Cambria"/>
            </a:endParaRPr>
          </a:p>
        </p:txBody>
      </p:sp>
      <p:pic>
        <p:nvPicPr>
          <p:cNvPr id="7" name="Picture 6">
            <a:extLst>
              <a:ext uri="{FF2B5EF4-FFF2-40B4-BE49-F238E27FC236}">
                <a16:creationId xmlns:a16="http://schemas.microsoft.com/office/drawing/2014/main" id="{323B8135-90CB-5F06-4F04-0025B61771C0}"/>
              </a:ext>
            </a:extLst>
          </p:cNvPr>
          <p:cNvPicPr>
            <a:picLocks noChangeAspect="1"/>
          </p:cNvPicPr>
          <p:nvPr/>
        </p:nvPicPr>
        <p:blipFill>
          <a:blip r:embed="rId3"/>
          <a:stretch>
            <a:fillRect/>
          </a:stretch>
        </p:blipFill>
        <p:spPr>
          <a:xfrm>
            <a:off x="1332468" y="3096053"/>
            <a:ext cx="7171041" cy="3170195"/>
          </a:xfrm>
          <a:prstGeom prst="rect">
            <a:avLst/>
          </a:prstGeom>
        </p:spPr>
      </p:pic>
    </p:spTree>
    <p:extLst>
      <p:ext uri="{BB962C8B-B14F-4D97-AF65-F5344CB8AC3E}">
        <p14:creationId xmlns:p14="http://schemas.microsoft.com/office/powerpoint/2010/main" val="13180487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68">
          <a:extLst>
            <a:ext uri="{FF2B5EF4-FFF2-40B4-BE49-F238E27FC236}">
              <a16:creationId xmlns:a16="http://schemas.microsoft.com/office/drawing/2014/main" id="{C9E8968C-BBAD-9770-6094-3DEEE95BDC30}"/>
            </a:ext>
          </a:extLst>
        </p:cNvPr>
        <p:cNvGrpSpPr/>
        <p:nvPr/>
      </p:nvGrpSpPr>
      <p:grpSpPr>
        <a:xfrm>
          <a:off x="0" y="0"/>
          <a:ext cx="0" cy="0"/>
          <a:chOff x="0" y="0"/>
          <a:chExt cx="0" cy="0"/>
        </a:xfrm>
      </p:grpSpPr>
      <p:sp>
        <p:nvSpPr>
          <p:cNvPr id="369" name="Google Shape;369;p46">
            <a:extLst>
              <a:ext uri="{FF2B5EF4-FFF2-40B4-BE49-F238E27FC236}">
                <a16:creationId xmlns:a16="http://schemas.microsoft.com/office/drawing/2014/main" id="{DC2EFB7A-5143-5D8A-B6A0-CA8613FE62A9}"/>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71" name="Google Shape;371;p46">
            <a:extLst>
              <a:ext uri="{FF2B5EF4-FFF2-40B4-BE49-F238E27FC236}">
                <a16:creationId xmlns:a16="http://schemas.microsoft.com/office/drawing/2014/main" id="{E1C3D7B3-9DA2-F71B-ED38-2E65159BB3C7}"/>
              </a:ext>
            </a:extLst>
          </p:cNvPr>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6" name="Google Shape;571;p70">
            <a:extLst>
              <a:ext uri="{FF2B5EF4-FFF2-40B4-BE49-F238E27FC236}">
                <a16:creationId xmlns:a16="http://schemas.microsoft.com/office/drawing/2014/main" id="{1D8E22C8-DEF9-F2DC-D34E-196CEC267A51}"/>
              </a:ext>
            </a:extLst>
          </p:cNvPr>
          <p:cNvSpPr txBox="1"/>
          <p:nvPr/>
        </p:nvSpPr>
        <p:spPr>
          <a:xfrm>
            <a:off x="344995" y="2212112"/>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dirty="0">
                <a:solidFill>
                  <a:srgbClr val="3D3D3D"/>
                </a:solidFill>
                <a:latin typeface="Cambria"/>
                <a:ea typeface="Cambria"/>
                <a:cs typeface="Cambria"/>
                <a:sym typeface="Cambria"/>
              </a:rPr>
              <a:t>Vista menú</a:t>
            </a:r>
            <a:endParaRPr sz="2000" b="0" i="0" u="none" strike="noStrike" cap="none" dirty="0">
              <a:solidFill>
                <a:srgbClr val="3D3D3D"/>
              </a:solidFill>
              <a:latin typeface="Cambria"/>
              <a:ea typeface="Cambria"/>
              <a:cs typeface="Cambria"/>
              <a:sym typeface="Cambria"/>
            </a:endParaRPr>
          </a:p>
        </p:txBody>
      </p:sp>
      <p:pic>
        <p:nvPicPr>
          <p:cNvPr id="7" name="Picture 6">
            <a:extLst>
              <a:ext uri="{FF2B5EF4-FFF2-40B4-BE49-F238E27FC236}">
                <a16:creationId xmlns:a16="http://schemas.microsoft.com/office/drawing/2014/main" id="{FFE9AC60-E1CF-A07B-D3EA-B1DAB31962C6}"/>
              </a:ext>
            </a:extLst>
          </p:cNvPr>
          <p:cNvPicPr>
            <a:picLocks noChangeAspect="1"/>
          </p:cNvPicPr>
          <p:nvPr/>
        </p:nvPicPr>
        <p:blipFill>
          <a:blip r:embed="rId3"/>
          <a:stretch>
            <a:fillRect/>
          </a:stretch>
        </p:blipFill>
        <p:spPr>
          <a:xfrm>
            <a:off x="1332468" y="3096053"/>
            <a:ext cx="7171041" cy="3170195"/>
          </a:xfrm>
          <a:prstGeom prst="rect">
            <a:avLst/>
          </a:prstGeom>
        </p:spPr>
      </p:pic>
    </p:spTree>
    <p:extLst>
      <p:ext uri="{BB962C8B-B14F-4D97-AF65-F5344CB8AC3E}">
        <p14:creationId xmlns:p14="http://schemas.microsoft.com/office/powerpoint/2010/main" val="3013593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68">
          <a:extLst>
            <a:ext uri="{FF2B5EF4-FFF2-40B4-BE49-F238E27FC236}">
              <a16:creationId xmlns:a16="http://schemas.microsoft.com/office/drawing/2014/main" id="{55FDFE1C-8B7D-9768-FF49-D6B05D9A4772}"/>
            </a:ext>
          </a:extLst>
        </p:cNvPr>
        <p:cNvGrpSpPr/>
        <p:nvPr/>
      </p:nvGrpSpPr>
      <p:grpSpPr>
        <a:xfrm>
          <a:off x="0" y="0"/>
          <a:ext cx="0" cy="0"/>
          <a:chOff x="0" y="0"/>
          <a:chExt cx="0" cy="0"/>
        </a:xfrm>
      </p:grpSpPr>
      <p:sp>
        <p:nvSpPr>
          <p:cNvPr id="369" name="Google Shape;369;p46">
            <a:extLst>
              <a:ext uri="{FF2B5EF4-FFF2-40B4-BE49-F238E27FC236}">
                <a16:creationId xmlns:a16="http://schemas.microsoft.com/office/drawing/2014/main" id="{48F412CE-D56A-8CE0-9D4D-449D7D4161E1}"/>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DESARROLLO</a:t>
            </a:r>
            <a:endParaRPr dirty="0"/>
          </a:p>
        </p:txBody>
      </p:sp>
      <p:sp>
        <p:nvSpPr>
          <p:cNvPr id="371" name="Google Shape;371;p46">
            <a:extLst>
              <a:ext uri="{FF2B5EF4-FFF2-40B4-BE49-F238E27FC236}">
                <a16:creationId xmlns:a16="http://schemas.microsoft.com/office/drawing/2014/main" id="{F5FD0C8E-38F2-9CA4-F5FB-E696731A33B0}"/>
              </a:ext>
            </a:extLst>
          </p:cNvPr>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6" name="Google Shape;571;p70">
            <a:extLst>
              <a:ext uri="{FF2B5EF4-FFF2-40B4-BE49-F238E27FC236}">
                <a16:creationId xmlns:a16="http://schemas.microsoft.com/office/drawing/2014/main" id="{A87D7A9F-5120-FEC4-F8BC-D987F0B27B40}"/>
              </a:ext>
            </a:extLst>
          </p:cNvPr>
          <p:cNvSpPr txBox="1"/>
          <p:nvPr/>
        </p:nvSpPr>
        <p:spPr>
          <a:xfrm>
            <a:off x="344995" y="2212112"/>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dirty="0">
                <a:solidFill>
                  <a:srgbClr val="3D3D3D"/>
                </a:solidFill>
                <a:latin typeface="Cambria"/>
                <a:ea typeface="Cambria"/>
                <a:cs typeface="Cambria"/>
                <a:sym typeface="Cambria"/>
              </a:rPr>
              <a:t>Vista conversión realizada</a:t>
            </a:r>
            <a:endParaRPr sz="2000" b="0" i="0" u="none" strike="noStrike" cap="none" dirty="0">
              <a:solidFill>
                <a:srgbClr val="3D3D3D"/>
              </a:solidFill>
              <a:latin typeface="Cambria"/>
              <a:ea typeface="Cambria"/>
              <a:cs typeface="Cambria"/>
              <a:sym typeface="Cambria"/>
            </a:endParaRPr>
          </a:p>
        </p:txBody>
      </p:sp>
      <p:pic>
        <p:nvPicPr>
          <p:cNvPr id="3" name="Picture 2">
            <a:extLst>
              <a:ext uri="{FF2B5EF4-FFF2-40B4-BE49-F238E27FC236}">
                <a16:creationId xmlns:a16="http://schemas.microsoft.com/office/drawing/2014/main" id="{FBB7EEBA-BE38-F48A-A429-C807A0F979E9}"/>
              </a:ext>
            </a:extLst>
          </p:cNvPr>
          <p:cNvPicPr>
            <a:picLocks noChangeAspect="1"/>
          </p:cNvPicPr>
          <p:nvPr/>
        </p:nvPicPr>
        <p:blipFill>
          <a:blip r:embed="rId3"/>
          <a:stretch>
            <a:fillRect/>
          </a:stretch>
        </p:blipFill>
        <p:spPr>
          <a:xfrm>
            <a:off x="1465510" y="3206505"/>
            <a:ext cx="7033870" cy="2690093"/>
          </a:xfrm>
          <a:prstGeom prst="rect">
            <a:avLst/>
          </a:prstGeom>
        </p:spPr>
      </p:pic>
    </p:spTree>
    <p:extLst>
      <p:ext uri="{BB962C8B-B14F-4D97-AF65-F5344CB8AC3E}">
        <p14:creationId xmlns:p14="http://schemas.microsoft.com/office/powerpoint/2010/main" val="34293692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6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35" name="Google Shape;535;p66"/>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ESCRITORIO</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536" name="Google Shape;536;p66"/>
          <p:cNvSpPr txBox="1">
            <a:spLocks noGrp="1"/>
          </p:cNvSpPr>
          <p:nvPr>
            <p:ph type="body" idx="1"/>
          </p:nvPr>
        </p:nvSpPr>
        <p:spPr>
          <a:xfrm>
            <a:off x="603287" y="2062478"/>
            <a:ext cx="8589300" cy="1170900"/>
          </a:xfrm>
          <a:prstGeom prst="rect">
            <a:avLst/>
          </a:prstGeom>
          <a:noFill/>
          <a:ln>
            <a:noFill/>
          </a:ln>
        </p:spPr>
        <p:txBody>
          <a:bodyPr spcFirstLastPara="1" wrap="square" lIns="91425" tIns="45700" rIns="91425" bIns="45700" anchor="ctr" anchorCtr="0">
            <a:normAutofit/>
          </a:bodyPr>
          <a:lstStyle/>
          <a:p>
            <a:pPr marL="409197" lvl="0" indent="-285750" algn="just" rtl="0">
              <a:lnSpc>
                <a:spcPct val="107000"/>
              </a:lnSpc>
              <a:spcBef>
                <a:spcPts val="0"/>
              </a:spcBef>
              <a:spcAft>
                <a:spcPts val="0"/>
              </a:spcAft>
              <a:buSzPts val="1656"/>
              <a:buFont typeface="Arial" panose="020B0604020202020204" pitchFamily="34" charset="0"/>
              <a:buChar char="•"/>
            </a:pPr>
            <a:r>
              <a:rPr lang="es-ES" sz="1564" dirty="0">
                <a:latin typeface="Cambria"/>
                <a:ea typeface="Cambria"/>
                <a:cs typeface="Cambria"/>
                <a:sym typeface="Cambria"/>
              </a:rPr>
              <a:t>Para el cliente de escritorio se debe crear un proyecto WPF o Windows </a:t>
            </a:r>
            <a:r>
              <a:rPr lang="es-ES" sz="1564" dirty="0" err="1">
                <a:latin typeface="Cambria"/>
                <a:ea typeface="Cambria"/>
                <a:cs typeface="Cambria"/>
                <a:sym typeface="Cambria"/>
              </a:rPr>
              <a:t>Presentation</a:t>
            </a:r>
            <a:r>
              <a:rPr lang="es-ES" sz="1564" dirty="0">
                <a:latin typeface="Cambria"/>
                <a:ea typeface="Cambria"/>
                <a:cs typeface="Cambria"/>
                <a:sym typeface="Cambria"/>
              </a:rPr>
              <a:t> </a:t>
            </a:r>
            <a:r>
              <a:rPr lang="es-ES" sz="1564" dirty="0" err="1">
                <a:latin typeface="Cambria"/>
                <a:ea typeface="Cambria"/>
                <a:cs typeface="Cambria"/>
                <a:sym typeface="Cambria"/>
              </a:rPr>
              <a:t>Foundation</a:t>
            </a:r>
            <a:r>
              <a:rPr lang="es-ES" sz="1564" dirty="0">
                <a:latin typeface="Cambria"/>
                <a:ea typeface="Cambria"/>
                <a:cs typeface="Cambria"/>
                <a:sym typeface="Cambria"/>
              </a:rPr>
              <a:t>, el cual se inicializará y configurará para manejar el patrón arquitectónico MVC y las carpetas con el código respectivo</a:t>
            </a:r>
            <a:endParaRPr dirty="0">
              <a:latin typeface="Cambria"/>
              <a:ea typeface="Cambria"/>
              <a:cs typeface="Cambria"/>
              <a:sym typeface="Cambria"/>
            </a:endParaRPr>
          </a:p>
        </p:txBody>
      </p:sp>
      <p:sp>
        <p:nvSpPr>
          <p:cNvPr id="7" name="TextBox 6">
            <a:extLst>
              <a:ext uri="{FF2B5EF4-FFF2-40B4-BE49-F238E27FC236}">
                <a16:creationId xmlns:a16="http://schemas.microsoft.com/office/drawing/2014/main" id="{EF2CADB8-69AC-EDFA-0B55-D4A654EE905F}"/>
              </a:ext>
            </a:extLst>
          </p:cNvPr>
          <p:cNvSpPr txBox="1"/>
          <p:nvPr/>
        </p:nvSpPr>
        <p:spPr>
          <a:xfrm>
            <a:off x="704335" y="1902979"/>
            <a:ext cx="6104238" cy="318998"/>
          </a:xfrm>
          <a:prstGeom prst="rect">
            <a:avLst/>
          </a:prstGeom>
          <a:noFill/>
        </p:spPr>
        <p:txBody>
          <a:bodyPr wrap="square">
            <a:spAutoFit/>
          </a:bodyPr>
          <a:lstStyle/>
          <a:p>
            <a:pPr marL="0" lvl="0" indent="0" algn="l" rtl="0">
              <a:lnSpc>
                <a:spcPct val="115000"/>
              </a:lnSpc>
              <a:spcBef>
                <a:spcPts val="1200"/>
              </a:spcBef>
              <a:spcAft>
                <a:spcPts val="0"/>
              </a:spcAft>
              <a:buClr>
                <a:schemeClr val="dk1"/>
              </a:buClr>
              <a:buSzPct val="70332"/>
              <a:buFont typeface="Arial"/>
              <a:buNone/>
            </a:pPr>
            <a:r>
              <a:rPr lang="es-MX" sz="1400" b="1" dirty="0">
                <a:latin typeface="Cambria"/>
                <a:ea typeface="Cambria"/>
                <a:cs typeface="Cambria"/>
                <a:sym typeface="Cambria"/>
              </a:rPr>
              <a:t>1.4  CREACIÓN DEL PROYECTO CLIENTE ESCRITORIO</a:t>
            </a:r>
          </a:p>
        </p:txBody>
      </p:sp>
      <p:pic>
        <p:nvPicPr>
          <p:cNvPr id="3" name="Picture 2">
            <a:extLst>
              <a:ext uri="{FF2B5EF4-FFF2-40B4-BE49-F238E27FC236}">
                <a16:creationId xmlns:a16="http://schemas.microsoft.com/office/drawing/2014/main" id="{928BEB9E-1253-B002-F437-16C79A47AF8E}"/>
              </a:ext>
            </a:extLst>
          </p:cNvPr>
          <p:cNvPicPr>
            <a:picLocks noChangeAspect="1"/>
          </p:cNvPicPr>
          <p:nvPr/>
        </p:nvPicPr>
        <p:blipFill>
          <a:blip r:embed="rId3"/>
          <a:stretch>
            <a:fillRect/>
          </a:stretch>
        </p:blipFill>
        <p:spPr>
          <a:xfrm>
            <a:off x="5773181" y="3348256"/>
            <a:ext cx="2969887" cy="3118381"/>
          </a:xfrm>
          <a:prstGeom prst="rect">
            <a:avLst/>
          </a:prstGeom>
        </p:spPr>
      </p:pic>
      <p:pic>
        <p:nvPicPr>
          <p:cNvPr id="6" name="Picture 5">
            <a:extLst>
              <a:ext uri="{FF2B5EF4-FFF2-40B4-BE49-F238E27FC236}">
                <a16:creationId xmlns:a16="http://schemas.microsoft.com/office/drawing/2014/main" id="{ABD8CCDB-E501-3762-38AF-01914CE006A3}"/>
              </a:ext>
            </a:extLst>
          </p:cNvPr>
          <p:cNvPicPr>
            <a:picLocks noChangeAspect="1"/>
          </p:cNvPicPr>
          <p:nvPr/>
        </p:nvPicPr>
        <p:blipFill>
          <a:blip r:embed="rId4"/>
          <a:stretch>
            <a:fillRect/>
          </a:stretch>
        </p:blipFill>
        <p:spPr>
          <a:xfrm>
            <a:off x="458273" y="3348256"/>
            <a:ext cx="5052841" cy="3073258"/>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p6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45" name="Google Shape;545;p67"/>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lang="es-EC"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ESCRITORIO</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547" name="Google Shape;547;p67"/>
          <p:cNvGraphicFramePr/>
          <p:nvPr>
            <p:extLst>
              <p:ext uri="{D42A27DB-BD31-4B8C-83A1-F6EECF244321}">
                <p14:modId xmlns:p14="http://schemas.microsoft.com/office/powerpoint/2010/main" val="616674703"/>
              </p:ext>
            </p:extLst>
          </p:nvPr>
        </p:nvGraphicFramePr>
        <p:xfrm>
          <a:off x="1940435" y="2166597"/>
          <a:ext cx="3351270" cy="4023900"/>
        </p:xfrm>
        <a:graphic>
          <a:graphicData uri="http://schemas.openxmlformats.org/drawingml/2006/table">
            <a:tbl>
              <a:tblPr>
                <a:noFill/>
                <a:tableStyleId>{BF136021-7255-42B7-A7E7-87A8D8FFE9CA}</a:tableStyleId>
              </a:tblPr>
              <a:tblGrid>
                <a:gridCol w="3351270">
                  <a:extLst>
                    <a:ext uri="{9D8B030D-6E8A-4147-A177-3AD203B41FA5}">
                      <a16:colId xmlns:a16="http://schemas.microsoft.com/office/drawing/2014/main" val="20000"/>
                    </a:ext>
                  </a:extLst>
                </a:gridCol>
              </a:tblGrid>
              <a:tr h="4023900">
                <a:tc>
                  <a:txBody>
                    <a:bodyPr/>
                    <a:lstStyle/>
                    <a:p>
                      <a:pPr marL="0" lvl="0" indent="0" algn="l" rtl="0">
                        <a:lnSpc>
                          <a:spcPct val="144000"/>
                        </a:lnSpc>
                        <a:spcBef>
                          <a:spcPts val="0"/>
                        </a:spcBef>
                        <a:spcAft>
                          <a:spcPts val="0"/>
                        </a:spcAft>
                        <a:buNone/>
                      </a:pPr>
                      <a:r>
                        <a:rPr lang="es-EC" sz="900" dirty="0" err="1">
                          <a:solidFill>
                            <a:srgbClr val="4F81BD"/>
                          </a:solidFill>
                          <a:latin typeface="Calibri"/>
                          <a:ea typeface="Calibri"/>
                          <a:cs typeface="Calibri"/>
                          <a:sym typeface="Calibri"/>
                        </a:rPr>
                        <a:t>public</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class</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ConfiguracionCliente</a:t>
                      </a:r>
                      <a:endParaRPr lang="es-EC" sz="900" dirty="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 &lt;</a:t>
                      </a:r>
                      <a:r>
                        <a:rPr lang="es-EC" sz="900" dirty="0" err="1">
                          <a:solidFill>
                            <a:srgbClr val="4F81BD"/>
                          </a:solidFill>
                          <a:latin typeface="Calibri"/>
                          <a:ea typeface="Calibri"/>
                          <a:cs typeface="Calibri"/>
                          <a:sym typeface="Calibri"/>
                        </a:rPr>
                        <a:t>summary</a:t>
                      </a:r>
                      <a:r>
                        <a:rPr lang="es-EC" sz="900" dirty="0">
                          <a:solidFill>
                            <a:srgbClr val="4F81BD"/>
                          </a:solidFill>
                          <a:latin typeface="Calibri"/>
                          <a:ea typeface="Calibri"/>
                          <a:cs typeface="Calibri"/>
                          <a:sym typeface="Calibri"/>
                        </a:rPr>
                        <a:t>&gt;Valor por defecto: </a:t>
                      </a:r>
                      <a:r>
                        <a:rPr lang="es-EC" sz="900" dirty="0" err="1">
                          <a:solidFill>
                            <a:srgbClr val="4F81BD"/>
                          </a:solidFill>
                          <a:latin typeface="Calibri"/>
                          <a:ea typeface="Calibri"/>
                          <a:cs typeface="Calibri"/>
                          <a:sym typeface="Calibri"/>
                        </a:rPr>
                        <a:t>endpoint</a:t>
                      </a:r>
                      <a:r>
                        <a:rPr lang="es-EC" sz="900" dirty="0">
                          <a:solidFill>
                            <a:srgbClr val="4F81BD"/>
                          </a:solidFill>
                          <a:latin typeface="Calibri"/>
                          <a:ea typeface="Calibri"/>
                          <a:cs typeface="Calibri"/>
                          <a:sym typeface="Calibri"/>
                        </a:rPr>
                        <a:t> publicado por IIS Express del servidor.&lt;/</a:t>
                      </a:r>
                      <a:r>
                        <a:rPr lang="es-EC" sz="900" dirty="0" err="1">
                          <a:solidFill>
                            <a:srgbClr val="4F81BD"/>
                          </a:solidFill>
                          <a:latin typeface="Calibri"/>
                          <a:ea typeface="Calibri"/>
                          <a:cs typeface="Calibri"/>
                          <a:sym typeface="Calibri"/>
                        </a:rPr>
                        <a:t>summary</a:t>
                      </a:r>
                      <a:r>
                        <a:rPr lang="es-EC" sz="900" dirty="0">
                          <a:solidFill>
                            <a:srgbClr val="4F81BD"/>
                          </a:solidFill>
                          <a:latin typeface="Calibri"/>
                          <a:ea typeface="Calibri"/>
                          <a:cs typeface="Calibri"/>
                          <a:sym typeface="Calibri"/>
                        </a:rPr>
                        <a:t>&gt;</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public</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const</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string</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UrlEndpointPorDefecto</a:t>
                      </a: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"http://localhost:49159/Servicios/</a:t>
                      </a:r>
                      <a:r>
                        <a:rPr lang="es-EC" sz="900" dirty="0" err="1">
                          <a:solidFill>
                            <a:srgbClr val="4F81BD"/>
                          </a:solidFill>
                          <a:latin typeface="Calibri"/>
                          <a:ea typeface="Calibri"/>
                          <a:cs typeface="Calibri"/>
                          <a:sym typeface="Calibri"/>
                        </a:rPr>
                        <a:t>ServicioConversionUnidades.svc</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endParaRPr lang="es-EC" sz="900" dirty="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public</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string</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UrlEndpoint</a:t>
                      </a:r>
                      <a:r>
                        <a:rPr lang="es-EC" sz="900" dirty="0">
                          <a:solidFill>
                            <a:srgbClr val="4F81BD"/>
                          </a:solidFill>
                          <a:latin typeface="Calibri"/>
                          <a:ea typeface="Calibri"/>
                          <a:cs typeface="Calibri"/>
                          <a:sym typeface="Calibri"/>
                        </a:rPr>
                        <a:t> { </a:t>
                      </a:r>
                      <a:r>
                        <a:rPr lang="es-EC" sz="900" dirty="0" err="1">
                          <a:solidFill>
                            <a:srgbClr val="4F81BD"/>
                          </a:solidFill>
                          <a:latin typeface="Calibri"/>
                          <a:ea typeface="Calibri"/>
                          <a:cs typeface="Calibri"/>
                          <a:sym typeface="Calibri"/>
                        </a:rPr>
                        <a:t>get</a:t>
                      </a: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endParaRPr lang="es-EC" sz="900" dirty="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private</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ConfiguracionCliente</a:t>
                      </a:r>
                      <a:r>
                        <a:rPr lang="es-EC" sz="900" dirty="0">
                          <a:solidFill>
                            <a:srgbClr val="4F81BD"/>
                          </a:solidFill>
                          <a:latin typeface="Calibri"/>
                          <a:ea typeface="Calibri"/>
                          <a:cs typeface="Calibri"/>
                          <a:sym typeface="Calibri"/>
                        </a:rPr>
                        <a:t>(</a:t>
                      </a:r>
                      <a:r>
                        <a:rPr lang="es-EC" sz="900" dirty="0" err="1">
                          <a:solidFill>
                            <a:srgbClr val="4F81BD"/>
                          </a:solidFill>
                          <a:latin typeface="Calibri"/>
                          <a:ea typeface="Calibri"/>
                          <a:cs typeface="Calibri"/>
                          <a:sym typeface="Calibri"/>
                        </a:rPr>
                        <a:t>string</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urlEndpoint</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UrlEndpoint</a:t>
                      </a:r>
                      <a:r>
                        <a:rPr lang="es-EC" sz="900" dirty="0">
                          <a:solidFill>
                            <a:srgbClr val="4F81BD"/>
                          </a:solidFill>
                          <a:latin typeface="Calibri"/>
                          <a:ea typeface="Calibri"/>
                          <a:cs typeface="Calibri"/>
                          <a:sym typeface="Calibri"/>
                        </a:rPr>
                        <a:t> = </a:t>
                      </a:r>
                      <a:r>
                        <a:rPr lang="es-EC" sz="900" dirty="0" err="1">
                          <a:solidFill>
                            <a:srgbClr val="4F81BD"/>
                          </a:solidFill>
                          <a:latin typeface="Calibri"/>
                          <a:ea typeface="Calibri"/>
                          <a:cs typeface="Calibri"/>
                          <a:sym typeface="Calibri"/>
                        </a:rPr>
                        <a:t>urlEndpoint</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endParaRPr lang="es-EC" sz="900" dirty="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public</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static</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ConfiguracionCliente</a:t>
                      </a:r>
                      <a:r>
                        <a:rPr lang="es-EC" sz="900" dirty="0">
                          <a:solidFill>
                            <a:srgbClr val="4F81BD"/>
                          </a:solidFill>
                          <a:latin typeface="Calibri"/>
                          <a:ea typeface="Calibri"/>
                          <a:cs typeface="Calibri"/>
                          <a:sym typeface="Calibri"/>
                        </a:rPr>
                        <a:t> Cargar()</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string</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urlEndpoint</a:t>
                      </a:r>
                      <a:r>
                        <a:rPr lang="es-EC" sz="900" dirty="0">
                          <a:solidFill>
                            <a:srgbClr val="4F81BD"/>
                          </a:solidFill>
                          <a:latin typeface="Calibri"/>
                          <a:ea typeface="Calibri"/>
                          <a:cs typeface="Calibri"/>
                          <a:sym typeface="Calibri"/>
                        </a:rPr>
                        <a:t> = </a:t>
                      </a:r>
                      <a:r>
                        <a:rPr lang="es-EC" sz="900" dirty="0" err="1">
                          <a:solidFill>
                            <a:srgbClr val="4F81BD"/>
                          </a:solidFill>
                          <a:latin typeface="Calibri"/>
                          <a:ea typeface="Calibri"/>
                          <a:cs typeface="Calibri"/>
                          <a:sym typeface="Calibri"/>
                        </a:rPr>
                        <a:t>null</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endParaRPr lang="es-EC" sz="9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graphicFrame>
        <p:nvGraphicFramePr>
          <p:cNvPr id="4" name="Google Shape;547;p67">
            <a:extLst>
              <a:ext uri="{FF2B5EF4-FFF2-40B4-BE49-F238E27FC236}">
                <a16:creationId xmlns:a16="http://schemas.microsoft.com/office/drawing/2014/main" id="{A67D1364-BD2F-E428-B2CB-FA95B82F5E06}"/>
              </a:ext>
            </a:extLst>
          </p:cNvPr>
          <p:cNvGraphicFramePr/>
          <p:nvPr>
            <p:extLst>
              <p:ext uri="{D42A27DB-BD31-4B8C-83A1-F6EECF244321}">
                <p14:modId xmlns:p14="http://schemas.microsoft.com/office/powerpoint/2010/main" val="1163823179"/>
              </p:ext>
            </p:extLst>
          </p:nvPr>
        </p:nvGraphicFramePr>
        <p:xfrm>
          <a:off x="5394152" y="1837551"/>
          <a:ext cx="3887097" cy="4452493"/>
        </p:xfrm>
        <a:graphic>
          <a:graphicData uri="http://schemas.openxmlformats.org/drawingml/2006/table">
            <a:tbl>
              <a:tblPr>
                <a:noFill/>
                <a:tableStyleId>{BF136021-7255-42B7-A7E7-87A8D8FFE9CA}</a:tableStyleId>
              </a:tblPr>
              <a:tblGrid>
                <a:gridCol w="3887097">
                  <a:extLst>
                    <a:ext uri="{9D8B030D-6E8A-4147-A177-3AD203B41FA5}">
                      <a16:colId xmlns:a16="http://schemas.microsoft.com/office/drawing/2014/main" val="20000"/>
                    </a:ext>
                  </a:extLst>
                </a:gridCol>
              </a:tblGrid>
              <a:tr h="4023900">
                <a:tc>
                  <a:txBody>
                    <a:bodyPr/>
                    <a:lstStyle/>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try</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IConfiguration</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configuracion</a:t>
                      </a:r>
                      <a:r>
                        <a:rPr lang="es-EC" sz="900" dirty="0">
                          <a:solidFill>
                            <a:srgbClr val="4F81BD"/>
                          </a:solidFill>
                          <a:latin typeface="Calibri"/>
                          <a:ea typeface="Calibri"/>
                          <a:cs typeface="Calibri"/>
                          <a:sym typeface="Calibri"/>
                        </a:rPr>
                        <a:t> = new </a:t>
                      </a:r>
                      <a:r>
                        <a:rPr lang="es-EC" sz="900" dirty="0" err="1">
                          <a:solidFill>
                            <a:srgbClr val="4F81BD"/>
                          </a:solidFill>
                          <a:latin typeface="Calibri"/>
                          <a:ea typeface="Calibri"/>
                          <a:cs typeface="Calibri"/>
                          <a:sym typeface="Calibri"/>
                        </a:rPr>
                        <a:t>ConfigurationBuilder</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SetBasePath</a:t>
                      </a:r>
                      <a:r>
                        <a:rPr lang="es-EC" sz="900" dirty="0">
                          <a:solidFill>
                            <a:srgbClr val="4F81BD"/>
                          </a:solidFill>
                          <a:latin typeface="Calibri"/>
                          <a:ea typeface="Calibri"/>
                          <a:cs typeface="Calibri"/>
                          <a:sym typeface="Calibri"/>
                        </a:rPr>
                        <a:t>(</a:t>
                      </a:r>
                      <a:r>
                        <a:rPr lang="es-EC" sz="900" dirty="0" err="1">
                          <a:solidFill>
                            <a:srgbClr val="4F81BD"/>
                          </a:solidFill>
                          <a:latin typeface="Calibri"/>
                          <a:ea typeface="Calibri"/>
                          <a:cs typeface="Calibri"/>
                          <a:sym typeface="Calibri"/>
                        </a:rPr>
                        <a:t>AppContext.BaseDirectory</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AddJsonFile</a:t>
                      </a:r>
                      <a:r>
                        <a:rPr lang="es-EC" sz="900" dirty="0">
                          <a:solidFill>
                            <a:srgbClr val="4F81BD"/>
                          </a:solidFill>
                          <a:latin typeface="Calibri"/>
                          <a:ea typeface="Calibri"/>
                          <a:cs typeface="Calibri"/>
                          <a:sym typeface="Calibri"/>
                        </a:rPr>
                        <a:t>("</a:t>
                      </a:r>
                      <a:r>
                        <a:rPr lang="es-EC" sz="900" dirty="0" err="1">
                          <a:solidFill>
                            <a:srgbClr val="4F81BD"/>
                          </a:solidFill>
                          <a:latin typeface="Calibri"/>
                          <a:ea typeface="Calibri"/>
                          <a:cs typeface="Calibri"/>
                          <a:sym typeface="Calibri"/>
                        </a:rPr>
                        <a:t>appsettings.json</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optional</a:t>
                      </a:r>
                      <a:r>
                        <a:rPr lang="es-EC" sz="900" dirty="0">
                          <a:solidFill>
                            <a:srgbClr val="4F81BD"/>
                          </a:solidFill>
                          <a:latin typeface="Calibri"/>
                          <a:ea typeface="Calibri"/>
                          <a:cs typeface="Calibri"/>
                          <a:sym typeface="Calibri"/>
                        </a:rPr>
                        <a:t>: true, </a:t>
                      </a:r>
                      <a:r>
                        <a:rPr lang="es-EC" sz="900" dirty="0" err="1">
                          <a:solidFill>
                            <a:srgbClr val="4F81BD"/>
                          </a:solidFill>
                          <a:latin typeface="Calibri"/>
                          <a:ea typeface="Calibri"/>
                          <a:cs typeface="Calibri"/>
                          <a:sym typeface="Calibri"/>
                        </a:rPr>
                        <a:t>reloadOnChange</a:t>
                      </a:r>
                      <a:r>
                        <a:rPr lang="es-EC" sz="900" dirty="0">
                          <a:solidFill>
                            <a:srgbClr val="4F81BD"/>
                          </a:solidFill>
                          <a:latin typeface="Calibri"/>
                          <a:ea typeface="Calibri"/>
                          <a:cs typeface="Calibri"/>
                          <a:sym typeface="Calibri"/>
                        </a:rPr>
                        <a:t>: false)</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Build</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endParaRPr lang="es-EC" sz="900" dirty="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urlEndpoint</a:t>
                      </a:r>
                      <a:r>
                        <a:rPr lang="es-EC" sz="900" dirty="0">
                          <a:solidFill>
                            <a:srgbClr val="4F81BD"/>
                          </a:solidFill>
                          <a:latin typeface="Calibri"/>
                          <a:ea typeface="Calibri"/>
                          <a:cs typeface="Calibri"/>
                          <a:sym typeface="Calibri"/>
                        </a:rPr>
                        <a:t> = </a:t>
                      </a:r>
                      <a:r>
                        <a:rPr lang="es-EC" sz="900" dirty="0" err="1">
                          <a:solidFill>
                            <a:srgbClr val="4F81BD"/>
                          </a:solidFill>
                          <a:latin typeface="Calibri"/>
                          <a:ea typeface="Calibri"/>
                          <a:cs typeface="Calibri"/>
                          <a:sym typeface="Calibri"/>
                        </a:rPr>
                        <a:t>configuracion</a:t>
                      </a:r>
                      <a:r>
                        <a:rPr lang="es-EC" sz="900" dirty="0">
                          <a:solidFill>
                            <a:srgbClr val="4F81BD"/>
                          </a:solidFill>
                          <a:latin typeface="Calibri"/>
                          <a:ea typeface="Calibri"/>
                          <a:cs typeface="Calibri"/>
                          <a:sym typeface="Calibri"/>
                        </a:rPr>
                        <a:t>["</a:t>
                      </a:r>
                      <a:r>
                        <a:rPr lang="es-EC" sz="900" dirty="0" err="1">
                          <a:solidFill>
                            <a:srgbClr val="4F81BD"/>
                          </a:solidFill>
                          <a:latin typeface="Calibri"/>
                          <a:ea typeface="Calibri"/>
                          <a:cs typeface="Calibri"/>
                          <a:sym typeface="Calibri"/>
                        </a:rPr>
                        <a:t>Servicio:UrlEndpoint</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catch (</a:t>
                      </a:r>
                      <a:r>
                        <a:rPr lang="es-EC" sz="900" dirty="0" err="1">
                          <a:solidFill>
                            <a:srgbClr val="4F81BD"/>
                          </a:solidFill>
                          <a:latin typeface="Calibri"/>
                          <a:ea typeface="Calibri"/>
                          <a:cs typeface="Calibri"/>
                          <a:sym typeface="Calibri"/>
                        </a:rPr>
                        <a:t>Exception</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 Si el archivo no se puede leer se usa el </a:t>
                      </a:r>
                      <a:r>
                        <a:rPr lang="es-EC" sz="900" dirty="0" err="1">
                          <a:solidFill>
                            <a:srgbClr val="4F81BD"/>
                          </a:solidFill>
                          <a:latin typeface="Calibri"/>
                          <a:ea typeface="Calibri"/>
                          <a:cs typeface="Calibri"/>
                          <a:sym typeface="Calibri"/>
                        </a:rPr>
                        <a:t>endpoint</a:t>
                      </a:r>
                      <a:r>
                        <a:rPr lang="es-EC" sz="900" dirty="0">
                          <a:solidFill>
                            <a:srgbClr val="4F81BD"/>
                          </a:solidFill>
                          <a:latin typeface="Calibri"/>
                          <a:ea typeface="Calibri"/>
                          <a:cs typeface="Calibri"/>
                          <a:sym typeface="Calibri"/>
                        </a:rPr>
                        <a:t> por defecto.</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endParaRPr lang="es-EC" sz="900" dirty="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if</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string.IsNullOrWhiteSpace</a:t>
                      </a:r>
                      <a:r>
                        <a:rPr lang="es-EC" sz="900" dirty="0">
                          <a:solidFill>
                            <a:srgbClr val="4F81BD"/>
                          </a:solidFill>
                          <a:latin typeface="Calibri"/>
                          <a:ea typeface="Calibri"/>
                          <a:cs typeface="Calibri"/>
                          <a:sym typeface="Calibri"/>
                        </a:rPr>
                        <a:t>(</a:t>
                      </a:r>
                      <a:r>
                        <a:rPr lang="es-EC" sz="900" dirty="0" err="1">
                          <a:solidFill>
                            <a:srgbClr val="4F81BD"/>
                          </a:solidFill>
                          <a:latin typeface="Calibri"/>
                          <a:ea typeface="Calibri"/>
                          <a:cs typeface="Calibri"/>
                          <a:sym typeface="Calibri"/>
                        </a:rPr>
                        <a:t>urlEndpoint</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urlEndpoint</a:t>
                      </a:r>
                      <a:r>
                        <a:rPr lang="es-EC" sz="900" dirty="0">
                          <a:solidFill>
                            <a:srgbClr val="4F81BD"/>
                          </a:solidFill>
                          <a:latin typeface="Calibri"/>
                          <a:ea typeface="Calibri"/>
                          <a:cs typeface="Calibri"/>
                          <a:sym typeface="Calibri"/>
                        </a:rPr>
                        <a:t> = </a:t>
                      </a:r>
                      <a:r>
                        <a:rPr lang="es-EC" sz="900" dirty="0" err="1">
                          <a:solidFill>
                            <a:srgbClr val="4F81BD"/>
                          </a:solidFill>
                          <a:latin typeface="Calibri"/>
                          <a:ea typeface="Calibri"/>
                          <a:cs typeface="Calibri"/>
                          <a:sym typeface="Calibri"/>
                        </a:rPr>
                        <a:t>UrlEndpointPorDefecto</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endParaRPr lang="es-EC" sz="900" dirty="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return</a:t>
                      </a:r>
                      <a:r>
                        <a:rPr lang="es-EC" sz="900" dirty="0">
                          <a:solidFill>
                            <a:srgbClr val="4F81BD"/>
                          </a:solidFill>
                          <a:latin typeface="Calibri"/>
                          <a:ea typeface="Calibri"/>
                          <a:cs typeface="Calibri"/>
                          <a:sym typeface="Calibri"/>
                        </a:rPr>
                        <a:t> new </a:t>
                      </a:r>
                      <a:r>
                        <a:rPr lang="es-EC" sz="900" dirty="0" err="1">
                          <a:solidFill>
                            <a:srgbClr val="4F81BD"/>
                          </a:solidFill>
                          <a:latin typeface="Calibri"/>
                          <a:ea typeface="Calibri"/>
                          <a:cs typeface="Calibri"/>
                          <a:sym typeface="Calibri"/>
                        </a:rPr>
                        <a:t>ConfiguracionCliente</a:t>
                      </a:r>
                      <a:r>
                        <a:rPr lang="es-EC" sz="900" dirty="0">
                          <a:solidFill>
                            <a:srgbClr val="4F81BD"/>
                          </a:solidFill>
                          <a:latin typeface="Calibri"/>
                          <a:ea typeface="Calibri"/>
                          <a:cs typeface="Calibri"/>
                          <a:sym typeface="Calibri"/>
                        </a:rPr>
                        <a:t>(</a:t>
                      </a:r>
                      <a:r>
                        <a:rPr lang="es-EC" sz="900" dirty="0" err="1">
                          <a:solidFill>
                            <a:srgbClr val="4F81BD"/>
                          </a:solidFill>
                          <a:latin typeface="Calibri"/>
                          <a:ea typeface="Calibri"/>
                          <a:cs typeface="Calibri"/>
                          <a:sym typeface="Calibri"/>
                        </a:rPr>
                        <a:t>urlEndpoint.Trim</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a:t>
                      </a:r>
                    </a:p>
                  </a:txBody>
                  <a:tcPr marL="63500" marR="63500" marT="63500" marB="63500"/>
                </a:tc>
                <a:extLst>
                  <a:ext uri="{0D108BD9-81ED-4DB2-BD59-A6C34878D82A}">
                    <a16:rowId xmlns:a16="http://schemas.microsoft.com/office/drawing/2014/main" val="10000"/>
                  </a:ext>
                </a:extLst>
              </a:tr>
            </a:tbl>
          </a:graphicData>
        </a:graphic>
      </p:graphicFrame>
      <p:sp>
        <p:nvSpPr>
          <p:cNvPr id="5" name="Google Shape;319;p40">
            <a:extLst>
              <a:ext uri="{FF2B5EF4-FFF2-40B4-BE49-F238E27FC236}">
                <a16:creationId xmlns:a16="http://schemas.microsoft.com/office/drawing/2014/main" id="{90E606E2-56E3-1D77-8B34-317086E79A6F}"/>
              </a:ext>
            </a:extLst>
          </p:cNvPr>
          <p:cNvSpPr txBox="1">
            <a:spLocks noGrp="1"/>
          </p:cNvSpPr>
          <p:nvPr>
            <p:ph type="body" idx="1"/>
          </p:nvPr>
        </p:nvSpPr>
        <p:spPr>
          <a:xfrm>
            <a:off x="-1" y="1837551"/>
            <a:ext cx="1940435" cy="4447919"/>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400" dirty="0">
                <a:solidFill>
                  <a:schemeClr val="dk1"/>
                </a:solidFill>
                <a:latin typeface="Calibri"/>
                <a:ea typeface="Calibri"/>
                <a:cs typeface="Calibri"/>
                <a:sym typeface="Calibri"/>
              </a:rPr>
              <a:t>A continuación se detallarán las clases principales con su código fuente.</a:t>
            </a:r>
            <a:endParaRPr sz="1400" dirty="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400" dirty="0">
              <a:latin typeface="Cambria"/>
              <a:ea typeface="Cambria"/>
              <a:cs typeface="Cambria"/>
              <a:sym typeface="Cambri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6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53" name="Google Shape;553;p68"/>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ESCRITORIO</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555" name="Google Shape;555;p68"/>
          <p:cNvGraphicFramePr/>
          <p:nvPr>
            <p:extLst>
              <p:ext uri="{D42A27DB-BD31-4B8C-83A1-F6EECF244321}">
                <p14:modId xmlns:p14="http://schemas.microsoft.com/office/powerpoint/2010/main" val="58944294"/>
              </p:ext>
            </p:extLst>
          </p:nvPr>
        </p:nvGraphicFramePr>
        <p:xfrm>
          <a:off x="3074244" y="2136238"/>
          <a:ext cx="4170363" cy="4254119"/>
        </p:xfrm>
        <a:graphic>
          <a:graphicData uri="http://schemas.openxmlformats.org/drawingml/2006/table">
            <a:tbl>
              <a:tblPr>
                <a:noFill/>
                <a:tableStyleId>{BF136021-7255-42B7-A7E7-87A8D8FFE9CA}</a:tableStyleId>
              </a:tblPr>
              <a:tblGrid>
                <a:gridCol w="4170363">
                  <a:extLst>
                    <a:ext uri="{9D8B030D-6E8A-4147-A177-3AD203B41FA5}">
                      <a16:colId xmlns:a16="http://schemas.microsoft.com/office/drawing/2014/main" val="20000"/>
                    </a:ext>
                  </a:extLst>
                </a:gridCol>
              </a:tblGrid>
              <a:tr h="4023900">
                <a:tc>
                  <a:txBody>
                    <a:bodyPr/>
                    <a:lstStyle/>
                    <a:p>
                      <a:pPr marL="0" lvl="0" indent="0" algn="l" rtl="0">
                        <a:lnSpc>
                          <a:spcPct val="144000"/>
                        </a:lnSpc>
                        <a:spcBef>
                          <a:spcPts val="0"/>
                        </a:spcBef>
                        <a:spcAft>
                          <a:spcPts val="0"/>
                        </a:spcAft>
                        <a:buNone/>
                      </a:pPr>
                      <a:r>
                        <a:rPr lang="es-ES" sz="900" dirty="0" err="1">
                          <a:solidFill>
                            <a:srgbClr val="4F81BD"/>
                          </a:solidFill>
                          <a:latin typeface="Calibri"/>
                          <a:ea typeface="Calibri"/>
                          <a:cs typeface="Calibri"/>
                          <a:sym typeface="Calibri"/>
                        </a:rPr>
                        <a:t>public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class</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ControladorInicioSesion</a:t>
                      </a:r>
                      <a:endParaRPr lang="es-ES" sz="900" dirty="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public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const</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string</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MensajeUsuarioVacio</a:t>
                      </a:r>
                      <a:r>
                        <a:rPr lang="es-ES" sz="900" dirty="0">
                          <a:solidFill>
                            <a:srgbClr val="4F81BD"/>
                          </a:solidFill>
                          <a:latin typeface="Calibri"/>
                          <a:ea typeface="Calibri"/>
                          <a:cs typeface="Calibri"/>
                          <a:sym typeface="Calibri"/>
                        </a:rPr>
                        <a:t> = "El usuario no puede estar vacío";</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public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const</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string</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MensajeContrasenaVacia</a:t>
                      </a:r>
                      <a:r>
                        <a:rPr lang="es-ES" sz="900" dirty="0">
                          <a:solidFill>
                            <a:srgbClr val="4F81BD"/>
                          </a:solidFill>
                          <a:latin typeface="Calibri"/>
                          <a:ea typeface="Calibri"/>
                          <a:cs typeface="Calibri"/>
                          <a:sym typeface="Calibri"/>
                        </a:rPr>
                        <a:t> = "La contraseña no puede estar vacía";</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private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readonly</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ClienteSoapConversion</a:t>
                      </a:r>
                      <a:r>
                        <a:rPr lang="es-ES" sz="900" dirty="0">
                          <a:solidFill>
                            <a:srgbClr val="4F81BD"/>
                          </a:solidFill>
                          <a:latin typeface="Calibri"/>
                          <a:ea typeface="Calibri"/>
                          <a:cs typeface="Calibri"/>
                          <a:sym typeface="Calibri"/>
                        </a:rPr>
                        <a:t> _servicio;</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private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readonly</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SesionActual</a:t>
                      </a:r>
                      <a:r>
                        <a:rPr lang="es-ES" sz="900" dirty="0">
                          <a:solidFill>
                            <a:srgbClr val="4F81BD"/>
                          </a:solidFill>
                          <a:latin typeface="Calibri"/>
                          <a:ea typeface="Calibri"/>
                          <a:cs typeface="Calibri"/>
                          <a:sym typeface="Calibri"/>
                        </a:rPr>
                        <a:t> _</a:t>
                      </a:r>
                      <a:r>
                        <a:rPr lang="es-ES" sz="900" dirty="0" err="1">
                          <a:solidFill>
                            <a:srgbClr val="4F81BD"/>
                          </a:solidFill>
                          <a:latin typeface="Calibri"/>
                          <a:ea typeface="Calibri"/>
                          <a:cs typeface="Calibri"/>
                          <a:sym typeface="Calibri"/>
                        </a:rPr>
                        <a:t>sesion</a:t>
                      </a:r>
                      <a:r>
                        <a:rPr lang="es-ES"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public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ControladorInicioSesion</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ClienteSoapConversion</a:t>
                      </a:r>
                      <a:r>
                        <a:rPr lang="es-ES" sz="900" dirty="0">
                          <a:solidFill>
                            <a:srgbClr val="4F81BD"/>
                          </a:solidFill>
                          <a:latin typeface="Calibri"/>
                          <a:ea typeface="Calibri"/>
                          <a:cs typeface="Calibri"/>
                          <a:sym typeface="Calibri"/>
                        </a:rPr>
                        <a:t> servicio, </a:t>
                      </a:r>
                      <a:r>
                        <a:rPr lang="es-ES" sz="900" dirty="0" err="1">
                          <a:solidFill>
                            <a:srgbClr val="4F81BD"/>
                          </a:solidFill>
                          <a:latin typeface="Calibri"/>
                          <a:ea typeface="Calibri"/>
                          <a:cs typeface="Calibri"/>
                          <a:sym typeface="Calibri"/>
                        </a:rPr>
                        <a:t>SesionActual</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sesion</a:t>
                      </a:r>
                      <a:r>
                        <a:rPr lang="es-ES"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_servicio = servicio;</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_</a:t>
                      </a:r>
                      <a:r>
                        <a:rPr lang="es-ES" sz="900" dirty="0" err="1">
                          <a:solidFill>
                            <a:srgbClr val="4F81BD"/>
                          </a:solidFill>
                          <a:latin typeface="Calibri"/>
                          <a:ea typeface="Calibri"/>
                          <a:cs typeface="Calibri"/>
                          <a:sym typeface="Calibri"/>
                        </a:rPr>
                        <a:t>sesion</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sesion</a:t>
                      </a:r>
                      <a:r>
                        <a:rPr lang="es-ES"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public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string</a:t>
                      </a:r>
                      <a:r>
                        <a:rPr lang="es-ES" sz="900" dirty="0">
                          <a:solidFill>
                            <a:srgbClr val="4F81BD"/>
                          </a:solidFill>
                          <a:latin typeface="Calibri"/>
                          <a:ea typeface="Calibri"/>
                          <a:cs typeface="Calibri"/>
                          <a:sym typeface="Calibri"/>
                        </a:rPr>
                        <a:t> Usuario { </a:t>
                      </a:r>
                      <a:r>
                        <a:rPr lang="es-ES" sz="900" dirty="0" err="1">
                          <a:solidFill>
                            <a:srgbClr val="4F81BD"/>
                          </a:solidFill>
                          <a:latin typeface="Calibri"/>
                          <a:ea typeface="Calibri"/>
                          <a:cs typeface="Calibri"/>
                          <a:sym typeface="Calibri"/>
                        </a:rPr>
                        <a:t>get</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private</a:t>
                      </a:r>
                      <a:r>
                        <a:rPr lang="es-ES" sz="900" dirty="0">
                          <a:solidFill>
                            <a:srgbClr val="4F81BD"/>
                          </a:solidFill>
                          <a:latin typeface="Calibri"/>
                          <a:ea typeface="Calibri"/>
                          <a:cs typeface="Calibri"/>
                          <a:sym typeface="Calibri"/>
                        </a:rPr>
                        <a:t> set; } = </a:t>
                      </a:r>
                      <a:r>
                        <a:rPr lang="es-ES" sz="900" dirty="0" err="1">
                          <a:solidFill>
                            <a:srgbClr val="4F81BD"/>
                          </a:solidFill>
                          <a:latin typeface="Calibri"/>
                          <a:ea typeface="Calibri"/>
                          <a:cs typeface="Calibri"/>
                          <a:sym typeface="Calibri"/>
                        </a:rPr>
                        <a:t>string.Empty</a:t>
                      </a:r>
                      <a:r>
                        <a:rPr lang="es-ES"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endParaRPr lang="es-ES" sz="900" dirty="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public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string</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Contrasena</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get</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private</a:t>
                      </a:r>
                      <a:r>
                        <a:rPr lang="es-ES" sz="900" dirty="0">
                          <a:solidFill>
                            <a:srgbClr val="4F81BD"/>
                          </a:solidFill>
                          <a:latin typeface="Calibri"/>
                          <a:ea typeface="Calibri"/>
                          <a:cs typeface="Calibri"/>
                          <a:sym typeface="Calibri"/>
                        </a:rPr>
                        <a:t> set; } = </a:t>
                      </a:r>
                      <a:r>
                        <a:rPr lang="es-ES" sz="900" dirty="0" err="1">
                          <a:solidFill>
                            <a:srgbClr val="4F81BD"/>
                          </a:solidFill>
                          <a:latin typeface="Calibri"/>
                          <a:ea typeface="Calibri"/>
                          <a:cs typeface="Calibri"/>
                          <a:sym typeface="Calibri"/>
                        </a:rPr>
                        <a:t>string.Empty</a:t>
                      </a:r>
                      <a:r>
                        <a:rPr lang="es-ES"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endParaRPr lang="es-ES" sz="900" dirty="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public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bool</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PuedeIniciarSesion</a:t>
                      </a:r>
                      <a:r>
                        <a:rPr lang="es-ES" sz="900" dirty="0">
                          <a:solidFill>
                            <a:srgbClr val="4F81BD"/>
                          </a:solidFill>
                          <a:latin typeface="Calibri"/>
                          <a:ea typeface="Calibri"/>
                          <a:cs typeface="Calibri"/>
                          <a:sym typeface="Calibri"/>
                        </a:rPr>
                        <a:t> =&gt;</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string.IsNullOrWhiteSpace</a:t>
                      </a:r>
                      <a:r>
                        <a:rPr lang="es-ES" sz="900" dirty="0">
                          <a:solidFill>
                            <a:srgbClr val="4F81BD"/>
                          </a:solidFill>
                          <a:latin typeface="Calibri"/>
                          <a:ea typeface="Calibri"/>
                          <a:cs typeface="Calibri"/>
                          <a:sym typeface="Calibri"/>
                        </a:rPr>
                        <a:t>(Usuario) &amp;&amp; !</a:t>
                      </a:r>
                      <a:r>
                        <a:rPr lang="es-ES" sz="900" dirty="0" err="1">
                          <a:solidFill>
                            <a:srgbClr val="4F81BD"/>
                          </a:solidFill>
                          <a:latin typeface="Calibri"/>
                          <a:ea typeface="Calibri"/>
                          <a:cs typeface="Calibri"/>
                          <a:sym typeface="Calibri"/>
                        </a:rPr>
                        <a:t>string.IsNullOrEmpty</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Contrasena</a:t>
                      </a:r>
                      <a:r>
                        <a:rPr lang="es-ES"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public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string</a:t>
                      </a:r>
                      <a:r>
                        <a:rPr lang="es-ES" sz="900" dirty="0">
                          <a:solidFill>
                            <a:srgbClr val="4F81BD"/>
                          </a:solidFill>
                          <a:latin typeface="Calibri"/>
                          <a:ea typeface="Calibri"/>
                          <a:cs typeface="Calibri"/>
                          <a:sym typeface="Calibri"/>
                        </a:rPr>
                        <a:t>? Mensaje { </a:t>
                      </a:r>
                      <a:r>
                        <a:rPr lang="es-ES" sz="900" dirty="0" err="1">
                          <a:solidFill>
                            <a:srgbClr val="4F81BD"/>
                          </a:solidFill>
                          <a:latin typeface="Calibri"/>
                          <a:ea typeface="Calibri"/>
                          <a:cs typeface="Calibri"/>
                          <a:sym typeface="Calibri"/>
                        </a:rPr>
                        <a:t>get</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private</a:t>
                      </a:r>
                      <a:r>
                        <a:rPr lang="es-ES" sz="900" dirty="0">
                          <a:solidFill>
                            <a:srgbClr val="4F81BD"/>
                          </a:solidFill>
                          <a:latin typeface="Calibri"/>
                          <a:ea typeface="Calibri"/>
                          <a:cs typeface="Calibri"/>
                          <a:sym typeface="Calibri"/>
                        </a:rPr>
                        <a:t> set;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public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bool</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EsError</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get</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private</a:t>
                      </a:r>
                      <a:r>
                        <a:rPr lang="es-ES" sz="900" dirty="0">
                          <a:solidFill>
                            <a:srgbClr val="4F81BD"/>
                          </a:solidFill>
                          <a:latin typeface="Calibri"/>
                          <a:ea typeface="Calibri"/>
                          <a:cs typeface="Calibri"/>
                          <a:sym typeface="Calibri"/>
                        </a:rPr>
                        <a:t> set;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public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event</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Action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InicioSesionExitoso</a:t>
                      </a:r>
                      <a:r>
                        <a:rPr lang="es-ES" sz="900" dirty="0">
                          <a:solidFill>
                            <a:srgbClr val="4F81BD"/>
                          </a:solidFill>
                          <a:latin typeface="Calibri"/>
                          <a:ea typeface="Calibri"/>
                          <a:cs typeface="Calibri"/>
                          <a:sym typeface="Calibri"/>
                        </a:rPr>
                        <a:t>;            </a:t>
                      </a:r>
                      <a:endParaRPr sz="900" dirty="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endParaRPr sz="1100" dirty="0">
                        <a:solidFill>
                          <a:schemeClr val="dk1"/>
                        </a:solidFill>
                      </a:endParaRPr>
                    </a:p>
                  </a:txBody>
                  <a:tcPr marL="63500" marR="63500" marT="63500" marB="63500"/>
                </a:tc>
                <a:extLst>
                  <a:ext uri="{0D108BD9-81ED-4DB2-BD59-A6C34878D82A}">
                    <a16:rowId xmlns:a16="http://schemas.microsoft.com/office/drawing/2014/main" val="10000"/>
                  </a:ext>
                </a:extLst>
              </a:tr>
            </a:tbl>
          </a:graphicData>
        </a:graphic>
      </p:graphicFrame>
      <p:sp>
        <p:nvSpPr>
          <p:cNvPr id="4" name="Google Shape;319;p40">
            <a:extLst>
              <a:ext uri="{FF2B5EF4-FFF2-40B4-BE49-F238E27FC236}">
                <a16:creationId xmlns:a16="http://schemas.microsoft.com/office/drawing/2014/main" id="{3E5A9CED-F171-E838-6853-A7AC2D6B416B}"/>
              </a:ext>
            </a:extLst>
          </p:cNvPr>
          <p:cNvSpPr txBox="1">
            <a:spLocks noGrp="1"/>
          </p:cNvSpPr>
          <p:nvPr>
            <p:ph type="body" idx="1"/>
          </p:nvPr>
        </p:nvSpPr>
        <p:spPr>
          <a:xfrm>
            <a:off x="172993" y="2136238"/>
            <a:ext cx="1940435" cy="4447919"/>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400" dirty="0">
                <a:solidFill>
                  <a:schemeClr val="dk1"/>
                </a:solidFill>
                <a:latin typeface="Calibri"/>
                <a:ea typeface="Calibri"/>
                <a:cs typeface="Calibri"/>
                <a:sym typeface="Calibri"/>
              </a:rPr>
              <a:t>A continuación se detallarán las clases principales con su código fuente.</a:t>
            </a:r>
            <a:endParaRPr sz="1400" dirty="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400" dirty="0">
              <a:latin typeface="Cambria"/>
              <a:ea typeface="Cambria"/>
              <a:cs typeface="Cambria"/>
              <a:sym typeface="Cambri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6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61" name="Google Shape;561;p69"/>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ESCRITORIO</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562" name="Google Shape;562;p69"/>
          <p:cNvSpPr txBox="1">
            <a:spLocks noGrp="1"/>
          </p:cNvSpPr>
          <p:nvPr>
            <p:ph type="body" idx="1"/>
          </p:nvPr>
        </p:nvSpPr>
        <p:spPr>
          <a:xfrm>
            <a:off x="271974" y="2738849"/>
            <a:ext cx="4491014" cy="1182392"/>
          </a:xfrm>
          <a:prstGeom prst="rect">
            <a:avLst/>
          </a:prstGeom>
          <a:noFill/>
          <a:ln>
            <a:noFill/>
          </a:ln>
        </p:spPr>
        <p:txBody>
          <a:bodyPr spcFirstLastPara="1" wrap="square" lIns="91425" tIns="45700" rIns="91425" bIns="45700" anchor="ctr" anchorCtr="0">
            <a:noAutofit/>
          </a:bodyPr>
          <a:lstStyle/>
          <a:p>
            <a:pPr marL="457200" lvl="0" indent="-327406" algn="l" rtl="0">
              <a:lnSpc>
                <a:spcPct val="150000"/>
              </a:lnSpc>
              <a:spcBef>
                <a:spcPts val="0"/>
              </a:spcBef>
              <a:spcAft>
                <a:spcPts val="0"/>
              </a:spcAft>
              <a:buSzPts val="1556"/>
              <a:buChar char="∙"/>
            </a:pPr>
            <a:r>
              <a:rPr lang="es-MX" sz="1400" dirty="0">
                <a:solidFill>
                  <a:schemeClr val="dk1"/>
                </a:solidFill>
                <a:latin typeface="Calibri"/>
                <a:ea typeface="Calibri"/>
                <a:cs typeface="Calibri"/>
                <a:sym typeface="Calibri"/>
              </a:rPr>
              <a:t>La configuración para la conexión con el servidor se maneja igual que en la conexión desde el cliente de consola</a:t>
            </a:r>
          </a:p>
          <a:p>
            <a:pPr marL="457200" lvl="0" indent="-327406" algn="l" rtl="0">
              <a:lnSpc>
                <a:spcPct val="150000"/>
              </a:lnSpc>
              <a:spcBef>
                <a:spcPts val="0"/>
              </a:spcBef>
              <a:spcAft>
                <a:spcPts val="0"/>
              </a:spcAft>
              <a:buSzPts val="1556"/>
              <a:buChar char="∙"/>
            </a:pPr>
            <a:r>
              <a:rPr lang="es-MX" sz="1400" dirty="0">
                <a:solidFill>
                  <a:schemeClr val="dk1"/>
                </a:solidFill>
                <a:latin typeface="Calibri"/>
                <a:ea typeface="Calibri"/>
                <a:cs typeface="Calibri"/>
                <a:sym typeface="Calibri"/>
              </a:rPr>
              <a:t>Para poder probar se debe ejecutar desde visual </a:t>
            </a:r>
            <a:r>
              <a:rPr lang="es-MX" sz="1400" dirty="0" err="1">
                <a:solidFill>
                  <a:schemeClr val="dk1"/>
                </a:solidFill>
                <a:latin typeface="Calibri"/>
                <a:ea typeface="Calibri"/>
                <a:cs typeface="Calibri"/>
                <a:sym typeface="Calibri"/>
              </a:rPr>
              <a:t>studio</a:t>
            </a:r>
            <a:endParaRPr sz="1400" dirty="0">
              <a:latin typeface="Cambria"/>
              <a:ea typeface="Cambria"/>
              <a:cs typeface="Cambria"/>
              <a:sym typeface="Cambria"/>
            </a:endParaRPr>
          </a:p>
        </p:txBody>
      </p:sp>
      <p:graphicFrame>
        <p:nvGraphicFramePr>
          <p:cNvPr id="563" name="Google Shape;563;p69"/>
          <p:cNvGraphicFramePr/>
          <p:nvPr>
            <p:extLst>
              <p:ext uri="{D42A27DB-BD31-4B8C-83A1-F6EECF244321}">
                <p14:modId xmlns:p14="http://schemas.microsoft.com/office/powerpoint/2010/main" val="2840070712"/>
              </p:ext>
            </p:extLst>
          </p:nvPr>
        </p:nvGraphicFramePr>
        <p:xfrm>
          <a:off x="4762988" y="1923060"/>
          <a:ext cx="4035023" cy="1013700"/>
        </p:xfrm>
        <a:graphic>
          <a:graphicData uri="http://schemas.openxmlformats.org/drawingml/2006/table">
            <a:tbl>
              <a:tblPr>
                <a:noFill/>
                <a:tableStyleId>{BF136021-7255-42B7-A7E7-87A8D8FFE9CA}</a:tableStyleId>
              </a:tblPr>
              <a:tblGrid>
                <a:gridCol w="4035023">
                  <a:extLst>
                    <a:ext uri="{9D8B030D-6E8A-4147-A177-3AD203B41FA5}">
                      <a16:colId xmlns:a16="http://schemas.microsoft.com/office/drawing/2014/main" val="20000"/>
                    </a:ext>
                  </a:extLst>
                </a:gridCol>
              </a:tblGrid>
              <a:tr h="1013700">
                <a:tc>
                  <a:txBody>
                    <a:bodyPr/>
                    <a:lstStyle/>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"Servicio": {</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UrlEndpoint</a:t>
                      </a:r>
                      <a:r>
                        <a:rPr lang="es-ES" sz="900" dirty="0">
                          <a:solidFill>
                            <a:srgbClr val="4F81BD"/>
                          </a:solidFill>
                          <a:latin typeface="Calibri"/>
                          <a:ea typeface="Calibri"/>
                          <a:cs typeface="Calibri"/>
                          <a:sym typeface="Calibri"/>
                        </a:rPr>
                        <a:t>": "http://localhost:49159/Servicios/</a:t>
                      </a:r>
                      <a:r>
                        <a:rPr lang="es-ES" sz="900" dirty="0" err="1">
                          <a:solidFill>
                            <a:srgbClr val="4F81BD"/>
                          </a:solidFill>
                          <a:latin typeface="Calibri"/>
                          <a:ea typeface="Calibri"/>
                          <a:cs typeface="Calibri"/>
                          <a:sym typeface="Calibri"/>
                        </a:rPr>
                        <a:t>ServicioConversionUnidades.svc</a:t>
                      </a:r>
                      <a:r>
                        <a:rPr lang="es-ES" sz="9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a:t>
                      </a:r>
                    </a:p>
                  </a:txBody>
                  <a:tcPr marL="63500" marR="63500" marT="63500" marB="63500"/>
                </a:tc>
                <a:extLst>
                  <a:ext uri="{0D108BD9-81ED-4DB2-BD59-A6C34878D82A}">
                    <a16:rowId xmlns:a16="http://schemas.microsoft.com/office/drawing/2014/main" val="10000"/>
                  </a:ext>
                </a:extLst>
              </a:tr>
            </a:tbl>
          </a:graphicData>
        </a:graphic>
      </p:graphicFrame>
      <p:graphicFrame>
        <p:nvGraphicFramePr>
          <p:cNvPr id="2" name="Google Shape;563;p69">
            <a:extLst>
              <a:ext uri="{FF2B5EF4-FFF2-40B4-BE49-F238E27FC236}">
                <a16:creationId xmlns:a16="http://schemas.microsoft.com/office/drawing/2014/main" id="{90CB1690-D173-72E2-9925-9D6878B40AE6}"/>
              </a:ext>
            </a:extLst>
          </p:cNvPr>
          <p:cNvGraphicFramePr/>
          <p:nvPr>
            <p:extLst>
              <p:ext uri="{D42A27DB-BD31-4B8C-83A1-F6EECF244321}">
                <p14:modId xmlns:p14="http://schemas.microsoft.com/office/powerpoint/2010/main" val="1667216114"/>
              </p:ext>
            </p:extLst>
          </p:nvPr>
        </p:nvGraphicFramePr>
        <p:xfrm>
          <a:off x="4762988" y="3043079"/>
          <a:ext cx="4035023" cy="3693160"/>
        </p:xfrm>
        <a:graphic>
          <a:graphicData uri="http://schemas.openxmlformats.org/drawingml/2006/table">
            <a:tbl>
              <a:tblPr>
                <a:noFill/>
                <a:tableStyleId>{BF136021-7255-42B7-A7E7-87A8D8FFE9CA}</a:tableStyleId>
              </a:tblPr>
              <a:tblGrid>
                <a:gridCol w="4035023">
                  <a:extLst>
                    <a:ext uri="{9D8B030D-6E8A-4147-A177-3AD203B41FA5}">
                      <a16:colId xmlns:a16="http://schemas.microsoft.com/office/drawing/2014/main" val="20000"/>
                    </a:ext>
                  </a:extLst>
                </a:gridCol>
              </a:tblGrid>
              <a:tr h="1347363">
                <a:tc>
                  <a:txBody>
                    <a:bodyPr/>
                    <a:lstStyle/>
                    <a:p>
                      <a:pPr marL="0" lvl="0" indent="0" algn="l" rtl="0">
                        <a:lnSpc>
                          <a:spcPct val="100000"/>
                        </a:lnSpc>
                        <a:spcBef>
                          <a:spcPts val="0"/>
                        </a:spcBef>
                        <a:spcAft>
                          <a:spcPts val="0"/>
                        </a:spcAft>
                        <a:buNone/>
                      </a:pPr>
                      <a:r>
                        <a:rPr lang="es-ES" sz="900" dirty="0" err="1">
                          <a:solidFill>
                            <a:srgbClr val="4F81BD"/>
                          </a:solidFill>
                          <a:latin typeface="Calibri"/>
                          <a:ea typeface="Calibri"/>
                          <a:cs typeface="Calibri"/>
                          <a:sym typeface="Calibri"/>
                        </a:rPr>
                        <a:t>public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async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Task</a:t>
                      </a:r>
                      <a:r>
                        <a:rPr lang="es-ES" sz="900" dirty="0">
                          <a:solidFill>
                            <a:srgbClr val="4F81BD"/>
                          </a:solidFill>
                          <a:latin typeface="Calibri"/>
                          <a:ea typeface="Calibri"/>
                          <a:cs typeface="Calibri"/>
                          <a:sym typeface="Calibri"/>
                        </a:rPr>
                        <a:t>&lt;</a:t>
                      </a:r>
                      <a:r>
                        <a:rPr lang="es-ES" sz="900" dirty="0" err="1">
                          <a:solidFill>
                            <a:srgbClr val="4F81BD"/>
                          </a:solidFill>
                          <a:latin typeface="Calibri"/>
                          <a:ea typeface="Calibri"/>
                          <a:cs typeface="Calibri"/>
                          <a:sym typeface="Calibri"/>
                        </a:rPr>
                        <a:t>RespuestaInicioSesion</a:t>
                      </a:r>
                      <a:r>
                        <a:rPr lang="es-ES" sz="900" dirty="0">
                          <a:solidFill>
                            <a:srgbClr val="4F81BD"/>
                          </a:solidFill>
                          <a:latin typeface="Calibri"/>
                          <a:ea typeface="Calibri"/>
                          <a:cs typeface="Calibri"/>
                          <a:sym typeface="Calibri"/>
                        </a:rPr>
                        <a:t>&gt; </a:t>
                      </a:r>
                      <a:r>
                        <a:rPr lang="es-ES" sz="900" dirty="0" err="1">
                          <a:solidFill>
                            <a:srgbClr val="4F81BD"/>
                          </a:solidFill>
                          <a:latin typeface="Calibri"/>
                          <a:ea typeface="Calibri"/>
                          <a:cs typeface="Calibri"/>
                          <a:sym typeface="Calibri"/>
                        </a:rPr>
                        <a:t>IniciarSesionAsync</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string</a:t>
                      </a:r>
                      <a:r>
                        <a:rPr lang="es-ES" sz="900" dirty="0">
                          <a:solidFill>
                            <a:srgbClr val="4F81BD"/>
                          </a:solidFill>
                          <a:latin typeface="Calibri"/>
                          <a:ea typeface="Calibri"/>
                          <a:cs typeface="Calibri"/>
                          <a:sym typeface="Calibri"/>
                        </a:rPr>
                        <a:t> usuario, </a:t>
                      </a:r>
                      <a:r>
                        <a:rPr lang="es-ES" sz="900" dirty="0" err="1">
                          <a:solidFill>
                            <a:srgbClr val="4F81BD"/>
                          </a:solidFill>
                          <a:latin typeface="Calibri"/>
                          <a:ea typeface="Calibri"/>
                          <a:cs typeface="Calibri"/>
                          <a:sym typeface="Calibri"/>
                        </a:rPr>
                        <a:t>string</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contrasena</a:t>
                      </a:r>
                      <a:r>
                        <a:rPr lang="es-ES" sz="9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ServicioConversionUnidadesClient</a:t>
                      </a:r>
                      <a:r>
                        <a:rPr lang="es-ES" sz="900" dirty="0">
                          <a:solidFill>
                            <a:srgbClr val="4F81BD"/>
                          </a:solidFill>
                          <a:latin typeface="Calibri"/>
                          <a:ea typeface="Calibri"/>
                          <a:cs typeface="Calibri"/>
                          <a:sym typeface="Calibri"/>
                        </a:rPr>
                        <a:t>? cliente = </a:t>
                      </a:r>
                      <a:r>
                        <a:rPr lang="es-ES" sz="900" dirty="0" err="1">
                          <a:solidFill>
                            <a:srgbClr val="4F81BD"/>
                          </a:solidFill>
                          <a:latin typeface="Calibri"/>
                          <a:ea typeface="Calibri"/>
                          <a:cs typeface="Calibri"/>
                          <a:sym typeface="Calibri"/>
                        </a:rPr>
                        <a:t>CrearCliente</a:t>
                      </a:r>
                      <a:r>
                        <a:rPr lang="es-ES" sz="9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try</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var</a:t>
                      </a:r>
                      <a:r>
                        <a:rPr lang="es-ES" sz="900" dirty="0">
                          <a:solidFill>
                            <a:srgbClr val="4F81BD"/>
                          </a:solidFill>
                          <a:latin typeface="Calibri"/>
                          <a:ea typeface="Calibri"/>
                          <a:cs typeface="Calibri"/>
                          <a:sym typeface="Calibri"/>
                        </a:rPr>
                        <a:t> solicitud = new </a:t>
                      </a:r>
                      <a:r>
                        <a:rPr lang="es-ES" sz="900" dirty="0" err="1">
                          <a:solidFill>
                            <a:srgbClr val="4F81BD"/>
                          </a:solidFill>
                          <a:latin typeface="Calibri"/>
                          <a:ea typeface="Calibri"/>
                          <a:cs typeface="Calibri"/>
                          <a:sym typeface="Calibri"/>
                        </a:rPr>
                        <a:t>SolicitudInicioSesion</a:t>
                      </a:r>
                      <a:endParaRPr lang="es-ES" sz="9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NombreUsuario</a:t>
                      </a:r>
                      <a:r>
                        <a:rPr lang="es-ES" sz="900" dirty="0">
                          <a:solidFill>
                            <a:srgbClr val="4F81BD"/>
                          </a:solidFill>
                          <a:latin typeface="Calibri"/>
                          <a:ea typeface="Calibri"/>
                          <a:cs typeface="Calibri"/>
                          <a:sym typeface="Calibri"/>
                        </a:rPr>
                        <a:t> = usuario,</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Contrasena</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contrasena</a:t>
                      </a:r>
                      <a:endParaRPr lang="es-ES" sz="9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return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await</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cliente.IniciarSesionAsync</a:t>
                      </a:r>
                      <a:r>
                        <a:rPr lang="es-ES" sz="900" dirty="0">
                          <a:solidFill>
                            <a:srgbClr val="4F81BD"/>
                          </a:solidFill>
                          <a:latin typeface="Calibri"/>
                          <a:ea typeface="Calibri"/>
                          <a:cs typeface="Calibri"/>
                          <a:sym typeface="Calibri"/>
                        </a:rPr>
                        <a:t>(solicitud);</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catch (</a:t>
                      </a:r>
                      <a:r>
                        <a:rPr lang="es-ES" sz="900" dirty="0" err="1">
                          <a:solidFill>
                            <a:srgbClr val="4F81BD"/>
                          </a:solidFill>
                          <a:latin typeface="Calibri"/>
                          <a:ea typeface="Calibri"/>
                          <a:cs typeface="Calibri"/>
                          <a:sym typeface="Calibri"/>
                        </a:rPr>
                        <a:t>CommunicationException</a:t>
                      </a:r>
                      <a:r>
                        <a:rPr lang="es-ES" sz="9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return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NuevaRespuestaInicioSesion</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MensajeConexion</a:t>
                      </a:r>
                      <a:r>
                        <a:rPr lang="es-ES" sz="9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catch (</a:t>
                      </a:r>
                      <a:r>
                        <a:rPr lang="es-ES" sz="900" dirty="0" err="1">
                          <a:solidFill>
                            <a:srgbClr val="4F81BD"/>
                          </a:solidFill>
                          <a:latin typeface="Calibri"/>
                          <a:ea typeface="Calibri"/>
                          <a:cs typeface="Calibri"/>
                          <a:sym typeface="Calibri"/>
                        </a:rPr>
                        <a:t>TimeoutException</a:t>
                      </a:r>
                      <a:r>
                        <a:rPr lang="es-ES" sz="9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return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NuevaRespuestaInicioSesion</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MensajeTiempoAgotado</a:t>
                      </a:r>
                      <a:r>
                        <a:rPr lang="es-ES" sz="9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finally</a:t>
                      </a:r>
                      <a:endParaRPr lang="es-ES" sz="9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Finalizar(cliente);</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a:t>
                      </a:r>
                    </a:p>
                  </a:txBody>
                  <a:tcPr marL="63500" marR="63500" marT="63500" marB="63500"/>
                </a:tc>
                <a:extLst>
                  <a:ext uri="{0D108BD9-81ED-4DB2-BD59-A6C34878D82A}">
                    <a16:rowId xmlns:a16="http://schemas.microsoft.com/office/drawing/2014/main" val="10000"/>
                  </a:ext>
                </a:extLst>
              </a:tr>
            </a:tbl>
          </a:graphicData>
        </a:graphic>
      </p:graphicFrame>
      <p:pic>
        <p:nvPicPr>
          <p:cNvPr id="5" name="Picture 4">
            <a:extLst>
              <a:ext uri="{FF2B5EF4-FFF2-40B4-BE49-F238E27FC236}">
                <a16:creationId xmlns:a16="http://schemas.microsoft.com/office/drawing/2014/main" id="{FB01D5EB-9E4C-B226-5A97-1BBF8917E7AC}"/>
              </a:ext>
            </a:extLst>
          </p:cNvPr>
          <p:cNvPicPr>
            <a:picLocks noChangeAspect="1"/>
          </p:cNvPicPr>
          <p:nvPr/>
        </p:nvPicPr>
        <p:blipFill>
          <a:blip r:embed="rId3"/>
          <a:stretch>
            <a:fillRect/>
          </a:stretch>
        </p:blipFill>
        <p:spPr>
          <a:xfrm>
            <a:off x="664967" y="4523122"/>
            <a:ext cx="3820986" cy="1111559"/>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7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69" name="Google Shape;569;p70"/>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ESCRITORIO</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571" name="Google Shape;571;p70"/>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dirty="0">
                <a:solidFill>
                  <a:srgbClr val="3D3D3D"/>
                </a:solidFill>
                <a:latin typeface="Cambria"/>
                <a:ea typeface="Cambria"/>
                <a:cs typeface="Cambria"/>
                <a:sym typeface="Cambria"/>
              </a:rPr>
              <a:t>Vista </a:t>
            </a:r>
            <a:r>
              <a:rPr lang="es-ES" sz="1800" b="1" dirty="0" err="1">
                <a:solidFill>
                  <a:srgbClr val="3D3D3D"/>
                </a:solidFill>
                <a:latin typeface="Cambria"/>
                <a:ea typeface="Cambria"/>
                <a:cs typeface="Cambria"/>
                <a:sym typeface="Cambria"/>
              </a:rPr>
              <a:t>login</a:t>
            </a:r>
            <a:endParaRPr sz="2000" b="0" i="0" u="none" strike="noStrike" cap="none" dirty="0">
              <a:solidFill>
                <a:srgbClr val="3D3D3D"/>
              </a:solidFill>
              <a:latin typeface="Cambria"/>
              <a:ea typeface="Cambria"/>
              <a:cs typeface="Cambria"/>
              <a:sym typeface="Cambria"/>
            </a:endParaRPr>
          </a:p>
        </p:txBody>
      </p:sp>
      <p:pic>
        <p:nvPicPr>
          <p:cNvPr id="4" name="Picture 3">
            <a:extLst>
              <a:ext uri="{FF2B5EF4-FFF2-40B4-BE49-F238E27FC236}">
                <a16:creationId xmlns:a16="http://schemas.microsoft.com/office/drawing/2014/main" id="{ACDD2673-DAAE-552B-C3B2-1E366B1474BA}"/>
              </a:ext>
            </a:extLst>
          </p:cNvPr>
          <p:cNvPicPr>
            <a:picLocks noChangeAspect="1"/>
          </p:cNvPicPr>
          <p:nvPr/>
        </p:nvPicPr>
        <p:blipFill>
          <a:blip r:embed="rId3"/>
          <a:stretch>
            <a:fillRect/>
          </a:stretch>
        </p:blipFill>
        <p:spPr>
          <a:xfrm>
            <a:off x="2057346" y="2610549"/>
            <a:ext cx="5504990" cy="3774993"/>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576" name="Google Shape;576;p7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77" name="Google Shape;577;p71"/>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ESCRITORIO</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578" name="Google Shape;578;p71"/>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dirty="0">
                <a:solidFill>
                  <a:srgbClr val="3D3D3D"/>
                </a:solidFill>
                <a:latin typeface="Cambria"/>
                <a:ea typeface="Cambria"/>
                <a:cs typeface="Cambria"/>
                <a:sym typeface="Cambria"/>
              </a:rPr>
              <a:t>Vista inicial al iniciar sesión</a:t>
            </a:r>
            <a:endParaRPr sz="2000" b="0" i="0" u="none" strike="noStrike" cap="none" dirty="0">
              <a:solidFill>
                <a:srgbClr val="3D3D3D"/>
              </a:solidFill>
              <a:latin typeface="Cambria"/>
              <a:ea typeface="Cambria"/>
              <a:cs typeface="Cambria"/>
              <a:sym typeface="Cambria"/>
            </a:endParaRPr>
          </a:p>
        </p:txBody>
      </p:sp>
      <p:pic>
        <p:nvPicPr>
          <p:cNvPr id="4" name="Picture 3">
            <a:extLst>
              <a:ext uri="{FF2B5EF4-FFF2-40B4-BE49-F238E27FC236}">
                <a16:creationId xmlns:a16="http://schemas.microsoft.com/office/drawing/2014/main" id="{DE51ACB5-68D0-007B-24AC-41C7EF5B307F}"/>
              </a:ext>
            </a:extLst>
          </p:cNvPr>
          <p:cNvPicPr>
            <a:picLocks noChangeAspect="1"/>
          </p:cNvPicPr>
          <p:nvPr/>
        </p:nvPicPr>
        <p:blipFill>
          <a:blip r:embed="rId3"/>
          <a:stretch>
            <a:fillRect/>
          </a:stretch>
        </p:blipFill>
        <p:spPr>
          <a:xfrm>
            <a:off x="2011871" y="2610549"/>
            <a:ext cx="5826158" cy="4026904"/>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7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85" name="Google Shape;585;p72"/>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ESCRITORIO</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586" name="Google Shape;586;p72"/>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dirty="0">
                <a:solidFill>
                  <a:srgbClr val="3D3D3D"/>
                </a:solidFill>
                <a:latin typeface="Cambria"/>
                <a:ea typeface="Cambria"/>
                <a:cs typeface="Cambria"/>
                <a:sym typeface="Cambria"/>
              </a:rPr>
              <a:t>Vista de una conversión de temperatura</a:t>
            </a:r>
            <a:endParaRPr sz="2000" b="0" i="0" u="none" strike="noStrike" cap="none" dirty="0">
              <a:solidFill>
                <a:srgbClr val="3D3D3D"/>
              </a:solidFill>
              <a:latin typeface="Cambria"/>
              <a:ea typeface="Cambria"/>
              <a:cs typeface="Cambria"/>
              <a:sym typeface="Cambria"/>
            </a:endParaRPr>
          </a:p>
        </p:txBody>
      </p:sp>
      <p:pic>
        <p:nvPicPr>
          <p:cNvPr id="4" name="Picture 3">
            <a:extLst>
              <a:ext uri="{FF2B5EF4-FFF2-40B4-BE49-F238E27FC236}">
                <a16:creationId xmlns:a16="http://schemas.microsoft.com/office/drawing/2014/main" id="{800E77CA-0C2F-D437-8E77-FDF88F3DAD29}"/>
              </a:ext>
            </a:extLst>
          </p:cNvPr>
          <p:cNvPicPr>
            <a:picLocks noChangeAspect="1"/>
          </p:cNvPicPr>
          <p:nvPr/>
        </p:nvPicPr>
        <p:blipFill>
          <a:blip r:embed="rId3"/>
          <a:stretch>
            <a:fillRect/>
          </a:stretch>
        </p:blipFill>
        <p:spPr>
          <a:xfrm>
            <a:off x="2159172" y="2715674"/>
            <a:ext cx="5531555" cy="384430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sp>
        <p:nvSpPr>
          <p:cNvPr id="592" name="Google Shape;592;p7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93" name="Google Shape;593;p73"/>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WEB</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594" name="Google Shape;594;p73"/>
          <p:cNvSpPr txBox="1">
            <a:spLocks noGrp="1"/>
          </p:cNvSpPr>
          <p:nvPr>
            <p:ph type="body" idx="1"/>
          </p:nvPr>
        </p:nvSpPr>
        <p:spPr>
          <a:xfrm>
            <a:off x="581200" y="1902979"/>
            <a:ext cx="8589300" cy="1170900"/>
          </a:xfrm>
          <a:prstGeom prst="rect">
            <a:avLst/>
          </a:prstGeom>
          <a:noFill/>
          <a:ln>
            <a:noFill/>
          </a:ln>
        </p:spPr>
        <p:txBody>
          <a:bodyPr spcFirstLastPara="1" wrap="square" lIns="91425" tIns="45700" rIns="91425" bIns="45700" anchor="ctr" anchorCtr="0">
            <a:normAutofit/>
          </a:bodyPr>
          <a:lstStyle/>
          <a:p>
            <a:pPr marL="409197" lvl="0" indent="-285750" algn="just" rtl="0">
              <a:lnSpc>
                <a:spcPct val="107000"/>
              </a:lnSpc>
              <a:spcBef>
                <a:spcPts val="0"/>
              </a:spcBef>
              <a:spcAft>
                <a:spcPts val="0"/>
              </a:spcAft>
              <a:buSzPts val="1656"/>
              <a:buFont typeface="Arial" panose="020B0604020202020204" pitchFamily="34" charset="0"/>
              <a:buChar char="•"/>
            </a:pPr>
            <a:r>
              <a:rPr lang="es-ES" sz="1564" dirty="0">
                <a:latin typeface="Cambria"/>
                <a:ea typeface="Cambria"/>
                <a:cs typeface="Cambria"/>
                <a:sym typeface="Cambria"/>
              </a:rPr>
              <a:t>Para el cliente web se debe crear buscando una Aplicación Web </a:t>
            </a:r>
            <a:r>
              <a:rPr lang="es-ES" sz="1564" dirty="0" err="1">
                <a:latin typeface="Cambria"/>
                <a:ea typeface="Cambria"/>
                <a:cs typeface="Cambria"/>
                <a:sym typeface="Cambria"/>
              </a:rPr>
              <a:t>Blazor</a:t>
            </a:r>
            <a:endParaRPr dirty="0">
              <a:latin typeface="Cambria"/>
              <a:ea typeface="Cambria"/>
              <a:cs typeface="Cambria"/>
              <a:sym typeface="Cambria"/>
            </a:endParaRPr>
          </a:p>
        </p:txBody>
      </p:sp>
      <p:sp>
        <p:nvSpPr>
          <p:cNvPr id="2" name="TextBox 1">
            <a:extLst>
              <a:ext uri="{FF2B5EF4-FFF2-40B4-BE49-F238E27FC236}">
                <a16:creationId xmlns:a16="http://schemas.microsoft.com/office/drawing/2014/main" id="{36902FD8-93D1-66C6-E6F4-D37C43665E30}"/>
              </a:ext>
            </a:extLst>
          </p:cNvPr>
          <p:cNvSpPr txBox="1"/>
          <p:nvPr/>
        </p:nvSpPr>
        <p:spPr>
          <a:xfrm>
            <a:off x="704335" y="1902979"/>
            <a:ext cx="6104238" cy="318998"/>
          </a:xfrm>
          <a:prstGeom prst="rect">
            <a:avLst/>
          </a:prstGeom>
          <a:noFill/>
        </p:spPr>
        <p:txBody>
          <a:bodyPr wrap="square">
            <a:spAutoFit/>
          </a:bodyPr>
          <a:lstStyle/>
          <a:p>
            <a:pPr marL="0" lvl="0" indent="0" algn="l" rtl="0">
              <a:lnSpc>
                <a:spcPct val="115000"/>
              </a:lnSpc>
              <a:spcBef>
                <a:spcPts val="1200"/>
              </a:spcBef>
              <a:spcAft>
                <a:spcPts val="0"/>
              </a:spcAft>
              <a:buClr>
                <a:schemeClr val="dk1"/>
              </a:buClr>
              <a:buSzPct val="70332"/>
              <a:buFont typeface="Arial"/>
              <a:buNone/>
            </a:pPr>
            <a:r>
              <a:rPr lang="es-MX" sz="1400" b="1" dirty="0">
                <a:latin typeface="Cambria"/>
                <a:ea typeface="Cambria"/>
                <a:cs typeface="Cambria"/>
                <a:sym typeface="Cambria"/>
              </a:rPr>
              <a:t>1.</a:t>
            </a:r>
            <a:r>
              <a:rPr lang="es-MX" b="1" dirty="0">
                <a:latin typeface="Cambria"/>
                <a:ea typeface="Cambria"/>
                <a:cs typeface="Cambria"/>
                <a:sym typeface="Cambria"/>
              </a:rPr>
              <a:t>5</a:t>
            </a:r>
            <a:r>
              <a:rPr lang="es-MX" sz="1400" b="1" dirty="0">
                <a:latin typeface="Cambria"/>
                <a:ea typeface="Cambria"/>
                <a:cs typeface="Cambria"/>
                <a:sym typeface="Cambria"/>
              </a:rPr>
              <a:t>  CREACIÓN DEL PROYECTO CLIENTE </a:t>
            </a:r>
            <a:r>
              <a:rPr lang="es-MX" b="1" dirty="0">
                <a:latin typeface="Cambria"/>
                <a:ea typeface="Cambria"/>
                <a:cs typeface="Cambria"/>
                <a:sym typeface="Cambria"/>
              </a:rPr>
              <a:t>WEB</a:t>
            </a:r>
            <a:endParaRPr lang="es-MX" sz="1400" b="1" dirty="0">
              <a:latin typeface="Cambria"/>
              <a:ea typeface="Cambria"/>
              <a:cs typeface="Cambria"/>
              <a:sym typeface="Cambria"/>
            </a:endParaRPr>
          </a:p>
        </p:txBody>
      </p:sp>
      <p:pic>
        <p:nvPicPr>
          <p:cNvPr id="4" name="Picture 3">
            <a:extLst>
              <a:ext uri="{FF2B5EF4-FFF2-40B4-BE49-F238E27FC236}">
                <a16:creationId xmlns:a16="http://schemas.microsoft.com/office/drawing/2014/main" id="{929B5386-B97E-8D49-0CA7-32AFBD12F9A6}"/>
              </a:ext>
            </a:extLst>
          </p:cNvPr>
          <p:cNvPicPr>
            <a:picLocks noChangeAspect="1"/>
          </p:cNvPicPr>
          <p:nvPr/>
        </p:nvPicPr>
        <p:blipFill>
          <a:blip r:embed="rId3"/>
          <a:stretch>
            <a:fillRect/>
          </a:stretch>
        </p:blipFill>
        <p:spPr>
          <a:xfrm>
            <a:off x="581192" y="3073879"/>
            <a:ext cx="5191382" cy="2919229"/>
          </a:xfrm>
          <a:prstGeom prst="rect">
            <a:avLst/>
          </a:prstGeom>
        </p:spPr>
      </p:pic>
      <p:pic>
        <p:nvPicPr>
          <p:cNvPr id="7" name="Picture 6">
            <a:extLst>
              <a:ext uri="{FF2B5EF4-FFF2-40B4-BE49-F238E27FC236}">
                <a16:creationId xmlns:a16="http://schemas.microsoft.com/office/drawing/2014/main" id="{BF2B2C59-25EC-15F3-634D-8CBDCF38FD20}"/>
              </a:ext>
            </a:extLst>
          </p:cNvPr>
          <p:cNvPicPr>
            <a:picLocks noChangeAspect="1"/>
          </p:cNvPicPr>
          <p:nvPr/>
        </p:nvPicPr>
        <p:blipFill>
          <a:blip r:embed="rId4"/>
          <a:stretch>
            <a:fillRect/>
          </a:stretch>
        </p:blipFill>
        <p:spPr>
          <a:xfrm>
            <a:off x="5871198" y="2856948"/>
            <a:ext cx="3200677" cy="3353091"/>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7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02" name="Google Shape;602;p74"/>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WEB</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604" name="Google Shape;604;p74"/>
          <p:cNvGraphicFramePr/>
          <p:nvPr>
            <p:extLst>
              <p:ext uri="{D42A27DB-BD31-4B8C-83A1-F6EECF244321}">
                <p14:modId xmlns:p14="http://schemas.microsoft.com/office/powerpoint/2010/main" val="2060160609"/>
              </p:ext>
            </p:extLst>
          </p:nvPr>
        </p:nvGraphicFramePr>
        <p:xfrm>
          <a:off x="2332836" y="1979459"/>
          <a:ext cx="6484300" cy="4465025"/>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465025">
                <a:tc>
                  <a:txBody>
                    <a:bodyPr/>
                    <a:lstStyle/>
                    <a:p>
                      <a:pPr marL="0" lvl="0" indent="0" algn="l" rtl="0">
                        <a:lnSpc>
                          <a:spcPct val="100000"/>
                        </a:lnSpc>
                        <a:spcBef>
                          <a:spcPts val="0"/>
                        </a:spcBef>
                        <a:spcAft>
                          <a:spcPts val="0"/>
                        </a:spcAft>
                        <a:buNone/>
                      </a:pPr>
                      <a:r>
                        <a:rPr lang="es-EC" sz="900" dirty="0" err="1">
                          <a:solidFill>
                            <a:srgbClr val="4F81BD"/>
                          </a:solidFill>
                          <a:latin typeface="Calibri"/>
                          <a:ea typeface="Calibri"/>
                          <a:cs typeface="Calibri"/>
                          <a:sym typeface="Calibri"/>
                        </a:rPr>
                        <a:t>public</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async</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Task</a:t>
                      </a:r>
                      <a:r>
                        <a:rPr lang="es-EC" sz="900" dirty="0">
                          <a:solidFill>
                            <a:srgbClr val="4F81BD"/>
                          </a:solidFill>
                          <a:latin typeface="Calibri"/>
                          <a:ea typeface="Calibri"/>
                          <a:cs typeface="Calibri"/>
                          <a:sym typeface="Calibri"/>
                        </a:rPr>
                        <a:t>&lt;</a:t>
                      </a:r>
                      <a:r>
                        <a:rPr lang="es-EC" sz="900" dirty="0" err="1">
                          <a:solidFill>
                            <a:srgbClr val="4F81BD"/>
                          </a:solidFill>
                          <a:latin typeface="Calibri"/>
                          <a:ea typeface="Calibri"/>
                          <a:cs typeface="Calibri"/>
                          <a:sym typeface="Calibri"/>
                        </a:rPr>
                        <a:t>ResultadoLogin</a:t>
                      </a:r>
                      <a:r>
                        <a:rPr lang="es-EC" sz="900" dirty="0">
                          <a:solidFill>
                            <a:srgbClr val="4F81BD"/>
                          </a:solidFill>
                          <a:latin typeface="Calibri"/>
                          <a:ea typeface="Calibri"/>
                          <a:cs typeface="Calibri"/>
                          <a:sym typeface="Calibri"/>
                        </a:rPr>
                        <a:t>&gt; </a:t>
                      </a:r>
                      <a:r>
                        <a:rPr lang="es-EC" sz="900" dirty="0" err="1">
                          <a:solidFill>
                            <a:srgbClr val="4F81BD"/>
                          </a:solidFill>
                          <a:latin typeface="Calibri"/>
                          <a:ea typeface="Calibri"/>
                          <a:cs typeface="Calibri"/>
                          <a:sym typeface="Calibri"/>
                        </a:rPr>
                        <a:t>IniciarSesionAsync</a:t>
                      </a:r>
                      <a:r>
                        <a:rPr lang="es-EC" sz="900" dirty="0">
                          <a:solidFill>
                            <a:srgbClr val="4F81BD"/>
                          </a:solidFill>
                          <a:latin typeface="Calibri"/>
                          <a:ea typeface="Calibri"/>
                          <a:cs typeface="Calibri"/>
                          <a:sym typeface="Calibri"/>
                        </a:rPr>
                        <a:t>(</a:t>
                      </a:r>
                      <a:r>
                        <a:rPr lang="es-EC" sz="900" dirty="0" err="1">
                          <a:solidFill>
                            <a:srgbClr val="4F81BD"/>
                          </a:solidFill>
                          <a:latin typeface="Calibri"/>
                          <a:ea typeface="Calibri"/>
                          <a:cs typeface="Calibri"/>
                          <a:sym typeface="Calibri"/>
                        </a:rPr>
                        <a:t>CredencialesLogin</a:t>
                      </a:r>
                      <a:r>
                        <a:rPr lang="es-EC" sz="900" dirty="0">
                          <a:solidFill>
                            <a:srgbClr val="4F81BD"/>
                          </a:solidFill>
                          <a:latin typeface="Calibri"/>
                          <a:ea typeface="Calibri"/>
                          <a:cs typeface="Calibri"/>
                          <a:sym typeface="Calibri"/>
                        </a:rPr>
                        <a:t> credenciales)</a:t>
                      </a:r>
                    </a:p>
                    <a:p>
                      <a:pPr marL="0" lvl="0" indent="0" algn="l" rtl="0">
                        <a:lnSpc>
                          <a:spcPct val="100000"/>
                        </a:lnSpc>
                        <a:spcBef>
                          <a:spcPts val="0"/>
                        </a:spcBef>
                        <a:spcAft>
                          <a:spcPts val="0"/>
                        </a:spcAft>
                        <a:buNone/>
                      </a:pPr>
                      <a:r>
                        <a:rPr lang="es-EC" sz="9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C" sz="900" dirty="0">
                          <a:solidFill>
                            <a:srgbClr val="4F81BD"/>
                          </a:solidFill>
                          <a:latin typeface="Calibri"/>
                          <a:ea typeface="Calibri"/>
                          <a:cs typeface="Calibri"/>
                          <a:sym typeface="Calibri"/>
                        </a:rPr>
                        <a:t>    try</a:t>
                      </a:r>
                    </a:p>
                    <a:p>
                      <a:pPr marL="0" lvl="0" indent="0" algn="l" rtl="0">
                        <a:lnSpc>
                          <a:spcPct val="100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var</a:t>
                      </a:r>
                      <a:r>
                        <a:rPr lang="es-EC" sz="900" dirty="0">
                          <a:solidFill>
                            <a:srgbClr val="4F81BD"/>
                          </a:solidFill>
                          <a:latin typeface="Calibri"/>
                          <a:ea typeface="Calibri"/>
                          <a:cs typeface="Calibri"/>
                          <a:sym typeface="Calibri"/>
                        </a:rPr>
                        <a:t> respuesta = </a:t>
                      </a:r>
                      <a:r>
                        <a:rPr lang="es-EC" sz="900" dirty="0" err="1">
                          <a:solidFill>
                            <a:srgbClr val="4F81BD"/>
                          </a:solidFill>
                          <a:latin typeface="Calibri"/>
                          <a:ea typeface="Calibri"/>
                          <a:cs typeface="Calibri"/>
                          <a:sym typeface="Calibri"/>
                        </a:rPr>
                        <a:t>await</a:t>
                      </a:r>
                      <a:r>
                        <a:rPr lang="es-EC" sz="900" dirty="0">
                          <a:solidFill>
                            <a:srgbClr val="4F81BD"/>
                          </a:solidFill>
                          <a:latin typeface="Calibri"/>
                          <a:ea typeface="Calibri"/>
                          <a:cs typeface="Calibri"/>
                          <a:sym typeface="Calibri"/>
                        </a:rPr>
                        <a:t> _</a:t>
                      </a:r>
                      <a:r>
                        <a:rPr lang="es-EC" sz="900" dirty="0" err="1">
                          <a:solidFill>
                            <a:srgbClr val="4F81BD"/>
                          </a:solidFill>
                          <a:latin typeface="Calibri"/>
                          <a:ea typeface="Calibri"/>
                          <a:cs typeface="Calibri"/>
                          <a:sym typeface="Calibri"/>
                        </a:rPr>
                        <a:t>cliente.IniciarSesionAsync</a:t>
                      </a:r>
                      <a:r>
                        <a:rPr lang="es-EC" sz="900" dirty="0">
                          <a:solidFill>
                            <a:srgbClr val="4F81BD"/>
                          </a:solidFill>
                          <a:latin typeface="Calibri"/>
                          <a:ea typeface="Calibri"/>
                          <a:cs typeface="Calibri"/>
                          <a:sym typeface="Calibri"/>
                        </a:rPr>
                        <a:t>(new </a:t>
                      </a:r>
                      <a:r>
                        <a:rPr lang="es-EC" sz="900" dirty="0" err="1">
                          <a:solidFill>
                            <a:srgbClr val="4F81BD"/>
                          </a:solidFill>
                          <a:latin typeface="Calibri"/>
                          <a:ea typeface="Calibri"/>
                          <a:cs typeface="Calibri"/>
                          <a:sym typeface="Calibri"/>
                        </a:rPr>
                        <a:t>SolicitudInicioSesion</a:t>
                      </a:r>
                      <a:endParaRPr lang="es-EC" sz="9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NombreUsuario</a:t>
                      </a:r>
                      <a:r>
                        <a:rPr lang="es-EC" sz="900" dirty="0">
                          <a:solidFill>
                            <a:srgbClr val="4F81BD"/>
                          </a:solidFill>
                          <a:latin typeface="Calibri"/>
                          <a:ea typeface="Calibri"/>
                          <a:cs typeface="Calibri"/>
                          <a:sym typeface="Calibri"/>
                        </a:rPr>
                        <a:t> = </a:t>
                      </a:r>
                      <a:r>
                        <a:rPr lang="es-EC" sz="900" dirty="0" err="1">
                          <a:solidFill>
                            <a:srgbClr val="4F81BD"/>
                          </a:solidFill>
                          <a:latin typeface="Calibri"/>
                          <a:ea typeface="Calibri"/>
                          <a:cs typeface="Calibri"/>
                          <a:sym typeface="Calibri"/>
                        </a:rPr>
                        <a:t>credenciales.NombreUsuario</a:t>
                      </a:r>
                      <a:r>
                        <a:rPr lang="es-EC" sz="9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Contrasena</a:t>
                      </a:r>
                      <a:r>
                        <a:rPr lang="es-EC" sz="900" dirty="0">
                          <a:solidFill>
                            <a:srgbClr val="4F81BD"/>
                          </a:solidFill>
                          <a:latin typeface="Calibri"/>
                          <a:ea typeface="Calibri"/>
                          <a:cs typeface="Calibri"/>
                          <a:sym typeface="Calibri"/>
                        </a:rPr>
                        <a:t> = </a:t>
                      </a:r>
                      <a:r>
                        <a:rPr lang="es-EC" sz="900" dirty="0" err="1">
                          <a:solidFill>
                            <a:srgbClr val="4F81BD"/>
                          </a:solidFill>
                          <a:latin typeface="Calibri"/>
                          <a:ea typeface="Calibri"/>
                          <a:cs typeface="Calibri"/>
                          <a:sym typeface="Calibri"/>
                        </a:rPr>
                        <a:t>credenciales.Contrasena</a:t>
                      </a:r>
                      <a:endParaRPr lang="es-EC" sz="9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endParaRPr lang="es-EC" sz="9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if</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respuesta.Exito</a:t>
                      </a:r>
                      <a:r>
                        <a:rPr lang="es-EC" sz="900" dirty="0">
                          <a:solidFill>
                            <a:srgbClr val="4F81BD"/>
                          </a:solidFill>
                          <a:latin typeface="Calibri"/>
                          <a:ea typeface="Calibri"/>
                          <a:cs typeface="Calibri"/>
                          <a:sym typeface="Calibri"/>
                        </a:rPr>
                        <a:t> &amp;&amp; !</a:t>
                      </a:r>
                      <a:r>
                        <a:rPr lang="es-EC" sz="900" dirty="0" err="1">
                          <a:solidFill>
                            <a:srgbClr val="4F81BD"/>
                          </a:solidFill>
                          <a:latin typeface="Calibri"/>
                          <a:ea typeface="Calibri"/>
                          <a:cs typeface="Calibri"/>
                          <a:sym typeface="Calibri"/>
                        </a:rPr>
                        <a:t>string.IsNullOrEmpty</a:t>
                      </a:r>
                      <a:r>
                        <a:rPr lang="es-EC" sz="900" dirty="0">
                          <a:solidFill>
                            <a:srgbClr val="4F81BD"/>
                          </a:solidFill>
                          <a:latin typeface="Calibri"/>
                          <a:ea typeface="Calibri"/>
                          <a:cs typeface="Calibri"/>
                          <a:sym typeface="Calibri"/>
                        </a:rPr>
                        <a:t>(</a:t>
                      </a:r>
                      <a:r>
                        <a:rPr lang="es-EC" sz="900" dirty="0" err="1">
                          <a:solidFill>
                            <a:srgbClr val="4F81BD"/>
                          </a:solidFill>
                          <a:latin typeface="Calibri"/>
                          <a:ea typeface="Calibri"/>
                          <a:cs typeface="Calibri"/>
                          <a:sym typeface="Calibri"/>
                        </a:rPr>
                        <a:t>respuesta.Token</a:t>
                      </a:r>
                      <a:r>
                        <a:rPr lang="es-EC" sz="9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return</a:t>
                      </a:r>
                      <a:r>
                        <a:rPr lang="es-EC" sz="900" dirty="0">
                          <a:solidFill>
                            <a:srgbClr val="4F81BD"/>
                          </a:solidFill>
                          <a:latin typeface="Calibri"/>
                          <a:ea typeface="Calibri"/>
                          <a:cs typeface="Calibri"/>
                          <a:sym typeface="Calibri"/>
                        </a:rPr>
                        <a:t> new </a:t>
                      </a:r>
                      <a:r>
                        <a:rPr lang="es-EC" sz="900" dirty="0" err="1">
                          <a:solidFill>
                            <a:srgbClr val="4F81BD"/>
                          </a:solidFill>
                          <a:latin typeface="Calibri"/>
                          <a:ea typeface="Calibri"/>
                          <a:cs typeface="Calibri"/>
                          <a:sym typeface="Calibri"/>
                        </a:rPr>
                        <a:t>ResultadoLogin</a:t>
                      </a:r>
                      <a:r>
                        <a:rPr lang="es-EC" sz="900" dirty="0">
                          <a:solidFill>
                            <a:srgbClr val="4F81BD"/>
                          </a:solidFill>
                          <a:latin typeface="Calibri"/>
                          <a:ea typeface="Calibri"/>
                          <a:cs typeface="Calibri"/>
                          <a:sym typeface="Calibri"/>
                        </a:rPr>
                        <a:t>(true, </a:t>
                      </a:r>
                      <a:r>
                        <a:rPr lang="es-EC" sz="900" dirty="0" err="1">
                          <a:solidFill>
                            <a:srgbClr val="4F81BD"/>
                          </a:solidFill>
                          <a:latin typeface="Calibri"/>
                          <a:ea typeface="Calibri"/>
                          <a:cs typeface="Calibri"/>
                          <a:sym typeface="Calibri"/>
                        </a:rPr>
                        <a:t>respuesta.Token</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respuesta.Mensaje</a:t>
                      </a:r>
                      <a:r>
                        <a:rPr lang="es-EC" sz="900" dirty="0">
                          <a:solidFill>
                            <a:srgbClr val="4F81BD"/>
                          </a:solidFill>
                          <a:latin typeface="Calibri"/>
                          <a:ea typeface="Calibri"/>
                          <a:cs typeface="Calibri"/>
                          <a:sym typeface="Calibri"/>
                        </a:rPr>
                        <a:t> ?? "Sesión iniciada.");</a:t>
                      </a:r>
                    </a:p>
                    <a:p>
                      <a:pPr marL="0" lvl="0" indent="0" algn="l" rtl="0">
                        <a:lnSpc>
                          <a:spcPct val="100000"/>
                        </a:lnSpc>
                        <a:spcBef>
                          <a:spcPts val="0"/>
                        </a:spcBef>
                        <a:spcAft>
                          <a:spcPts val="0"/>
                        </a:spcAft>
                        <a:buNone/>
                      </a:pPr>
                      <a:endParaRPr lang="es-EC" sz="9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return</a:t>
                      </a:r>
                      <a:r>
                        <a:rPr lang="es-EC" sz="900" dirty="0">
                          <a:solidFill>
                            <a:srgbClr val="4F81BD"/>
                          </a:solidFill>
                          <a:latin typeface="Calibri"/>
                          <a:ea typeface="Calibri"/>
                          <a:cs typeface="Calibri"/>
                          <a:sym typeface="Calibri"/>
                        </a:rPr>
                        <a:t> new </a:t>
                      </a:r>
                      <a:r>
                        <a:rPr lang="es-EC" sz="900" dirty="0" err="1">
                          <a:solidFill>
                            <a:srgbClr val="4F81BD"/>
                          </a:solidFill>
                          <a:latin typeface="Calibri"/>
                          <a:ea typeface="Calibri"/>
                          <a:cs typeface="Calibri"/>
                          <a:sym typeface="Calibri"/>
                        </a:rPr>
                        <a:t>ResultadoLogin</a:t>
                      </a:r>
                      <a:r>
                        <a:rPr lang="es-EC" sz="900" dirty="0">
                          <a:solidFill>
                            <a:srgbClr val="4F81BD"/>
                          </a:solidFill>
                          <a:latin typeface="Calibri"/>
                          <a:ea typeface="Calibri"/>
                          <a:cs typeface="Calibri"/>
                          <a:sym typeface="Calibri"/>
                        </a:rPr>
                        <a:t>(false, </a:t>
                      </a:r>
                      <a:r>
                        <a:rPr lang="es-EC" sz="900" dirty="0" err="1">
                          <a:solidFill>
                            <a:srgbClr val="4F81BD"/>
                          </a:solidFill>
                          <a:latin typeface="Calibri"/>
                          <a:ea typeface="Calibri"/>
                          <a:cs typeface="Calibri"/>
                          <a:sym typeface="Calibri"/>
                        </a:rPr>
                        <a:t>null</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respuesta.Mensaje</a:t>
                      </a:r>
                      <a:r>
                        <a:rPr lang="es-EC" sz="900" dirty="0">
                          <a:solidFill>
                            <a:srgbClr val="4F81BD"/>
                          </a:solidFill>
                          <a:latin typeface="Calibri"/>
                          <a:ea typeface="Calibri"/>
                          <a:cs typeface="Calibri"/>
                          <a:sym typeface="Calibri"/>
                        </a:rPr>
                        <a:t> ?? "Credenciales incorrectas.");</a:t>
                      </a:r>
                    </a:p>
                    <a:p>
                      <a:pPr marL="0" lvl="0" indent="0" algn="l" rtl="0">
                        <a:lnSpc>
                          <a:spcPct val="100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C" sz="900" dirty="0">
                          <a:solidFill>
                            <a:srgbClr val="4F81BD"/>
                          </a:solidFill>
                          <a:latin typeface="Calibri"/>
                          <a:ea typeface="Calibri"/>
                          <a:cs typeface="Calibri"/>
                          <a:sym typeface="Calibri"/>
                        </a:rPr>
                        <a:t>    catch (</a:t>
                      </a:r>
                      <a:r>
                        <a:rPr lang="es-EC" sz="900" dirty="0" err="1">
                          <a:solidFill>
                            <a:srgbClr val="4F81BD"/>
                          </a:solidFill>
                          <a:latin typeface="Calibri"/>
                          <a:ea typeface="Calibri"/>
                          <a:cs typeface="Calibri"/>
                          <a:sym typeface="Calibri"/>
                        </a:rPr>
                        <a:t>EndpointNotFoundException</a:t>
                      </a:r>
                      <a:r>
                        <a:rPr lang="es-EC" sz="900" dirty="0">
                          <a:solidFill>
                            <a:srgbClr val="4F81BD"/>
                          </a:solidFill>
                          <a:latin typeface="Calibri"/>
                          <a:ea typeface="Calibri"/>
                          <a:cs typeface="Calibri"/>
                          <a:sym typeface="Calibri"/>
                        </a:rPr>
                        <a:t> ex)</a:t>
                      </a:r>
                    </a:p>
                    <a:p>
                      <a:pPr marL="0" lvl="0" indent="0" algn="l" rtl="0">
                        <a:lnSpc>
                          <a:spcPct val="100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C" sz="900" dirty="0">
                          <a:solidFill>
                            <a:srgbClr val="4F81BD"/>
                          </a:solidFill>
                          <a:latin typeface="Calibri"/>
                          <a:ea typeface="Calibri"/>
                          <a:cs typeface="Calibri"/>
                          <a:sym typeface="Calibri"/>
                        </a:rPr>
                        <a:t>        _</a:t>
                      </a:r>
                      <a:r>
                        <a:rPr lang="es-EC" sz="900" dirty="0" err="1">
                          <a:solidFill>
                            <a:srgbClr val="4F81BD"/>
                          </a:solidFill>
                          <a:latin typeface="Calibri"/>
                          <a:ea typeface="Calibri"/>
                          <a:cs typeface="Calibri"/>
                          <a:sym typeface="Calibri"/>
                        </a:rPr>
                        <a:t>log.LogError</a:t>
                      </a:r>
                      <a:r>
                        <a:rPr lang="es-EC" sz="900" dirty="0">
                          <a:solidFill>
                            <a:srgbClr val="4F81BD"/>
                          </a:solidFill>
                          <a:latin typeface="Calibri"/>
                          <a:ea typeface="Calibri"/>
                          <a:cs typeface="Calibri"/>
                          <a:sym typeface="Calibri"/>
                        </a:rPr>
                        <a:t>(ex, "No se encontró el </a:t>
                      </a:r>
                      <a:r>
                        <a:rPr lang="es-EC" sz="900" dirty="0" err="1">
                          <a:solidFill>
                            <a:srgbClr val="4F81BD"/>
                          </a:solidFill>
                          <a:latin typeface="Calibri"/>
                          <a:ea typeface="Calibri"/>
                          <a:cs typeface="Calibri"/>
                          <a:sym typeface="Calibri"/>
                        </a:rPr>
                        <a:t>endpoint</a:t>
                      </a:r>
                      <a:r>
                        <a:rPr lang="es-EC" sz="900" dirty="0">
                          <a:solidFill>
                            <a:srgbClr val="4F81BD"/>
                          </a:solidFill>
                          <a:latin typeface="Calibri"/>
                          <a:ea typeface="Calibri"/>
                          <a:cs typeface="Calibri"/>
                          <a:sym typeface="Calibri"/>
                        </a:rPr>
                        <a:t> SOAP");</a:t>
                      </a:r>
                    </a:p>
                    <a:p>
                      <a:pPr marL="0" lvl="0" indent="0" algn="l" rtl="0">
                        <a:lnSpc>
                          <a:spcPct val="100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return</a:t>
                      </a:r>
                      <a:r>
                        <a:rPr lang="es-EC" sz="900" dirty="0">
                          <a:solidFill>
                            <a:srgbClr val="4F81BD"/>
                          </a:solidFill>
                          <a:latin typeface="Calibri"/>
                          <a:ea typeface="Calibri"/>
                          <a:cs typeface="Calibri"/>
                          <a:sym typeface="Calibri"/>
                        </a:rPr>
                        <a:t> new </a:t>
                      </a:r>
                      <a:r>
                        <a:rPr lang="es-EC" sz="900" dirty="0" err="1">
                          <a:solidFill>
                            <a:srgbClr val="4F81BD"/>
                          </a:solidFill>
                          <a:latin typeface="Calibri"/>
                          <a:ea typeface="Calibri"/>
                          <a:cs typeface="Calibri"/>
                          <a:sym typeface="Calibri"/>
                        </a:rPr>
                        <a:t>ResultadoLogin</a:t>
                      </a:r>
                      <a:r>
                        <a:rPr lang="es-EC" sz="900" dirty="0">
                          <a:solidFill>
                            <a:srgbClr val="4F81BD"/>
                          </a:solidFill>
                          <a:latin typeface="Calibri"/>
                          <a:ea typeface="Calibri"/>
                          <a:cs typeface="Calibri"/>
                          <a:sym typeface="Calibri"/>
                        </a:rPr>
                        <a:t>(false, </a:t>
                      </a:r>
                      <a:r>
                        <a:rPr lang="es-EC" sz="900" dirty="0" err="1">
                          <a:solidFill>
                            <a:srgbClr val="4F81BD"/>
                          </a:solidFill>
                          <a:latin typeface="Calibri"/>
                          <a:ea typeface="Calibri"/>
                          <a:cs typeface="Calibri"/>
                          <a:sym typeface="Calibri"/>
                        </a:rPr>
                        <a:t>null</a:t>
                      </a:r>
                      <a:r>
                        <a:rPr lang="es-EC" sz="900" dirty="0">
                          <a:solidFill>
                            <a:srgbClr val="4F81BD"/>
                          </a:solidFill>
                          <a:latin typeface="Calibri"/>
                          <a:ea typeface="Calibri"/>
                          <a:cs typeface="Calibri"/>
                          <a:sym typeface="Calibri"/>
                        </a:rPr>
                        <a:t>, "No se pudo contactar con el servidor. Revisa la URL del servicio.");</a:t>
                      </a:r>
                    </a:p>
                    <a:p>
                      <a:pPr marL="0" lvl="0" indent="0" algn="l" rtl="0">
                        <a:lnSpc>
                          <a:spcPct val="100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C" sz="900" dirty="0">
                          <a:solidFill>
                            <a:srgbClr val="4F81BD"/>
                          </a:solidFill>
                          <a:latin typeface="Calibri"/>
                          <a:ea typeface="Calibri"/>
                          <a:cs typeface="Calibri"/>
                          <a:sym typeface="Calibri"/>
                        </a:rPr>
                        <a:t>    catch (</a:t>
                      </a:r>
                      <a:r>
                        <a:rPr lang="es-EC" sz="900" dirty="0" err="1">
                          <a:solidFill>
                            <a:srgbClr val="4F81BD"/>
                          </a:solidFill>
                          <a:latin typeface="Calibri"/>
                          <a:ea typeface="Calibri"/>
                          <a:cs typeface="Calibri"/>
                          <a:sym typeface="Calibri"/>
                        </a:rPr>
                        <a:t>TimeoutException</a:t>
                      </a:r>
                      <a:r>
                        <a:rPr lang="es-EC" sz="900" dirty="0">
                          <a:solidFill>
                            <a:srgbClr val="4F81BD"/>
                          </a:solidFill>
                          <a:latin typeface="Calibri"/>
                          <a:ea typeface="Calibri"/>
                          <a:cs typeface="Calibri"/>
                          <a:sym typeface="Calibri"/>
                        </a:rPr>
                        <a:t> ex)</a:t>
                      </a:r>
                    </a:p>
                    <a:p>
                      <a:pPr marL="0" lvl="0" indent="0" algn="l" rtl="0">
                        <a:lnSpc>
                          <a:spcPct val="100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C" sz="900" dirty="0">
                          <a:solidFill>
                            <a:srgbClr val="4F81BD"/>
                          </a:solidFill>
                          <a:latin typeface="Calibri"/>
                          <a:ea typeface="Calibri"/>
                          <a:cs typeface="Calibri"/>
                          <a:sym typeface="Calibri"/>
                        </a:rPr>
                        <a:t>        _</a:t>
                      </a:r>
                      <a:r>
                        <a:rPr lang="es-EC" sz="900" dirty="0" err="1">
                          <a:solidFill>
                            <a:srgbClr val="4F81BD"/>
                          </a:solidFill>
                          <a:latin typeface="Calibri"/>
                          <a:ea typeface="Calibri"/>
                          <a:cs typeface="Calibri"/>
                          <a:sym typeface="Calibri"/>
                        </a:rPr>
                        <a:t>log.LogError</a:t>
                      </a:r>
                      <a:r>
                        <a:rPr lang="es-EC" sz="900" dirty="0">
                          <a:solidFill>
                            <a:srgbClr val="4F81BD"/>
                          </a:solidFill>
                          <a:latin typeface="Calibri"/>
                          <a:ea typeface="Calibri"/>
                          <a:cs typeface="Calibri"/>
                          <a:sym typeface="Calibri"/>
                        </a:rPr>
                        <a:t>(ex, "Tiempo de espera agotado al llamar a </a:t>
                      </a:r>
                      <a:r>
                        <a:rPr lang="es-EC" sz="900" dirty="0" err="1">
                          <a:solidFill>
                            <a:srgbClr val="4F81BD"/>
                          </a:solidFill>
                          <a:latin typeface="Calibri"/>
                          <a:ea typeface="Calibri"/>
                          <a:cs typeface="Calibri"/>
                          <a:sym typeface="Calibri"/>
                        </a:rPr>
                        <a:t>IniciarSesion</a:t>
                      </a:r>
                      <a:r>
                        <a:rPr lang="es-EC" sz="9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return</a:t>
                      </a:r>
                      <a:r>
                        <a:rPr lang="es-EC" sz="900" dirty="0">
                          <a:solidFill>
                            <a:srgbClr val="4F81BD"/>
                          </a:solidFill>
                          <a:latin typeface="Calibri"/>
                          <a:ea typeface="Calibri"/>
                          <a:cs typeface="Calibri"/>
                          <a:sym typeface="Calibri"/>
                        </a:rPr>
                        <a:t> new </a:t>
                      </a:r>
                      <a:r>
                        <a:rPr lang="es-EC" sz="900" dirty="0" err="1">
                          <a:solidFill>
                            <a:srgbClr val="4F81BD"/>
                          </a:solidFill>
                          <a:latin typeface="Calibri"/>
                          <a:ea typeface="Calibri"/>
                          <a:cs typeface="Calibri"/>
                          <a:sym typeface="Calibri"/>
                        </a:rPr>
                        <a:t>ResultadoLogin</a:t>
                      </a:r>
                      <a:r>
                        <a:rPr lang="es-EC" sz="900" dirty="0">
                          <a:solidFill>
                            <a:srgbClr val="4F81BD"/>
                          </a:solidFill>
                          <a:latin typeface="Calibri"/>
                          <a:ea typeface="Calibri"/>
                          <a:cs typeface="Calibri"/>
                          <a:sym typeface="Calibri"/>
                        </a:rPr>
                        <a:t>(false, </a:t>
                      </a:r>
                      <a:r>
                        <a:rPr lang="es-EC" sz="900" dirty="0" err="1">
                          <a:solidFill>
                            <a:srgbClr val="4F81BD"/>
                          </a:solidFill>
                          <a:latin typeface="Calibri"/>
                          <a:ea typeface="Calibri"/>
                          <a:cs typeface="Calibri"/>
                          <a:sym typeface="Calibri"/>
                        </a:rPr>
                        <a:t>null</a:t>
                      </a:r>
                      <a:r>
                        <a:rPr lang="es-EC" sz="900" dirty="0">
                          <a:solidFill>
                            <a:srgbClr val="4F81BD"/>
                          </a:solidFill>
                          <a:latin typeface="Calibri"/>
                          <a:ea typeface="Calibri"/>
                          <a:cs typeface="Calibri"/>
                          <a:sym typeface="Calibri"/>
                        </a:rPr>
                        <a:t>, "El servidor tardó demasiado en responder.");</a:t>
                      </a:r>
                    </a:p>
                    <a:p>
                      <a:pPr marL="0" lvl="0" indent="0" algn="l" rtl="0">
                        <a:lnSpc>
                          <a:spcPct val="100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C" sz="900" dirty="0">
                          <a:solidFill>
                            <a:srgbClr val="4F81BD"/>
                          </a:solidFill>
                          <a:latin typeface="Calibri"/>
                          <a:ea typeface="Calibri"/>
                          <a:cs typeface="Calibri"/>
                          <a:sym typeface="Calibri"/>
                        </a:rPr>
                        <a:t>    catch (</a:t>
                      </a:r>
                      <a:r>
                        <a:rPr lang="es-EC" sz="900" dirty="0" err="1">
                          <a:solidFill>
                            <a:srgbClr val="4F81BD"/>
                          </a:solidFill>
                          <a:latin typeface="Calibri"/>
                          <a:ea typeface="Calibri"/>
                          <a:cs typeface="Calibri"/>
                          <a:sym typeface="Calibri"/>
                        </a:rPr>
                        <a:t>Exception</a:t>
                      </a:r>
                      <a:r>
                        <a:rPr lang="es-EC" sz="900" dirty="0">
                          <a:solidFill>
                            <a:srgbClr val="4F81BD"/>
                          </a:solidFill>
                          <a:latin typeface="Calibri"/>
                          <a:ea typeface="Calibri"/>
                          <a:cs typeface="Calibri"/>
                          <a:sym typeface="Calibri"/>
                        </a:rPr>
                        <a:t> ex) </a:t>
                      </a:r>
                      <a:r>
                        <a:rPr lang="es-EC" sz="900" dirty="0" err="1">
                          <a:solidFill>
                            <a:srgbClr val="4F81BD"/>
                          </a:solidFill>
                          <a:latin typeface="Calibri"/>
                          <a:ea typeface="Calibri"/>
                          <a:cs typeface="Calibri"/>
                          <a:sym typeface="Calibri"/>
                        </a:rPr>
                        <a:t>when</a:t>
                      </a:r>
                      <a:r>
                        <a:rPr lang="es-EC" sz="900" dirty="0">
                          <a:solidFill>
                            <a:srgbClr val="4F81BD"/>
                          </a:solidFill>
                          <a:latin typeface="Calibri"/>
                          <a:ea typeface="Calibri"/>
                          <a:cs typeface="Calibri"/>
                          <a:sym typeface="Calibri"/>
                        </a:rPr>
                        <a:t> (ex </a:t>
                      </a:r>
                      <a:r>
                        <a:rPr lang="es-EC" sz="900" dirty="0" err="1">
                          <a:solidFill>
                            <a:srgbClr val="4F81BD"/>
                          </a:solidFill>
                          <a:latin typeface="Calibri"/>
                          <a:ea typeface="Calibri"/>
                          <a:cs typeface="Calibri"/>
                          <a:sym typeface="Calibri"/>
                        </a:rPr>
                        <a:t>is</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CommunicationException</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or</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HttpRequestException</a:t>
                      </a:r>
                      <a:r>
                        <a:rPr lang="es-EC" sz="9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C" sz="900" dirty="0">
                          <a:solidFill>
                            <a:srgbClr val="4F81BD"/>
                          </a:solidFill>
                          <a:latin typeface="Calibri"/>
                          <a:ea typeface="Calibri"/>
                          <a:cs typeface="Calibri"/>
                          <a:sym typeface="Calibri"/>
                        </a:rPr>
                        <a:t>        _</a:t>
                      </a:r>
                      <a:r>
                        <a:rPr lang="es-EC" sz="900" dirty="0" err="1">
                          <a:solidFill>
                            <a:srgbClr val="4F81BD"/>
                          </a:solidFill>
                          <a:latin typeface="Calibri"/>
                          <a:ea typeface="Calibri"/>
                          <a:cs typeface="Calibri"/>
                          <a:sym typeface="Calibri"/>
                        </a:rPr>
                        <a:t>log.LogError</a:t>
                      </a:r>
                      <a:r>
                        <a:rPr lang="es-EC" sz="900" dirty="0">
                          <a:solidFill>
                            <a:srgbClr val="4F81BD"/>
                          </a:solidFill>
                          <a:latin typeface="Calibri"/>
                          <a:ea typeface="Calibri"/>
                          <a:cs typeface="Calibri"/>
                          <a:sym typeface="Calibri"/>
                        </a:rPr>
                        <a:t>(ex, "Error de comunicación con el servicio SOAP");</a:t>
                      </a:r>
                    </a:p>
                    <a:p>
                      <a:pPr marL="0" lvl="0" indent="0" algn="l" rtl="0">
                        <a:lnSpc>
                          <a:spcPct val="100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return</a:t>
                      </a:r>
                      <a:r>
                        <a:rPr lang="es-EC" sz="900" dirty="0">
                          <a:solidFill>
                            <a:srgbClr val="4F81BD"/>
                          </a:solidFill>
                          <a:latin typeface="Calibri"/>
                          <a:ea typeface="Calibri"/>
                          <a:cs typeface="Calibri"/>
                          <a:sym typeface="Calibri"/>
                        </a:rPr>
                        <a:t> new </a:t>
                      </a:r>
                      <a:r>
                        <a:rPr lang="es-EC" sz="900" dirty="0" err="1">
                          <a:solidFill>
                            <a:srgbClr val="4F81BD"/>
                          </a:solidFill>
                          <a:latin typeface="Calibri"/>
                          <a:ea typeface="Calibri"/>
                          <a:cs typeface="Calibri"/>
                          <a:sym typeface="Calibri"/>
                        </a:rPr>
                        <a:t>ResultadoLogin</a:t>
                      </a:r>
                      <a:r>
                        <a:rPr lang="es-EC" sz="900" dirty="0">
                          <a:solidFill>
                            <a:srgbClr val="4F81BD"/>
                          </a:solidFill>
                          <a:latin typeface="Calibri"/>
                          <a:ea typeface="Calibri"/>
                          <a:cs typeface="Calibri"/>
                          <a:sym typeface="Calibri"/>
                        </a:rPr>
                        <a:t>(false, </a:t>
                      </a:r>
                      <a:r>
                        <a:rPr lang="es-EC" sz="900" dirty="0" err="1">
                          <a:solidFill>
                            <a:srgbClr val="4F81BD"/>
                          </a:solidFill>
                          <a:latin typeface="Calibri"/>
                          <a:ea typeface="Calibri"/>
                          <a:cs typeface="Calibri"/>
                          <a:sym typeface="Calibri"/>
                        </a:rPr>
                        <a:t>null</a:t>
                      </a:r>
                      <a:r>
                        <a:rPr lang="es-EC" sz="900" dirty="0">
                          <a:solidFill>
                            <a:srgbClr val="4F81BD"/>
                          </a:solidFill>
                          <a:latin typeface="Calibri"/>
                          <a:ea typeface="Calibri"/>
                          <a:cs typeface="Calibri"/>
                          <a:sym typeface="Calibri"/>
                        </a:rPr>
                        <a:t>, "Error de comunicación con el servidor.");</a:t>
                      </a:r>
                    </a:p>
                    <a:p>
                      <a:pPr marL="0" lvl="0" indent="0" algn="l" rtl="0">
                        <a:lnSpc>
                          <a:spcPct val="100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C" sz="900" dirty="0">
                          <a:solidFill>
                            <a:srgbClr val="4F81BD"/>
                          </a:solidFill>
                          <a:latin typeface="Calibri"/>
                          <a:ea typeface="Calibri"/>
                          <a:cs typeface="Calibri"/>
                          <a:sym typeface="Calibri"/>
                        </a:rPr>
                        <a:t>}</a:t>
                      </a:r>
                    </a:p>
                  </a:txBody>
                  <a:tcPr marL="63500" marR="63500" marT="63500" marB="63500"/>
                </a:tc>
                <a:extLst>
                  <a:ext uri="{0D108BD9-81ED-4DB2-BD59-A6C34878D82A}">
                    <a16:rowId xmlns:a16="http://schemas.microsoft.com/office/drawing/2014/main" val="10000"/>
                  </a:ext>
                </a:extLst>
              </a:tr>
            </a:tbl>
          </a:graphicData>
        </a:graphic>
      </p:graphicFrame>
      <p:sp>
        <p:nvSpPr>
          <p:cNvPr id="4" name="Google Shape;319;p40">
            <a:extLst>
              <a:ext uri="{FF2B5EF4-FFF2-40B4-BE49-F238E27FC236}">
                <a16:creationId xmlns:a16="http://schemas.microsoft.com/office/drawing/2014/main" id="{BE968C85-F64A-23C5-DD96-F0424BDCA403}"/>
              </a:ext>
            </a:extLst>
          </p:cNvPr>
          <p:cNvSpPr txBox="1">
            <a:spLocks/>
          </p:cNvSpPr>
          <p:nvPr/>
        </p:nvSpPr>
        <p:spPr>
          <a:xfrm>
            <a:off x="-1" y="1837551"/>
            <a:ext cx="1940435" cy="4447919"/>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indent="-327406">
              <a:lnSpc>
                <a:spcPct val="150000"/>
              </a:lnSpc>
              <a:spcBef>
                <a:spcPts val="0"/>
              </a:spcBef>
              <a:buSzPts val="1556"/>
              <a:buFont typeface="Noto Sans Symbols"/>
              <a:buChar char="∙"/>
            </a:pPr>
            <a:r>
              <a:rPr lang="es-MX" sz="1400" dirty="0">
                <a:solidFill>
                  <a:schemeClr val="dk1"/>
                </a:solidFill>
                <a:latin typeface="Calibri"/>
                <a:ea typeface="Calibri"/>
                <a:cs typeface="Calibri"/>
                <a:sym typeface="Calibri"/>
              </a:rPr>
              <a:t>A continuación se detallarán las clases principales con su código fuente.</a:t>
            </a:r>
          </a:p>
          <a:p>
            <a:pPr indent="-304800" algn="just">
              <a:lnSpc>
                <a:spcPct val="107000"/>
              </a:lnSpc>
              <a:spcBef>
                <a:spcPts val="0"/>
              </a:spcBef>
              <a:buSzPts val="1200"/>
              <a:buFont typeface="Cambria"/>
              <a:buChar char="∙"/>
            </a:pPr>
            <a:endParaRPr lang="es-MX" sz="1400" dirty="0">
              <a:latin typeface="Cambria"/>
              <a:ea typeface="Cambria"/>
              <a:cs typeface="Cambria"/>
              <a:sym typeface="Cambri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7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10" name="Google Shape;610;p75"/>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WEB</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612" name="Google Shape;612;p75"/>
          <p:cNvGraphicFramePr/>
          <p:nvPr>
            <p:extLst>
              <p:ext uri="{D42A27DB-BD31-4B8C-83A1-F6EECF244321}">
                <p14:modId xmlns:p14="http://schemas.microsoft.com/office/powerpoint/2010/main" val="714851765"/>
              </p:ext>
            </p:extLst>
          </p:nvPr>
        </p:nvGraphicFramePr>
        <p:xfrm>
          <a:off x="2419915" y="2042160"/>
          <a:ext cx="6484300" cy="463804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465025">
                <a:tc>
                  <a:txBody>
                    <a:bodyPr/>
                    <a:lstStyle/>
                    <a:p>
                      <a:pPr marL="0" lvl="0" indent="0" algn="l" rtl="0">
                        <a:lnSpc>
                          <a:spcPct val="100000"/>
                        </a:lnSpc>
                        <a:spcBef>
                          <a:spcPts val="0"/>
                        </a:spcBef>
                        <a:spcAft>
                          <a:spcPts val="0"/>
                        </a:spcAft>
                        <a:buNone/>
                      </a:pPr>
                      <a:r>
                        <a:rPr lang="es-ES" sz="800" dirty="0" err="1">
                          <a:solidFill>
                            <a:srgbClr val="4F81BD"/>
                          </a:solidFill>
                          <a:latin typeface="Calibri"/>
                          <a:ea typeface="Calibri"/>
                          <a:cs typeface="Calibri"/>
                          <a:sym typeface="Calibri"/>
                        </a:rPr>
                        <a:t>public</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async</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Task</a:t>
                      </a:r>
                      <a:r>
                        <a:rPr lang="es-ES" sz="800" dirty="0">
                          <a:solidFill>
                            <a:srgbClr val="4F81BD"/>
                          </a:solidFill>
                          <a:latin typeface="Calibri"/>
                          <a:ea typeface="Calibri"/>
                          <a:cs typeface="Calibri"/>
                          <a:sym typeface="Calibri"/>
                        </a:rPr>
                        <a:t>&lt;</a:t>
                      </a:r>
                      <a:r>
                        <a:rPr lang="es-ES" sz="800" dirty="0" err="1">
                          <a:solidFill>
                            <a:srgbClr val="4F81BD"/>
                          </a:solidFill>
                          <a:latin typeface="Calibri"/>
                          <a:ea typeface="Calibri"/>
                          <a:cs typeface="Calibri"/>
                          <a:sym typeface="Calibri"/>
                        </a:rPr>
                        <a:t>ResultadoConversionModelo</a:t>
                      </a:r>
                      <a:r>
                        <a:rPr lang="es-ES" sz="800" dirty="0">
                          <a:solidFill>
                            <a:srgbClr val="4F81BD"/>
                          </a:solidFill>
                          <a:latin typeface="Calibri"/>
                          <a:ea typeface="Calibri"/>
                          <a:cs typeface="Calibri"/>
                          <a:sym typeface="Calibri"/>
                        </a:rPr>
                        <a:t>&gt; </a:t>
                      </a:r>
                      <a:r>
                        <a:rPr lang="es-ES" sz="800" dirty="0" err="1">
                          <a:solidFill>
                            <a:srgbClr val="4F81BD"/>
                          </a:solidFill>
                          <a:latin typeface="Calibri"/>
                          <a:ea typeface="Calibri"/>
                          <a:cs typeface="Calibri"/>
                          <a:sym typeface="Calibri"/>
                        </a:rPr>
                        <a:t>ConvertirAsync</a:t>
                      </a:r>
                      <a:r>
                        <a:rPr lang="es-ES" sz="800" dirty="0">
                          <a:solidFill>
                            <a:srgbClr val="4F81BD"/>
                          </a:solidFill>
                          <a:latin typeface="Calibri"/>
                          <a:ea typeface="Calibri"/>
                          <a:cs typeface="Calibri"/>
                          <a:sym typeface="Calibri"/>
                        </a:rPr>
                        <a:t>(</a:t>
                      </a:r>
                      <a:r>
                        <a:rPr lang="es-ES" sz="800" dirty="0" err="1">
                          <a:solidFill>
                            <a:srgbClr val="4F81BD"/>
                          </a:solidFill>
                          <a:latin typeface="Calibri"/>
                          <a:ea typeface="Calibri"/>
                          <a:cs typeface="Calibri"/>
                          <a:sym typeface="Calibri"/>
                        </a:rPr>
                        <a:t>string</a:t>
                      </a:r>
                      <a:r>
                        <a:rPr lang="es-ES" sz="800" dirty="0">
                          <a:solidFill>
                            <a:srgbClr val="4F81BD"/>
                          </a:solidFill>
                          <a:latin typeface="Calibri"/>
                          <a:ea typeface="Calibri"/>
                          <a:cs typeface="Calibri"/>
                          <a:sym typeface="Calibri"/>
                        </a:rPr>
                        <a:t> token, </a:t>
                      </a:r>
                      <a:r>
                        <a:rPr lang="es-ES" sz="800" dirty="0" err="1">
                          <a:solidFill>
                            <a:srgbClr val="4F81BD"/>
                          </a:solidFill>
                          <a:latin typeface="Calibri"/>
                          <a:ea typeface="Calibri"/>
                          <a:cs typeface="Calibri"/>
                          <a:sym typeface="Calibri"/>
                        </a:rPr>
                        <a:t>SolicitudConversionModelo</a:t>
                      </a:r>
                      <a:r>
                        <a:rPr lang="es-ES" sz="800" dirty="0">
                          <a:solidFill>
                            <a:srgbClr val="4F81BD"/>
                          </a:solidFill>
                          <a:latin typeface="Calibri"/>
                          <a:ea typeface="Calibri"/>
                          <a:cs typeface="Calibri"/>
                          <a:sym typeface="Calibri"/>
                        </a:rPr>
                        <a:t> solicitud)</a:t>
                      </a:r>
                    </a:p>
                    <a:p>
                      <a:pPr marL="0" lvl="0" indent="0" algn="l" rtl="0">
                        <a:lnSpc>
                          <a:spcPct val="100000"/>
                        </a:lnSpc>
                        <a:spcBef>
                          <a:spcPts val="0"/>
                        </a:spcBef>
                        <a:spcAft>
                          <a:spcPts val="0"/>
                        </a:spcAft>
                        <a:buNone/>
                      </a:pPr>
                      <a:r>
                        <a:rPr lang="es-ES" sz="8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800" dirty="0">
                          <a:solidFill>
                            <a:srgbClr val="4F81BD"/>
                          </a:solidFill>
                          <a:latin typeface="Calibri"/>
                          <a:ea typeface="Calibri"/>
                          <a:cs typeface="Calibri"/>
                          <a:sym typeface="Calibri"/>
                        </a:rPr>
                        <a:t>    try</a:t>
                      </a:r>
                    </a:p>
                    <a:p>
                      <a:pPr marL="0" lvl="0" indent="0" algn="l" rtl="0">
                        <a:lnSpc>
                          <a:spcPct val="100000"/>
                        </a:lnSpc>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var</a:t>
                      </a:r>
                      <a:r>
                        <a:rPr lang="es-ES" sz="800" dirty="0">
                          <a:solidFill>
                            <a:srgbClr val="4F81BD"/>
                          </a:solidFill>
                          <a:latin typeface="Calibri"/>
                          <a:ea typeface="Calibri"/>
                          <a:cs typeface="Calibri"/>
                          <a:sym typeface="Calibri"/>
                        </a:rPr>
                        <a:t> respuesta = </a:t>
                      </a:r>
                      <a:r>
                        <a:rPr lang="es-ES" sz="800" dirty="0" err="1">
                          <a:solidFill>
                            <a:srgbClr val="4F81BD"/>
                          </a:solidFill>
                          <a:latin typeface="Calibri"/>
                          <a:ea typeface="Calibri"/>
                          <a:cs typeface="Calibri"/>
                          <a:sym typeface="Calibri"/>
                        </a:rPr>
                        <a:t>await</a:t>
                      </a:r>
                      <a:r>
                        <a:rPr lang="es-ES" sz="800" dirty="0">
                          <a:solidFill>
                            <a:srgbClr val="4F81BD"/>
                          </a:solidFill>
                          <a:latin typeface="Calibri"/>
                          <a:ea typeface="Calibri"/>
                          <a:cs typeface="Calibri"/>
                          <a:sym typeface="Calibri"/>
                        </a:rPr>
                        <a:t> _</a:t>
                      </a:r>
                      <a:r>
                        <a:rPr lang="es-ES" sz="800" dirty="0" err="1">
                          <a:solidFill>
                            <a:srgbClr val="4F81BD"/>
                          </a:solidFill>
                          <a:latin typeface="Calibri"/>
                          <a:ea typeface="Calibri"/>
                          <a:cs typeface="Calibri"/>
                          <a:sym typeface="Calibri"/>
                        </a:rPr>
                        <a:t>cliente.ConvertirAsync</a:t>
                      </a:r>
                      <a:r>
                        <a:rPr lang="es-ES" sz="800" dirty="0">
                          <a:solidFill>
                            <a:srgbClr val="4F81BD"/>
                          </a:solidFill>
                          <a:latin typeface="Calibri"/>
                          <a:ea typeface="Calibri"/>
                          <a:cs typeface="Calibri"/>
                          <a:sym typeface="Calibri"/>
                        </a:rPr>
                        <a:t>(token, new </a:t>
                      </a:r>
                      <a:r>
                        <a:rPr lang="es-ES" sz="800" dirty="0" err="1">
                          <a:solidFill>
                            <a:srgbClr val="4F81BD"/>
                          </a:solidFill>
                          <a:latin typeface="Calibri"/>
                          <a:ea typeface="Calibri"/>
                          <a:cs typeface="Calibri"/>
                          <a:sym typeface="Calibri"/>
                        </a:rPr>
                        <a:t>SolicitudConversion</a:t>
                      </a:r>
                      <a:endParaRPr lang="es-ES" sz="8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Categoria</a:t>
                      </a:r>
                      <a:r>
                        <a:rPr lang="es-ES" sz="800" dirty="0">
                          <a:solidFill>
                            <a:srgbClr val="4F81BD"/>
                          </a:solidFill>
                          <a:latin typeface="Calibri"/>
                          <a:ea typeface="Calibri"/>
                          <a:cs typeface="Calibri"/>
                          <a:sym typeface="Calibri"/>
                        </a:rPr>
                        <a:t> = </a:t>
                      </a:r>
                      <a:r>
                        <a:rPr lang="es-ES" sz="800" dirty="0" err="1">
                          <a:solidFill>
                            <a:srgbClr val="4F81BD"/>
                          </a:solidFill>
                          <a:latin typeface="Calibri"/>
                          <a:ea typeface="Calibri"/>
                          <a:cs typeface="Calibri"/>
                          <a:sym typeface="Calibri"/>
                        </a:rPr>
                        <a:t>solicitud.Categoria</a:t>
                      </a:r>
                      <a:r>
                        <a:rPr lang="es-ES" sz="8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UnidadOrigen</a:t>
                      </a:r>
                      <a:r>
                        <a:rPr lang="es-ES" sz="800" dirty="0">
                          <a:solidFill>
                            <a:srgbClr val="4F81BD"/>
                          </a:solidFill>
                          <a:latin typeface="Calibri"/>
                          <a:ea typeface="Calibri"/>
                          <a:cs typeface="Calibri"/>
                          <a:sym typeface="Calibri"/>
                        </a:rPr>
                        <a:t> = </a:t>
                      </a:r>
                      <a:r>
                        <a:rPr lang="es-ES" sz="800" dirty="0" err="1">
                          <a:solidFill>
                            <a:srgbClr val="4F81BD"/>
                          </a:solidFill>
                          <a:latin typeface="Calibri"/>
                          <a:ea typeface="Calibri"/>
                          <a:cs typeface="Calibri"/>
                          <a:sym typeface="Calibri"/>
                        </a:rPr>
                        <a:t>solicitud.UnidadOrigen</a:t>
                      </a:r>
                      <a:r>
                        <a:rPr lang="es-ES" sz="8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UnidadDestino</a:t>
                      </a:r>
                      <a:r>
                        <a:rPr lang="es-ES" sz="800" dirty="0">
                          <a:solidFill>
                            <a:srgbClr val="4F81BD"/>
                          </a:solidFill>
                          <a:latin typeface="Calibri"/>
                          <a:ea typeface="Calibri"/>
                          <a:cs typeface="Calibri"/>
                          <a:sym typeface="Calibri"/>
                        </a:rPr>
                        <a:t> = </a:t>
                      </a:r>
                      <a:r>
                        <a:rPr lang="es-ES" sz="800" dirty="0" err="1">
                          <a:solidFill>
                            <a:srgbClr val="4F81BD"/>
                          </a:solidFill>
                          <a:latin typeface="Calibri"/>
                          <a:ea typeface="Calibri"/>
                          <a:cs typeface="Calibri"/>
                          <a:sym typeface="Calibri"/>
                        </a:rPr>
                        <a:t>solicitud.UnidadDestino</a:t>
                      </a:r>
                      <a:r>
                        <a:rPr lang="es-ES" sz="8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800" dirty="0">
                          <a:solidFill>
                            <a:srgbClr val="4F81BD"/>
                          </a:solidFill>
                          <a:latin typeface="Calibri"/>
                          <a:ea typeface="Calibri"/>
                          <a:cs typeface="Calibri"/>
                          <a:sym typeface="Calibri"/>
                        </a:rPr>
                        <a:t>            Valor = (</a:t>
                      </a:r>
                      <a:r>
                        <a:rPr lang="es-ES" sz="800" dirty="0" err="1">
                          <a:solidFill>
                            <a:srgbClr val="4F81BD"/>
                          </a:solidFill>
                          <a:latin typeface="Calibri"/>
                          <a:ea typeface="Calibri"/>
                          <a:cs typeface="Calibri"/>
                          <a:sym typeface="Calibri"/>
                        </a:rPr>
                        <a:t>solicitud.Valor</a:t>
                      </a:r>
                      <a:r>
                        <a:rPr lang="es-ES" sz="800" dirty="0">
                          <a:solidFill>
                            <a:srgbClr val="4F81BD"/>
                          </a:solidFill>
                          <a:latin typeface="Calibri"/>
                          <a:ea typeface="Calibri"/>
                          <a:cs typeface="Calibri"/>
                          <a:sym typeface="Calibri"/>
                        </a:rPr>
                        <a:t> ?? 0m).</a:t>
                      </a:r>
                      <a:r>
                        <a:rPr lang="es-ES" sz="800" dirty="0" err="1">
                          <a:solidFill>
                            <a:srgbClr val="4F81BD"/>
                          </a:solidFill>
                          <a:latin typeface="Calibri"/>
                          <a:ea typeface="Calibri"/>
                          <a:cs typeface="Calibri"/>
                          <a:sym typeface="Calibri"/>
                        </a:rPr>
                        <a:t>ToString</a:t>
                      </a:r>
                      <a:r>
                        <a:rPr lang="es-ES" sz="800" dirty="0">
                          <a:solidFill>
                            <a:srgbClr val="4F81BD"/>
                          </a:solidFill>
                          <a:latin typeface="Calibri"/>
                          <a:ea typeface="Calibri"/>
                          <a:cs typeface="Calibri"/>
                          <a:sym typeface="Calibri"/>
                        </a:rPr>
                        <a:t>(</a:t>
                      </a:r>
                      <a:r>
                        <a:rPr lang="es-ES" sz="800" dirty="0" err="1">
                          <a:solidFill>
                            <a:srgbClr val="4F81BD"/>
                          </a:solidFill>
                          <a:latin typeface="Calibri"/>
                          <a:ea typeface="Calibri"/>
                          <a:cs typeface="Calibri"/>
                          <a:sym typeface="Calibri"/>
                        </a:rPr>
                        <a:t>CultureInfo.InvariantCulture</a:t>
                      </a:r>
                      <a:r>
                        <a:rPr lang="es-ES" sz="8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endParaRPr lang="es-ES" sz="8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return</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respuesta.Exito</a:t>
                      </a:r>
                      <a:endParaRPr lang="es-ES" sz="8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None/>
                      </a:pPr>
                      <a:r>
                        <a:rPr lang="es-ES" sz="800" dirty="0">
                          <a:solidFill>
                            <a:srgbClr val="4F81BD"/>
                          </a:solidFill>
                          <a:latin typeface="Calibri"/>
                          <a:ea typeface="Calibri"/>
                          <a:cs typeface="Calibri"/>
                          <a:sym typeface="Calibri"/>
                        </a:rPr>
                        <a:t>            ? new </a:t>
                      </a:r>
                      <a:r>
                        <a:rPr lang="es-ES" sz="800" dirty="0" err="1">
                          <a:solidFill>
                            <a:srgbClr val="4F81BD"/>
                          </a:solidFill>
                          <a:latin typeface="Calibri"/>
                          <a:ea typeface="Calibri"/>
                          <a:cs typeface="Calibri"/>
                          <a:sym typeface="Calibri"/>
                        </a:rPr>
                        <a:t>ResultadoConversionModelo</a:t>
                      </a:r>
                      <a:r>
                        <a:rPr lang="es-ES" sz="800" dirty="0">
                          <a:solidFill>
                            <a:srgbClr val="4F81BD"/>
                          </a:solidFill>
                          <a:latin typeface="Calibri"/>
                          <a:ea typeface="Calibri"/>
                          <a:cs typeface="Calibri"/>
                          <a:sym typeface="Calibri"/>
                        </a:rPr>
                        <a:t>(true, </a:t>
                      </a:r>
                      <a:r>
                        <a:rPr lang="es-ES" sz="800" dirty="0" err="1">
                          <a:solidFill>
                            <a:srgbClr val="4F81BD"/>
                          </a:solidFill>
                          <a:latin typeface="Calibri"/>
                          <a:ea typeface="Calibri"/>
                          <a:cs typeface="Calibri"/>
                          <a:sym typeface="Calibri"/>
                        </a:rPr>
                        <a:t>respuesta.ValorConvertido</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respuesta.Mensaje</a:t>
                      </a:r>
                      <a:r>
                        <a:rPr lang="es-ES" sz="800" dirty="0">
                          <a:solidFill>
                            <a:srgbClr val="4F81BD"/>
                          </a:solidFill>
                          <a:latin typeface="Calibri"/>
                          <a:ea typeface="Calibri"/>
                          <a:cs typeface="Calibri"/>
                          <a:sym typeface="Calibri"/>
                        </a:rPr>
                        <a:t> ?? </a:t>
                      </a:r>
                      <a:r>
                        <a:rPr lang="es-ES" sz="800" dirty="0" err="1">
                          <a:solidFill>
                            <a:srgbClr val="4F81BD"/>
                          </a:solidFill>
                          <a:latin typeface="Calibri"/>
                          <a:ea typeface="Calibri"/>
                          <a:cs typeface="Calibri"/>
                          <a:sym typeface="Calibri"/>
                        </a:rPr>
                        <a:t>string.Empty</a:t>
                      </a:r>
                      <a:r>
                        <a:rPr lang="es-ES" sz="8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800" dirty="0">
                          <a:solidFill>
                            <a:srgbClr val="4F81BD"/>
                          </a:solidFill>
                          <a:latin typeface="Calibri"/>
                          <a:ea typeface="Calibri"/>
                          <a:cs typeface="Calibri"/>
                          <a:sym typeface="Calibri"/>
                        </a:rPr>
                        <a:t>            : new </a:t>
                      </a:r>
                      <a:r>
                        <a:rPr lang="es-ES" sz="800" dirty="0" err="1">
                          <a:solidFill>
                            <a:srgbClr val="4F81BD"/>
                          </a:solidFill>
                          <a:latin typeface="Calibri"/>
                          <a:ea typeface="Calibri"/>
                          <a:cs typeface="Calibri"/>
                          <a:sym typeface="Calibri"/>
                        </a:rPr>
                        <a:t>ResultadoConversionModelo</a:t>
                      </a:r>
                      <a:r>
                        <a:rPr lang="es-ES" sz="800" dirty="0">
                          <a:solidFill>
                            <a:srgbClr val="4F81BD"/>
                          </a:solidFill>
                          <a:latin typeface="Calibri"/>
                          <a:ea typeface="Calibri"/>
                          <a:cs typeface="Calibri"/>
                          <a:sym typeface="Calibri"/>
                        </a:rPr>
                        <a:t>(false, </a:t>
                      </a:r>
                      <a:r>
                        <a:rPr lang="es-ES" sz="800" dirty="0" err="1">
                          <a:solidFill>
                            <a:srgbClr val="4F81BD"/>
                          </a:solidFill>
                          <a:latin typeface="Calibri"/>
                          <a:ea typeface="Calibri"/>
                          <a:cs typeface="Calibri"/>
                          <a:sym typeface="Calibri"/>
                        </a:rPr>
                        <a:t>null</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respuesta.Mensaje</a:t>
                      </a:r>
                      <a:r>
                        <a:rPr lang="es-ES" sz="800" dirty="0">
                          <a:solidFill>
                            <a:srgbClr val="4F81BD"/>
                          </a:solidFill>
                          <a:latin typeface="Calibri"/>
                          <a:ea typeface="Calibri"/>
                          <a:cs typeface="Calibri"/>
                          <a:sym typeface="Calibri"/>
                        </a:rPr>
                        <a:t> ?? "No se pudo realizar la conversión.");</a:t>
                      </a:r>
                    </a:p>
                    <a:p>
                      <a:pPr marL="0" lvl="0" indent="0" algn="l" rtl="0">
                        <a:lnSpc>
                          <a:spcPct val="100000"/>
                        </a:lnSpc>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S" sz="800" dirty="0">
                          <a:solidFill>
                            <a:srgbClr val="4F81BD"/>
                          </a:solidFill>
                          <a:latin typeface="Calibri"/>
                          <a:ea typeface="Calibri"/>
                          <a:cs typeface="Calibri"/>
                          <a:sym typeface="Calibri"/>
                        </a:rPr>
                        <a:t>    catch (</a:t>
                      </a:r>
                      <a:r>
                        <a:rPr lang="es-ES" sz="800" dirty="0" err="1">
                          <a:solidFill>
                            <a:srgbClr val="4F81BD"/>
                          </a:solidFill>
                          <a:latin typeface="Calibri"/>
                          <a:ea typeface="Calibri"/>
                          <a:cs typeface="Calibri"/>
                          <a:sym typeface="Calibri"/>
                        </a:rPr>
                        <a:t>EndpointNotFoundException</a:t>
                      </a:r>
                      <a:r>
                        <a:rPr lang="es-ES" sz="800" dirty="0">
                          <a:solidFill>
                            <a:srgbClr val="4F81BD"/>
                          </a:solidFill>
                          <a:latin typeface="Calibri"/>
                          <a:ea typeface="Calibri"/>
                          <a:cs typeface="Calibri"/>
                          <a:sym typeface="Calibri"/>
                        </a:rPr>
                        <a:t> ex)</a:t>
                      </a:r>
                    </a:p>
                    <a:p>
                      <a:pPr marL="0" lvl="0" indent="0" algn="l" rtl="0">
                        <a:lnSpc>
                          <a:spcPct val="100000"/>
                        </a:lnSpc>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S" sz="800" dirty="0">
                          <a:solidFill>
                            <a:srgbClr val="4F81BD"/>
                          </a:solidFill>
                          <a:latin typeface="Calibri"/>
                          <a:ea typeface="Calibri"/>
                          <a:cs typeface="Calibri"/>
                          <a:sym typeface="Calibri"/>
                        </a:rPr>
                        <a:t>        _</a:t>
                      </a:r>
                      <a:r>
                        <a:rPr lang="es-ES" sz="800" dirty="0" err="1">
                          <a:solidFill>
                            <a:srgbClr val="4F81BD"/>
                          </a:solidFill>
                          <a:latin typeface="Calibri"/>
                          <a:ea typeface="Calibri"/>
                          <a:cs typeface="Calibri"/>
                          <a:sym typeface="Calibri"/>
                        </a:rPr>
                        <a:t>log.LogError</a:t>
                      </a:r>
                      <a:r>
                        <a:rPr lang="es-ES" sz="800" dirty="0">
                          <a:solidFill>
                            <a:srgbClr val="4F81BD"/>
                          </a:solidFill>
                          <a:latin typeface="Calibri"/>
                          <a:ea typeface="Calibri"/>
                          <a:cs typeface="Calibri"/>
                          <a:sym typeface="Calibri"/>
                        </a:rPr>
                        <a:t>(ex, "No se encontró el </a:t>
                      </a:r>
                      <a:r>
                        <a:rPr lang="es-ES" sz="800" dirty="0" err="1">
                          <a:solidFill>
                            <a:srgbClr val="4F81BD"/>
                          </a:solidFill>
                          <a:latin typeface="Calibri"/>
                          <a:ea typeface="Calibri"/>
                          <a:cs typeface="Calibri"/>
                          <a:sym typeface="Calibri"/>
                        </a:rPr>
                        <a:t>endpoint</a:t>
                      </a:r>
                      <a:r>
                        <a:rPr lang="es-ES" sz="800" dirty="0">
                          <a:solidFill>
                            <a:srgbClr val="4F81BD"/>
                          </a:solidFill>
                          <a:latin typeface="Calibri"/>
                          <a:ea typeface="Calibri"/>
                          <a:cs typeface="Calibri"/>
                          <a:sym typeface="Calibri"/>
                        </a:rPr>
                        <a:t> SOAP");</a:t>
                      </a:r>
                    </a:p>
                    <a:p>
                      <a:pPr marL="0" lvl="0" indent="0" algn="l" rtl="0">
                        <a:lnSpc>
                          <a:spcPct val="100000"/>
                        </a:lnSpc>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return</a:t>
                      </a:r>
                      <a:r>
                        <a:rPr lang="es-ES" sz="800" dirty="0">
                          <a:solidFill>
                            <a:srgbClr val="4F81BD"/>
                          </a:solidFill>
                          <a:latin typeface="Calibri"/>
                          <a:ea typeface="Calibri"/>
                          <a:cs typeface="Calibri"/>
                          <a:sym typeface="Calibri"/>
                        </a:rPr>
                        <a:t> new </a:t>
                      </a:r>
                      <a:r>
                        <a:rPr lang="es-ES" sz="800" dirty="0" err="1">
                          <a:solidFill>
                            <a:srgbClr val="4F81BD"/>
                          </a:solidFill>
                          <a:latin typeface="Calibri"/>
                          <a:ea typeface="Calibri"/>
                          <a:cs typeface="Calibri"/>
                          <a:sym typeface="Calibri"/>
                        </a:rPr>
                        <a:t>ResultadoConversionModelo</a:t>
                      </a:r>
                      <a:r>
                        <a:rPr lang="es-ES" sz="800" dirty="0">
                          <a:solidFill>
                            <a:srgbClr val="4F81BD"/>
                          </a:solidFill>
                          <a:latin typeface="Calibri"/>
                          <a:ea typeface="Calibri"/>
                          <a:cs typeface="Calibri"/>
                          <a:sym typeface="Calibri"/>
                        </a:rPr>
                        <a:t>(false, </a:t>
                      </a:r>
                      <a:r>
                        <a:rPr lang="es-ES" sz="800" dirty="0" err="1">
                          <a:solidFill>
                            <a:srgbClr val="4F81BD"/>
                          </a:solidFill>
                          <a:latin typeface="Calibri"/>
                          <a:ea typeface="Calibri"/>
                          <a:cs typeface="Calibri"/>
                          <a:sym typeface="Calibri"/>
                        </a:rPr>
                        <a:t>null</a:t>
                      </a:r>
                      <a:r>
                        <a:rPr lang="es-ES" sz="800" dirty="0">
                          <a:solidFill>
                            <a:srgbClr val="4F81BD"/>
                          </a:solidFill>
                          <a:latin typeface="Calibri"/>
                          <a:ea typeface="Calibri"/>
                          <a:cs typeface="Calibri"/>
                          <a:sym typeface="Calibri"/>
                        </a:rPr>
                        <a:t>, "No se pudo contactar con el servidor.");</a:t>
                      </a:r>
                    </a:p>
                    <a:p>
                      <a:pPr marL="0" lvl="0" indent="0" algn="l" rtl="0">
                        <a:lnSpc>
                          <a:spcPct val="100000"/>
                        </a:lnSpc>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S" sz="800" dirty="0">
                          <a:solidFill>
                            <a:srgbClr val="4F81BD"/>
                          </a:solidFill>
                          <a:latin typeface="Calibri"/>
                          <a:ea typeface="Calibri"/>
                          <a:cs typeface="Calibri"/>
                          <a:sym typeface="Calibri"/>
                        </a:rPr>
                        <a:t>    catch (</a:t>
                      </a:r>
                      <a:r>
                        <a:rPr lang="es-ES" sz="800" dirty="0" err="1">
                          <a:solidFill>
                            <a:srgbClr val="4F81BD"/>
                          </a:solidFill>
                          <a:latin typeface="Calibri"/>
                          <a:ea typeface="Calibri"/>
                          <a:cs typeface="Calibri"/>
                          <a:sym typeface="Calibri"/>
                        </a:rPr>
                        <a:t>TimeoutException</a:t>
                      </a:r>
                      <a:r>
                        <a:rPr lang="es-ES" sz="800" dirty="0">
                          <a:solidFill>
                            <a:srgbClr val="4F81BD"/>
                          </a:solidFill>
                          <a:latin typeface="Calibri"/>
                          <a:ea typeface="Calibri"/>
                          <a:cs typeface="Calibri"/>
                          <a:sym typeface="Calibri"/>
                        </a:rPr>
                        <a:t> ex)</a:t>
                      </a:r>
                    </a:p>
                    <a:p>
                      <a:pPr marL="0" lvl="0" indent="0" algn="l" rtl="0">
                        <a:lnSpc>
                          <a:spcPct val="100000"/>
                        </a:lnSpc>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S" sz="800" dirty="0">
                          <a:solidFill>
                            <a:srgbClr val="4F81BD"/>
                          </a:solidFill>
                          <a:latin typeface="Calibri"/>
                          <a:ea typeface="Calibri"/>
                          <a:cs typeface="Calibri"/>
                          <a:sym typeface="Calibri"/>
                        </a:rPr>
                        <a:t>        _</a:t>
                      </a:r>
                      <a:r>
                        <a:rPr lang="es-ES" sz="800" dirty="0" err="1">
                          <a:solidFill>
                            <a:srgbClr val="4F81BD"/>
                          </a:solidFill>
                          <a:latin typeface="Calibri"/>
                          <a:ea typeface="Calibri"/>
                          <a:cs typeface="Calibri"/>
                          <a:sym typeface="Calibri"/>
                        </a:rPr>
                        <a:t>log.LogError</a:t>
                      </a:r>
                      <a:r>
                        <a:rPr lang="es-ES" sz="800" dirty="0">
                          <a:solidFill>
                            <a:srgbClr val="4F81BD"/>
                          </a:solidFill>
                          <a:latin typeface="Calibri"/>
                          <a:ea typeface="Calibri"/>
                          <a:cs typeface="Calibri"/>
                          <a:sym typeface="Calibri"/>
                        </a:rPr>
                        <a:t>(ex, "Tiempo de espera agotado al llamar a Convertir");</a:t>
                      </a:r>
                    </a:p>
                    <a:p>
                      <a:pPr marL="0" lvl="0" indent="0" algn="l" rtl="0">
                        <a:lnSpc>
                          <a:spcPct val="100000"/>
                        </a:lnSpc>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return</a:t>
                      </a:r>
                      <a:r>
                        <a:rPr lang="es-ES" sz="800" dirty="0">
                          <a:solidFill>
                            <a:srgbClr val="4F81BD"/>
                          </a:solidFill>
                          <a:latin typeface="Calibri"/>
                          <a:ea typeface="Calibri"/>
                          <a:cs typeface="Calibri"/>
                          <a:sym typeface="Calibri"/>
                        </a:rPr>
                        <a:t> new </a:t>
                      </a:r>
                      <a:r>
                        <a:rPr lang="es-ES" sz="800" dirty="0" err="1">
                          <a:solidFill>
                            <a:srgbClr val="4F81BD"/>
                          </a:solidFill>
                          <a:latin typeface="Calibri"/>
                          <a:ea typeface="Calibri"/>
                          <a:cs typeface="Calibri"/>
                          <a:sym typeface="Calibri"/>
                        </a:rPr>
                        <a:t>ResultadoConversionModelo</a:t>
                      </a:r>
                      <a:r>
                        <a:rPr lang="es-ES" sz="800" dirty="0">
                          <a:solidFill>
                            <a:srgbClr val="4F81BD"/>
                          </a:solidFill>
                          <a:latin typeface="Calibri"/>
                          <a:ea typeface="Calibri"/>
                          <a:cs typeface="Calibri"/>
                          <a:sym typeface="Calibri"/>
                        </a:rPr>
                        <a:t>(false, </a:t>
                      </a:r>
                      <a:r>
                        <a:rPr lang="es-ES" sz="800" dirty="0" err="1">
                          <a:solidFill>
                            <a:srgbClr val="4F81BD"/>
                          </a:solidFill>
                          <a:latin typeface="Calibri"/>
                          <a:ea typeface="Calibri"/>
                          <a:cs typeface="Calibri"/>
                          <a:sym typeface="Calibri"/>
                        </a:rPr>
                        <a:t>null</a:t>
                      </a:r>
                      <a:r>
                        <a:rPr lang="es-ES" sz="800" dirty="0">
                          <a:solidFill>
                            <a:srgbClr val="4F81BD"/>
                          </a:solidFill>
                          <a:latin typeface="Calibri"/>
                          <a:ea typeface="Calibri"/>
                          <a:cs typeface="Calibri"/>
                          <a:sym typeface="Calibri"/>
                        </a:rPr>
                        <a:t>, "El servidor tardó demasiado en responder.");</a:t>
                      </a:r>
                    </a:p>
                    <a:p>
                      <a:pPr marL="0" lvl="0" indent="0" algn="l" rtl="0">
                        <a:lnSpc>
                          <a:spcPct val="100000"/>
                        </a:lnSpc>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S" sz="800" dirty="0">
                          <a:solidFill>
                            <a:srgbClr val="4F81BD"/>
                          </a:solidFill>
                          <a:latin typeface="Calibri"/>
                          <a:ea typeface="Calibri"/>
                          <a:cs typeface="Calibri"/>
                          <a:sym typeface="Calibri"/>
                        </a:rPr>
                        <a:t>    catch (</a:t>
                      </a:r>
                      <a:r>
                        <a:rPr lang="es-ES" sz="800" dirty="0" err="1">
                          <a:solidFill>
                            <a:srgbClr val="4F81BD"/>
                          </a:solidFill>
                          <a:latin typeface="Calibri"/>
                          <a:ea typeface="Calibri"/>
                          <a:cs typeface="Calibri"/>
                          <a:sym typeface="Calibri"/>
                        </a:rPr>
                        <a:t>FaultException</a:t>
                      </a:r>
                      <a:r>
                        <a:rPr lang="es-ES" sz="800" dirty="0">
                          <a:solidFill>
                            <a:srgbClr val="4F81BD"/>
                          </a:solidFill>
                          <a:latin typeface="Calibri"/>
                          <a:ea typeface="Calibri"/>
                          <a:cs typeface="Calibri"/>
                          <a:sym typeface="Calibri"/>
                        </a:rPr>
                        <a:t> ex)</a:t>
                      </a:r>
                    </a:p>
                    <a:p>
                      <a:pPr marL="0" lvl="0" indent="0" algn="l" rtl="0">
                        <a:lnSpc>
                          <a:spcPct val="100000"/>
                        </a:lnSpc>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S" sz="800" dirty="0">
                          <a:solidFill>
                            <a:srgbClr val="4F81BD"/>
                          </a:solidFill>
                          <a:latin typeface="Calibri"/>
                          <a:ea typeface="Calibri"/>
                          <a:cs typeface="Calibri"/>
                          <a:sym typeface="Calibri"/>
                        </a:rPr>
                        <a:t>        _</a:t>
                      </a:r>
                      <a:r>
                        <a:rPr lang="es-ES" sz="800" dirty="0" err="1">
                          <a:solidFill>
                            <a:srgbClr val="4F81BD"/>
                          </a:solidFill>
                          <a:latin typeface="Calibri"/>
                          <a:ea typeface="Calibri"/>
                          <a:cs typeface="Calibri"/>
                          <a:sym typeface="Calibri"/>
                        </a:rPr>
                        <a:t>log.LogWarning</a:t>
                      </a:r>
                      <a:r>
                        <a:rPr lang="es-ES" sz="800" dirty="0">
                          <a:solidFill>
                            <a:srgbClr val="4F81BD"/>
                          </a:solidFill>
                          <a:latin typeface="Calibri"/>
                          <a:ea typeface="Calibri"/>
                          <a:cs typeface="Calibri"/>
                          <a:sym typeface="Calibri"/>
                        </a:rPr>
                        <a:t>(ex, "El servicio devolvió un fallo SOAP en Convertir");</a:t>
                      </a:r>
                    </a:p>
                    <a:p>
                      <a:pPr marL="0" lvl="0" indent="0" algn="l" rtl="0">
                        <a:lnSpc>
                          <a:spcPct val="100000"/>
                        </a:lnSpc>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return</a:t>
                      </a:r>
                      <a:r>
                        <a:rPr lang="es-ES" sz="800" dirty="0">
                          <a:solidFill>
                            <a:srgbClr val="4F81BD"/>
                          </a:solidFill>
                          <a:latin typeface="Calibri"/>
                          <a:ea typeface="Calibri"/>
                          <a:cs typeface="Calibri"/>
                          <a:sym typeface="Calibri"/>
                        </a:rPr>
                        <a:t> new </a:t>
                      </a:r>
                      <a:r>
                        <a:rPr lang="es-ES" sz="800" dirty="0" err="1">
                          <a:solidFill>
                            <a:srgbClr val="4F81BD"/>
                          </a:solidFill>
                          <a:latin typeface="Calibri"/>
                          <a:ea typeface="Calibri"/>
                          <a:cs typeface="Calibri"/>
                          <a:sym typeface="Calibri"/>
                        </a:rPr>
                        <a:t>ResultadoConversionModelo</a:t>
                      </a:r>
                      <a:r>
                        <a:rPr lang="es-ES" sz="800" dirty="0">
                          <a:solidFill>
                            <a:srgbClr val="4F81BD"/>
                          </a:solidFill>
                          <a:latin typeface="Calibri"/>
                          <a:ea typeface="Calibri"/>
                          <a:cs typeface="Calibri"/>
                          <a:sym typeface="Calibri"/>
                        </a:rPr>
                        <a:t>(false, </a:t>
                      </a:r>
                      <a:r>
                        <a:rPr lang="es-ES" sz="800" dirty="0" err="1">
                          <a:solidFill>
                            <a:srgbClr val="4F81BD"/>
                          </a:solidFill>
                          <a:latin typeface="Calibri"/>
                          <a:ea typeface="Calibri"/>
                          <a:cs typeface="Calibri"/>
                          <a:sym typeface="Calibri"/>
                        </a:rPr>
                        <a:t>null</a:t>
                      </a:r>
                      <a:r>
                        <a:rPr lang="es-ES" sz="800" dirty="0">
                          <a:solidFill>
                            <a:srgbClr val="4F81BD"/>
                          </a:solidFill>
                          <a:latin typeface="Calibri"/>
                          <a:ea typeface="Calibri"/>
                          <a:cs typeface="Calibri"/>
                          <a:sym typeface="Calibri"/>
                        </a:rPr>
                        <a:t>, $"El servidor rechazó la solicitud: {</a:t>
                      </a:r>
                      <a:r>
                        <a:rPr lang="es-ES" sz="800" dirty="0" err="1">
                          <a:solidFill>
                            <a:srgbClr val="4F81BD"/>
                          </a:solidFill>
                          <a:latin typeface="Calibri"/>
                          <a:ea typeface="Calibri"/>
                          <a:cs typeface="Calibri"/>
                          <a:sym typeface="Calibri"/>
                        </a:rPr>
                        <a:t>ex.Message</a:t>
                      </a:r>
                      <a:r>
                        <a:rPr lang="es-ES" sz="8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S" sz="800" dirty="0">
                          <a:solidFill>
                            <a:srgbClr val="4F81BD"/>
                          </a:solidFill>
                          <a:latin typeface="Calibri"/>
                          <a:ea typeface="Calibri"/>
                          <a:cs typeface="Calibri"/>
                          <a:sym typeface="Calibri"/>
                        </a:rPr>
                        <a:t>    catch (</a:t>
                      </a:r>
                      <a:r>
                        <a:rPr lang="es-ES" sz="800" dirty="0" err="1">
                          <a:solidFill>
                            <a:srgbClr val="4F81BD"/>
                          </a:solidFill>
                          <a:latin typeface="Calibri"/>
                          <a:ea typeface="Calibri"/>
                          <a:cs typeface="Calibri"/>
                          <a:sym typeface="Calibri"/>
                        </a:rPr>
                        <a:t>Exception</a:t>
                      </a:r>
                      <a:r>
                        <a:rPr lang="es-ES" sz="800" dirty="0">
                          <a:solidFill>
                            <a:srgbClr val="4F81BD"/>
                          </a:solidFill>
                          <a:latin typeface="Calibri"/>
                          <a:ea typeface="Calibri"/>
                          <a:cs typeface="Calibri"/>
                          <a:sym typeface="Calibri"/>
                        </a:rPr>
                        <a:t> ex) </a:t>
                      </a:r>
                      <a:r>
                        <a:rPr lang="es-ES" sz="800" dirty="0" err="1">
                          <a:solidFill>
                            <a:srgbClr val="4F81BD"/>
                          </a:solidFill>
                          <a:latin typeface="Calibri"/>
                          <a:ea typeface="Calibri"/>
                          <a:cs typeface="Calibri"/>
                          <a:sym typeface="Calibri"/>
                        </a:rPr>
                        <a:t>when</a:t>
                      </a:r>
                      <a:r>
                        <a:rPr lang="es-ES" sz="800" dirty="0">
                          <a:solidFill>
                            <a:srgbClr val="4F81BD"/>
                          </a:solidFill>
                          <a:latin typeface="Calibri"/>
                          <a:ea typeface="Calibri"/>
                          <a:cs typeface="Calibri"/>
                          <a:sym typeface="Calibri"/>
                        </a:rPr>
                        <a:t> (ex </a:t>
                      </a:r>
                      <a:r>
                        <a:rPr lang="es-ES" sz="800" dirty="0" err="1">
                          <a:solidFill>
                            <a:srgbClr val="4F81BD"/>
                          </a:solidFill>
                          <a:latin typeface="Calibri"/>
                          <a:ea typeface="Calibri"/>
                          <a:cs typeface="Calibri"/>
                          <a:sym typeface="Calibri"/>
                        </a:rPr>
                        <a:t>is</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CommunicationException</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or</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HttpRequestException</a:t>
                      </a:r>
                      <a:r>
                        <a:rPr lang="es-ES" sz="8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S" sz="800" dirty="0">
                          <a:solidFill>
                            <a:srgbClr val="4F81BD"/>
                          </a:solidFill>
                          <a:latin typeface="Calibri"/>
                          <a:ea typeface="Calibri"/>
                          <a:cs typeface="Calibri"/>
                          <a:sym typeface="Calibri"/>
                        </a:rPr>
                        <a:t>        _</a:t>
                      </a:r>
                      <a:r>
                        <a:rPr lang="es-ES" sz="800" dirty="0" err="1">
                          <a:solidFill>
                            <a:srgbClr val="4F81BD"/>
                          </a:solidFill>
                          <a:latin typeface="Calibri"/>
                          <a:ea typeface="Calibri"/>
                          <a:cs typeface="Calibri"/>
                          <a:sym typeface="Calibri"/>
                        </a:rPr>
                        <a:t>log.LogError</a:t>
                      </a:r>
                      <a:r>
                        <a:rPr lang="es-ES" sz="800" dirty="0">
                          <a:solidFill>
                            <a:srgbClr val="4F81BD"/>
                          </a:solidFill>
                          <a:latin typeface="Calibri"/>
                          <a:ea typeface="Calibri"/>
                          <a:cs typeface="Calibri"/>
                          <a:sym typeface="Calibri"/>
                        </a:rPr>
                        <a:t>(ex, "Error de comunicación con el servicio SOAP");</a:t>
                      </a:r>
                    </a:p>
                    <a:p>
                      <a:pPr marL="0" lvl="0" indent="0" algn="l" rtl="0">
                        <a:lnSpc>
                          <a:spcPct val="100000"/>
                        </a:lnSpc>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return</a:t>
                      </a:r>
                      <a:r>
                        <a:rPr lang="es-ES" sz="800" dirty="0">
                          <a:solidFill>
                            <a:srgbClr val="4F81BD"/>
                          </a:solidFill>
                          <a:latin typeface="Calibri"/>
                          <a:ea typeface="Calibri"/>
                          <a:cs typeface="Calibri"/>
                          <a:sym typeface="Calibri"/>
                        </a:rPr>
                        <a:t> new </a:t>
                      </a:r>
                      <a:r>
                        <a:rPr lang="es-ES" sz="800" dirty="0" err="1">
                          <a:solidFill>
                            <a:srgbClr val="4F81BD"/>
                          </a:solidFill>
                          <a:latin typeface="Calibri"/>
                          <a:ea typeface="Calibri"/>
                          <a:cs typeface="Calibri"/>
                          <a:sym typeface="Calibri"/>
                        </a:rPr>
                        <a:t>ResultadoConversionModelo</a:t>
                      </a:r>
                      <a:r>
                        <a:rPr lang="es-ES" sz="800" dirty="0">
                          <a:solidFill>
                            <a:srgbClr val="4F81BD"/>
                          </a:solidFill>
                          <a:latin typeface="Calibri"/>
                          <a:ea typeface="Calibri"/>
                          <a:cs typeface="Calibri"/>
                          <a:sym typeface="Calibri"/>
                        </a:rPr>
                        <a:t>(false, </a:t>
                      </a:r>
                      <a:r>
                        <a:rPr lang="es-ES" sz="800" dirty="0" err="1">
                          <a:solidFill>
                            <a:srgbClr val="4F81BD"/>
                          </a:solidFill>
                          <a:latin typeface="Calibri"/>
                          <a:ea typeface="Calibri"/>
                          <a:cs typeface="Calibri"/>
                          <a:sym typeface="Calibri"/>
                        </a:rPr>
                        <a:t>null</a:t>
                      </a:r>
                      <a:r>
                        <a:rPr lang="es-ES" sz="800" dirty="0">
                          <a:solidFill>
                            <a:srgbClr val="4F81BD"/>
                          </a:solidFill>
                          <a:latin typeface="Calibri"/>
                          <a:ea typeface="Calibri"/>
                          <a:cs typeface="Calibri"/>
                          <a:sym typeface="Calibri"/>
                        </a:rPr>
                        <a:t>, "Error de comunicación con el servidor.");</a:t>
                      </a:r>
                    </a:p>
                    <a:p>
                      <a:pPr marL="0" lvl="0" indent="0" algn="l" rtl="0">
                        <a:lnSpc>
                          <a:spcPct val="100000"/>
                        </a:lnSpc>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S" sz="800" dirty="0">
                          <a:solidFill>
                            <a:srgbClr val="4F81BD"/>
                          </a:solidFill>
                          <a:latin typeface="Calibri"/>
                          <a:ea typeface="Calibri"/>
                          <a:cs typeface="Calibri"/>
                          <a:sym typeface="Calibri"/>
                        </a:rPr>
                        <a:t>}</a:t>
                      </a:r>
                    </a:p>
                  </a:txBody>
                  <a:tcPr marL="63500" marR="63500" marT="63500" marB="63500"/>
                </a:tc>
                <a:extLst>
                  <a:ext uri="{0D108BD9-81ED-4DB2-BD59-A6C34878D82A}">
                    <a16:rowId xmlns:a16="http://schemas.microsoft.com/office/drawing/2014/main" val="10000"/>
                  </a:ext>
                </a:extLst>
              </a:tr>
            </a:tbl>
          </a:graphicData>
        </a:graphic>
      </p:graphicFrame>
      <p:sp>
        <p:nvSpPr>
          <p:cNvPr id="4" name="Google Shape;319;p40">
            <a:extLst>
              <a:ext uri="{FF2B5EF4-FFF2-40B4-BE49-F238E27FC236}">
                <a16:creationId xmlns:a16="http://schemas.microsoft.com/office/drawing/2014/main" id="{AE6B9AB3-AC2B-4910-2D8C-D489EE42B92A}"/>
              </a:ext>
            </a:extLst>
          </p:cNvPr>
          <p:cNvSpPr txBox="1">
            <a:spLocks/>
          </p:cNvSpPr>
          <p:nvPr/>
        </p:nvSpPr>
        <p:spPr>
          <a:xfrm>
            <a:off x="-1" y="1837551"/>
            <a:ext cx="1940435" cy="4447919"/>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indent="-327406">
              <a:lnSpc>
                <a:spcPct val="150000"/>
              </a:lnSpc>
              <a:spcBef>
                <a:spcPts val="0"/>
              </a:spcBef>
              <a:buSzPts val="1556"/>
              <a:buFont typeface="Noto Sans Symbols"/>
              <a:buChar char="∙"/>
            </a:pPr>
            <a:r>
              <a:rPr lang="es-MX" sz="1400">
                <a:solidFill>
                  <a:schemeClr val="dk1"/>
                </a:solidFill>
                <a:latin typeface="Calibri"/>
                <a:ea typeface="Calibri"/>
                <a:cs typeface="Calibri"/>
                <a:sym typeface="Calibri"/>
              </a:rPr>
              <a:t>A continuación se detallarán las clases principales con su código fuente.</a:t>
            </a:r>
          </a:p>
          <a:p>
            <a:pPr indent="-304800" algn="just">
              <a:lnSpc>
                <a:spcPct val="107000"/>
              </a:lnSpc>
              <a:spcBef>
                <a:spcPts val="0"/>
              </a:spcBef>
              <a:buSzPts val="1200"/>
              <a:buFont typeface="Cambria"/>
              <a:buChar char="∙"/>
            </a:pPr>
            <a:endParaRPr lang="es-MX" sz="1400" dirty="0">
              <a:latin typeface="Cambria"/>
              <a:ea typeface="Cambria"/>
              <a:cs typeface="Cambria"/>
              <a:sym typeface="Cambri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7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18" name="Google Shape;618;p76"/>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WEB</a:t>
            </a:r>
            <a:endParaRPr dirty="0">
              <a:solidFill>
                <a:srgbClr val="FFFF00"/>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620" name="Google Shape;620;p76"/>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dirty="0">
                <a:solidFill>
                  <a:srgbClr val="3D3D3D"/>
                </a:solidFill>
                <a:latin typeface="Cambria"/>
                <a:ea typeface="Cambria"/>
                <a:cs typeface="Cambria"/>
                <a:sym typeface="Cambria"/>
              </a:rPr>
              <a:t>Consola de la aplicación web</a:t>
            </a:r>
            <a:endParaRPr sz="2000" b="0" i="0" u="none" strike="noStrike" cap="none" dirty="0">
              <a:solidFill>
                <a:srgbClr val="3D3D3D"/>
              </a:solidFill>
              <a:latin typeface="Cambria"/>
              <a:ea typeface="Cambria"/>
              <a:cs typeface="Cambria"/>
              <a:sym typeface="Cambria"/>
            </a:endParaRPr>
          </a:p>
        </p:txBody>
      </p:sp>
      <p:pic>
        <p:nvPicPr>
          <p:cNvPr id="4" name="Picture 3">
            <a:extLst>
              <a:ext uri="{FF2B5EF4-FFF2-40B4-BE49-F238E27FC236}">
                <a16:creationId xmlns:a16="http://schemas.microsoft.com/office/drawing/2014/main" id="{351298EF-F9F0-517A-C8FB-59BB8C2430B4}"/>
              </a:ext>
            </a:extLst>
          </p:cNvPr>
          <p:cNvPicPr>
            <a:picLocks noChangeAspect="1"/>
          </p:cNvPicPr>
          <p:nvPr/>
        </p:nvPicPr>
        <p:blipFill>
          <a:blip r:embed="rId3"/>
          <a:stretch>
            <a:fillRect/>
          </a:stretch>
        </p:blipFill>
        <p:spPr>
          <a:xfrm>
            <a:off x="940275" y="3141265"/>
            <a:ext cx="7923638" cy="2212374"/>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16">
          <a:extLst>
            <a:ext uri="{FF2B5EF4-FFF2-40B4-BE49-F238E27FC236}">
              <a16:creationId xmlns:a16="http://schemas.microsoft.com/office/drawing/2014/main" id="{F4381D62-2B90-0497-15D0-E465A0BFF560}"/>
            </a:ext>
          </a:extLst>
        </p:cNvPr>
        <p:cNvGrpSpPr/>
        <p:nvPr/>
      </p:nvGrpSpPr>
      <p:grpSpPr>
        <a:xfrm>
          <a:off x="0" y="0"/>
          <a:ext cx="0" cy="0"/>
          <a:chOff x="0" y="0"/>
          <a:chExt cx="0" cy="0"/>
        </a:xfrm>
      </p:grpSpPr>
      <p:sp>
        <p:nvSpPr>
          <p:cNvPr id="617" name="Google Shape;617;p76">
            <a:extLst>
              <a:ext uri="{FF2B5EF4-FFF2-40B4-BE49-F238E27FC236}">
                <a16:creationId xmlns:a16="http://schemas.microsoft.com/office/drawing/2014/main" id="{B444C22A-731E-5730-D028-60BCC1BCF0DC}"/>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18" name="Google Shape;618;p76">
            <a:extLst>
              <a:ext uri="{FF2B5EF4-FFF2-40B4-BE49-F238E27FC236}">
                <a16:creationId xmlns:a16="http://schemas.microsoft.com/office/drawing/2014/main" id="{DFE04893-6102-F256-5243-BA7AE2D15491}"/>
              </a:ext>
            </a:extLst>
          </p:cNvPr>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WEB</a:t>
            </a:r>
            <a:endParaRPr dirty="0">
              <a:solidFill>
                <a:srgbClr val="FFFF00"/>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620" name="Google Shape;620;p76">
            <a:extLst>
              <a:ext uri="{FF2B5EF4-FFF2-40B4-BE49-F238E27FC236}">
                <a16:creationId xmlns:a16="http://schemas.microsoft.com/office/drawing/2014/main" id="{699D9B87-8222-DBF9-B993-D63EFFDDA390}"/>
              </a:ext>
            </a:extLst>
          </p:cNvPr>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login</a:t>
            </a:r>
            <a:endParaRPr sz="2000" b="0" i="0" u="none" strike="noStrike" cap="none">
              <a:solidFill>
                <a:srgbClr val="3D3D3D"/>
              </a:solidFill>
              <a:latin typeface="Cambria"/>
              <a:ea typeface="Cambria"/>
              <a:cs typeface="Cambria"/>
              <a:sym typeface="Cambria"/>
            </a:endParaRPr>
          </a:p>
        </p:txBody>
      </p:sp>
      <p:pic>
        <p:nvPicPr>
          <p:cNvPr id="4" name="Picture 3">
            <a:extLst>
              <a:ext uri="{FF2B5EF4-FFF2-40B4-BE49-F238E27FC236}">
                <a16:creationId xmlns:a16="http://schemas.microsoft.com/office/drawing/2014/main" id="{0A88835D-5097-4D63-D1CF-6DE55A325FC7}"/>
              </a:ext>
            </a:extLst>
          </p:cNvPr>
          <p:cNvPicPr>
            <a:picLocks noChangeAspect="1"/>
          </p:cNvPicPr>
          <p:nvPr/>
        </p:nvPicPr>
        <p:blipFill>
          <a:blip r:embed="rId3"/>
          <a:stretch>
            <a:fillRect/>
          </a:stretch>
        </p:blipFill>
        <p:spPr>
          <a:xfrm>
            <a:off x="1395432" y="2610549"/>
            <a:ext cx="7059035" cy="4168403"/>
          </a:xfrm>
          <a:prstGeom prst="rect">
            <a:avLst/>
          </a:prstGeom>
        </p:spPr>
      </p:pic>
    </p:spTree>
    <p:extLst>
      <p:ext uri="{BB962C8B-B14F-4D97-AF65-F5344CB8AC3E}">
        <p14:creationId xmlns:p14="http://schemas.microsoft.com/office/powerpoint/2010/main" val="674996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sp>
        <p:nvSpPr>
          <p:cNvPr id="625" name="Google Shape;625;p7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26" name="Google Shape;626;p77"/>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WEB</a:t>
            </a:r>
            <a:endParaRPr dirty="0">
              <a:solidFill>
                <a:srgbClr val="FFFF00"/>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627" name="Google Shape;627;p77"/>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Conversor</a:t>
            </a:r>
            <a:endParaRPr sz="2000" b="0" i="0" u="none" strike="noStrike" cap="none">
              <a:solidFill>
                <a:srgbClr val="3D3D3D"/>
              </a:solidFill>
              <a:latin typeface="Cambria"/>
              <a:ea typeface="Cambria"/>
              <a:cs typeface="Cambria"/>
              <a:sym typeface="Cambria"/>
            </a:endParaRPr>
          </a:p>
        </p:txBody>
      </p:sp>
      <p:pic>
        <p:nvPicPr>
          <p:cNvPr id="4" name="Picture 3">
            <a:extLst>
              <a:ext uri="{FF2B5EF4-FFF2-40B4-BE49-F238E27FC236}">
                <a16:creationId xmlns:a16="http://schemas.microsoft.com/office/drawing/2014/main" id="{6A01ACDC-F4F0-4264-433D-4FE3DC587B6D}"/>
              </a:ext>
            </a:extLst>
          </p:cNvPr>
          <p:cNvPicPr>
            <a:picLocks noChangeAspect="1"/>
          </p:cNvPicPr>
          <p:nvPr/>
        </p:nvPicPr>
        <p:blipFill>
          <a:blip r:embed="rId3"/>
          <a:stretch>
            <a:fillRect/>
          </a:stretch>
        </p:blipFill>
        <p:spPr>
          <a:xfrm>
            <a:off x="1114311" y="2610549"/>
            <a:ext cx="7621277" cy="402731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sp>
        <p:nvSpPr>
          <p:cNvPr id="633" name="Google Shape;633;p7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DESARROLLO</a:t>
            </a:r>
            <a:endParaRPr dirty="0"/>
          </a:p>
        </p:txBody>
      </p:sp>
      <p:sp>
        <p:nvSpPr>
          <p:cNvPr id="634" name="Google Shape;634;p78"/>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WEB</a:t>
            </a:r>
            <a:endParaRPr dirty="0">
              <a:solidFill>
                <a:srgbClr val="FFFF00"/>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635" name="Google Shape;635;p78"/>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dirty="0">
                <a:solidFill>
                  <a:srgbClr val="3D3D3D"/>
                </a:solidFill>
                <a:latin typeface="Cambria"/>
                <a:ea typeface="Cambria"/>
                <a:cs typeface="Cambria"/>
                <a:sym typeface="Cambria"/>
              </a:rPr>
              <a:t>Vista Conversión Realizada</a:t>
            </a:r>
            <a:endParaRPr sz="2000" b="0" i="0" u="none" strike="noStrike" cap="none" dirty="0">
              <a:solidFill>
                <a:srgbClr val="3D3D3D"/>
              </a:solidFill>
              <a:latin typeface="Cambria"/>
              <a:ea typeface="Cambria"/>
              <a:cs typeface="Cambria"/>
              <a:sym typeface="Cambria"/>
            </a:endParaRPr>
          </a:p>
        </p:txBody>
      </p:sp>
      <p:pic>
        <p:nvPicPr>
          <p:cNvPr id="4" name="Picture 3">
            <a:extLst>
              <a:ext uri="{FF2B5EF4-FFF2-40B4-BE49-F238E27FC236}">
                <a16:creationId xmlns:a16="http://schemas.microsoft.com/office/drawing/2014/main" id="{3BA7BC79-9D5F-6B36-CE50-3AD9B225FF80}"/>
              </a:ext>
            </a:extLst>
          </p:cNvPr>
          <p:cNvPicPr>
            <a:picLocks noChangeAspect="1"/>
          </p:cNvPicPr>
          <p:nvPr/>
        </p:nvPicPr>
        <p:blipFill>
          <a:blip r:embed="rId3"/>
          <a:stretch>
            <a:fillRect/>
          </a:stretch>
        </p:blipFill>
        <p:spPr>
          <a:xfrm>
            <a:off x="1362253" y="2693773"/>
            <a:ext cx="7125394" cy="3720667"/>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sp>
        <p:nvSpPr>
          <p:cNvPr id="642" name="Google Shape;642;p7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DESARROLLO</a:t>
            </a:r>
            <a:endParaRPr dirty="0"/>
          </a:p>
        </p:txBody>
      </p:sp>
      <p:sp>
        <p:nvSpPr>
          <p:cNvPr id="643" name="Google Shape;643;p79"/>
          <p:cNvSpPr/>
          <p:nvPr/>
        </p:nvSpPr>
        <p:spPr>
          <a:xfrm>
            <a:off x="9383700"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MOVIL</a:t>
            </a:r>
            <a:endParaRPr dirty="0">
              <a:solidFill>
                <a:srgbClr val="FFFF00"/>
              </a:solidFill>
            </a:endParaRPr>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646" name="Google Shape;646;p79"/>
          <p:cNvSpPr txBox="1">
            <a:spLocks noGrp="1"/>
          </p:cNvSpPr>
          <p:nvPr>
            <p:ph type="body" idx="1"/>
          </p:nvPr>
        </p:nvSpPr>
        <p:spPr>
          <a:xfrm>
            <a:off x="581192" y="2062478"/>
            <a:ext cx="8589300" cy="1170900"/>
          </a:xfrm>
          <a:prstGeom prst="rect">
            <a:avLst/>
          </a:prstGeom>
          <a:noFill/>
          <a:ln>
            <a:noFill/>
          </a:ln>
        </p:spPr>
        <p:txBody>
          <a:bodyPr spcFirstLastPara="1" wrap="square" lIns="91425" tIns="45700" rIns="91425" bIns="45700" anchor="ctr" anchorCtr="0">
            <a:normAutofit/>
          </a:bodyPr>
          <a:lstStyle/>
          <a:p>
            <a:pPr marL="457200" lvl="0" indent="-333753" algn="just" rtl="0">
              <a:lnSpc>
                <a:spcPct val="107000"/>
              </a:lnSpc>
              <a:spcBef>
                <a:spcPts val="0"/>
              </a:spcBef>
              <a:spcAft>
                <a:spcPts val="0"/>
              </a:spcAft>
              <a:buSzPts val="1656"/>
              <a:buChar char="●"/>
            </a:pPr>
            <a:r>
              <a:rPr lang="es-ES" sz="1564" dirty="0">
                <a:latin typeface="Cambria"/>
                <a:ea typeface="Cambria"/>
                <a:cs typeface="Cambria"/>
                <a:sym typeface="Cambria"/>
              </a:rPr>
              <a:t>Para el cliente móvil se debe crear un proyecto “Aplicación .NET MAUI” que permitirá la configuración para la app en Android y si se tuviera disposición también en IOS, pero cabe recalcar que para IOS es necesario un dispositivo en el cual ejecutar.</a:t>
            </a:r>
            <a:endParaRPr dirty="0">
              <a:latin typeface="Cambria"/>
              <a:ea typeface="Cambria"/>
              <a:cs typeface="Cambria"/>
              <a:sym typeface="Cambria"/>
            </a:endParaRPr>
          </a:p>
        </p:txBody>
      </p:sp>
      <p:sp>
        <p:nvSpPr>
          <p:cNvPr id="2" name="TextBox 1">
            <a:extLst>
              <a:ext uri="{FF2B5EF4-FFF2-40B4-BE49-F238E27FC236}">
                <a16:creationId xmlns:a16="http://schemas.microsoft.com/office/drawing/2014/main" id="{B85A9A1D-525D-99F6-AC54-08B6DE41E24A}"/>
              </a:ext>
            </a:extLst>
          </p:cNvPr>
          <p:cNvSpPr txBox="1"/>
          <p:nvPr/>
        </p:nvSpPr>
        <p:spPr>
          <a:xfrm>
            <a:off x="704335" y="1902979"/>
            <a:ext cx="6104238" cy="318998"/>
          </a:xfrm>
          <a:prstGeom prst="rect">
            <a:avLst/>
          </a:prstGeom>
          <a:noFill/>
        </p:spPr>
        <p:txBody>
          <a:bodyPr wrap="square">
            <a:spAutoFit/>
          </a:bodyPr>
          <a:lstStyle/>
          <a:p>
            <a:pPr marL="0" lvl="0" indent="0" algn="l" rtl="0">
              <a:lnSpc>
                <a:spcPct val="115000"/>
              </a:lnSpc>
              <a:spcBef>
                <a:spcPts val="1200"/>
              </a:spcBef>
              <a:spcAft>
                <a:spcPts val="0"/>
              </a:spcAft>
              <a:buClr>
                <a:schemeClr val="dk1"/>
              </a:buClr>
              <a:buSzPct val="70332"/>
              <a:buFont typeface="Arial"/>
              <a:buNone/>
            </a:pPr>
            <a:r>
              <a:rPr lang="es-MX" sz="1400" b="1" dirty="0">
                <a:latin typeface="Cambria"/>
                <a:ea typeface="Cambria"/>
                <a:cs typeface="Cambria"/>
                <a:sym typeface="Cambria"/>
              </a:rPr>
              <a:t>1.6  CREACIÓN DEL PROYECTO CLIENTE </a:t>
            </a:r>
            <a:r>
              <a:rPr lang="es-MX" b="1" dirty="0">
                <a:latin typeface="Cambria"/>
                <a:ea typeface="Cambria"/>
                <a:cs typeface="Cambria"/>
                <a:sym typeface="Cambria"/>
              </a:rPr>
              <a:t>MÓVIL</a:t>
            </a:r>
            <a:endParaRPr lang="es-MX" sz="1400" b="1" dirty="0">
              <a:latin typeface="Cambria"/>
              <a:ea typeface="Cambria"/>
              <a:cs typeface="Cambria"/>
              <a:sym typeface="Cambria"/>
            </a:endParaRPr>
          </a:p>
        </p:txBody>
      </p:sp>
      <p:pic>
        <p:nvPicPr>
          <p:cNvPr id="4" name="Picture 3">
            <a:extLst>
              <a:ext uri="{FF2B5EF4-FFF2-40B4-BE49-F238E27FC236}">
                <a16:creationId xmlns:a16="http://schemas.microsoft.com/office/drawing/2014/main" id="{AB6A26E8-EE8A-D574-4FEC-DF96F29B8EC2}"/>
              </a:ext>
            </a:extLst>
          </p:cNvPr>
          <p:cNvPicPr>
            <a:picLocks noChangeAspect="1"/>
          </p:cNvPicPr>
          <p:nvPr/>
        </p:nvPicPr>
        <p:blipFill>
          <a:blip r:embed="rId3"/>
          <a:stretch>
            <a:fillRect/>
          </a:stretch>
        </p:blipFill>
        <p:spPr>
          <a:xfrm>
            <a:off x="368000" y="3241075"/>
            <a:ext cx="4978357" cy="3193448"/>
          </a:xfrm>
          <a:prstGeom prst="rect">
            <a:avLst/>
          </a:prstGeom>
        </p:spPr>
      </p:pic>
      <p:pic>
        <p:nvPicPr>
          <p:cNvPr id="8" name="Picture 7">
            <a:extLst>
              <a:ext uri="{FF2B5EF4-FFF2-40B4-BE49-F238E27FC236}">
                <a16:creationId xmlns:a16="http://schemas.microsoft.com/office/drawing/2014/main" id="{47D1B701-EE32-F77F-C6BF-E001B7D261F2}"/>
              </a:ext>
            </a:extLst>
          </p:cNvPr>
          <p:cNvPicPr>
            <a:picLocks noChangeAspect="1"/>
          </p:cNvPicPr>
          <p:nvPr/>
        </p:nvPicPr>
        <p:blipFill>
          <a:blip r:embed="rId4"/>
          <a:stretch>
            <a:fillRect/>
          </a:stretch>
        </p:blipFill>
        <p:spPr>
          <a:xfrm>
            <a:off x="6063783" y="3223634"/>
            <a:ext cx="2602491" cy="3228329"/>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graphicFrame>
        <p:nvGraphicFramePr>
          <p:cNvPr id="651" name="Google Shape;651;p80"/>
          <p:cNvGraphicFramePr/>
          <p:nvPr>
            <p:extLst>
              <p:ext uri="{D42A27DB-BD31-4B8C-83A1-F6EECF244321}">
                <p14:modId xmlns:p14="http://schemas.microsoft.com/office/powerpoint/2010/main" val="2456823057"/>
              </p:ext>
            </p:extLst>
          </p:nvPr>
        </p:nvGraphicFramePr>
        <p:xfrm>
          <a:off x="2332838" y="2061638"/>
          <a:ext cx="6484300" cy="4223832"/>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223832">
                <a:tc>
                  <a:txBody>
                    <a:bodyPr/>
                    <a:lstStyle/>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public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async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Task</a:t>
                      </a:r>
                      <a:r>
                        <a:rPr lang="es-ES" sz="900" dirty="0">
                          <a:solidFill>
                            <a:srgbClr val="4F81BD"/>
                          </a:solidFill>
                          <a:latin typeface="Calibri"/>
                          <a:ea typeface="Calibri"/>
                          <a:cs typeface="Calibri"/>
                          <a:sym typeface="Calibri"/>
                        </a:rPr>
                        <a:t>&lt;</a:t>
                      </a:r>
                      <a:r>
                        <a:rPr lang="es-ES" sz="900" dirty="0" err="1">
                          <a:solidFill>
                            <a:srgbClr val="4F81BD"/>
                          </a:solidFill>
                          <a:latin typeface="Calibri"/>
                          <a:ea typeface="Calibri"/>
                          <a:cs typeface="Calibri"/>
                          <a:sym typeface="Calibri"/>
                        </a:rPr>
                        <a:t>LoginResponse</a:t>
                      </a:r>
                      <a:r>
                        <a:rPr lang="es-ES" sz="900" dirty="0">
                          <a:solidFill>
                            <a:srgbClr val="4F81BD"/>
                          </a:solidFill>
                          <a:latin typeface="Calibri"/>
                          <a:ea typeface="Calibri"/>
                          <a:cs typeface="Calibri"/>
                          <a:sym typeface="Calibri"/>
                        </a:rPr>
                        <a:t>&gt; </a:t>
                      </a:r>
                      <a:r>
                        <a:rPr lang="es-ES" sz="900" dirty="0" err="1">
                          <a:solidFill>
                            <a:srgbClr val="4F81BD"/>
                          </a:solidFill>
                          <a:latin typeface="Calibri"/>
                          <a:ea typeface="Calibri"/>
                          <a:cs typeface="Calibri"/>
                          <a:sym typeface="Calibri"/>
                        </a:rPr>
                        <a:t>SignInAsync</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LoginRequest</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request</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CancellationToken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cancellationToken</a:t>
                      </a:r>
                      <a:r>
                        <a:rPr lang="es-ES" sz="900" dirty="0">
                          <a:solidFill>
                            <a:srgbClr val="4F81BD"/>
                          </a:solidFill>
                          <a:latin typeface="Calibri"/>
                          <a:ea typeface="Calibri"/>
                          <a:cs typeface="Calibri"/>
                          <a:sym typeface="Calibri"/>
                        </a:rPr>
                        <a:t> = default)</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var</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body</a:t>
                      </a:r>
                      <a:r>
                        <a:rPr lang="es-ES" sz="900" dirty="0">
                          <a:solidFill>
                            <a:srgbClr val="4F81BD"/>
                          </a:solidFill>
                          <a:latin typeface="Calibri"/>
                          <a:ea typeface="Calibri"/>
                          <a:cs typeface="Calibri"/>
                          <a:sym typeface="Calibri"/>
                        </a:rPr>
                        <a:t> = new </a:t>
                      </a:r>
                      <a:r>
                        <a:rPr lang="es-ES" sz="900" dirty="0" err="1">
                          <a:solidFill>
                            <a:srgbClr val="4F81BD"/>
                          </a:solidFill>
                          <a:latin typeface="Calibri"/>
                          <a:ea typeface="Calibri"/>
                          <a:cs typeface="Calibri"/>
                          <a:sym typeface="Calibri"/>
                        </a:rPr>
                        <a:t>XElement</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XName.Get</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IniciarSesion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ContractNamespace</a:t>
                      </a:r>
                      <a:r>
                        <a:rPr lang="es-ES"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new </a:t>
                      </a:r>
                      <a:r>
                        <a:rPr lang="es-ES" sz="900" dirty="0" err="1">
                          <a:solidFill>
                            <a:srgbClr val="4F81BD"/>
                          </a:solidFill>
                          <a:latin typeface="Calibri"/>
                          <a:ea typeface="Calibri"/>
                          <a:cs typeface="Calibri"/>
                          <a:sym typeface="Calibri"/>
                        </a:rPr>
                        <a:t>XElement</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XName.Get</a:t>
                      </a:r>
                      <a:r>
                        <a:rPr lang="es-ES" sz="900" dirty="0">
                          <a:solidFill>
                            <a:srgbClr val="4F81BD"/>
                          </a:solidFill>
                          <a:latin typeface="Calibri"/>
                          <a:ea typeface="Calibri"/>
                          <a:cs typeface="Calibri"/>
                          <a:sym typeface="Calibri"/>
                        </a:rPr>
                        <a:t>("solicitud", </a:t>
                      </a:r>
                      <a:r>
                        <a:rPr lang="es-ES" sz="900" dirty="0" err="1">
                          <a:solidFill>
                            <a:srgbClr val="4F81BD"/>
                          </a:solidFill>
                          <a:latin typeface="Calibri"/>
                          <a:ea typeface="Calibri"/>
                          <a:cs typeface="Calibri"/>
                          <a:sym typeface="Calibri"/>
                        </a:rPr>
                        <a:t>ContractNamespace</a:t>
                      </a:r>
                      <a:r>
                        <a:rPr lang="es-ES"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new </a:t>
                      </a:r>
                      <a:r>
                        <a:rPr lang="es-ES" sz="900" dirty="0" err="1">
                          <a:solidFill>
                            <a:srgbClr val="4F81BD"/>
                          </a:solidFill>
                          <a:latin typeface="Calibri"/>
                          <a:ea typeface="Calibri"/>
                          <a:cs typeface="Calibri"/>
                          <a:sym typeface="Calibri"/>
                        </a:rPr>
                        <a:t>XElement</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XName.Get</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NombreUsuario</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ContractNamespace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request.UserName</a:t>
                      </a:r>
                      <a:r>
                        <a:rPr lang="es-ES"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new </a:t>
                      </a:r>
                      <a:r>
                        <a:rPr lang="es-ES" sz="900" dirty="0" err="1">
                          <a:solidFill>
                            <a:srgbClr val="4F81BD"/>
                          </a:solidFill>
                          <a:latin typeface="Calibri"/>
                          <a:ea typeface="Calibri"/>
                          <a:cs typeface="Calibri"/>
                          <a:sym typeface="Calibri"/>
                        </a:rPr>
                        <a:t>XElement</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XName.Get</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Contrasena</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ContractNamespace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request.Password</a:t>
                      </a:r>
                      <a:r>
                        <a:rPr lang="es-ES"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endParaRPr lang="es-ES" sz="90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try</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var</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document</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await</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SendAsync</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IniciarSesion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body</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cancellationToken</a:t>
                      </a:r>
                      <a:r>
                        <a:rPr lang="es-ES"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var</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result</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Find</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document</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IniciarSesionResult</a:t>
                      </a:r>
                      <a:r>
                        <a:rPr lang="es-ES"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return</a:t>
                      </a:r>
                      <a:r>
                        <a:rPr lang="es-ES" sz="900" dirty="0">
                          <a:solidFill>
                            <a:srgbClr val="4F81BD"/>
                          </a:solidFill>
                          <a:latin typeface="Calibri"/>
                          <a:ea typeface="Calibri"/>
                          <a:cs typeface="Calibri"/>
                          <a:sym typeface="Calibri"/>
                        </a:rPr>
                        <a:t> new </a:t>
                      </a:r>
                      <a:r>
                        <a:rPr lang="es-ES" sz="900" dirty="0" err="1">
                          <a:solidFill>
                            <a:srgbClr val="4F81BD"/>
                          </a:solidFill>
                          <a:latin typeface="Calibri"/>
                          <a:ea typeface="Calibri"/>
                          <a:cs typeface="Calibri"/>
                          <a:sym typeface="Calibri"/>
                        </a:rPr>
                        <a:t>LoginResponse</a:t>
                      </a:r>
                      <a:endParaRPr lang="es-ES" sz="90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IsSuccessful</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ReadBool</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result</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Exito</a:t>
                      </a:r>
                      <a:r>
                        <a:rPr lang="es-ES"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Token = </a:t>
                      </a:r>
                      <a:r>
                        <a:rPr lang="es-ES" sz="900" dirty="0" err="1">
                          <a:solidFill>
                            <a:srgbClr val="4F81BD"/>
                          </a:solidFill>
                          <a:latin typeface="Calibri"/>
                          <a:ea typeface="Calibri"/>
                          <a:cs typeface="Calibri"/>
                          <a:sym typeface="Calibri"/>
                        </a:rPr>
                        <a:t>ReadValue</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result</a:t>
                      </a:r>
                      <a:r>
                        <a:rPr lang="es-ES" sz="900" dirty="0">
                          <a:solidFill>
                            <a:srgbClr val="4F81BD"/>
                          </a:solidFill>
                          <a:latin typeface="Calibri"/>
                          <a:ea typeface="Calibri"/>
                          <a:cs typeface="Calibri"/>
                          <a:sym typeface="Calibri"/>
                        </a:rPr>
                        <a:t>, "Token"),</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Message</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ReadValue</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result</a:t>
                      </a:r>
                      <a:r>
                        <a:rPr lang="es-ES" sz="900" dirty="0">
                          <a:solidFill>
                            <a:srgbClr val="4F81BD"/>
                          </a:solidFill>
                          <a:latin typeface="Calibri"/>
                          <a:ea typeface="Calibri"/>
                          <a:cs typeface="Calibri"/>
                          <a:sym typeface="Calibri"/>
                        </a:rPr>
                        <a:t>, "Mensaje") ?? "No se recibió un mensaje del servicio."</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catch (</a:t>
                      </a:r>
                      <a:r>
                        <a:rPr lang="es-ES" sz="900" dirty="0" err="1">
                          <a:solidFill>
                            <a:srgbClr val="4F81BD"/>
                          </a:solidFill>
                          <a:latin typeface="Calibri"/>
                          <a:ea typeface="Calibri"/>
                          <a:cs typeface="Calibri"/>
                          <a:sym typeface="Calibri"/>
                        </a:rPr>
                        <a:t>Exception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exception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when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exception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is</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HttpRequestException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or</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TaskCanceledException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or</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InvalidOperationException</a:t>
                      </a:r>
                      <a:r>
                        <a:rPr lang="es-ES"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return</a:t>
                      </a:r>
                      <a:r>
                        <a:rPr lang="es-ES" sz="900" dirty="0">
                          <a:solidFill>
                            <a:srgbClr val="4F81BD"/>
                          </a:solidFill>
                          <a:latin typeface="Calibri"/>
                          <a:ea typeface="Calibri"/>
                          <a:cs typeface="Calibri"/>
                          <a:sym typeface="Calibri"/>
                        </a:rPr>
                        <a:t> new </a:t>
                      </a:r>
                      <a:r>
                        <a:rPr lang="es-ES" sz="900" dirty="0" err="1">
                          <a:solidFill>
                            <a:srgbClr val="4F81BD"/>
                          </a:solidFill>
                          <a:latin typeface="Calibri"/>
                          <a:ea typeface="Calibri"/>
                          <a:cs typeface="Calibri"/>
                          <a:sym typeface="Calibri"/>
                        </a:rPr>
                        <a:t>LoginResponse</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Message</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Explain</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exception</a:t>
                      </a:r>
                      <a:r>
                        <a:rPr lang="es-ES"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endParaRPr sz="9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652" name="Google Shape;652;p8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53" name="Google Shape;653;p8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MOVIL</a:t>
            </a:r>
            <a:endParaRPr dirty="0">
              <a:solidFill>
                <a:srgbClr val="FFFF00"/>
              </a:solidFill>
            </a:endParaRPr>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4" name="Google Shape;319;p40">
            <a:extLst>
              <a:ext uri="{FF2B5EF4-FFF2-40B4-BE49-F238E27FC236}">
                <a16:creationId xmlns:a16="http://schemas.microsoft.com/office/drawing/2014/main" id="{EDF1264D-7178-17B2-553C-4C1B312EC422}"/>
              </a:ext>
            </a:extLst>
          </p:cNvPr>
          <p:cNvSpPr txBox="1">
            <a:spLocks/>
          </p:cNvSpPr>
          <p:nvPr/>
        </p:nvSpPr>
        <p:spPr>
          <a:xfrm>
            <a:off x="-1" y="1837551"/>
            <a:ext cx="1940435" cy="4447919"/>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indent="-327406">
              <a:lnSpc>
                <a:spcPct val="150000"/>
              </a:lnSpc>
              <a:spcBef>
                <a:spcPts val="0"/>
              </a:spcBef>
              <a:buSzPts val="1556"/>
              <a:buFont typeface="Noto Sans Symbols"/>
              <a:buChar char="∙"/>
            </a:pPr>
            <a:r>
              <a:rPr lang="es-MX" sz="1400" dirty="0">
                <a:solidFill>
                  <a:schemeClr val="dk1"/>
                </a:solidFill>
                <a:latin typeface="Calibri"/>
                <a:ea typeface="Calibri"/>
                <a:cs typeface="Calibri"/>
                <a:sym typeface="Calibri"/>
              </a:rPr>
              <a:t>A continuación se detallarán las clases principales con su código fuente.</a:t>
            </a:r>
          </a:p>
          <a:p>
            <a:pPr indent="-304800" algn="just">
              <a:lnSpc>
                <a:spcPct val="107000"/>
              </a:lnSpc>
              <a:spcBef>
                <a:spcPts val="0"/>
              </a:spcBef>
              <a:buSzPts val="1200"/>
              <a:buFont typeface="Cambria"/>
              <a:buChar char="∙"/>
            </a:pPr>
            <a:endParaRPr lang="es-MX" sz="1400" dirty="0">
              <a:latin typeface="Cambria"/>
              <a:ea typeface="Cambria"/>
              <a:cs typeface="Cambria"/>
              <a:sym typeface="Cambria"/>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graphicFrame>
        <p:nvGraphicFramePr>
          <p:cNvPr id="659" name="Google Shape;659;p81"/>
          <p:cNvGraphicFramePr/>
          <p:nvPr>
            <p:extLst>
              <p:ext uri="{D42A27DB-BD31-4B8C-83A1-F6EECF244321}">
                <p14:modId xmlns:p14="http://schemas.microsoft.com/office/powerpoint/2010/main" val="4034841556"/>
              </p:ext>
            </p:extLst>
          </p:nvPr>
        </p:nvGraphicFramePr>
        <p:xfrm>
          <a:off x="2818857" y="1891708"/>
          <a:ext cx="5954440" cy="4790440"/>
        </p:xfrm>
        <a:graphic>
          <a:graphicData uri="http://schemas.openxmlformats.org/drawingml/2006/table">
            <a:tbl>
              <a:tblPr>
                <a:noFill/>
                <a:tableStyleId>{BF136021-7255-42B7-A7E7-87A8D8FFE9CA}</a:tableStyleId>
              </a:tblPr>
              <a:tblGrid>
                <a:gridCol w="5954440">
                  <a:extLst>
                    <a:ext uri="{9D8B030D-6E8A-4147-A177-3AD203B41FA5}">
                      <a16:colId xmlns:a16="http://schemas.microsoft.com/office/drawing/2014/main" val="20000"/>
                    </a:ext>
                  </a:extLst>
                </a:gridCol>
              </a:tblGrid>
              <a:tr h="2290497">
                <a:tc>
                  <a:txBody>
                    <a:bodyPr/>
                    <a:lstStyle/>
                    <a:p>
                      <a:pPr marL="0" lvl="0" indent="0" algn="l" rtl="0">
                        <a:lnSpc>
                          <a:spcPct val="100000"/>
                        </a:lnSpc>
                        <a:spcBef>
                          <a:spcPts val="0"/>
                        </a:spcBef>
                        <a:spcAft>
                          <a:spcPts val="0"/>
                        </a:spcAft>
                        <a:buNone/>
                      </a:pPr>
                      <a:r>
                        <a:rPr lang="es-ES" sz="900" dirty="0" err="1">
                          <a:solidFill>
                            <a:srgbClr val="4F81BD"/>
                          </a:solidFill>
                          <a:latin typeface="Calibri"/>
                          <a:ea typeface="Calibri"/>
                          <a:cs typeface="Calibri"/>
                          <a:sym typeface="Calibri"/>
                        </a:rPr>
                        <a:t>public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async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Task</a:t>
                      </a:r>
                      <a:r>
                        <a:rPr lang="es-ES" sz="900" dirty="0">
                          <a:solidFill>
                            <a:srgbClr val="4F81BD"/>
                          </a:solidFill>
                          <a:latin typeface="Calibri"/>
                          <a:ea typeface="Calibri"/>
                          <a:cs typeface="Calibri"/>
                          <a:sym typeface="Calibri"/>
                        </a:rPr>
                        <a:t>&lt;</a:t>
                      </a:r>
                      <a:r>
                        <a:rPr lang="es-ES" sz="900" dirty="0" err="1">
                          <a:solidFill>
                            <a:srgbClr val="4F81BD"/>
                          </a:solidFill>
                          <a:latin typeface="Calibri"/>
                          <a:ea typeface="Calibri"/>
                          <a:cs typeface="Calibri"/>
                          <a:sym typeface="Calibri"/>
                        </a:rPr>
                        <a:t>ConversionResponse</a:t>
                      </a:r>
                      <a:r>
                        <a:rPr lang="es-ES" sz="900" dirty="0">
                          <a:solidFill>
                            <a:srgbClr val="4F81BD"/>
                          </a:solidFill>
                          <a:latin typeface="Calibri"/>
                          <a:ea typeface="Calibri"/>
                          <a:cs typeface="Calibri"/>
                          <a:sym typeface="Calibri"/>
                        </a:rPr>
                        <a:t>&gt; </a:t>
                      </a:r>
                      <a:r>
                        <a:rPr lang="es-ES" sz="900" dirty="0" err="1">
                          <a:solidFill>
                            <a:srgbClr val="4F81BD"/>
                          </a:solidFill>
                          <a:latin typeface="Calibri"/>
                          <a:ea typeface="Calibri"/>
                          <a:cs typeface="Calibri"/>
                          <a:sym typeface="Calibri"/>
                        </a:rPr>
                        <a:t>ConvertAsync</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ConversionRequest</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request</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CancellationToken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cancellationToken</a:t>
                      </a:r>
                      <a:r>
                        <a:rPr lang="es-ES" sz="900" dirty="0">
                          <a:solidFill>
                            <a:srgbClr val="4F81BD"/>
                          </a:solidFill>
                          <a:latin typeface="Calibri"/>
                          <a:ea typeface="Calibri"/>
                          <a:cs typeface="Calibri"/>
                          <a:sym typeface="Calibri"/>
                        </a:rPr>
                        <a:t> = default)</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900" dirty="0" err="1">
                          <a:solidFill>
                            <a:srgbClr val="4F81BD"/>
                          </a:solidFill>
                          <a:latin typeface="Calibri"/>
                          <a:ea typeface="Calibri"/>
                          <a:cs typeface="Calibri"/>
                          <a:sym typeface="Calibri"/>
                        </a:rPr>
                        <a:t>var</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body</a:t>
                      </a:r>
                      <a:r>
                        <a:rPr lang="es-ES" sz="900" dirty="0">
                          <a:solidFill>
                            <a:srgbClr val="4F81BD"/>
                          </a:solidFill>
                          <a:latin typeface="Calibri"/>
                          <a:ea typeface="Calibri"/>
                          <a:cs typeface="Calibri"/>
                          <a:sym typeface="Calibri"/>
                        </a:rPr>
                        <a:t> = new </a:t>
                      </a:r>
                      <a:r>
                        <a:rPr lang="es-ES" sz="900" dirty="0" err="1">
                          <a:solidFill>
                            <a:srgbClr val="4F81BD"/>
                          </a:solidFill>
                          <a:latin typeface="Calibri"/>
                          <a:ea typeface="Calibri"/>
                          <a:cs typeface="Calibri"/>
                          <a:sym typeface="Calibri"/>
                        </a:rPr>
                        <a:t>XElement</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XName.Get</a:t>
                      </a:r>
                      <a:r>
                        <a:rPr lang="es-ES" sz="900" dirty="0">
                          <a:solidFill>
                            <a:srgbClr val="4F81BD"/>
                          </a:solidFill>
                          <a:latin typeface="Calibri"/>
                          <a:ea typeface="Calibri"/>
                          <a:cs typeface="Calibri"/>
                          <a:sym typeface="Calibri"/>
                        </a:rPr>
                        <a:t>("solicitud", </a:t>
                      </a:r>
                      <a:r>
                        <a:rPr lang="es-ES" sz="900" dirty="0" err="1">
                          <a:solidFill>
                            <a:srgbClr val="4F81BD"/>
                          </a:solidFill>
                          <a:latin typeface="Calibri"/>
                          <a:ea typeface="Calibri"/>
                          <a:cs typeface="Calibri"/>
                          <a:sym typeface="Calibri"/>
                        </a:rPr>
                        <a:t>ContractNamespace</a:t>
                      </a:r>
                      <a:r>
                        <a:rPr lang="es-ES" sz="9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new </a:t>
                      </a:r>
                      <a:r>
                        <a:rPr lang="es-ES" sz="900" dirty="0" err="1">
                          <a:solidFill>
                            <a:srgbClr val="4F81BD"/>
                          </a:solidFill>
                          <a:latin typeface="Calibri"/>
                          <a:ea typeface="Calibri"/>
                          <a:cs typeface="Calibri"/>
                          <a:sym typeface="Calibri"/>
                        </a:rPr>
                        <a:t>XElement</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XName.Get</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Conversion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ContractNamespace</a:t>
                      </a:r>
                      <a:r>
                        <a:rPr lang="es-ES" sz="9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new </a:t>
                      </a:r>
                      <a:r>
                        <a:rPr lang="es-ES" sz="900" dirty="0" err="1">
                          <a:solidFill>
                            <a:srgbClr val="4F81BD"/>
                          </a:solidFill>
                          <a:latin typeface="Calibri"/>
                          <a:ea typeface="Calibri"/>
                          <a:cs typeface="Calibri"/>
                          <a:sym typeface="Calibri"/>
                        </a:rPr>
                        <a:t>XElement</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XName.Get</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Categoria</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ContractNamespace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request.Category</a:t>
                      </a:r>
                      <a:r>
                        <a:rPr lang="es-ES" sz="9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new </a:t>
                      </a:r>
                      <a:r>
                        <a:rPr lang="es-ES" sz="900" dirty="0" err="1">
                          <a:solidFill>
                            <a:srgbClr val="4F81BD"/>
                          </a:solidFill>
                          <a:latin typeface="Calibri"/>
                          <a:ea typeface="Calibri"/>
                          <a:cs typeface="Calibri"/>
                          <a:sym typeface="Calibri"/>
                        </a:rPr>
                        <a:t>XElement</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XName.Get</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UnidadOrigen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ContractNamespace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request.SourceUnit</a:t>
                      </a:r>
                      <a:r>
                        <a:rPr lang="es-ES" sz="9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new </a:t>
                      </a:r>
                      <a:r>
                        <a:rPr lang="es-ES" sz="900" dirty="0" err="1">
                          <a:solidFill>
                            <a:srgbClr val="4F81BD"/>
                          </a:solidFill>
                          <a:latin typeface="Calibri"/>
                          <a:ea typeface="Calibri"/>
                          <a:cs typeface="Calibri"/>
                          <a:sym typeface="Calibri"/>
                        </a:rPr>
                        <a:t>XElement</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XName.Get</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UnidadDestino</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ContractNamespace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request.TargetUnit</a:t>
                      </a:r>
                      <a:r>
                        <a:rPr lang="es-ES" sz="9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new </a:t>
                      </a:r>
                      <a:r>
                        <a:rPr lang="es-ES" sz="900" dirty="0" err="1">
                          <a:solidFill>
                            <a:srgbClr val="4F81BD"/>
                          </a:solidFill>
                          <a:latin typeface="Calibri"/>
                          <a:ea typeface="Calibri"/>
                          <a:cs typeface="Calibri"/>
                          <a:sym typeface="Calibri"/>
                        </a:rPr>
                        <a:t>XElement</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XName.Get</a:t>
                      </a:r>
                      <a:r>
                        <a:rPr lang="es-ES" sz="900" dirty="0">
                          <a:solidFill>
                            <a:srgbClr val="4F81BD"/>
                          </a:solidFill>
                          <a:latin typeface="Calibri"/>
                          <a:ea typeface="Calibri"/>
                          <a:cs typeface="Calibri"/>
                          <a:sym typeface="Calibri"/>
                        </a:rPr>
                        <a:t>("Valor", </a:t>
                      </a:r>
                      <a:r>
                        <a:rPr lang="es-ES" sz="900" dirty="0" err="1">
                          <a:solidFill>
                            <a:srgbClr val="4F81BD"/>
                          </a:solidFill>
                          <a:latin typeface="Calibri"/>
                          <a:ea typeface="Calibri"/>
                          <a:cs typeface="Calibri"/>
                          <a:sym typeface="Calibri"/>
                        </a:rPr>
                        <a:t>ContractNamespace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request.Value.ToString</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System.Globalization.CultureInfo.InvariantCulture</a:t>
                      </a:r>
                      <a:r>
                        <a:rPr lang="es-ES" sz="9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endParaRPr lang="es-ES" sz="9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 El contrato WCF define Token como </a:t>
                      </a:r>
                      <a:r>
                        <a:rPr lang="es-ES" sz="900" dirty="0" err="1">
                          <a:solidFill>
                            <a:srgbClr val="4F81BD"/>
                          </a:solidFill>
                          <a:latin typeface="Calibri"/>
                          <a:ea typeface="Calibri"/>
                          <a:cs typeface="Calibri"/>
                          <a:sym typeface="Calibri"/>
                        </a:rPr>
                        <a:t>MessageHeader</a:t>
                      </a:r>
                      <a:r>
                        <a:rPr lang="es-ES" sz="900" dirty="0">
                          <a:solidFill>
                            <a:srgbClr val="4F81BD"/>
                          </a:solidFill>
                          <a:latin typeface="Calibri"/>
                          <a:ea typeface="Calibri"/>
                          <a:cs typeface="Calibri"/>
                          <a:sym typeface="Calibri"/>
                        </a:rPr>
                        <a:t>, no como parte del cuerpo.</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var</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tokenHeader</a:t>
                      </a:r>
                      <a:r>
                        <a:rPr lang="es-ES" sz="900" dirty="0">
                          <a:solidFill>
                            <a:srgbClr val="4F81BD"/>
                          </a:solidFill>
                          <a:latin typeface="Calibri"/>
                          <a:ea typeface="Calibri"/>
                          <a:cs typeface="Calibri"/>
                          <a:sym typeface="Calibri"/>
                        </a:rPr>
                        <a:t> = new </a:t>
                      </a:r>
                      <a:r>
                        <a:rPr lang="es-ES" sz="900" dirty="0" err="1">
                          <a:solidFill>
                            <a:srgbClr val="4F81BD"/>
                          </a:solidFill>
                          <a:latin typeface="Calibri"/>
                          <a:ea typeface="Calibri"/>
                          <a:cs typeface="Calibri"/>
                          <a:sym typeface="Calibri"/>
                        </a:rPr>
                        <a:t>XElement</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XName.Get</a:t>
                      </a:r>
                      <a:r>
                        <a:rPr lang="es-ES" sz="900" dirty="0">
                          <a:solidFill>
                            <a:srgbClr val="4F81BD"/>
                          </a:solidFill>
                          <a:latin typeface="Calibri"/>
                          <a:ea typeface="Calibri"/>
                          <a:cs typeface="Calibri"/>
                          <a:sym typeface="Calibri"/>
                        </a:rPr>
                        <a:t>("Token", </a:t>
                      </a:r>
                      <a:r>
                        <a:rPr lang="es-ES" sz="900" dirty="0" err="1">
                          <a:solidFill>
                            <a:srgbClr val="4F81BD"/>
                          </a:solidFill>
                          <a:latin typeface="Calibri"/>
                          <a:ea typeface="Calibri"/>
                          <a:cs typeface="Calibri"/>
                          <a:sym typeface="Calibri"/>
                        </a:rPr>
                        <a:t>ContractNamespace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request.Token</a:t>
                      </a:r>
                      <a:r>
                        <a:rPr lang="es-ES" sz="9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endParaRPr lang="es-ES" sz="9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try</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var</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document</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await</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SendAsync</a:t>
                      </a:r>
                      <a:r>
                        <a:rPr lang="es-ES" sz="900" dirty="0">
                          <a:solidFill>
                            <a:srgbClr val="4F81BD"/>
                          </a:solidFill>
                          <a:latin typeface="Calibri"/>
                          <a:ea typeface="Calibri"/>
                          <a:cs typeface="Calibri"/>
                          <a:sym typeface="Calibri"/>
                        </a:rPr>
                        <a:t>("Convertir", </a:t>
                      </a:r>
                      <a:r>
                        <a:rPr lang="es-ES" sz="900" dirty="0" err="1">
                          <a:solidFill>
                            <a:srgbClr val="4F81BD"/>
                          </a:solidFill>
                          <a:latin typeface="Calibri"/>
                          <a:ea typeface="Calibri"/>
                          <a:cs typeface="Calibri"/>
                          <a:sym typeface="Calibri"/>
                        </a:rPr>
                        <a:t>body</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cancellationToken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tokenHeader</a:t>
                      </a:r>
                      <a:r>
                        <a:rPr lang="es-ES" sz="9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var</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result</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Find</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document</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ConvertirResult</a:t>
                      </a:r>
                      <a:r>
                        <a:rPr lang="es-ES" sz="9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var</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value</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double.TryParse</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ReadValue</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result</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ValorConvertido</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System.Globalization.NumberStyles.Float</a:t>
                      </a:r>
                      <a:r>
                        <a:rPr lang="es-ES" sz="9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System.Globalization.CultureInfo.InvariantCulture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out</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var</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converted</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converted</a:t>
                      </a:r>
                      <a:r>
                        <a:rPr lang="es-ES" sz="900" dirty="0">
                          <a:solidFill>
                            <a:srgbClr val="4F81BD"/>
                          </a:solidFill>
                          <a:latin typeface="Calibri"/>
                          <a:ea typeface="Calibri"/>
                          <a:cs typeface="Calibri"/>
                          <a:sym typeface="Calibri"/>
                        </a:rPr>
                        <a:t> : 0;</a:t>
                      </a:r>
                    </a:p>
                    <a:p>
                      <a:pPr marL="0" lvl="0" indent="0" algn="l" rtl="0">
                        <a:lnSpc>
                          <a:spcPct val="100000"/>
                        </a:lnSpc>
                        <a:spcBef>
                          <a:spcPts val="0"/>
                        </a:spcBef>
                        <a:spcAft>
                          <a:spcPts val="0"/>
                        </a:spcAft>
                        <a:buNone/>
                      </a:pPr>
                      <a:endParaRPr lang="es-ES" sz="9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return</a:t>
                      </a:r>
                      <a:r>
                        <a:rPr lang="es-ES" sz="900" dirty="0">
                          <a:solidFill>
                            <a:srgbClr val="4F81BD"/>
                          </a:solidFill>
                          <a:latin typeface="Calibri"/>
                          <a:ea typeface="Calibri"/>
                          <a:cs typeface="Calibri"/>
                          <a:sym typeface="Calibri"/>
                        </a:rPr>
                        <a:t> new </a:t>
                      </a:r>
                      <a:r>
                        <a:rPr lang="es-ES" sz="900" dirty="0" err="1">
                          <a:solidFill>
                            <a:srgbClr val="4F81BD"/>
                          </a:solidFill>
                          <a:latin typeface="Calibri"/>
                          <a:ea typeface="Calibri"/>
                          <a:cs typeface="Calibri"/>
                          <a:sym typeface="Calibri"/>
                        </a:rPr>
                        <a:t>ConversionResponse</a:t>
                      </a:r>
                      <a:endParaRPr lang="es-ES" sz="9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IsSuccessful</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ReadBool</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result</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Exito</a:t>
                      </a:r>
                      <a:r>
                        <a:rPr lang="es-ES" sz="9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ConvertedValue</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value</a:t>
                      </a:r>
                      <a:r>
                        <a:rPr lang="es-ES" sz="9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Message</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ReadValue</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result</a:t>
                      </a:r>
                      <a:r>
                        <a:rPr lang="es-ES" sz="900" dirty="0">
                          <a:solidFill>
                            <a:srgbClr val="4F81BD"/>
                          </a:solidFill>
                          <a:latin typeface="Calibri"/>
                          <a:ea typeface="Calibri"/>
                          <a:cs typeface="Calibri"/>
                          <a:sym typeface="Calibri"/>
                        </a:rPr>
                        <a:t>, "Mensaje") ?? "No se recibió un mensaje del servicio."</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catch (</a:t>
                      </a:r>
                      <a:r>
                        <a:rPr lang="es-ES" sz="900" dirty="0" err="1">
                          <a:solidFill>
                            <a:srgbClr val="4F81BD"/>
                          </a:solidFill>
                          <a:latin typeface="Calibri"/>
                          <a:ea typeface="Calibri"/>
                          <a:cs typeface="Calibri"/>
                          <a:sym typeface="Calibri"/>
                        </a:rPr>
                        <a:t>Exception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exception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when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exception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is</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HttpRequestException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or</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TaskCanceledException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or</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InvalidOperationException</a:t>
                      </a:r>
                      <a:r>
                        <a:rPr lang="es-ES" sz="9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return</a:t>
                      </a:r>
                      <a:r>
                        <a:rPr lang="es-ES" sz="900" dirty="0">
                          <a:solidFill>
                            <a:srgbClr val="4F81BD"/>
                          </a:solidFill>
                          <a:latin typeface="Calibri"/>
                          <a:ea typeface="Calibri"/>
                          <a:cs typeface="Calibri"/>
                          <a:sym typeface="Calibri"/>
                        </a:rPr>
                        <a:t> new </a:t>
                      </a:r>
                      <a:r>
                        <a:rPr lang="es-ES" sz="900" dirty="0" err="1">
                          <a:solidFill>
                            <a:srgbClr val="4F81BD"/>
                          </a:solidFill>
                          <a:latin typeface="Calibri"/>
                          <a:ea typeface="Calibri"/>
                          <a:cs typeface="Calibri"/>
                          <a:sym typeface="Calibri"/>
                        </a:rPr>
                        <a:t>ConversionResponse</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Message</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Explain</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exception</a:t>
                      </a:r>
                      <a:r>
                        <a:rPr lang="es-ES" sz="9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a:t>
                      </a:r>
                      <a:endParaRPr sz="9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660" name="Google Shape;660;p8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61" name="Google Shape;661;p8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MOVIL</a:t>
            </a:r>
            <a:endParaRPr dirty="0">
              <a:solidFill>
                <a:srgbClr val="FFFF00"/>
              </a:solidFill>
            </a:endParaRPr>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4" name="Google Shape;319;p40">
            <a:extLst>
              <a:ext uri="{FF2B5EF4-FFF2-40B4-BE49-F238E27FC236}">
                <a16:creationId xmlns:a16="http://schemas.microsoft.com/office/drawing/2014/main" id="{9A9551A8-D9D7-F278-5223-55A702F913A3}"/>
              </a:ext>
            </a:extLst>
          </p:cNvPr>
          <p:cNvSpPr txBox="1">
            <a:spLocks/>
          </p:cNvSpPr>
          <p:nvPr/>
        </p:nvSpPr>
        <p:spPr>
          <a:xfrm>
            <a:off x="-1" y="1837551"/>
            <a:ext cx="1940435" cy="4447919"/>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indent="-327406">
              <a:lnSpc>
                <a:spcPct val="150000"/>
              </a:lnSpc>
              <a:spcBef>
                <a:spcPts val="0"/>
              </a:spcBef>
              <a:buSzPts val="1556"/>
              <a:buFont typeface="Noto Sans Symbols"/>
              <a:buChar char="∙"/>
            </a:pPr>
            <a:r>
              <a:rPr lang="es-MX" sz="1400" dirty="0">
                <a:solidFill>
                  <a:schemeClr val="dk1"/>
                </a:solidFill>
                <a:latin typeface="Calibri"/>
                <a:ea typeface="Calibri"/>
                <a:cs typeface="Calibri"/>
                <a:sym typeface="Calibri"/>
              </a:rPr>
              <a:t>A continuación se detallarán las clases principales con su código fuente.</a:t>
            </a:r>
          </a:p>
          <a:p>
            <a:pPr indent="-304800" algn="just">
              <a:lnSpc>
                <a:spcPct val="107000"/>
              </a:lnSpc>
              <a:spcBef>
                <a:spcPts val="0"/>
              </a:spcBef>
              <a:buSzPts val="1200"/>
              <a:buFont typeface="Cambria"/>
              <a:buChar char="∙"/>
            </a:pPr>
            <a:endParaRPr lang="es-MX" sz="1400" dirty="0">
              <a:latin typeface="Cambria"/>
              <a:ea typeface="Cambria"/>
              <a:cs typeface="Cambria"/>
              <a:sym typeface="Cambria"/>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58">
          <a:extLst>
            <a:ext uri="{FF2B5EF4-FFF2-40B4-BE49-F238E27FC236}">
              <a16:creationId xmlns:a16="http://schemas.microsoft.com/office/drawing/2014/main" id="{33BC5802-3FC0-A7AD-1DDD-5622B09246B5}"/>
            </a:ext>
          </a:extLst>
        </p:cNvPr>
        <p:cNvGrpSpPr/>
        <p:nvPr/>
      </p:nvGrpSpPr>
      <p:grpSpPr>
        <a:xfrm>
          <a:off x="0" y="0"/>
          <a:ext cx="0" cy="0"/>
          <a:chOff x="0" y="0"/>
          <a:chExt cx="0" cy="0"/>
        </a:xfrm>
      </p:grpSpPr>
      <p:sp>
        <p:nvSpPr>
          <p:cNvPr id="660" name="Google Shape;660;p81">
            <a:extLst>
              <a:ext uri="{FF2B5EF4-FFF2-40B4-BE49-F238E27FC236}">
                <a16:creationId xmlns:a16="http://schemas.microsoft.com/office/drawing/2014/main" id="{1030D703-54D1-13DD-4778-1164B2E1A277}"/>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61" name="Google Shape;661;p81">
            <a:extLst>
              <a:ext uri="{FF2B5EF4-FFF2-40B4-BE49-F238E27FC236}">
                <a16:creationId xmlns:a16="http://schemas.microsoft.com/office/drawing/2014/main" id="{55E93E24-35F5-C260-0A22-23CAB761AB45}"/>
              </a:ext>
            </a:extLst>
          </p:cNvPr>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MOVIL</a:t>
            </a:r>
            <a:endParaRPr dirty="0">
              <a:solidFill>
                <a:srgbClr val="FFFF00"/>
              </a:solidFill>
            </a:endParaRPr>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4" name="Google Shape;319;p40">
            <a:extLst>
              <a:ext uri="{FF2B5EF4-FFF2-40B4-BE49-F238E27FC236}">
                <a16:creationId xmlns:a16="http://schemas.microsoft.com/office/drawing/2014/main" id="{634677D9-BD5F-7437-89EF-A941254FEF69}"/>
              </a:ext>
            </a:extLst>
          </p:cNvPr>
          <p:cNvSpPr txBox="1">
            <a:spLocks/>
          </p:cNvSpPr>
          <p:nvPr/>
        </p:nvSpPr>
        <p:spPr>
          <a:xfrm>
            <a:off x="288323" y="1837552"/>
            <a:ext cx="7809471" cy="1013700"/>
          </a:xfrm>
          <a:prstGeom prst="rect">
            <a:avLst/>
          </a:prstGeom>
          <a:noFill/>
          <a:ln>
            <a:noFill/>
          </a:ln>
        </p:spPr>
        <p:txBody>
          <a:bodyPr spcFirstLastPara="1" wrap="square" lIns="91425" tIns="45700" rIns="91425" bIns="45700" anchor="ctr" anchorCtr="0">
            <a:normAutofit lnSpcReduction="10000"/>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indent="-327406">
              <a:lnSpc>
                <a:spcPct val="150000"/>
              </a:lnSpc>
              <a:spcBef>
                <a:spcPts val="0"/>
              </a:spcBef>
              <a:buSzPts val="1556"/>
              <a:buFont typeface="Noto Sans Symbols"/>
              <a:buChar char="∙"/>
            </a:pPr>
            <a:r>
              <a:rPr lang="es-MX" sz="1400" dirty="0">
                <a:solidFill>
                  <a:schemeClr val="dk1"/>
                </a:solidFill>
                <a:latin typeface="Calibri"/>
                <a:ea typeface="Calibri"/>
                <a:cs typeface="Calibri"/>
                <a:sym typeface="Calibri"/>
              </a:rPr>
              <a:t>Al momento de ejecutar necesitaremos seleccionar Android pero posteriormente, se deberá descargar un emulador que en este caso es un dispositivo Pixel 7, de esta forma  se podrá ejecutar correctamente</a:t>
            </a:r>
            <a:endParaRPr lang="es-MX" sz="1400" dirty="0">
              <a:latin typeface="Cambria"/>
              <a:ea typeface="Cambria"/>
              <a:cs typeface="Cambria"/>
              <a:sym typeface="Cambria"/>
            </a:endParaRPr>
          </a:p>
        </p:txBody>
      </p:sp>
      <p:pic>
        <p:nvPicPr>
          <p:cNvPr id="3" name="Picture 2">
            <a:extLst>
              <a:ext uri="{FF2B5EF4-FFF2-40B4-BE49-F238E27FC236}">
                <a16:creationId xmlns:a16="http://schemas.microsoft.com/office/drawing/2014/main" id="{8BFE96F6-C892-8B9C-46A3-9ED5E011AE16}"/>
              </a:ext>
            </a:extLst>
          </p:cNvPr>
          <p:cNvPicPr>
            <a:picLocks noChangeAspect="1"/>
          </p:cNvPicPr>
          <p:nvPr/>
        </p:nvPicPr>
        <p:blipFill>
          <a:blip r:embed="rId3"/>
          <a:stretch>
            <a:fillRect/>
          </a:stretch>
        </p:blipFill>
        <p:spPr>
          <a:xfrm>
            <a:off x="2904820" y="3103172"/>
            <a:ext cx="3482642" cy="777307"/>
          </a:xfrm>
          <a:prstGeom prst="rect">
            <a:avLst/>
          </a:prstGeom>
        </p:spPr>
      </p:pic>
      <p:graphicFrame>
        <p:nvGraphicFramePr>
          <p:cNvPr id="5" name="Google Shape;659;p81">
            <a:extLst>
              <a:ext uri="{FF2B5EF4-FFF2-40B4-BE49-F238E27FC236}">
                <a16:creationId xmlns:a16="http://schemas.microsoft.com/office/drawing/2014/main" id="{2B314DCA-BB7F-D2B3-3AB7-CD0A5745E290}"/>
              </a:ext>
            </a:extLst>
          </p:cNvPr>
          <p:cNvGraphicFramePr/>
          <p:nvPr>
            <p:extLst>
              <p:ext uri="{D42A27DB-BD31-4B8C-83A1-F6EECF244321}">
                <p14:modId xmlns:p14="http://schemas.microsoft.com/office/powerpoint/2010/main" val="1055094430"/>
              </p:ext>
            </p:extLst>
          </p:nvPr>
        </p:nvGraphicFramePr>
        <p:xfrm>
          <a:off x="2001570" y="4132400"/>
          <a:ext cx="5526073" cy="678497"/>
        </p:xfrm>
        <a:graphic>
          <a:graphicData uri="http://schemas.openxmlformats.org/drawingml/2006/table">
            <a:tbl>
              <a:tblPr>
                <a:noFill/>
                <a:tableStyleId>{BF136021-7255-42B7-A7E7-87A8D8FFE9CA}</a:tableStyleId>
              </a:tblPr>
              <a:tblGrid>
                <a:gridCol w="5526073">
                  <a:extLst>
                    <a:ext uri="{9D8B030D-6E8A-4147-A177-3AD203B41FA5}">
                      <a16:colId xmlns:a16="http://schemas.microsoft.com/office/drawing/2014/main" val="20000"/>
                    </a:ext>
                  </a:extLst>
                </a:gridCol>
              </a:tblGrid>
              <a:tr h="678497">
                <a:tc>
                  <a:txBody>
                    <a:bodyPr/>
                    <a:lstStyle/>
                    <a:p>
                      <a:pPr marL="0" lvl="0" indent="0" algn="l" rtl="0">
                        <a:lnSpc>
                          <a:spcPct val="100000"/>
                        </a:lnSpc>
                        <a:spcBef>
                          <a:spcPts val="0"/>
                        </a:spcBef>
                        <a:spcAft>
                          <a:spcPts val="0"/>
                        </a:spcAft>
                        <a:buNone/>
                      </a:pPr>
                      <a:r>
                        <a:rPr lang="es-MX" sz="900" dirty="0">
                          <a:solidFill>
                            <a:srgbClr val="4F81BD"/>
                          </a:solidFill>
                          <a:latin typeface="Calibri"/>
                          <a:ea typeface="Calibri"/>
                          <a:cs typeface="Calibri"/>
                          <a:sym typeface="Calibri"/>
                        </a:rPr>
                        <a:t>{  "</a:t>
                      </a:r>
                      <a:r>
                        <a:rPr lang="es-MX" sz="900" dirty="0" err="1">
                          <a:solidFill>
                            <a:srgbClr val="4F81BD"/>
                          </a:solidFill>
                          <a:latin typeface="Calibri"/>
                          <a:ea typeface="Calibri"/>
                          <a:cs typeface="Calibri"/>
                          <a:sym typeface="Calibri"/>
                        </a:rPr>
                        <a:t>ServicioSoap</a:t>
                      </a:r>
                      <a:r>
                        <a:rPr lang="es-MX" sz="900" dirty="0">
                          <a:solidFill>
                            <a:srgbClr val="4F81BD"/>
                          </a:solidFill>
                          <a:latin typeface="Calibri"/>
                          <a:ea typeface="Calibri"/>
                          <a:cs typeface="Calibri"/>
                          <a:sym typeface="Calibri"/>
                        </a:rPr>
                        <a:t>": {    "</a:t>
                      </a:r>
                      <a:r>
                        <a:rPr lang="es-MX" sz="900" dirty="0" err="1">
                          <a:solidFill>
                            <a:srgbClr val="4F81BD"/>
                          </a:solidFill>
                          <a:latin typeface="Calibri"/>
                          <a:ea typeface="Calibri"/>
                          <a:cs typeface="Calibri"/>
                          <a:sym typeface="Calibri"/>
                        </a:rPr>
                        <a:t>Url</a:t>
                      </a:r>
                      <a:r>
                        <a:rPr lang="es-MX" sz="900" dirty="0">
                          <a:solidFill>
                            <a:srgbClr val="4F81BD"/>
                          </a:solidFill>
                          <a:latin typeface="Calibri"/>
                          <a:ea typeface="Calibri"/>
                          <a:cs typeface="Calibri"/>
                          <a:sym typeface="Calibri"/>
                        </a:rPr>
                        <a:t>": "http://10.0.2.2:49159/Servicios/</a:t>
                      </a:r>
                      <a:r>
                        <a:rPr lang="es-MX" sz="900" dirty="0" err="1">
                          <a:solidFill>
                            <a:srgbClr val="4F81BD"/>
                          </a:solidFill>
                          <a:latin typeface="Calibri"/>
                          <a:ea typeface="Calibri"/>
                          <a:cs typeface="Calibri"/>
                          <a:sym typeface="Calibri"/>
                        </a:rPr>
                        <a:t>ServicioConversionUnidades.svc</a:t>
                      </a:r>
                      <a:r>
                        <a:rPr lang="es-MX" sz="900" dirty="0">
                          <a:solidFill>
                            <a:srgbClr val="4F81BD"/>
                          </a:solidFill>
                          <a:latin typeface="Calibri"/>
                          <a:ea typeface="Calibri"/>
                          <a:cs typeface="Calibri"/>
                          <a:sym typeface="Calibri"/>
                        </a:rPr>
                        <a:t>"  }}</a:t>
                      </a:r>
                      <a:endParaRPr sz="9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6" name="Google Shape;319;p40">
            <a:extLst>
              <a:ext uri="{FF2B5EF4-FFF2-40B4-BE49-F238E27FC236}">
                <a16:creationId xmlns:a16="http://schemas.microsoft.com/office/drawing/2014/main" id="{AF14A2F9-02AC-8233-FC48-838513D625C2}"/>
              </a:ext>
            </a:extLst>
          </p:cNvPr>
          <p:cNvSpPr txBox="1">
            <a:spLocks/>
          </p:cNvSpPr>
          <p:nvPr/>
        </p:nvSpPr>
        <p:spPr>
          <a:xfrm>
            <a:off x="448960" y="5142144"/>
            <a:ext cx="7809471" cy="1013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indent="-327406">
              <a:lnSpc>
                <a:spcPct val="150000"/>
              </a:lnSpc>
              <a:spcBef>
                <a:spcPts val="0"/>
              </a:spcBef>
              <a:buSzPts val="1556"/>
              <a:buFont typeface="Noto Sans Symbols"/>
              <a:buChar char="∙"/>
            </a:pPr>
            <a:r>
              <a:rPr lang="es-MX" sz="1400" dirty="0">
                <a:solidFill>
                  <a:schemeClr val="dk1"/>
                </a:solidFill>
                <a:latin typeface="Calibri"/>
                <a:ea typeface="Calibri"/>
                <a:cs typeface="Calibri"/>
                <a:sym typeface="Calibri"/>
              </a:rPr>
              <a:t>Pese a que el servicio se configura desde la vista principal del </a:t>
            </a:r>
            <a:r>
              <a:rPr lang="es-MX" sz="1400" dirty="0" err="1">
                <a:solidFill>
                  <a:schemeClr val="dk1"/>
                </a:solidFill>
                <a:latin typeface="Calibri"/>
                <a:ea typeface="Calibri"/>
                <a:cs typeface="Calibri"/>
                <a:sym typeface="Calibri"/>
              </a:rPr>
              <a:t>login</a:t>
            </a:r>
            <a:r>
              <a:rPr lang="es-MX" sz="1400" dirty="0">
                <a:solidFill>
                  <a:schemeClr val="dk1"/>
                </a:solidFill>
                <a:latin typeface="Calibri"/>
                <a:ea typeface="Calibri"/>
                <a:cs typeface="Calibri"/>
                <a:sym typeface="Calibri"/>
              </a:rPr>
              <a:t> se podrá seleccionar el servidor en caso de haber un cambio en el mismo de último momento para poder consumir el servicio web</a:t>
            </a:r>
            <a:endParaRPr lang="es-MX" sz="1400" dirty="0">
              <a:latin typeface="Cambria"/>
              <a:ea typeface="Cambria"/>
              <a:cs typeface="Cambria"/>
              <a:sym typeface="Cambria"/>
            </a:endParaRPr>
          </a:p>
        </p:txBody>
      </p:sp>
    </p:spTree>
    <p:extLst>
      <p:ext uri="{BB962C8B-B14F-4D97-AF65-F5344CB8AC3E}">
        <p14:creationId xmlns:p14="http://schemas.microsoft.com/office/powerpoint/2010/main" val="35317390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8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68" name="Google Shape;668;p82"/>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solidFill>
                <a:schemeClr val="dk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MOVIL</a:t>
            </a:r>
            <a:endParaRPr dirty="0">
              <a:solidFill>
                <a:srgbClr val="FFFF00"/>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dirty="0">
              <a:solidFill>
                <a:schemeClr val="dk1"/>
              </a:solidFill>
            </a:endParaRPr>
          </a:p>
        </p:txBody>
      </p:sp>
      <p:sp>
        <p:nvSpPr>
          <p:cNvPr id="669" name="Google Shape;669;p82"/>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login</a:t>
            </a:r>
            <a:endParaRPr sz="2000" b="0" i="0" u="none" strike="noStrike" cap="none">
              <a:solidFill>
                <a:srgbClr val="3D3D3D"/>
              </a:solidFill>
              <a:latin typeface="Cambria"/>
              <a:ea typeface="Cambria"/>
              <a:cs typeface="Cambria"/>
              <a:sym typeface="Cambria"/>
            </a:endParaRPr>
          </a:p>
        </p:txBody>
      </p:sp>
      <p:pic>
        <p:nvPicPr>
          <p:cNvPr id="6" name="Picture 5">
            <a:extLst>
              <a:ext uri="{FF2B5EF4-FFF2-40B4-BE49-F238E27FC236}">
                <a16:creationId xmlns:a16="http://schemas.microsoft.com/office/drawing/2014/main" id="{00568E5C-34E6-FA89-461D-B67F5215C767}"/>
              </a:ext>
            </a:extLst>
          </p:cNvPr>
          <p:cNvPicPr>
            <a:picLocks noChangeAspect="1"/>
          </p:cNvPicPr>
          <p:nvPr/>
        </p:nvPicPr>
        <p:blipFill>
          <a:blip r:embed="rId3"/>
          <a:stretch>
            <a:fillRect/>
          </a:stretch>
        </p:blipFill>
        <p:spPr>
          <a:xfrm>
            <a:off x="2978700" y="1906183"/>
            <a:ext cx="2353307" cy="4790163"/>
          </a:xfrm>
          <a:prstGeom prst="rect">
            <a:avLst/>
          </a:prstGeom>
        </p:spPr>
      </p:pic>
      <p:pic>
        <p:nvPicPr>
          <p:cNvPr id="10" name="Picture 9">
            <a:extLst>
              <a:ext uri="{FF2B5EF4-FFF2-40B4-BE49-F238E27FC236}">
                <a16:creationId xmlns:a16="http://schemas.microsoft.com/office/drawing/2014/main" id="{08274021-CD58-23DA-A1AF-D2105B8374B4}"/>
              </a:ext>
            </a:extLst>
          </p:cNvPr>
          <p:cNvPicPr>
            <a:picLocks noChangeAspect="1"/>
          </p:cNvPicPr>
          <p:nvPr/>
        </p:nvPicPr>
        <p:blipFill>
          <a:blip r:embed="rId4"/>
          <a:stretch>
            <a:fillRect/>
          </a:stretch>
        </p:blipFill>
        <p:spPr>
          <a:xfrm>
            <a:off x="6177559" y="2763042"/>
            <a:ext cx="2360586" cy="3284526"/>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74"/>
        <p:cNvGrpSpPr/>
        <p:nvPr/>
      </p:nvGrpSpPr>
      <p:grpSpPr>
        <a:xfrm>
          <a:off x="0" y="0"/>
          <a:ext cx="0" cy="0"/>
          <a:chOff x="0" y="0"/>
          <a:chExt cx="0" cy="0"/>
        </a:xfrm>
      </p:grpSpPr>
      <p:sp>
        <p:nvSpPr>
          <p:cNvPr id="675" name="Google Shape;675;p8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76" name="Google Shape;676;p83"/>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solidFill>
                <a:schemeClr val="dk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MOVIL</a:t>
            </a:r>
            <a:endParaRPr dirty="0">
              <a:solidFill>
                <a:srgbClr val="FFFF00"/>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dirty="0">
              <a:solidFill>
                <a:schemeClr val="dk1"/>
              </a:solidFill>
            </a:endParaRPr>
          </a:p>
        </p:txBody>
      </p:sp>
      <p:sp>
        <p:nvSpPr>
          <p:cNvPr id="677" name="Google Shape;677;p83"/>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Conversor de unidades</a:t>
            </a:r>
            <a:endParaRPr sz="2000" b="0" i="0" u="none" strike="noStrike" cap="none">
              <a:solidFill>
                <a:srgbClr val="3D3D3D"/>
              </a:solidFill>
              <a:latin typeface="Cambria"/>
              <a:ea typeface="Cambria"/>
              <a:cs typeface="Cambria"/>
              <a:sym typeface="Cambria"/>
            </a:endParaRPr>
          </a:p>
        </p:txBody>
      </p:sp>
      <p:pic>
        <p:nvPicPr>
          <p:cNvPr id="4" name="Picture 3">
            <a:extLst>
              <a:ext uri="{FF2B5EF4-FFF2-40B4-BE49-F238E27FC236}">
                <a16:creationId xmlns:a16="http://schemas.microsoft.com/office/drawing/2014/main" id="{A7F5D998-EFF5-9CF1-ACD6-126750C5B8BE}"/>
              </a:ext>
            </a:extLst>
          </p:cNvPr>
          <p:cNvPicPr>
            <a:picLocks noChangeAspect="1"/>
          </p:cNvPicPr>
          <p:nvPr/>
        </p:nvPicPr>
        <p:blipFill>
          <a:blip r:embed="rId3"/>
          <a:stretch>
            <a:fillRect/>
          </a:stretch>
        </p:blipFill>
        <p:spPr>
          <a:xfrm>
            <a:off x="4689549" y="1994337"/>
            <a:ext cx="2453365" cy="4731857"/>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8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84" name="Google Shape;684;p84"/>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solidFill>
                <a:schemeClr val="dk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MOVIL</a:t>
            </a:r>
            <a:endParaRPr dirty="0">
              <a:solidFill>
                <a:srgbClr val="FFFF00"/>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dirty="0">
              <a:solidFill>
                <a:schemeClr val="dk1"/>
              </a:solidFill>
            </a:endParaRPr>
          </a:p>
        </p:txBody>
      </p:sp>
      <p:sp>
        <p:nvSpPr>
          <p:cNvPr id="685" name="Google Shape;685;p84"/>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dirty="0">
                <a:solidFill>
                  <a:srgbClr val="3D3D3D"/>
                </a:solidFill>
                <a:latin typeface="Cambria"/>
                <a:ea typeface="Cambria"/>
                <a:cs typeface="Cambria"/>
                <a:sym typeface="Cambria"/>
              </a:rPr>
              <a:t>Vista Conversión realizada</a:t>
            </a:r>
            <a:endParaRPr sz="2000" b="0" i="0" u="none" strike="noStrike" cap="none" dirty="0">
              <a:solidFill>
                <a:srgbClr val="3D3D3D"/>
              </a:solidFill>
              <a:latin typeface="Cambria"/>
              <a:ea typeface="Cambria"/>
              <a:cs typeface="Cambria"/>
              <a:sym typeface="Cambria"/>
            </a:endParaRPr>
          </a:p>
        </p:txBody>
      </p:sp>
      <p:pic>
        <p:nvPicPr>
          <p:cNvPr id="4" name="Picture 3">
            <a:extLst>
              <a:ext uri="{FF2B5EF4-FFF2-40B4-BE49-F238E27FC236}">
                <a16:creationId xmlns:a16="http://schemas.microsoft.com/office/drawing/2014/main" id="{E2A8517E-5115-B31C-8606-0F7E4F1A2911}"/>
              </a:ext>
            </a:extLst>
          </p:cNvPr>
          <p:cNvPicPr>
            <a:picLocks noChangeAspect="1"/>
          </p:cNvPicPr>
          <p:nvPr/>
        </p:nvPicPr>
        <p:blipFill>
          <a:blip r:embed="rId3"/>
          <a:stretch>
            <a:fillRect/>
          </a:stretch>
        </p:blipFill>
        <p:spPr>
          <a:xfrm>
            <a:off x="4767749" y="2153059"/>
            <a:ext cx="2184986" cy="4564898"/>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90"/>
        <p:cNvGrpSpPr/>
        <p:nvPr/>
      </p:nvGrpSpPr>
      <p:grpSpPr>
        <a:xfrm>
          <a:off x="0" y="0"/>
          <a:ext cx="0" cy="0"/>
          <a:chOff x="0" y="0"/>
          <a:chExt cx="0" cy="0"/>
        </a:xfrm>
      </p:grpSpPr>
      <p:sp>
        <p:nvSpPr>
          <p:cNvPr id="691" name="Google Shape;691;p8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CONCLUSIONES</a:t>
            </a:r>
            <a:endParaRPr/>
          </a:p>
        </p:txBody>
      </p:sp>
      <p:sp>
        <p:nvSpPr>
          <p:cNvPr id="692" name="Google Shape;692;p85"/>
          <p:cNvSpPr txBox="1">
            <a:spLocks noGrp="1"/>
          </p:cNvSpPr>
          <p:nvPr>
            <p:ph type="body" idx="1"/>
          </p:nvPr>
        </p:nvSpPr>
        <p:spPr>
          <a:xfrm>
            <a:off x="581192" y="2180496"/>
            <a:ext cx="8589300" cy="3678300"/>
          </a:xfrm>
          <a:prstGeom prst="rect">
            <a:avLst/>
          </a:prstGeom>
          <a:noFill/>
          <a:ln>
            <a:noFill/>
          </a:ln>
        </p:spPr>
        <p:txBody>
          <a:bodyPr spcFirstLastPara="1" wrap="square" lIns="91425" tIns="45700" rIns="91425" bIns="45700" anchor="ctr" anchorCtr="0">
            <a:normAutofit/>
          </a:bodyPr>
          <a:lstStyle/>
          <a:p>
            <a:pPr marL="0" marR="0" lvl="0" indent="0" algn="just" rtl="0">
              <a:lnSpc>
                <a:spcPct val="107000"/>
              </a:lnSpc>
              <a:spcBef>
                <a:spcPts val="0"/>
              </a:spcBef>
              <a:spcAft>
                <a:spcPts val="0"/>
              </a:spcAft>
              <a:buSzPts val="1656"/>
              <a:buNone/>
            </a:pPr>
            <a:r>
              <a:rPr lang="es-ES" sz="1900" dirty="0">
                <a:latin typeface="Cambria"/>
                <a:ea typeface="Cambria"/>
                <a:cs typeface="Cambria"/>
                <a:sym typeface="Cambria"/>
              </a:rPr>
              <a:t>La culminación de este proyecto evidencia la efectividad de una Arquitectura Orientada a Servicios (SOA) al integrar exitosamente un servidor SOAP robusto, desarrollado en </a:t>
            </a:r>
            <a:r>
              <a:rPr lang="es-ES" sz="1900" dirty="0" err="1">
                <a:latin typeface="Cambria"/>
                <a:ea typeface="Cambria"/>
                <a:cs typeface="Cambria"/>
                <a:sym typeface="Cambria"/>
              </a:rPr>
              <a:t>Dotnet</a:t>
            </a:r>
            <a:r>
              <a:rPr lang="es-ES" sz="1900" dirty="0">
                <a:latin typeface="Cambria"/>
                <a:ea typeface="Cambria"/>
                <a:cs typeface="Cambria"/>
                <a:sym typeface="Cambria"/>
              </a:rPr>
              <a:t> y alojado en IIS (Internet </a:t>
            </a:r>
            <a:r>
              <a:rPr lang="es-ES" sz="1900" dirty="0" err="1">
                <a:latin typeface="Cambria"/>
                <a:ea typeface="Cambria"/>
                <a:cs typeface="Cambria"/>
                <a:sym typeface="Cambria"/>
              </a:rPr>
              <a:t>Information</a:t>
            </a:r>
            <a:r>
              <a:rPr lang="es-ES" sz="1900" dirty="0">
                <a:latin typeface="Cambria"/>
                <a:ea typeface="Cambria"/>
                <a:cs typeface="Cambria"/>
                <a:sym typeface="Cambria"/>
              </a:rPr>
              <a:t> </a:t>
            </a:r>
            <a:r>
              <a:rPr lang="es-ES" sz="1900" dirty="0" err="1">
                <a:latin typeface="Cambria"/>
                <a:ea typeface="Cambria"/>
                <a:cs typeface="Cambria"/>
                <a:sym typeface="Cambria"/>
              </a:rPr>
              <a:t>Services</a:t>
            </a:r>
            <a:r>
              <a:rPr lang="es-ES" sz="1900" dirty="0">
                <a:latin typeface="Cambria"/>
                <a:ea typeface="Cambria"/>
                <a:cs typeface="Cambria"/>
                <a:sym typeface="Cambria"/>
              </a:rPr>
              <a:t>), con un ecosistema de clientes multiplataforma (web, móvil, escritorio y consola) mediante el uso de .NET WCF para el servidor, .NET WPF para escritorio, .NET </a:t>
            </a:r>
            <a:r>
              <a:rPr lang="es-ES" sz="1900" dirty="0" err="1">
                <a:latin typeface="Cambria"/>
                <a:ea typeface="Cambria"/>
                <a:cs typeface="Cambria"/>
                <a:sym typeface="Cambria"/>
              </a:rPr>
              <a:t>Blazor</a:t>
            </a:r>
            <a:r>
              <a:rPr lang="es-ES" sz="1900" dirty="0">
                <a:latin typeface="Cambria"/>
                <a:ea typeface="Cambria"/>
                <a:cs typeface="Cambria"/>
                <a:sym typeface="Cambria"/>
              </a:rPr>
              <a:t> para web y .NET MAUI para móvil. Esta integración técnica se validó mediante la implementación de un sistema de seguridad desacoplado basado en tokens y manejadores de mensajes, junto con la aplicación del patrón </a:t>
            </a:r>
            <a:r>
              <a:rPr lang="es-ES" sz="1900" dirty="0" err="1">
                <a:latin typeface="Cambria"/>
                <a:ea typeface="Cambria"/>
                <a:cs typeface="Cambria"/>
                <a:sym typeface="Cambria"/>
              </a:rPr>
              <a:t>Strategy</a:t>
            </a:r>
            <a:r>
              <a:rPr lang="es-ES" sz="1900" dirty="0">
                <a:latin typeface="Cambria"/>
                <a:ea typeface="Cambria"/>
                <a:cs typeface="Cambria"/>
                <a:sym typeface="Cambria"/>
              </a:rPr>
              <a:t> en el cliente, lo que garantiza una solución de software interoperable, escalable y alineada con los estándares de desarrollo empresarial modernos.</a:t>
            </a:r>
            <a:endParaRPr sz="1900" dirty="0"/>
          </a:p>
        </p:txBody>
      </p:sp>
      <p:sp>
        <p:nvSpPr>
          <p:cNvPr id="693" name="Google Shape;693;p8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chemeClr val="lt1"/>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CONCLUSIONES</a:t>
            </a:r>
            <a:endParaRPr sz="1400" b="0" i="0" u="none" strike="noStrike" cap="none">
              <a:solidFill>
                <a:srgbClr val="FFFF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8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RECOMENDACIONES</a:t>
            </a:r>
            <a:endParaRPr/>
          </a:p>
        </p:txBody>
      </p:sp>
      <p:sp>
        <p:nvSpPr>
          <p:cNvPr id="699" name="Google Shape;699;p86"/>
          <p:cNvSpPr txBox="1">
            <a:spLocks noGrp="1"/>
          </p:cNvSpPr>
          <p:nvPr>
            <p:ph type="body" idx="1"/>
          </p:nvPr>
        </p:nvSpPr>
        <p:spPr>
          <a:xfrm>
            <a:off x="581200" y="2025325"/>
            <a:ext cx="8500800" cy="4291200"/>
          </a:xfrm>
          <a:prstGeom prst="rect">
            <a:avLst/>
          </a:prstGeom>
          <a:noFill/>
          <a:ln>
            <a:noFill/>
          </a:ln>
        </p:spPr>
        <p:txBody>
          <a:bodyPr spcFirstLastPara="1" wrap="square" lIns="91425" tIns="45700" rIns="91425" bIns="45700" anchor="ctr" anchorCtr="0">
            <a:normAutofit/>
          </a:bodyPr>
          <a:lstStyle/>
          <a:p>
            <a:pPr marL="0" lvl="0" indent="0" algn="just" rtl="0">
              <a:lnSpc>
                <a:spcPct val="107000"/>
              </a:lnSpc>
              <a:spcBef>
                <a:spcPts val="0"/>
              </a:spcBef>
              <a:spcAft>
                <a:spcPts val="0"/>
              </a:spcAft>
              <a:buNone/>
            </a:pPr>
            <a:r>
              <a:rPr lang="es-ES" sz="1900" dirty="0">
                <a:latin typeface="Cambria"/>
                <a:ea typeface="Cambria"/>
                <a:cs typeface="Cambria"/>
                <a:sym typeface="Cambria"/>
              </a:rPr>
              <a:t>Integrar una base de datos (BDD) formal para reemplazar el manejo de credenciales quemadas en código y permitir el almacenamiento histórico personal de las conversiones de manera persistente y escalable.</a:t>
            </a:r>
            <a:endParaRPr sz="1900" dirty="0">
              <a:latin typeface="Cambria"/>
              <a:ea typeface="Cambria"/>
              <a:cs typeface="Cambria"/>
              <a:sym typeface="Cambria"/>
            </a:endParaRPr>
          </a:p>
          <a:p>
            <a:pPr marL="0" lvl="0" indent="0" algn="just" rtl="0">
              <a:lnSpc>
                <a:spcPct val="107000"/>
              </a:lnSpc>
              <a:spcBef>
                <a:spcPts val="0"/>
              </a:spcBef>
              <a:spcAft>
                <a:spcPts val="0"/>
              </a:spcAft>
              <a:buNone/>
            </a:pPr>
            <a:endParaRPr sz="1900" dirty="0">
              <a:latin typeface="Cambria"/>
              <a:ea typeface="Cambria"/>
              <a:cs typeface="Cambria"/>
              <a:sym typeface="Cambria"/>
            </a:endParaRPr>
          </a:p>
          <a:p>
            <a:pPr marL="0" lvl="0" indent="0" algn="just" rtl="0">
              <a:lnSpc>
                <a:spcPct val="107000"/>
              </a:lnSpc>
              <a:spcBef>
                <a:spcPts val="0"/>
              </a:spcBef>
              <a:spcAft>
                <a:spcPts val="0"/>
              </a:spcAft>
              <a:buNone/>
            </a:pPr>
            <a:r>
              <a:rPr lang="es-ES" sz="1900" dirty="0">
                <a:latin typeface="Cambria"/>
                <a:ea typeface="Cambria"/>
                <a:cs typeface="Cambria"/>
                <a:sym typeface="Cambria"/>
              </a:rPr>
              <a:t>Integrar protocolos de cifrado a nivel de mensaje (WS-Security) y el uso de HTTPS en entornos de producción para proteger la integridad del token de seguridad y los datos sensibles durante el tránsito en la red. </a:t>
            </a:r>
            <a:endParaRPr sz="1900" dirty="0">
              <a:latin typeface="Cambria"/>
              <a:ea typeface="Cambria"/>
              <a:cs typeface="Cambria"/>
              <a:sym typeface="Cambria"/>
            </a:endParaRPr>
          </a:p>
          <a:p>
            <a:pPr marL="0" lvl="0" indent="0" algn="just" rtl="0">
              <a:lnSpc>
                <a:spcPct val="107000"/>
              </a:lnSpc>
              <a:spcBef>
                <a:spcPts val="0"/>
              </a:spcBef>
              <a:spcAft>
                <a:spcPts val="0"/>
              </a:spcAft>
              <a:buNone/>
            </a:pPr>
            <a:r>
              <a:rPr lang="es-ES" sz="1900" dirty="0">
                <a:latin typeface="Cambria"/>
                <a:ea typeface="Cambria"/>
                <a:cs typeface="Cambria"/>
                <a:sym typeface="Cambria"/>
              </a:rPr>
              <a:t> </a:t>
            </a:r>
            <a:endParaRPr sz="1900" dirty="0">
              <a:latin typeface="Cambria"/>
              <a:ea typeface="Cambria"/>
              <a:cs typeface="Cambria"/>
              <a:sym typeface="Cambria"/>
            </a:endParaRPr>
          </a:p>
          <a:p>
            <a:pPr marL="0" lvl="0" indent="0" algn="just" rtl="0">
              <a:lnSpc>
                <a:spcPct val="107000"/>
              </a:lnSpc>
              <a:spcBef>
                <a:spcPts val="0"/>
              </a:spcBef>
              <a:spcAft>
                <a:spcPts val="0"/>
              </a:spcAft>
              <a:buNone/>
            </a:pPr>
            <a:r>
              <a:rPr lang="es-ES" sz="1900" dirty="0">
                <a:latin typeface="Cambria"/>
                <a:ea typeface="Cambria"/>
                <a:cs typeface="Cambria"/>
                <a:sym typeface="Cambria"/>
              </a:rPr>
              <a:t>Incorporar herramientas de análisis estático de código automatizadas dentro del ciclo de vida de desarrollo para monitorear la calidad del software y asegurar que las nuevas funcionalidades no rompan la compatibilidad con el contrato WSDL expuesto.</a:t>
            </a:r>
            <a:endParaRPr sz="1900" dirty="0">
              <a:latin typeface="Cambria"/>
              <a:ea typeface="Cambria"/>
              <a:cs typeface="Cambria"/>
              <a:sym typeface="Cambria"/>
            </a:endParaRPr>
          </a:p>
        </p:txBody>
      </p:sp>
      <p:sp>
        <p:nvSpPr>
          <p:cNvPr id="700" name="Google Shape;700;p8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chemeClr val="lt1"/>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RECOMENDACIONES</a:t>
            </a:r>
            <a:endParaRPr sz="1400" b="0" i="0" u="none" strike="noStrike" cap="none">
              <a:solidFill>
                <a:srgbClr val="FFFF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Dividen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984</TotalTime>
  <Words>7029</Words>
  <Application>Microsoft Office PowerPoint</Application>
  <PresentationFormat>Widescreen</PresentationFormat>
  <Paragraphs>1422</Paragraphs>
  <Slides>59</Slides>
  <Notes>59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Cambria</vt:lpstr>
      <vt:lpstr>Noto Sans Symbols</vt:lpstr>
      <vt:lpstr>Calibri</vt:lpstr>
      <vt:lpstr>Gill Sans</vt:lpstr>
      <vt:lpstr>Arial</vt:lpstr>
      <vt:lpstr>Dividendo</vt:lpstr>
      <vt:lpstr>MANUAL CONVERSIÓN UNIDADES SOAP DOTNET</vt:lpstr>
      <vt:lpstr>PowerPoint Presentation</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CONCLUSIONES</vt:lpstr>
      <vt:lpstr>RECOMENDACIONES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Mateo Medranda</cp:lastModifiedBy>
  <cp:revision>13</cp:revision>
  <dcterms:modified xsi:type="dcterms:W3CDTF">2026-10-24T14:46:31Z</dcterms:modified>
</cp:coreProperties>
</file>