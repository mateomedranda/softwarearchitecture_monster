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30"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309" r:id="rId37"/>
    <p:sldId id="310" r:id="rId38"/>
    <p:sldId id="311"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Lst>
  <p:sldSz cx="12192000" cy="6858000"/>
  <p:notesSz cx="6858000" cy="9144000"/>
  <p:embeddedFontLst>
    <p:embeddedFont>
      <p:font typeface="Cambria" panose="02040503050406030204" pitchFamily="18" charset="0"/>
      <p:regular r:id="rId59"/>
      <p:bold r:id="rId60"/>
      <p:italic r:id="rId61"/>
      <p:boldItalic r:id="rId62"/>
    </p:embeddedFont>
    <p:embeddedFont>
      <p:font typeface="Gill Sans" panose="020B0604020202020204" charset="0"/>
      <p:regular r:id="rId63"/>
      <p:bold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136021-7255-42B7-A7E7-87A8D8FFE9CA}">
  <a:tblStyle styleId="{BF136021-7255-42B7-A7E7-87A8D8FFE9CA}"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5.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8526227be_0_4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3a8526227be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8526227be_0_4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8526227be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a8526227be_0_4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g3a8526227be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a8526227be_0_4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g3a8526227be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8526227be_0_4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g3a8526227be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526227be_0_4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g3a8526227be_0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526227be_0_4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g3a8526227be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8526227be_0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g3a8526227be_0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526227be_0_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g3a8526227be_0_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526227be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5" name="Google Shape;185;g3a8526227be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8526227be_0_4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g3a8526227be_0_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8526227be_0_5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46F4767-3E52-FE11-8FDB-A76C52CD3EA2}"/>
            </a:ext>
          </a:extLst>
        </p:cNvPr>
        <p:cNvGrpSpPr/>
        <p:nvPr/>
      </p:nvGrpSpPr>
      <p:grpSpPr>
        <a:xfrm>
          <a:off x="0" y="0"/>
          <a:ext cx="0" cy="0"/>
          <a:chOff x="0" y="0"/>
          <a:chExt cx="0" cy="0"/>
        </a:xfrm>
      </p:grpSpPr>
      <p:sp>
        <p:nvSpPr>
          <p:cNvPr id="201" name="Google Shape;201;g3a8526227be_0_504:notes">
            <a:extLst>
              <a:ext uri="{FF2B5EF4-FFF2-40B4-BE49-F238E27FC236}">
                <a16:creationId xmlns:a16="http://schemas.microsoft.com/office/drawing/2014/main" id="{849837E9-9F91-3E0C-9792-4D34537E34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a8526227be_0_504:notes">
            <a:extLst>
              <a:ext uri="{FF2B5EF4-FFF2-40B4-BE49-F238E27FC236}">
                <a16:creationId xmlns:a16="http://schemas.microsoft.com/office/drawing/2014/main" id="{A03AD4A7-5A74-07A2-AF0D-AF9888C742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953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8526227be_0_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g3a8526227be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a8526227be_0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 name="Google Shape;218;g3a8526227be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8526227be_0_5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a8526227be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8526227be_0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g3a8526227be_0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8526227be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3" name="Google Shape;243;g3a8526227be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8526227be_0_5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1" name="Google Shape;251;g3a8526227be_0_5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a8526227be_0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g3a8526227be_0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8526227be_0_5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g3a8526227be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a8526227be_0_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5" name="Google Shape;275;g3a8526227be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a8526227be_0_5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g3a8526227be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8526227be_0_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g3a8526227be_0_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8526227be_0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9" name="Google Shape;299;g3a8526227be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854632a9a_2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854632a9a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a854632a9a_2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6" name="Google Shape;316;g3a854632a9a_2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a854632a9a_2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3a854632a9a_2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854632a9a_2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g3a854632a9a_2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a854632a9a_2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a854632a9a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a854632a9a_2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a854632a9a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a854632a9a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8" name="Google Shape;358;g3a854632a9a_2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a854632a9a_2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g3a854632a9a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a854632a9a_2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2" name="Google Shape;532;g3a854632a9a_2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a854632a9a_2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2" name="Google Shape;542;g3a854632a9a_2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a854632a9a_2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0" name="Google Shape;550;g3a854632a9a_2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a854632a9a_2_2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8" name="Google Shape;558;g3a854632a9a_2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854632a9a_2_2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6" name="Google Shape;566;g3a854632a9a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854632a9a_2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4" name="Google Shape;574;g3a854632a9a_2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854632a9a_2_2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g3a854632a9a_2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a854632a9a_2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3a854632a9a_2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a854632a9a_2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9" name="Google Shape;599;g3a854632a9a_2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a854632a9a_2_2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7" name="Google Shape;607;g3a854632a9a_2_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854632a9a_2_2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5" name="Google Shape;615;g3a854632a9a_2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a854632a9a_2_2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3" name="Google Shape;623;g3a854632a9a_2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a854632a9a_2_2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g3a854632a9a_2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a8526227be_0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a8526227be_0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3a854632a9a_2_3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9" name="Google Shape;649;g3a854632a9a_2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854632a9a_2_3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3a854632a9a_2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a854632a9a_2_3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a854632a9a_2_3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3a854632a9a_2_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3" name="Google Shape;673;g3a854632a9a_2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a854632a9a_2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1" name="Google Shape;681;g3a854632a9a_2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a8526227be_0_6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g3a8526227be_0_6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a8526227be_0_6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6" name="Google Shape;696;g3a8526227be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 name="Google Shape;18;p2"/>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5" name="Google Shape;25;p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4"/>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2" name="Google Shape;32;p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5"/>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5"/>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9" name="Google Shape;39;p5"/>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0" name="Google Shape;40;p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6"/>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7" name="Google Shape;47;p6"/>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8" name="Google Shape;48;p6"/>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49" name="Google Shape;49;p6"/>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p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57" name="Google Shape;57;p7"/>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7"/>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9"/>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9"/>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67" name="Google Shape;67;p9"/>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68" name="Google Shape;68;p9"/>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0"/>
          <p:cNvSpPr>
            <a:spLocks noGrp="1"/>
          </p:cNvSpPr>
          <p:nvPr>
            <p:ph type="pic" idx="2"/>
          </p:nvPr>
        </p:nvSpPr>
        <p:spPr>
          <a:xfrm>
            <a:off x="447817" y="599725"/>
            <a:ext cx="11290859" cy="3557252"/>
          </a:xfrm>
          <a:prstGeom prst="rect">
            <a:avLst/>
          </a:prstGeom>
          <a:noFill/>
          <a:ln>
            <a:noFill/>
          </a:ln>
        </p:spPr>
      </p:sp>
      <p:sp>
        <p:nvSpPr>
          <p:cNvPr id="74" name="Google Shape;74;p10"/>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5" name="Google Shape;75;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8"/>
        <p:cNvGrpSpPr/>
        <p:nvPr/>
      </p:nvGrpSpPr>
      <p:grpSpPr>
        <a:xfrm>
          <a:off x="0" y="0"/>
          <a:ext cx="0" cy="0"/>
          <a:chOff x="0" y="0"/>
          <a:chExt cx="0" cy="0"/>
        </a:xfrm>
      </p:grpSpPr>
      <p:sp>
        <p:nvSpPr>
          <p:cNvPr id="79" name="Google Shape;79;p11"/>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1"/>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4"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2" name="Google Shape;82;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5"/>
        <p:cNvGrpSpPr/>
        <p:nvPr/>
      </p:nvGrpSpPr>
      <p:grpSpPr>
        <a:xfrm>
          <a:off x="0" y="0"/>
          <a:ext cx="0" cy="0"/>
          <a:chOff x="0" y="0"/>
          <a:chExt cx="0" cy="0"/>
        </a:xfrm>
      </p:grpSpPr>
      <p:sp>
        <p:nvSpPr>
          <p:cNvPr id="86" name="Google Shape;86;p12"/>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2"/>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9" name="Google Shape;89;p12"/>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4"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8" name="Google Shape;8;p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a:t>
            </a:fld>
            <a:endParaRPr/>
          </a:p>
        </p:txBody>
      </p:sp>
      <p:sp>
        <p:nvSpPr>
          <p:cNvPr id="11" name="Google Shape;11;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c.ed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3"/>
          <p:cNvSpPr txBox="1">
            <a:spLocks noGrp="1"/>
          </p:cNvSpPr>
          <p:nvPr>
            <p:ph type="ctrTitle"/>
          </p:nvPr>
        </p:nvSpPr>
        <p:spPr>
          <a:xfrm>
            <a:off x="599226" y="3158569"/>
            <a:ext cx="10993549" cy="1578409"/>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pPr>
            <a:r>
              <a:rPr lang="es-ES" dirty="0">
                <a:solidFill>
                  <a:schemeClr val="lt1"/>
                </a:solidFill>
              </a:rPr>
              <a:t>MANUAL</a:t>
            </a:r>
            <a:br>
              <a:rPr lang="es-ES" dirty="0">
                <a:solidFill>
                  <a:schemeClr val="lt1"/>
                </a:solidFill>
              </a:rPr>
            </a:br>
            <a:r>
              <a:rPr lang="es-ES" dirty="0">
                <a:solidFill>
                  <a:schemeClr val="lt1"/>
                </a:solidFill>
              </a:rPr>
              <a:t>CONVERSIÓN UNIDADES SOAP JAVA</a:t>
            </a:r>
            <a:endParaRPr dirty="0"/>
          </a:p>
        </p:txBody>
      </p:sp>
      <p:sp>
        <p:nvSpPr>
          <p:cNvPr id="97" name="Google Shape;97;p13"/>
          <p:cNvSpPr txBox="1">
            <a:spLocks noGrp="1"/>
          </p:cNvSpPr>
          <p:nvPr>
            <p:ph type="subTitle" idx="1"/>
          </p:nvPr>
        </p:nvSpPr>
        <p:spPr>
          <a:xfrm>
            <a:off x="599225" y="4530055"/>
            <a:ext cx="4261531" cy="18127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endParaRPr b="1" dirty="0">
              <a:solidFill>
                <a:schemeClr val="lt1"/>
              </a:solidFill>
            </a:endParaRPr>
          </a:p>
          <a:p>
            <a:pPr marL="0" lvl="0" indent="0" algn="l" rtl="0">
              <a:lnSpc>
                <a:spcPct val="100000"/>
              </a:lnSpc>
              <a:spcBef>
                <a:spcPts val="920"/>
              </a:spcBef>
              <a:spcAft>
                <a:spcPts val="0"/>
              </a:spcAft>
              <a:buSzPts val="1472"/>
              <a:buNone/>
            </a:pPr>
            <a:r>
              <a:rPr lang="es-ES" b="1" dirty="0">
                <a:solidFill>
                  <a:schemeClr val="lt1"/>
                </a:solidFill>
              </a:rPr>
              <a:t>INTEGRANTES:</a:t>
            </a:r>
            <a:r>
              <a:rPr lang="es-ES" dirty="0">
                <a:solidFill>
                  <a:schemeClr val="lt1"/>
                </a:solidFill>
              </a:rPr>
              <a:t> 	</a:t>
            </a:r>
          </a:p>
          <a:p>
            <a:pPr marL="0" lvl="0" indent="0" algn="l" rtl="0">
              <a:lnSpc>
                <a:spcPct val="100000"/>
              </a:lnSpc>
              <a:spcBef>
                <a:spcPts val="920"/>
              </a:spcBef>
              <a:spcAft>
                <a:spcPts val="0"/>
              </a:spcAft>
              <a:buSzPts val="1472"/>
              <a:buNone/>
            </a:pPr>
            <a:r>
              <a:rPr lang="es-ES" dirty="0">
                <a:solidFill>
                  <a:schemeClr val="lt1"/>
                </a:solidFill>
              </a:rPr>
              <a:t>	López Gabriel</a:t>
            </a:r>
          </a:p>
          <a:p>
            <a:pPr marL="0" lvl="0" indent="0" algn="l" rtl="0">
              <a:lnSpc>
                <a:spcPct val="100000"/>
              </a:lnSpc>
              <a:spcBef>
                <a:spcPts val="920"/>
              </a:spcBef>
              <a:spcAft>
                <a:spcPts val="0"/>
              </a:spcAft>
              <a:buSzPts val="1472"/>
              <a:buNone/>
            </a:pPr>
            <a:r>
              <a:rPr lang="es-ES" dirty="0">
                <a:solidFill>
                  <a:schemeClr val="lt1"/>
                </a:solidFill>
              </a:rPr>
              <a:t>	Medranda Mateo</a:t>
            </a:r>
          </a:p>
          <a:p>
            <a:pPr marL="0" lvl="0" indent="0" algn="l" rtl="0">
              <a:lnSpc>
                <a:spcPct val="100000"/>
              </a:lnSpc>
              <a:spcBef>
                <a:spcPts val="920"/>
              </a:spcBef>
              <a:spcAft>
                <a:spcPts val="0"/>
              </a:spcAft>
              <a:buSzPts val="1472"/>
              <a:buNone/>
            </a:pPr>
            <a:r>
              <a:rPr lang="es-MX" dirty="0">
                <a:solidFill>
                  <a:schemeClr val="lt1"/>
                </a:solidFill>
              </a:rPr>
              <a:t>	Pareja Marcelo</a:t>
            </a:r>
            <a:endParaRPr dirty="0">
              <a:solidFill>
                <a:schemeClr val="lt1"/>
              </a:solidFill>
            </a:endParaRPr>
          </a:p>
        </p:txBody>
      </p:sp>
      <p:pic>
        <p:nvPicPr>
          <p:cNvPr id="98" name="Google Shape;98;p13"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99" name="Google Shape;99;p13"/>
          <p:cNvSpPr txBox="1"/>
          <p:nvPr/>
        </p:nvSpPr>
        <p:spPr>
          <a:xfrm>
            <a:off x="9037063" y="5301801"/>
            <a:ext cx="4261531" cy="123535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FECHA:  21</a:t>
            </a:r>
            <a:r>
              <a:rPr lang="es-ES" sz="1600" b="1" dirty="0">
                <a:solidFill>
                  <a:srgbClr val="FFFFFF"/>
                </a:solidFill>
                <a:latin typeface="Gill Sans"/>
                <a:ea typeface="Gill Sans"/>
                <a:cs typeface="Gill Sans"/>
                <a:sym typeface="Gill Sans"/>
              </a:rPr>
              <a:t>/10/2026</a:t>
            </a:r>
            <a:endParaRPr sz="1600" b="0" i="0" u="none" strike="noStrike" cap="none" dirty="0">
              <a:solidFill>
                <a:srgbClr val="FFFFFF"/>
              </a:solidFill>
              <a:latin typeface="Gill Sans"/>
              <a:ea typeface="Gill Sans"/>
              <a:cs typeface="Gill Sans"/>
              <a:sym typeface="Gill Sans"/>
            </a:endParaRPr>
          </a:p>
          <a:p>
            <a:pPr marL="0" marR="0" lvl="0" indent="0" algn="l" rtl="0">
              <a:lnSpc>
                <a:spcPct val="100000"/>
              </a:lnSpc>
              <a:spcBef>
                <a:spcPts val="920"/>
              </a:spcBef>
              <a:spcAft>
                <a:spcPts val="0"/>
              </a:spcAft>
              <a:buClr>
                <a:srgbClr val="4590B8"/>
              </a:buClr>
              <a:buSzPts val="1472"/>
              <a:buFont typeface="Noto Sans Symbols"/>
              <a:buNone/>
            </a:pPr>
            <a:r>
              <a:rPr lang="es-ES" sz="1600" b="1" i="0" u="none" strike="noStrike" cap="none" dirty="0">
                <a:solidFill>
                  <a:srgbClr val="FFFFFF"/>
                </a:solidFill>
                <a:latin typeface="Gill Sans"/>
                <a:ea typeface="Gill Sans"/>
                <a:cs typeface="Gill Sans"/>
                <a:sym typeface="Gill Sans"/>
              </a:rPr>
              <a:t>ING: </a:t>
            </a:r>
            <a:r>
              <a:rPr lang="es-ES" sz="1600" b="0" i="0" u="none" strike="noStrike" cap="none" dirty="0">
                <a:solidFill>
                  <a:srgbClr val="FFFFFF"/>
                </a:solidFill>
                <a:latin typeface="Gill Sans"/>
                <a:ea typeface="Gill Sans"/>
                <a:cs typeface="Gill Sans"/>
                <a:sym typeface="Gill Sans"/>
              </a:rPr>
              <a:t>CAMPAÑA MAURICIO</a:t>
            </a:r>
            <a:endParaRPr sz="1600" b="1" i="0" u="none" strike="noStrike" cap="none" dirty="0">
              <a:solidFill>
                <a:srgbClr val="FFFFFF"/>
              </a:solidFill>
              <a:latin typeface="Gill Sans"/>
              <a:ea typeface="Gill Sans"/>
              <a:cs typeface="Gill Sans"/>
              <a:sym typeface="Gill Sans"/>
            </a:endParaRPr>
          </a:p>
        </p:txBody>
      </p:sp>
      <p:sp>
        <p:nvSpPr>
          <p:cNvPr id="100" name="Google Shape;100;p13"/>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p14"/>
          <p:cNvSpPr/>
          <p:nvPr/>
        </p:nvSpPr>
        <p:spPr>
          <a:xfrm>
            <a:off x="0" y="614406"/>
            <a:ext cx="12192000" cy="624359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Gill Sans"/>
              <a:buNone/>
            </a:pPr>
            <a:endParaRPr sz="1800" b="0" i="0" u="none" strike="noStrike" cap="none">
              <a:solidFill>
                <a:srgbClr val="FFFFFF"/>
              </a:solidFill>
              <a:latin typeface="Gill Sans"/>
              <a:ea typeface="Gill Sans"/>
              <a:cs typeface="Gill Sans"/>
              <a:sym typeface="Gill Sans"/>
            </a:endParaRPr>
          </a:p>
        </p:txBody>
      </p:sp>
      <p:sp>
        <p:nvSpPr>
          <p:cNvPr id="106" name="Google Shape;106;p14"/>
          <p:cNvSpPr/>
          <p:nvPr/>
        </p:nvSpPr>
        <p:spPr>
          <a:xfrm>
            <a:off x="442377" y="614407"/>
            <a:ext cx="3707477" cy="5611772"/>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07" name="Google Shape;107;p14"/>
          <p:cNvSpPr txBox="1">
            <a:spLocks noGrp="1"/>
          </p:cNvSpPr>
          <p:nvPr>
            <p:ph type="body" idx="1"/>
          </p:nvPr>
        </p:nvSpPr>
        <p:spPr>
          <a:xfrm>
            <a:off x="596348" y="701336"/>
            <a:ext cx="3389726" cy="5424255"/>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00000"/>
              </a:lnSpc>
              <a:spcBef>
                <a:spcPts val="0"/>
              </a:spcBef>
              <a:spcAft>
                <a:spcPts val="0"/>
              </a:spcAft>
              <a:buSzPts val="1656"/>
              <a:buChar char="◼"/>
            </a:pPr>
            <a:r>
              <a:rPr lang="es-ES" dirty="0">
                <a:solidFill>
                  <a:schemeClr val="lt1"/>
                </a:solidFill>
              </a:rPr>
              <a:t>DESARROLLO</a:t>
            </a:r>
            <a:endParaRPr dirty="0"/>
          </a:p>
          <a:p>
            <a:pPr marL="630000" lvl="1" indent="-320020" algn="l" rtl="0">
              <a:lnSpc>
                <a:spcPct val="100000"/>
              </a:lnSpc>
              <a:spcBef>
                <a:spcPts val="872"/>
              </a:spcBef>
              <a:spcAft>
                <a:spcPts val="0"/>
              </a:spcAft>
              <a:buSzPts val="1472"/>
              <a:buChar char="◼"/>
            </a:pPr>
            <a:r>
              <a:rPr lang="es-ES" dirty="0">
                <a:solidFill>
                  <a:schemeClr val="lt1"/>
                </a:solidFill>
              </a:rPr>
              <a:t>OBJETIVO</a:t>
            </a:r>
            <a:endParaRPr dirty="0"/>
          </a:p>
          <a:p>
            <a:pPr marL="630000" lvl="1" indent="-320020" algn="l" rtl="0">
              <a:lnSpc>
                <a:spcPct val="100000"/>
              </a:lnSpc>
              <a:spcBef>
                <a:spcPts val="872"/>
              </a:spcBef>
              <a:spcAft>
                <a:spcPts val="0"/>
              </a:spcAft>
              <a:buSzPts val="1472"/>
              <a:buChar char="◼"/>
            </a:pPr>
            <a:r>
              <a:rPr lang="es-ES" dirty="0">
                <a:solidFill>
                  <a:schemeClr val="lt1"/>
                </a:solidFill>
              </a:rPr>
              <a:t>CREACIÓN DEL SERVIDOR SOAP EN JAVA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CONSOLA</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ESCRITORIO</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WEB</a:t>
            </a:r>
            <a:endParaRPr dirty="0"/>
          </a:p>
          <a:p>
            <a:pPr marL="630000" lvl="1" indent="-320020" algn="l" rtl="0">
              <a:lnSpc>
                <a:spcPct val="100000"/>
              </a:lnSpc>
              <a:spcBef>
                <a:spcPts val="872"/>
              </a:spcBef>
              <a:spcAft>
                <a:spcPts val="0"/>
              </a:spcAft>
              <a:buSzPts val="1472"/>
              <a:buChar char="◼"/>
            </a:pPr>
            <a:r>
              <a:rPr lang="es-ES" sz="1800" dirty="0">
                <a:solidFill>
                  <a:schemeClr val="lt1"/>
                </a:solidFill>
              </a:rPr>
              <a:t>CREACIÓN DEL PROYECTO – CLIENTE MÓVIL</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CONCLUSIONES</a:t>
            </a:r>
            <a:endParaRPr dirty="0"/>
          </a:p>
          <a:p>
            <a:pPr marL="306000" marR="0" lvl="0" indent="-306000" algn="l" rtl="0">
              <a:lnSpc>
                <a:spcPct val="100000"/>
              </a:lnSpc>
              <a:spcBef>
                <a:spcPts val="906"/>
              </a:spcBef>
              <a:spcAft>
                <a:spcPts val="0"/>
              </a:spcAft>
              <a:buSzPts val="1656"/>
              <a:buChar char="◼"/>
            </a:pPr>
            <a:r>
              <a:rPr lang="es-ES" dirty="0">
                <a:solidFill>
                  <a:schemeClr val="lt1"/>
                </a:solidFill>
              </a:rPr>
              <a:t>RECOMENDACIONES</a:t>
            </a:r>
            <a:endParaRPr dirty="0"/>
          </a:p>
        </p:txBody>
      </p:sp>
      <p:pic>
        <p:nvPicPr>
          <p:cNvPr id="108" name="Google Shape;108;p14" descr="Resultado de imagen para AGENDA PNG"/>
          <p:cNvPicPr preferRelativeResize="0"/>
          <p:nvPr/>
        </p:nvPicPr>
        <p:blipFill rotWithShape="1">
          <a:blip r:embed="rId3">
            <a:alphaModFix/>
          </a:blip>
          <a:srcRect/>
          <a:stretch/>
        </p:blipFill>
        <p:spPr>
          <a:xfrm>
            <a:off x="4791522" y="1935576"/>
            <a:ext cx="6489819" cy="3007477"/>
          </a:xfrm>
          <a:prstGeom prst="rect">
            <a:avLst/>
          </a:prstGeom>
          <a:noFill/>
          <a:ln>
            <a:noFill/>
          </a:ln>
        </p:spPr>
      </p:pic>
      <p:sp>
        <p:nvSpPr>
          <p:cNvPr id="109" name="Google Shape;109;p14"/>
          <p:cNvSpPr txBox="1"/>
          <p:nvPr/>
        </p:nvSpPr>
        <p:spPr>
          <a:xfrm>
            <a:off x="11817675" y="6474048"/>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Gill Sans"/>
              <a:buNone/>
            </a:pPr>
            <a:r>
              <a:rPr lang="es-ES" sz="2000" b="0" i="0" u="none" strike="noStrike" cap="none">
                <a:solidFill>
                  <a:srgbClr val="000000"/>
                </a:solidFill>
                <a:latin typeface="Gill Sans"/>
                <a:ea typeface="Gill Sans"/>
                <a:cs typeface="Gill Sans"/>
                <a:sym typeface="Gill Sans"/>
              </a:rPr>
              <a:t>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15" name="Google Shape;115;p1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Char char="∙"/>
            </a:pPr>
            <a:r>
              <a:rPr lang="es-ES" b="1" dirty="0">
                <a:latin typeface="Cambria"/>
                <a:ea typeface="Cambria"/>
                <a:cs typeface="Cambria"/>
                <a:sym typeface="Cambria"/>
              </a:rPr>
              <a:t>1</a:t>
            </a:r>
            <a:r>
              <a:rPr lang="es-ES" sz="1800" b="1" dirty="0">
                <a:latin typeface="Cambria"/>
                <a:ea typeface="Cambria"/>
                <a:cs typeface="Cambria"/>
                <a:sym typeface="Cambria"/>
              </a:rPr>
              <a:t>.1	OBJETIVO</a:t>
            </a:r>
            <a:endParaRPr b="1" dirty="0"/>
          </a:p>
          <a:p>
            <a:pPr marL="342900" marR="0" lvl="0" indent="-237744"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Desarrollar e implementar un Web </a:t>
            </a:r>
            <a:r>
              <a:rPr lang="es-ES" dirty="0" err="1">
                <a:latin typeface="Cambria"/>
                <a:ea typeface="Cambria"/>
                <a:cs typeface="Cambria"/>
                <a:sym typeface="Cambria"/>
              </a:rPr>
              <a:t>Service</a:t>
            </a:r>
            <a:r>
              <a:rPr lang="es-ES" dirty="0">
                <a:latin typeface="Cambria"/>
                <a:ea typeface="Cambria"/>
                <a:cs typeface="Cambria"/>
                <a:sym typeface="Cambria"/>
              </a:rPr>
              <a:t> utilizando SOAP mediante JAVA para realizar conversiones de unidades y 4 clientes: consola, escritorio, web y móvil</a:t>
            </a:r>
            <a:endParaRPr dirty="0">
              <a:latin typeface="Cambria"/>
              <a:ea typeface="Cambria"/>
              <a:cs typeface="Cambria"/>
              <a:sym typeface="Cambria"/>
            </a:endParaRPr>
          </a:p>
        </p:txBody>
      </p:sp>
      <p:sp>
        <p:nvSpPr>
          <p:cNvPr id="116" name="Google Shape;116;p1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OBJETIVO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CONSOLA</a:t>
            </a:r>
            <a:endParaRPr sz="1200" b="1" i="0" u="none" strike="noStrike" cap="none"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MÓVIL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22" name="Google Shape;122;p16"/>
          <p:cNvSpPr txBox="1">
            <a:spLocks noGrp="1"/>
          </p:cNvSpPr>
          <p:nvPr>
            <p:ph type="body" idx="1"/>
          </p:nvPr>
        </p:nvSpPr>
        <p:spPr>
          <a:xfrm>
            <a:off x="581192" y="2037887"/>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1.2.1 	Servidor Payara</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En primer lugar, en NetBeans 31, en la sección de Servicios se crea un servidor, específicamente Payara.</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23" name="Google Shape;123;p1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99B9A032-6EC0-388B-DD21-3A8CA9C69F34}"/>
              </a:ext>
            </a:extLst>
          </p:cNvPr>
          <p:cNvPicPr>
            <a:picLocks noChangeAspect="1"/>
          </p:cNvPicPr>
          <p:nvPr/>
        </p:nvPicPr>
        <p:blipFill>
          <a:blip r:embed="rId3"/>
          <a:stretch>
            <a:fillRect/>
          </a:stretch>
        </p:blipFill>
        <p:spPr>
          <a:xfrm>
            <a:off x="2581373" y="3429000"/>
            <a:ext cx="4890346" cy="32950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0" name="Google Shape;130;p17"/>
          <p:cNvSpPr txBox="1">
            <a:spLocks noGrp="1"/>
          </p:cNvSpPr>
          <p:nvPr>
            <p:ph type="body" idx="1"/>
          </p:nvPr>
        </p:nvSpPr>
        <p:spPr>
          <a:xfrm>
            <a:off x="581200" y="1781575"/>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Se selecciona la versión 7.2026.9, se aceptan los términos de condiciones y se selecciona un directorio donde instalar el servidor.</a:t>
            </a:r>
            <a:endParaRPr dirty="0">
              <a:latin typeface="Cambria"/>
              <a:ea typeface="Cambria"/>
              <a:cs typeface="Cambria"/>
              <a:sym typeface="Cambria"/>
            </a:endParaRPr>
          </a:p>
        </p:txBody>
      </p:sp>
      <p:sp>
        <p:nvSpPr>
          <p:cNvPr id="131" name="Google Shape;131;p1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2E2DD057-D086-593E-BBB4-4D719D68A423}"/>
              </a:ext>
            </a:extLst>
          </p:cNvPr>
          <p:cNvPicPr>
            <a:picLocks noChangeAspect="1"/>
          </p:cNvPicPr>
          <p:nvPr/>
        </p:nvPicPr>
        <p:blipFill>
          <a:blip r:embed="rId3"/>
          <a:stretch>
            <a:fillRect/>
          </a:stretch>
        </p:blipFill>
        <p:spPr>
          <a:xfrm>
            <a:off x="2269773" y="3173475"/>
            <a:ext cx="5050902" cy="3433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38" name="Google Shape;138;p18"/>
          <p:cNvSpPr txBox="1">
            <a:spLocks noGrp="1"/>
          </p:cNvSpPr>
          <p:nvPr>
            <p:ph type="body" idx="1"/>
          </p:nvPr>
        </p:nvSpPr>
        <p:spPr>
          <a:xfrm>
            <a:off x="581192" y="1793712"/>
            <a:ext cx="8589300" cy="1248600"/>
          </a:xfrm>
          <a:prstGeom prst="rect">
            <a:avLst/>
          </a:prstGeom>
          <a:noFill/>
          <a:ln>
            <a:noFill/>
          </a:ln>
        </p:spPr>
        <p:txBody>
          <a:bodyPr spcFirstLastPara="1" wrap="square" lIns="91425" tIns="45700" rIns="91425" bIns="45700" anchor="ctr" anchorCtr="0">
            <a:norm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Una vez configurado correctamente, se podrá observar en la sección </a:t>
            </a:r>
            <a:r>
              <a:rPr lang="es-ES" dirty="0" err="1">
                <a:latin typeface="Cambria"/>
                <a:ea typeface="Cambria"/>
                <a:cs typeface="Cambria"/>
                <a:sym typeface="Cambria"/>
              </a:rPr>
              <a:t>tools</a:t>
            </a:r>
            <a:r>
              <a:rPr lang="es-ES" dirty="0">
                <a:latin typeface="Cambria"/>
                <a:ea typeface="Cambria"/>
                <a:cs typeface="Cambria"/>
                <a:sym typeface="Cambria"/>
              </a:rPr>
              <a:t>/servers, si se decidió utilizar payara en un contenedor de Docker se puede colocar como remoto para usar payara</a:t>
            </a:r>
            <a:endParaRPr dirty="0">
              <a:latin typeface="Cambria"/>
              <a:ea typeface="Cambria"/>
              <a:cs typeface="Cambria"/>
              <a:sym typeface="Cambria"/>
            </a:endParaRPr>
          </a:p>
        </p:txBody>
      </p:sp>
      <p:sp>
        <p:nvSpPr>
          <p:cNvPr id="139" name="Google Shape;139;p1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67D28D41-CA09-2DFC-1F94-619845A0A94F}"/>
              </a:ext>
            </a:extLst>
          </p:cNvPr>
          <p:cNvPicPr>
            <a:picLocks noChangeAspect="1"/>
          </p:cNvPicPr>
          <p:nvPr/>
        </p:nvPicPr>
        <p:blipFill>
          <a:blip r:embed="rId3"/>
          <a:stretch>
            <a:fillRect/>
          </a:stretch>
        </p:blipFill>
        <p:spPr>
          <a:xfrm>
            <a:off x="2067876" y="3036815"/>
            <a:ext cx="5373948" cy="36992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46" name="Google Shape;146;p19"/>
          <p:cNvSpPr txBox="1">
            <a:spLocks noGrp="1"/>
          </p:cNvSpPr>
          <p:nvPr>
            <p:ph type="body" idx="1"/>
          </p:nvPr>
        </p:nvSpPr>
        <p:spPr>
          <a:xfrm>
            <a:off x="581192" y="194160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1.2.2 	Creación del Proyecto</a:t>
            </a:r>
            <a:endParaRPr b="1" dirty="0">
              <a:latin typeface="Cambria"/>
              <a:ea typeface="Cambria"/>
              <a:cs typeface="Cambria"/>
              <a:sym typeface="Cambria"/>
            </a:endParaRPr>
          </a:p>
          <a:p>
            <a:pPr marL="0" marR="0" lvl="0" indent="0" algn="just" rtl="0">
              <a:lnSpc>
                <a:spcPct val="107000"/>
              </a:lnSpc>
              <a:spcBef>
                <a:spcPts val="0"/>
              </a:spcBef>
              <a:spcAft>
                <a:spcPts val="0"/>
              </a:spcAft>
              <a:buSzPts val="1948"/>
              <a:buNone/>
            </a:pP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Una vez creado el servidor, se crea un proyecto Java, Web </a:t>
            </a:r>
            <a:r>
              <a:rPr lang="es-ES" dirty="0" err="1">
                <a:latin typeface="Cambria"/>
                <a:ea typeface="Cambria"/>
                <a:cs typeface="Cambria"/>
                <a:sym typeface="Cambria"/>
              </a:rPr>
              <a:t>Application</a:t>
            </a:r>
            <a:r>
              <a:rPr lang="es-ES" dirty="0">
                <a:latin typeface="Cambria"/>
                <a:ea typeface="Cambria"/>
                <a:cs typeface="Cambria"/>
                <a:sym typeface="Cambria"/>
              </a:rPr>
              <a:t> </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47" name="Google Shape;147;p1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DE87177D-CBC1-1478-CF53-CDB90CCC8862}"/>
              </a:ext>
            </a:extLst>
          </p:cNvPr>
          <p:cNvPicPr>
            <a:picLocks noChangeAspect="1"/>
          </p:cNvPicPr>
          <p:nvPr/>
        </p:nvPicPr>
        <p:blipFill>
          <a:blip r:embed="rId3"/>
          <a:stretch>
            <a:fillRect/>
          </a:stretch>
        </p:blipFill>
        <p:spPr>
          <a:xfrm>
            <a:off x="2606751" y="3346621"/>
            <a:ext cx="4751387" cy="32672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54" name="Google Shape;154;p20"/>
          <p:cNvSpPr txBox="1">
            <a:spLocks noGrp="1"/>
          </p:cNvSpPr>
          <p:nvPr>
            <p:ph type="body" idx="1"/>
          </p:nvPr>
        </p:nvSpPr>
        <p:spPr>
          <a:xfrm>
            <a:off x="463956" y="1966545"/>
            <a:ext cx="8744040" cy="1165731"/>
          </a:xfrm>
          <a:prstGeom prst="rect">
            <a:avLst/>
          </a:prstGeom>
          <a:noFill/>
          <a:ln>
            <a:noFill/>
          </a:ln>
        </p:spPr>
        <p:txBody>
          <a:bodyPr spcFirstLastPara="1" wrap="square" lIns="91425" tIns="45700" rIns="91425" bIns="45700" anchor="ctr" anchorCtr="0">
            <a:noAutofit/>
          </a:bodyPr>
          <a:lstStyle/>
          <a:p>
            <a:pPr marL="457200" lvl="0" indent="-333756" algn="just" rtl="0">
              <a:lnSpc>
                <a:spcPct val="107000"/>
              </a:lnSpc>
              <a:spcBef>
                <a:spcPts val="0"/>
              </a:spcBef>
              <a:spcAft>
                <a:spcPts val="0"/>
              </a:spcAft>
              <a:buSzPts val="1656"/>
              <a:buChar char="∙"/>
            </a:pPr>
            <a:r>
              <a:rPr lang="es-ES" dirty="0">
                <a:latin typeface="Cambria"/>
                <a:ea typeface="Cambria"/>
                <a:cs typeface="Cambria"/>
                <a:sym typeface="Cambria"/>
              </a:rPr>
              <a:t>Se aplica el nombre del proyecto como ‘WS_CON_UNI_JAVA_SOAP’, y se configura el grupo como ‘</a:t>
            </a:r>
            <a:r>
              <a:rPr lang="es-ES" u="sng" dirty="0" err="1">
                <a:solidFill>
                  <a:schemeClr val="hlink"/>
                </a:solidFill>
                <a:latin typeface="Cambria"/>
                <a:ea typeface="Cambria"/>
                <a:cs typeface="Cambria"/>
                <a:sym typeface="Cambria"/>
                <a:hlinkClick r:id="rId3"/>
              </a:rPr>
              <a:t>ec.edu</a:t>
            </a:r>
            <a:r>
              <a:rPr lang="es-ES" dirty="0" err="1">
                <a:latin typeface="Cambria"/>
                <a:ea typeface="Cambria"/>
                <a:cs typeface="Cambria"/>
                <a:sym typeface="Cambria"/>
              </a:rPr>
              <a:t>.monster</a:t>
            </a:r>
            <a:r>
              <a:rPr lang="es-ES" dirty="0">
                <a:latin typeface="Cambria"/>
                <a:ea typeface="Cambria"/>
                <a:cs typeface="Cambria"/>
                <a:sym typeface="Cambria"/>
              </a:rPr>
              <a:t>’</a:t>
            </a:r>
            <a:endParaRPr dirty="0">
              <a:latin typeface="Cambria"/>
              <a:ea typeface="Cambria"/>
              <a:cs typeface="Cambria"/>
              <a:sym typeface="Cambria"/>
            </a:endParaRPr>
          </a:p>
          <a:p>
            <a:pPr marL="457200" lvl="0" indent="-311150" algn="just" rtl="0">
              <a:lnSpc>
                <a:spcPct val="107000"/>
              </a:lnSpc>
              <a:spcBef>
                <a:spcPts val="0"/>
              </a:spcBef>
              <a:spcAft>
                <a:spcPts val="0"/>
              </a:spcAft>
              <a:buSzPts val="1300"/>
              <a:buFont typeface="Cambria"/>
              <a:buChar char="∙"/>
            </a:pPr>
            <a:r>
              <a:rPr lang="es-ES" dirty="0">
                <a:latin typeface="Cambria"/>
                <a:ea typeface="Cambria"/>
                <a:cs typeface="Cambria"/>
                <a:sym typeface="Cambria"/>
              </a:rPr>
              <a:t>Se selecciona nuestro Servidor Payara creado y </a:t>
            </a:r>
            <a:r>
              <a:rPr lang="es-ES" dirty="0" err="1">
                <a:latin typeface="Cambria"/>
                <a:ea typeface="Cambria"/>
                <a:cs typeface="Cambria"/>
                <a:sym typeface="Cambria"/>
              </a:rPr>
              <a:t>Jakarta</a:t>
            </a:r>
            <a:r>
              <a:rPr lang="es-ES" dirty="0">
                <a:latin typeface="Cambria"/>
                <a:ea typeface="Cambria"/>
                <a:cs typeface="Cambria"/>
                <a:sym typeface="Cambria"/>
              </a:rPr>
              <a:t> EE 11 como conjunto de desarrollo de aplicaciones Java.</a:t>
            </a:r>
            <a:endParaRPr dirty="0">
              <a:latin typeface="Cambria"/>
              <a:ea typeface="Cambria"/>
              <a:cs typeface="Cambria"/>
              <a:sym typeface="Cambria"/>
            </a:endParaRPr>
          </a:p>
        </p:txBody>
      </p:sp>
      <p:sp>
        <p:nvSpPr>
          <p:cNvPr id="155" name="Google Shape;155;p2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F96D408B-E38A-11FD-402B-0C1A9AC8FB3F}"/>
              </a:ext>
            </a:extLst>
          </p:cNvPr>
          <p:cNvPicPr>
            <a:picLocks noChangeAspect="1"/>
          </p:cNvPicPr>
          <p:nvPr/>
        </p:nvPicPr>
        <p:blipFill>
          <a:blip r:embed="rId4"/>
          <a:stretch>
            <a:fillRect/>
          </a:stretch>
        </p:blipFill>
        <p:spPr>
          <a:xfrm>
            <a:off x="463956" y="3382966"/>
            <a:ext cx="4316766" cy="2564753"/>
          </a:xfrm>
          <a:prstGeom prst="rect">
            <a:avLst/>
          </a:prstGeom>
        </p:spPr>
      </p:pic>
      <p:pic>
        <p:nvPicPr>
          <p:cNvPr id="5" name="Picture 4">
            <a:extLst>
              <a:ext uri="{FF2B5EF4-FFF2-40B4-BE49-F238E27FC236}">
                <a16:creationId xmlns:a16="http://schemas.microsoft.com/office/drawing/2014/main" id="{14FE4D6D-52C3-8FF9-9629-3421AF39A6D5}"/>
              </a:ext>
            </a:extLst>
          </p:cNvPr>
          <p:cNvPicPr>
            <a:picLocks noChangeAspect="1"/>
          </p:cNvPicPr>
          <p:nvPr/>
        </p:nvPicPr>
        <p:blipFill>
          <a:blip r:embed="rId5"/>
          <a:stretch>
            <a:fillRect/>
          </a:stretch>
        </p:blipFill>
        <p:spPr>
          <a:xfrm>
            <a:off x="5023352" y="3234649"/>
            <a:ext cx="4147140" cy="28613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63" name="Google Shape;163;p21"/>
          <p:cNvSpPr txBox="1">
            <a:spLocks noGrp="1"/>
          </p:cNvSpPr>
          <p:nvPr>
            <p:ph type="body" idx="1"/>
          </p:nvPr>
        </p:nvSpPr>
        <p:spPr>
          <a:xfrm>
            <a:off x="317589" y="2143663"/>
            <a:ext cx="4557900" cy="38700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677"/>
              <a:buChar char="∙"/>
            </a:pPr>
            <a:r>
              <a:rPr lang="es-ES" b="1" dirty="0">
                <a:latin typeface="Cambria"/>
                <a:ea typeface="Cambria"/>
                <a:cs typeface="Cambria"/>
                <a:sym typeface="Cambria"/>
              </a:rPr>
              <a:t>ESTRUCTURA MVC</a:t>
            </a:r>
            <a:endParaRPr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b="1" dirty="0">
              <a:latin typeface="Cambria"/>
              <a:ea typeface="Cambria"/>
              <a:cs typeface="Cambria"/>
              <a:sym typeface="Cambria"/>
            </a:endParaRPr>
          </a:p>
          <a:p>
            <a:pPr marL="457200" lvl="0" indent="-335090" algn="just" rtl="0">
              <a:lnSpc>
                <a:spcPct val="107000"/>
              </a:lnSpc>
              <a:spcBef>
                <a:spcPts val="0"/>
              </a:spcBef>
              <a:spcAft>
                <a:spcPts val="0"/>
              </a:spcAft>
              <a:buSzPts val="1677"/>
              <a:buFont typeface="Cambria"/>
              <a:buChar char="∙"/>
            </a:pPr>
            <a:r>
              <a:rPr lang="es-ES" dirty="0">
                <a:latin typeface="Cambria"/>
                <a:ea typeface="Cambria"/>
                <a:cs typeface="Cambria"/>
                <a:sym typeface="Cambria"/>
              </a:rPr>
              <a:t>Aplicando un patrón arquitectónico MVC junto a otras capas se configuran los paquetes principales.</a:t>
            </a:r>
            <a:endParaRPr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164" name="Google Shape;164;p2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D81B5D77-3930-2FE3-C316-64192DD0C0AB}"/>
              </a:ext>
            </a:extLst>
          </p:cNvPr>
          <p:cNvPicPr>
            <a:picLocks noChangeAspect="1"/>
          </p:cNvPicPr>
          <p:nvPr/>
        </p:nvPicPr>
        <p:blipFill>
          <a:blip r:embed="rId3"/>
          <a:stretch>
            <a:fillRect/>
          </a:stretch>
        </p:blipFill>
        <p:spPr>
          <a:xfrm>
            <a:off x="5139100" y="2800864"/>
            <a:ext cx="4084711" cy="25555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71" name="Google Shape;171;p22"/>
          <p:cNvSpPr txBox="1">
            <a:spLocks noGrp="1"/>
          </p:cNvSpPr>
          <p:nvPr>
            <p:ph type="body" idx="1"/>
          </p:nvPr>
        </p:nvSpPr>
        <p:spPr>
          <a:xfrm>
            <a:off x="573339" y="2056933"/>
            <a:ext cx="8589300"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b="1" dirty="0">
                <a:latin typeface="Cambria"/>
                <a:ea typeface="Cambria"/>
                <a:cs typeface="Cambria"/>
                <a:sym typeface="Cambria"/>
              </a:rPr>
              <a:t>1.2.3 	Creación del </a:t>
            </a:r>
            <a:r>
              <a:rPr lang="es-ES" b="1" dirty="0" err="1">
                <a:latin typeface="Cambria"/>
                <a:ea typeface="Cambria"/>
                <a:cs typeface="Cambria"/>
                <a:sym typeface="Cambria"/>
              </a:rPr>
              <a:t>WebService</a:t>
            </a: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Noto Sans Symbols"/>
              <a:buChar char="∙"/>
            </a:pPr>
            <a:r>
              <a:rPr lang="es-ES" dirty="0">
                <a:latin typeface="Cambria"/>
                <a:ea typeface="Cambria"/>
                <a:cs typeface="Cambria"/>
                <a:sym typeface="Cambria"/>
              </a:rPr>
              <a:t>Dentro del paquete controladores.ws se crea un </a:t>
            </a:r>
            <a:r>
              <a:rPr lang="es-ES" dirty="0" err="1">
                <a:latin typeface="Cambria"/>
                <a:ea typeface="Cambria"/>
                <a:cs typeface="Cambria"/>
                <a:sym typeface="Cambria"/>
              </a:rPr>
              <a:t>webservice</a:t>
            </a:r>
            <a:r>
              <a:rPr lang="es-ES" dirty="0">
                <a:latin typeface="Cambria"/>
                <a:ea typeface="Cambria"/>
                <a:cs typeface="Cambria"/>
                <a:sym typeface="Cambria"/>
              </a:rPr>
              <a:t>.</a:t>
            </a:r>
            <a:endParaRPr dirty="0">
              <a:latin typeface="Cambria"/>
              <a:ea typeface="Cambria"/>
              <a:cs typeface="Cambria"/>
              <a:sym typeface="Cambria"/>
            </a:endParaRPr>
          </a:p>
          <a:p>
            <a:pPr marL="342900" marR="0" lvl="0" indent="-342900" algn="just" rtl="0">
              <a:lnSpc>
                <a:spcPct val="107000"/>
              </a:lnSpc>
              <a:spcBef>
                <a:spcPts val="0"/>
              </a:spcBef>
              <a:spcAft>
                <a:spcPts val="0"/>
              </a:spcAft>
              <a:buSzPts val="1656"/>
              <a:buFont typeface="Cambria"/>
              <a:buChar char="∙"/>
            </a:pPr>
            <a:r>
              <a:rPr lang="es-ES" dirty="0">
                <a:latin typeface="Cambria"/>
                <a:ea typeface="Cambria"/>
                <a:cs typeface="Cambria"/>
                <a:sym typeface="Cambria"/>
              </a:rPr>
              <a:t>Se configura el web </a:t>
            </a:r>
            <a:r>
              <a:rPr lang="es-ES" dirty="0" err="1">
                <a:latin typeface="Cambria"/>
                <a:ea typeface="Cambria"/>
                <a:cs typeface="Cambria"/>
                <a:sym typeface="Cambria"/>
              </a:rPr>
              <a:t>service</a:t>
            </a:r>
            <a:r>
              <a:rPr lang="es-ES" dirty="0">
                <a:latin typeface="Cambria"/>
                <a:ea typeface="Cambria"/>
                <a:cs typeface="Cambria"/>
                <a:sym typeface="Cambria"/>
              </a:rPr>
              <a:t> con su nombre </a:t>
            </a:r>
            <a:r>
              <a:rPr lang="es-ES" dirty="0" err="1">
                <a:latin typeface="Cambria"/>
                <a:ea typeface="Cambria"/>
                <a:cs typeface="Cambria"/>
                <a:sym typeface="Cambria"/>
              </a:rPr>
              <a:t>WSConversorUnidades</a:t>
            </a:r>
            <a:r>
              <a:rPr lang="es-ES" dirty="0">
                <a:latin typeface="Cambria"/>
                <a:ea typeface="Cambria"/>
                <a:cs typeface="Cambria"/>
                <a:sym typeface="Cambria"/>
              </a:rPr>
              <a:t>.</a:t>
            </a:r>
            <a:endParaRPr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dirty="0">
              <a:latin typeface="Cambria"/>
              <a:ea typeface="Cambria"/>
              <a:cs typeface="Cambria"/>
              <a:sym typeface="Cambria"/>
            </a:endParaRPr>
          </a:p>
        </p:txBody>
      </p:sp>
      <p:sp>
        <p:nvSpPr>
          <p:cNvPr id="172" name="Google Shape;172;p2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5" name="Picture 4">
            <a:extLst>
              <a:ext uri="{FF2B5EF4-FFF2-40B4-BE49-F238E27FC236}">
                <a16:creationId xmlns:a16="http://schemas.microsoft.com/office/drawing/2014/main" id="{692DCF75-2B31-34CA-E7AD-0D740454B210}"/>
              </a:ext>
            </a:extLst>
          </p:cNvPr>
          <p:cNvPicPr>
            <a:picLocks noChangeAspect="1"/>
          </p:cNvPicPr>
          <p:nvPr/>
        </p:nvPicPr>
        <p:blipFill>
          <a:blip r:embed="rId3"/>
          <a:stretch>
            <a:fillRect/>
          </a:stretch>
        </p:blipFill>
        <p:spPr>
          <a:xfrm>
            <a:off x="791181" y="3803703"/>
            <a:ext cx="4076808" cy="2612485"/>
          </a:xfrm>
          <a:prstGeom prst="rect">
            <a:avLst/>
          </a:prstGeom>
        </p:spPr>
      </p:pic>
      <p:pic>
        <p:nvPicPr>
          <p:cNvPr id="7" name="Picture 6">
            <a:extLst>
              <a:ext uri="{FF2B5EF4-FFF2-40B4-BE49-F238E27FC236}">
                <a16:creationId xmlns:a16="http://schemas.microsoft.com/office/drawing/2014/main" id="{F2E0D1F1-8229-1181-0B42-1235C17892DF}"/>
              </a:ext>
            </a:extLst>
          </p:cNvPr>
          <p:cNvPicPr>
            <a:picLocks noChangeAspect="1"/>
          </p:cNvPicPr>
          <p:nvPr/>
        </p:nvPicPr>
        <p:blipFill>
          <a:blip r:embed="rId4"/>
          <a:stretch>
            <a:fillRect/>
          </a:stretch>
        </p:blipFill>
        <p:spPr>
          <a:xfrm>
            <a:off x="5197906" y="3814000"/>
            <a:ext cx="3642676" cy="26138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0" name="Google Shape;180;p23"/>
          <p:cNvSpPr txBox="1">
            <a:spLocks noGrp="1"/>
          </p:cNvSpPr>
          <p:nvPr>
            <p:ph type="body" idx="1"/>
          </p:nvPr>
        </p:nvSpPr>
        <p:spPr>
          <a:xfrm>
            <a:off x="581199" y="2180500"/>
            <a:ext cx="2821028" cy="2961645"/>
          </a:xfrm>
          <a:prstGeom prst="rect">
            <a:avLst/>
          </a:prstGeom>
          <a:noFill/>
          <a:ln>
            <a:noFill/>
          </a:ln>
        </p:spPr>
        <p:txBody>
          <a:bodyPr spcFirstLastPara="1" wrap="square" lIns="91425" tIns="45700" rIns="91425" bIns="45700" anchor="ctr" anchorCtr="0">
            <a:noAutofit/>
          </a:bodyPr>
          <a:lstStyle/>
          <a:p>
            <a:pPr marL="457200" lvl="0" indent="-335090" rtl="0">
              <a:lnSpc>
                <a:spcPct val="107000"/>
              </a:lnSpc>
              <a:spcBef>
                <a:spcPts val="0"/>
              </a:spcBef>
              <a:spcAft>
                <a:spcPts val="0"/>
              </a:spcAft>
              <a:buSzPts val="1677"/>
              <a:buFont typeface="Cambria"/>
              <a:buChar char="∙"/>
            </a:pPr>
            <a:r>
              <a:rPr lang="es-ES" sz="1400" b="1" dirty="0">
                <a:latin typeface="Cambria"/>
                <a:ea typeface="Cambria"/>
                <a:cs typeface="Cambria"/>
                <a:sym typeface="Cambria"/>
              </a:rPr>
              <a:t>Se codifica el </a:t>
            </a:r>
            <a:r>
              <a:rPr lang="es-ES" sz="1400" b="1" dirty="0" err="1">
                <a:latin typeface="Cambria"/>
                <a:ea typeface="Cambria"/>
                <a:cs typeface="Cambria"/>
                <a:sym typeface="Cambria"/>
              </a:rPr>
              <a:t>webservice</a:t>
            </a:r>
            <a:r>
              <a:rPr lang="es-ES" sz="1400" b="1" dirty="0">
                <a:latin typeface="Cambria"/>
                <a:ea typeface="Cambria"/>
                <a:cs typeface="Cambria"/>
                <a:sym typeface="Cambria"/>
              </a:rPr>
              <a:t> bajo los siguientes lineamientos</a:t>
            </a:r>
            <a:endParaRPr sz="1400" b="1" dirty="0">
              <a:latin typeface="Cambria"/>
              <a:ea typeface="Cambria"/>
              <a:cs typeface="Cambria"/>
              <a:sym typeface="Cambria"/>
            </a:endParaRPr>
          </a:p>
          <a:p>
            <a:pPr marL="457200" lvl="0" indent="0" rtl="0">
              <a:lnSpc>
                <a:spcPct val="107000"/>
              </a:lnSpc>
              <a:spcBef>
                <a:spcPts val="0"/>
              </a:spcBef>
              <a:spcAft>
                <a:spcPts val="0"/>
              </a:spcAft>
              <a:buNone/>
            </a:pPr>
            <a:endParaRPr sz="1400" b="1"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1.	Se dejan preparadas las siguientes importaciones que se encargarán de gestionar toda la lógica.</a:t>
            </a:r>
            <a:endParaRPr sz="1400" dirty="0">
              <a:latin typeface="Cambria"/>
              <a:ea typeface="Cambria"/>
              <a:cs typeface="Cambria"/>
              <a:sym typeface="Cambria"/>
            </a:endParaRPr>
          </a:p>
        </p:txBody>
      </p:sp>
      <p:sp>
        <p:nvSpPr>
          <p:cNvPr id="181" name="Google Shape;181;p2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82" name="Google Shape;182;p23"/>
          <p:cNvGraphicFramePr/>
          <p:nvPr>
            <p:extLst>
              <p:ext uri="{D42A27DB-BD31-4B8C-83A1-F6EECF244321}">
                <p14:modId xmlns:p14="http://schemas.microsoft.com/office/powerpoint/2010/main" val="3824242447"/>
              </p:ext>
            </p:extLst>
          </p:nvPr>
        </p:nvGraphicFramePr>
        <p:xfrm>
          <a:off x="3483473" y="2180500"/>
          <a:ext cx="5400050" cy="39827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ec.edu.monster.controladores.ws;</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ec.edu.monster.modelos.utilidades.ConversorLongitud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ec.edu.monster.modelos.utilidades.ConversorMasa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ec.edu.monster.modelos.utilidades.ConversorTemperatura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ec.edu.monster.modelos.utilidades.enums.UnidadLongitud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ec.edu.monster.modelos.utilidades.enums.UnidadMasa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ec.edu.monster.modelos.utilidades.enums.UnidadTemperatura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ec.edu.monster.modelos.utilidades.mapeadores.UnidadMapper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ec.edu.monster.seguridad.AdministradorCredenciales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ec.edu.monster.seguridad.AdministradorTokens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ec.edu.monster.servicios.ServicioConversor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jakarta.enterprise.inject.spi.CDI</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jakarta.jws.WebService</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jakarta.jws.WebMethod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jakarta.jws.WebParam</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jakarta.jws.HandlerChain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jakarta.xml.soap.SOAPConstants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jakarta.xml.soap.SOAPException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jakarta.xml.soap.SOAPFactory</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jakarta.xml.soap.SOAPFault</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jakarta.xml.ws.soap.SOAPFaultException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javax.xml.namespace.QName</a:t>
                      </a:r>
                      <a:r>
                        <a:rPr lang="es-ES" sz="11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88" name="Google Shape;188;p24"/>
          <p:cNvSpPr txBox="1">
            <a:spLocks noGrp="1"/>
          </p:cNvSpPr>
          <p:nvPr>
            <p:ph type="body" idx="1"/>
          </p:nvPr>
        </p:nvSpPr>
        <p:spPr>
          <a:xfrm>
            <a:off x="440100" y="2299082"/>
            <a:ext cx="3120251" cy="1987846"/>
          </a:xfrm>
          <a:prstGeom prst="rect">
            <a:avLst/>
          </a:prstGeom>
          <a:noFill/>
          <a:ln>
            <a:noFill/>
          </a:ln>
        </p:spPr>
        <p:txBody>
          <a:bodyPr spcFirstLastPara="1" wrap="square" lIns="91425" tIns="45700" rIns="91425" bIns="45700" anchor="ctr" anchorCtr="0">
            <a:normAutofit/>
          </a:bodyPr>
          <a:lstStyle/>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2.	Se configura el </a:t>
            </a:r>
            <a:r>
              <a:rPr lang="es-ES" sz="1400" dirty="0" err="1">
                <a:latin typeface="Cambria"/>
                <a:ea typeface="Cambria"/>
                <a:cs typeface="Cambria"/>
                <a:sym typeface="Cambria"/>
              </a:rPr>
              <a:t>endpoint</a:t>
            </a:r>
            <a:r>
              <a:rPr lang="es-ES" sz="1400" dirty="0">
                <a:latin typeface="Cambria"/>
                <a:ea typeface="Cambria"/>
                <a:cs typeface="Cambria"/>
                <a:sym typeface="Cambria"/>
              </a:rPr>
              <a:t> de nuestro servicio web.</a:t>
            </a:r>
            <a:endParaRPr sz="1400" dirty="0">
              <a:latin typeface="Cambria"/>
              <a:ea typeface="Cambria"/>
              <a:cs typeface="Cambria"/>
              <a:sym typeface="Cambria"/>
            </a:endParaRPr>
          </a:p>
          <a:p>
            <a:pPr marL="457200" lvl="0" indent="-335090" rtl="0">
              <a:lnSpc>
                <a:spcPct val="107000"/>
              </a:lnSpc>
              <a:spcBef>
                <a:spcPts val="0"/>
              </a:spcBef>
              <a:spcAft>
                <a:spcPts val="0"/>
              </a:spcAft>
              <a:buSzPts val="1677"/>
              <a:buFont typeface="Cambria"/>
              <a:buChar char="∙"/>
            </a:pPr>
            <a:r>
              <a:rPr lang="es-ES" sz="1400" dirty="0">
                <a:latin typeface="Cambria"/>
                <a:ea typeface="Cambria"/>
                <a:cs typeface="Cambria"/>
                <a:sym typeface="Cambria"/>
              </a:rPr>
              <a:t>3.	Se crean los atributos respectivos.</a:t>
            </a:r>
            <a:endParaRPr sz="1400" b="1" dirty="0">
              <a:latin typeface="Cambria"/>
              <a:ea typeface="Cambria"/>
              <a:cs typeface="Cambria"/>
              <a:sym typeface="Cambria"/>
            </a:endParaRPr>
          </a:p>
        </p:txBody>
      </p:sp>
      <p:sp>
        <p:nvSpPr>
          <p:cNvPr id="189" name="Google Shape;189;p2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0" name="Google Shape;190;p24"/>
          <p:cNvGraphicFramePr/>
          <p:nvPr>
            <p:extLst>
              <p:ext uri="{D42A27DB-BD31-4B8C-83A1-F6EECF244321}">
                <p14:modId xmlns:p14="http://schemas.microsoft.com/office/powerpoint/2010/main" val="3579608430"/>
              </p:ext>
            </p:extLst>
          </p:nvPr>
        </p:nvGraphicFramePr>
        <p:xfrm>
          <a:off x="3701450" y="2180500"/>
          <a:ext cx="5400050" cy="6299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@WebService(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serviceName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WSConversorUnidades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targetNamespace</a:t>
                      </a:r>
                      <a:r>
                        <a:rPr lang="es-ES" sz="1100" dirty="0">
                          <a:solidFill>
                            <a:srgbClr val="4F81BD"/>
                          </a:solidFill>
                          <a:latin typeface="Calibri"/>
                          <a:ea typeface="Calibri"/>
                          <a:cs typeface="Calibri"/>
                          <a:sym typeface="Calibri"/>
                        </a:rPr>
                        <a:t> = "http://ws.monster.edu.ec/")</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191" name="Google Shape;191;p24"/>
          <p:cNvGraphicFramePr/>
          <p:nvPr>
            <p:extLst>
              <p:ext uri="{D42A27DB-BD31-4B8C-83A1-F6EECF244321}">
                <p14:modId xmlns:p14="http://schemas.microsoft.com/office/powerpoint/2010/main" val="3686906264"/>
              </p:ext>
            </p:extLst>
          </p:nvPr>
        </p:nvGraphicFramePr>
        <p:xfrm>
          <a:off x="3701450" y="3375275"/>
          <a:ext cx="5400050" cy="1468120"/>
        </p:xfrm>
        <a:graphic>
          <a:graphicData uri="http://schemas.openxmlformats.org/drawingml/2006/table">
            <a:tbl>
              <a:tblPr>
                <a:noFill/>
                <a:tableStyleId>{BF136021-7255-42B7-A7E7-87A8D8FFE9CA}</a:tableStyleId>
              </a:tblPr>
              <a:tblGrid>
                <a:gridCol w="54000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UnidadLongitud</a:t>
                      </a:r>
                      <a:r>
                        <a:rPr lang="es-ES" sz="1100" dirty="0">
                          <a:solidFill>
                            <a:srgbClr val="4F81BD"/>
                          </a:solidFill>
                          <a:latin typeface="Calibri"/>
                          <a:ea typeface="Calibri"/>
                          <a:cs typeface="Calibri"/>
                          <a:sym typeface="Calibri"/>
                        </a:rPr>
                        <a:t>&gt; </a:t>
                      </a:r>
                      <a:r>
                        <a:rPr lang="es-ES" sz="1100" dirty="0" err="1">
                          <a:solidFill>
                            <a:srgbClr val="4F81BD"/>
                          </a:solidFill>
                          <a:latin typeface="Calibri"/>
                          <a:ea typeface="Calibri"/>
                          <a:cs typeface="Calibri"/>
                          <a:sym typeface="Calibri"/>
                        </a:rPr>
                        <a:t>servicioLongitud</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&lt;&gt;(new </a:t>
                      </a:r>
                      <a:r>
                        <a:rPr lang="es-ES" sz="1100" dirty="0" err="1">
                          <a:solidFill>
                            <a:srgbClr val="4F81BD"/>
                          </a:solidFill>
                          <a:latin typeface="Calibri"/>
                          <a:ea typeface="Calibri"/>
                          <a:cs typeface="Calibri"/>
                          <a:sym typeface="Calibri"/>
                        </a:rPr>
                        <a:t>ConversorLongitud</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UnidadMasa</a:t>
                      </a:r>
                      <a:r>
                        <a:rPr lang="es-ES" sz="1100" dirty="0">
                          <a:solidFill>
                            <a:srgbClr val="4F81BD"/>
                          </a:solidFill>
                          <a:latin typeface="Calibri"/>
                          <a:ea typeface="Calibri"/>
                          <a:cs typeface="Calibri"/>
                          <a:sym typeface="Calibri"/>
                        </a:rPr>
                        <a:t>&gt; </a:t>
                      </a:r>
                      <a:r>
                        <a:rPr lang="es-ES" sz="1100" dirty="0" err="1">
                          <a:solidFill>
                            <a:srgbClr val="4F81BD"/>
                          </a:solidFill>
                          <a:latin typeface="Calibri"/>
                          <a:ea typeface="Calibri"/>
                          <a:cs typeface="Calibri"/>
                          <a:sym typeface="Calibri"/>
                        </a:rPr>
                        <a:t>servicioMasa</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&lt;&gt;(new </a:t>
                      </a:r>
                      <a:r>
                        <a:rPr lang="es-ES" sz="1100" dirty="0" err="1">
                          <a:solidFill>
                            <a:srgbClr val="4F81BD"/>
                          </a:solidFill>
                          <a:latin typeface="Calibri"/>
                          <a:ea typeface="Calibri"/>
                          <a:cs typeface="Calibri"/>
                          <a:sym typeface="Calibri"/>
                        </a:rPr>
                        <a:t>ConversorMasa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a:t>
                      </a:r>
                      <a:r>
                        <a:rPr lang="es-ES" sz="1100" dirty="0" err="1">
                          <a:solidFill>
                            <a:srgbClr val="4F81BD"/>
                          </a:solidFill>
                          <a:latin typeface="Calibri"/>
                          <a:ea typeface="Calibri"/>
                          <a:cs typeface="Calibri"/>
                          <a:sym typeface="Calibri"/>
                        </a:rPr>
                        <a:t>UnidadTemperatura</a:t>
                      </a:r>
                      <a:r>
                        <a:rPr lang="es-ES" sz="1100" dirty="0">
                          <a:solidFill>
                            <a:srgbClr val="4F81BD"/>
                          </a:solidFill>
                          <a:latin typeface="Calibri"/>
                          <a:ea typeface="Calibri"/>
                          <a:cs typeface="Calibri"/>
                          <a:sym typeface="Calibri"/>
                        </a:rPr>
                        <a:t>&gt; </a:t>
                      </a:r>
                      <a:r>
                        <a:rPr lang="es-ES" sz="1100" dirty="0" err="1">
                          <a:solidFill>
                            <a:srgbClr val="4F81BD"/>
                          </a:solidFill>
                          <a:latin typeface="Calibri"/>
                          <a:ea typeface="Calibri"/>
                          <a:cs typeface="Calibri"/>
                          <a:sym typeface="Calibri"/>
                        </a:rPr>
                        <a:t>servicioTemperatura</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ServicioConversor</a:t>
                      </a:r>
                      <a:r>
                        <a:rPr lang="es-ES" sz="1100" dirty="0">
                          <a:solidFill>
                            <a:srgbClr val="4F81BD"/>
                          </a:solidFill>
                          <a:latin typeface="Calibri"/>
                          <a:ea typeface="Calibri"/>
                          <a:cs typeface="Calibri"/>
                          <a:sym typeface="Calibri"/>
                        </a:rPr>
                        <a:t>&lt;&gt;(new </a:t>
                      </a:r>
                      <a:r>
                        <a:rPr lang="es-ES" sz="1100" dirty="0" err="1">
                          <a:solidFill>
                            <a:srgbClr val="4F81BD"/>
                          </a:solidFill>
                          <a:latin typeface="Calibri"/>
                          <a:ea typeface="Calibri"/>
                          <a:cs typeface="Calibri"/>
                          <a:sym typeface="Calibri"/>
                        </a:rPr>
                        <a:t>ConversorTemperatura</a:t>
                      </a: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197" name="Google Shape;197;p25"/>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400" dirty="0">
                <a:latin typeface="Cambria"/>
                <a:ea typeface="Cambria"/>
                <a:cs typeface="Cambria"/>
                <a:sym typeface="Cambria"/>
              </a:rPr>
              <a:t>4. Se crean los métodos respectivos, incluyendo el de autenticación y el de cambiar contraseña.</a:t>
            </a:r>
            <a:endParaRPr sz="1400" b="1" dirty="0">
              <a:latin typeface="Cambria"/>
              <a:ea typeface="Cambria"/>
              <a:cs typeface="Cambria"/>
              <a:sym typeface="Cambria"/>
            </a:endParaRPr>
          </a:p>
          <a:p>
            <a:pPr marL="0" lvl="0" indent="0" algn="just" rtl="0">
              <a:lnSpc>
                <a:spcPct val="107000"/>
              </a:lnSpc>
              <a:spcBef>
                <a:spcPts val="0"/>
              </a:spcBef>
              <a:spcAft>
                <a:spcPts val="0"/>
              </a:spcAft>
              <a:buSzPts val="1656"/>
              <a:buNone/>
            </a:pPr>
            <a:endParaRPr sz="1400"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4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400" dirty="0">
              <a:latin typeface="Cambria"/>
              <a:ea typeface="Cambria"/>
              <a:cs typeface="Cambria"/>
              <a:sym typeface="Cambria"/>
            </a:endParaRPr>
          </a:p>
        </p:txBody>
      </p:sp>
      <p:sp>
        <p:nvSpPr>
          <p:cNvPr id="198" name="Google Shape;198;p2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199" name="Google Shape;199;p25"/>
          <p:cNvGraphicFramePr/>
          <p:nvPr>
            <p:extLst>
              <p:ext uri="{D42A27DB-BD31-4B8C-83A1-F6EECF244321}">
                <p14:modId xmlns:p14="http://schemas.microsoft.com/office/powerpoint/2010/main" val="2723420181"/>
              </p:ext>
            </p:extLst>
          </p:nvPr>
        </p:nvGraphicFramePr>
        <p:xfrm>
          <a:off x="3359983" y="1854200"/>
          <a:ext cx="5647030" cy="5003800"/>
        </p:xfrm>
        <a:graphic>
          <a:graphicData uri="http://schemas.openxmlformats.org/drawingml/2006/table">
            <a:tbl>
              <a:tblPr>
                <a:noFill/>
                <a:tableStyleId>{BF136021-7255-42B7-A7E7-87A8D8FFE9CA}</a:tableStyleId>
              </a:tblPr>
              <a:tblGrid>
                <a:gridCol w="5647030">
                  <a:extLst>
                    <a:ext uri="{9D8B030D-6E8A-4147-A177-3AD203B41FA5}">
                      <a16:colId xmlns:a16="http://schemas.microsoft.com/office/drawing/2014/main" val="20000"/>
                    </a:ext>
                  </a:extLst>
                </a:gridCol>
              </a:tblGrid>
              <a:tr h="49291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@WebMethod(operationName = "</a:t>
                      </a:r>
                      <a:r>
                        <a:rPr lang="es-ES" sz="1000" dirty="0" err="1">
                          <a:solidFill>
                            <a:srgbClr val="4F81BD"/>
                          </a:solidFill>
                          <a:latin typeface="Calibri"/>
                          <a:ea typeface="Calibri"/>
                          <a:cs typeface="Calibri"/>
                          <a:sym typeface="Calibri"/>
                        </a:rPr>
                        <a:t>login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login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"usuario")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usuario,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AdministradorTokens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administradorTokens</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CDI.current</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select</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AdministradorTokens.class</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get</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AdministradorCredenciales.validarCredenciales</a:t>
                      </a:r>
                      <a:r>
                        <a:rPr lang="es-ES" sz="1000" dirty="0">
                          <a:solidFill>
                            <a:srgbClr val="4F81BD"/>
                          </a:solidFill>
                          <a:latin typeface="Calibri"/>
                          <a:ea typeface="Calibri"/>
                          <a:cs typeface="Calibri"/>
                          <a:sym typeface="Calibri"/>
                        </a:rPr>
                        <a:t>(usuario,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administradorTokens.generarToken</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SOAPFault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fault</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SOAPFactory.newInstance</a:t>
                      </a:r>
                      <a:r>
                        <a:rPr lang="es-ES" sz="1000" dirty="0">
                          <a:solidFill>
                            <a:srgbClr val="4F81BD"/>
                          </a:solidFill>
                          <a:latin typeface="Calibri"/>
                          <a:ea typeface="Calibri"/>
                          <a:cs typeface="Calibri"/>
                          <a:sym typeface="Calibri"/>
                        </a:rPr>
                        <a:t>(SOAPConstants.SOAP_1_1_PROTOCOL).</a:t>
                      </a:r>
                      <a:r>
                        <a:rPr lang="es-ES" sz="1000" dirty="0" err="1">
                          <a:solidFill>
                            <a:srgbClr val="4F81BD"/>
                          </a:solidFill>
                          <a:latin typeface="Calibri"/>
                          <a:ea typeface="Calibri"/>
                          <a:cs typeface="Calibri"/>
                          <a:sym typeface="Calibri"/>
                        </a:rPr>
                        <a:t>createFault</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fault.setFaultCode</a:t>
                      </a:r>
                      <a:r>
                        <a:rPr lang="es-ES" sz="1000" dirty="0">
                          <a:solidFill>
                            <a:srgbClr val="4F81BD"/>
                          </a:solidFill>
                          <a:latin typeface="Calibri"/>
                          <a:ea typeface="Calibri"/>
                          <a:cs typeface="Calibri"/>
                          <a:sym typeface="Calibri"/>
                        </a:rPr>
                        <a:t>(new </a:t>
                      </a:r>
                      <a:r>
                        <a:rPr lang="es-ES" sz="1000" dirty="0" err="1">
                          <a:solidFill>
                            <a:srgbClr val="4F81BD"/>
                          </a:solidFill>
                          <a:latin typeface="Calibri"/>
                          <a:ea typeface="Calibri"/>
                          <a:cs typeface="Calibri"/>
                          <a:sym typeface="Calibri"/>
                        </a:rPr>
                        <a:t>QName</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SOAPConstants.URI_NS_SOAP_ENVELOPE</a:t>
                      </a:r>
                      <a:r>
                        <a:rPr lang="es-ES" sz="1000" dirty="0">
                          <a:solidFill>
                            <a:srgbClr val="4F81BD"/>
                          </a:solidFill>
                          <a:latin typeface="Calibri"/>
                          <a:ea typeface="Calibri"/>
                          <a:cs typeface="Calibri"/>
                          <a:sym typeface="Calibri"/>
                        </a:rPr>
                        <a:t>, "Client"));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fault.setFaultString</a:t>
                      </a:r>
                      <a:r>
                        <a:rPr lang="es-ES" sz="1000" dirty="0">
                          <a:solidFill>
                            <a:srgbClr val="4F81BD"/>
                          </a:solidFill>
                          <a:latin typeface="Calibri"/>
                          <a:ea typeface="Calibri"/>
                          <a:cs typeface="Calibri"/>
                          <a:sym typeface="Calibri"/>
                        </a:rPr>
                        <a:t>("Usuario o contraseña incorrectos");</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SOAPFaultException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fault</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SOAPException</a:t>
                      </a:r>
                      <a:r>
                        <a:rPr lang="es-ES" sz="1000" dirty="0">
                          <a:solidFill>
                            <a:srgbClr val="4F81BD"/>
                          </a:solidFill>
                          <a:latin typeface="Calibri"/>
                          <a:ea typeface="Calibri"/>
                          <a:cs typeface="Calibri"/>
                          <a:sym typeface="Calibri"/>
                        </a:rPr>
                        <a:t> 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RuntimeException</a:t>
                      </a:r>
                      <a:r>
                        <a:rPr lang="es-ES" sz="1000" dirty="0">
                          <a:solidFill>
                            <a:srgbClr val="4F81BD"/>
                          </a:solidFill>
                          <a:latin typeface="Calibri"/>
                          <a:ea typeface="Calibri"/>
                          <a:cs typeface="Calibri"/>
                          <a:sym typeface="Calibri"/>
                        </a:rPr>
                        <a:t>("Error de autenticación", 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@WebMethod(operationName = "</a:t>
                      </a:r>
                      <a:r>
                        <a:rPr lang="es-ES" sz="1000" dirty="0" err="1">
                          <a:solidFill>
                            <a:srgbClr val="4F81BD"/>
                          </a:solidFill>
                          <a:latin typeface="Calibri"/>
                          <a:ea typeface="Calibri"/>
                          <a:cs typeface="Calibri"/>
                          <a:sym typeface="Calibri"/>
                        </a:rPr>
                        <a:t>cambiarContrasenia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cambiarContrasenia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contraseniaActual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contraseniaActual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contraseniaNueva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contraseniaNueva</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AdministradorCredenciales.cambiarContrasenia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contraseniaActual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contraseniaNueva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Contrasenia</a:t>
                      </a:r>
                      <a:r>
                        <a:rPr lang="es-ES" sz="1000" dirty="0">
                          <a:solidFill>
                            <a:srgbClr val="4F81BD"/>
                          </a:solidFill>
                          <a:latin typeface="Calibri"/>
                          <a:ea typeface="Calibri"/>
                          <a:cs typeface="Calibri"/>
                          <a:sym typeface="Calibri"/>
                        </a:rPr>
                        <a:t> actualizada correctamente";</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 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crearFaultValidacion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e.getMessage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graphicFrame>
        <p:nvGraphicFramePr>
          <p:cNvPr id="204" name="Google Shape;204;p26"/>
          <p:cNvGraphicFramePr/>
          <p:nvPr>
            <p:extLst>
              <p:ext uri="{D42A27DB-BD31-4B8C-83A1-F6EECF244321}">
                <p14:modId xmlns:p14="http://schemas.microsoft.com/office/powerpoint/2010/main" val="148585174"/>
              </p:ext>
            </p:extLst>
          </p:nvPr>
        </p:nvGraphicFramePr>
        <p:xfrm>
          <a:off x="3864675" y="1880008"/>
          <a:ext cx="4894525" cy="48514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3742900">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@WebMethod(operationName = "</a:t>
                      </a:r>
                      <a:r>
                        <a:rPr lang="es-ES" sz="1000" dirty="0" err="1">
                          <a:solidFill>
                            <a:srgbClr val="4F81BD"/>
                          </a:solidFill>
                          <a:latin typeface="Calibri"/>
                          <a:ea typeface="Calibri"/>
                          <a:cs typeface="Calibri"/>
                          <a:sym typeface="Calibri"/>
                        </a:rPr>
                        <a:t>convertirLongitud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convertirLongitud</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"valor")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origen = </a:t>
                      </a:r>
                      <a:r>
                        <a:rPr lang="es-ES" sz="1000" dirty="0" err="1">
                          <a:solidFill>
                            <a:srgbClr val="4F81BD"/>
                          </a:solidFill>
                          <a:latin typeface="Calibri"/>
                          <a:ea typeface="Calibri"/>
                          <a:cs typeface="Calibri"/>
                          <a:sym typeface="Calibri"/>
                        </a:rPr>
                        <a:t>UnidadMapper.toLongitud</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UnidadLongitud</a:t>
                      </a:r>
                      <a:r>
                        <a:rPr lang="es-ES" sz="1000" dirty="0">
                          <a:solidFill>
                            <a:srgbClr val="4F81BD"/>
                          </a:solidFill>
                          <a:latin typeface="Calibri"/>
                          <a:ea typeface="Calibri"/>
                          <a:cs typeface="Calibri"/>
                          <a:sym typeface="Calibri"/>
                        </a:rPr>
                        <a:t> destino = </a:t>
                      </a:r>
                      <a:r>
                        <a:rPr lang="es-ES" sz="1000" dirty="0" err="1">
                          <a:solidFill>
                            <a:srgbClr val="4F81BD"/>
                          </a:solidFill>
                          <a:latin typeface="Calibri"/>
                          <a:ea typeface="Calibri"/>
                          <a:cs typeface="Calibri"/>
                          <a:sym typeface="Calibri"/>
                        </a:rPr>
                        <a:t>UnidadMapper.toLongitud</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servicioLongitud.convertir</a:t>
                      </a:r>
                      <a:r>
                        <a:rPr lang="es-ES" sz="10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 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crearFaultValidacion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e.getMessage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@WebMethod(operationName = "</a:t>
                      </a:r>
                      <a:r>
                        <a:rPr lang="es-ES" sz="1000" dirty="0" err="1">
                          <a:solidFill>
                            <a:srgbClr val="4F81BD"/>
                          </a:solidFill>
                          <a:latin typeface="Calibri"/>
                          <a:ea typeface="Calibri"/>
                          <a:cs typeface="Calibri"/>
                          <a:sym typeface="Calibri"/>
                        </a:rPr>
                        <a:t>convertirMasa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convertirMasa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"valor")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origen = </a:t>
                      </a:r>
                      <a:r>
                        <a:rPr lang="es-ES" sz="1000" dirty="0" err="1">
                          <a:solidFill>
                            <a:srgbClr val="4F81BD"/>
                          </a:solidFill>
                          <a:latin typeface="Calibri"/>
                          <a:ea typeface="Calibri"/>
                          <a:cs typeface="Calibri"/>
                          <a:sym typeface="Calibri"/>
                        </a:rPr>
                        <a:t>UnidadMapper.toMasa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destino = </a:t>
                      </a:r>
                      <a:r>
                        <a:rPr lang="es-ES" sz="1000" dirty="0" err="1">
                          <a:solidFill>
                            <a:srgbClr val="4F81BD"/>
                          </a:solidFill>
                          <a:latin typeface="Calibri"/>
                          <a:ea typeface="Calibri"/>
                          <a:cs typeface="Calibri"/>
                          <a:sym typeface="Calibri"/>
                        </a:rPr>
                        <a:t>UnidadMapper.toMasa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servicioMasa.convertir</a:t>
                      </a:r>
                      <a:r>
                        <a:rPr lang="es-ES" sz="10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 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crearFaultValidacion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e.getMessage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A620FEAD-21BF-7EC6-9E29-05FBB08593F8}"/>
            </a:ext>
          </a:extLst>
        </p:cNvPr>
        <p:cNvGrpSpPr/>
        <p:nvPr/>
      </p:nvGrpSpPr>
      <p:grpSpPr>
        <a:xfrm>
          <a:off x="0" y="0"/>
          <a:ext cx="0" cy="0"/>
          <a:chOff x="0" y="0"/>
          <a:chExt cx="0" cy="0"/>
        </a:xfrm>
      </p:grpSpPr>
      <p:graphicFrame>
        <p:nvGraphicFramePr>
          <p:cNvPr id="204" name="Google Shape;204;p26">
            <a:extLst>
              <a:ext uri="{FF2B5EF4-FFF2-40B4-BE49-F238E27FC236}">
                <a16:creationId xmlns:a16="http://schemas.microsoft.com/office/drawing/2014/main" id="{EF4A4FF5-7F25-57CB-FAD5-6B4E3B511076}"/>
              </a:ext>
            </a:extLst>
          </p:cNvPr>
          <p:cNvGraphicFramePr/>
          <p:nvPr>
            <p:extLst>
              <p:ext uri="{D42A27DB-BD31-4B8C-83A1-F6EECF244321}">
                <p14:modId xmlns:p14="http://schemas.microsoft.com/office/powerpoint/2010/main" val="1345293123"/>
              </p:ext>
            </p:extLst>
          </p:nvPr>
        </p:nvGraphicFramePr>
        <p:xfrm>
          <a:off x="3878366" y="2629651"/>
          <a:ext cx="4776817" cy="2856749"/>
        </p:xfrm>
        <a:graphic>
          <a:graphicData uri="http://schemas.openxmlformats.org/drawingml/2006/table">
            <a:tbl>
              <a:tblPr>
                <a:noFill/>
                <a:tableStyleId>{BF136021-7255-42B7-A7E7-87A8D8FFE9CA}</a:tableStyleId>
              </a:tblPr>
              <a:tblGrid>
                <a:gridCol w="4776817">
                  <a:extLst>
                    <a:ext uri="{9D8B030D-6E8A-4147-A177-3AD203B41FA5}">
                      <a16:colId xmlns:a16="http://schemas.microsoft.com/office/drawing/2014/main" val="20000"/>
                    </a:ext>
                  </a:extLst>
                </a:gridCol>
              </a:tblGrid>
              <a:tr h="2856749">
                <a:tc>
                  <a:txBody>
                    <a:bodyPr/>
                    <a:lstStyle/>
                    <a:p>
                      <a:pPr marL="0" lvl="0" indent="0" algn="l" rtl="0">
                        <a:spcBef>
                          <a:spcPts val="0"/>
                        </a:spcBef>
                        <a:spcAft>
                          <a:spcPts val="0"/>
                        </a:spcAft>
                        <a:buNone/>
                      </a:pPr>
                      <a:r>
                        <a:rPr lang="es-ES" sz="1000" dirty="0">
                          <a:solidFill>
                            <a:srgbClr val="4F81BD"/>
                          </a:solidFill>
                          <a:latin typeface="Calibri"/>
                          <a:ea typeface="Calibri"/>
                          <a:cs typeface="Calibri"/>
                          <a:sym typeface="Calibri"/>
                        </a:rPr>
                        <a:t>@WebMethod(operationName = "</a:t>
                      </a:r>
                      <a:r>
                        <a:rPr lang="es-ES" sz="1000" dirty="0" err="1">
                          <a:solidFill>
                            <a:srgbClr val="4F81BD"/>
                          </a:solidFill>
                          <a:latin typeface="Calibri"/>
                          <a:ea typeface="Calibri"/>
                          <a:cs typeface="Calibri"/>
                          <a:sym typeface="Calibri"/>
                        </a:rPr>
                        <a:t>convertirTemperatura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convertirTemperatura</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"valor")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@WebParam(name =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String</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origen = </a:t>
                      </a:r>
                      <a:r>
                        <a:rPr lang="es-ES" sz="1000" dirty="0" err="1">
                          <a:solidFill>
                            <a:srgbClr val="4F81BD"/>
                          </a:solidFill>
                          <a:latin typeface="Calibri"/>
                          <a:ea typeface="Calibri"/>
                          <a:cs typeface="Calibri"/>
                          <a:sym typeface="Calibri"/>
                        </a:rPr>
                        <a:t>UnidadMapper.toTemperatura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unidadInicial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UnidadTemperatura</a:t>
                      </a:r>
                      <a:r>
                        <a:rPr lang="es-ES" sz="1000" dirty="0">
                          <a:solidFill>
                            <a:srgbClr val="4F81BD"/>
                          </a:solidFill>
                          <a:latin typeface="Calibri"/>
                          <a:ea typeface="Calibri"/>
                          <a:cs typeface="Calibri"/>
                          <a:sym typeface="Calibri"/>
                        </a:rPr>
                        <a:t> destino = </a:t>
                      </a:r>
                      <a:r>
                        <a:rPr lang="es-ES" sz="1000" dirty="0" err="1">
                          <a:solidFill>
                            <a:srgbClr val="4F81BD"/>
                          </a:solidFill>
                          <a:latin typeface="Calibri"/>
                          <a:ea typeface="Calibri"/>
                          <a:cs typeface="Calibri"/>
                          <a:sym typeface="Calibri"/>
                        </a:rPr>
                        <a:t>UnidadMapper.toTemperatura</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servicioTemperatura.convertir</a:t>
                      </a:r>
                      <a:r>
                        <a:rPr lang="es-ES" sz="10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 catch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 e)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crearFaultValidacion</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e.getMessage</a:t>
                      </a:r>
                      <a:r>
                        <a:rPr lang="es-ES" sz="10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205" name="Google Shape;205;p26">
            <a:extLst>
              <a:ext uri="{FF2B5EF4-FFF2-40B4-BE49-F238E27FC236}">
                <a16:creationId xmlns:a16="http://schemas.microsoft.com/office/drawing/2014/main" id="{0BB75406-6C66-9320-FE11-0B2B917ECAAF}"/>
              </a:ext>
            </a:extLst>
          </p:cNvPr>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06" name="Google Shape;206;p26">
            <a:extLst>
              <a:ext uri="{FF2B5EF4-FFF2-40B4-BE49-F238E27FC236}">
                <a16:creationId xmlns:a16="http://schemas.microsoft.com/office/drawing/2014/main" id="{8759F4C1-C2A7-07E7-0E56-86B5A66D60C1}"/>
              </a:ext>
            </a:extLst>
          </p:cNvPr>
          <p:cNvSpPr txBox="1">
            <a:spLocks noGrp="1"/>
          </p:cNvSpPr>
          <p:nvPr>
            <p:ph type="body" idx="1"/>
          </p:nvPr>
        </p:nvSpPr>
        <p:spPr>
          <a:xfrm>
            <a:off x="581200" y="2180500"/>
            <a:ext cx="2402100" cy="3965700"/>
          </a:xfrm>
          <a:prstGeom prst="rect">
            <a:avLst/>
          </a:prstGeom>
          <a:noFill/>
          <a:ln>
            <a:noFill/>
          </a:ln>
        </p:spPr>
        <p:txBody>
          <a:bodyPr spcFirstLastPara="1" wrap="square" lIns="91425" tIns="45700" rIns="91425" bIns="45700" anchor="ctr" anchorCtr="0">
            <a:normAutofit/>
          </a:bodyPr>
          <a:lstStyle/>
          <a:p>
            <a:pPr marL="457200" lvl="0" indent="-335090" algn="just" rtl="0">
              <a:lnSpc>
                <a:spcPct val="107000"/>
              </a:lnSpc>
              <a:spcBef>
                <a:spcPts val="0"/>
              </a:spcBef>
              <a:spcAft>
                <a:spcPts val="0"/>
              </a:spcAft>
              <a:buSzPts val="1677"/>
              <a:buFont typeface="Cambria"/>
              <a:buChar char="∙"/>
            </a:pPr>
            <a:r>
              <a:rPr lang="es-ES" sz="1677" dirty="0">
                <a:latin typeface="Cambria"/>
                <a:ea typeface="Cambria"/>
                <a:cs typeface="Cambria"/>
                <a:sym typeface="Cambria"/>
              </a:rPr>
              <a:t>4. Se crean los métodos respectivos, incluyendo el de autenticación</a:t>
            </a:r>
            <a:endParaRPr sz="1677" b="1" dirty="0">
              <a:latin typeface="Cambria"/>
              <a:ea typeface="Cambria"/>
              <a:cs typeface="Cambria"/>
              <a:sym typeface="Cambria"/>
            </a:endParaRPr>
          </a:p>
          <a:p>
            <a:pPr marL="457200" marR="0" lvl="0" indent="0" algn="just" rtl="0">
              <a:lnSpc>
                <a:spcPct val="107000"/>
              </a:lnSpc>
              <a:spcBef>
                <a:spcPts val="0"/>
              </a:spcBef>
              <a:spcAft>
                <a:spcPts val="0"/>
              </a:spcAft>
              <a:buSzPts val="1790"/>
              <a:buNone/>
            </a:pPr>
            <a:endParaRPr sz="1591"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07" name="Google Shape;207;p26">
            <a:extLst>
              <a:ext uri="{FF2B5EF4-FFF2-40B4-BE49-F238E27FC236}">
                <a16:creationId xmlns:a16="http://schemas.microsoft.com/office/drawing/2014/main" id="{D66BCFA1-82AF-B690-12B6-3F708D59EF61}"/>
              </a:ext>
            </a:extLst>
          </p:cNvPr>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Tree>
    <p:extLst>
      <p:ext uri="{BB962C8B-B14F-4D97-AF65-F5344CB8AC3E}">
        <p14:creationId xmlns:p14="http://schemas.microsoft.com/office/powerpoint/2010/main" val="845104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13" name="Google Shape;213;p27"/>
          <p:cNvSpPr txBox="1">
            <a:spLocks noGrp="1"/>
          </p:cNvSpPr>
          <p:nvPr>
            <p:ph type="body" idx="1"/>
          </p:nvPr>
        </p:nvSpPr>
        <p:spPr>
          <a:xfrm>
            <a:off x="455658" y="1977587"/>
            <a:ext cx="8630677" cy="16335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700" b="1" dirty="0">
                <a:latin typeface="Cambria"/>
                <a:ea typeface="Cambria"/>
                <a:cs typeface="Cambria"/>
                <a:sym typeface="Cambria"/>
              </a:rPr>
              <a:t>1.2.4 	Autenticación</a:t>
            </a:r>
            <a:endParaRPr sz="1700" dirty="0">
              <a:latin typeface="Cambria"/>
              <a:ea typeface="Cambria"/>
              <a:cs typeface="Cambria"/>
              <a:sym typeface="Cambria"/>
            </a:endParaRPr>
          </a:p>
          <a:p>
            <a:pPr marL="342900" marR="0" lvl="0" indent="-323850" algn="just" rtl="0">
              <a:lnSpc>
                <a:spcPct val="107000"/>
              </a:lnSpc>
              <a:spcBef>
                <a:spcPts val="0"/>
              </a:spcBef>
              <a:spcAft>
                <a:spcPts val="0"/>
              </a:spcAft>
              <a:buSzPts val="1356"/>
              <a:buFont typeface="Cambria"/>
              <a:buChar char="∙"/>
            </a:pPr>
            <a:r>
              <a:rPr lang="es-ES" sz="1700" dirty="0">
                <a:latin typeface="Cambria"/>
                <a:ea typeface="Cambria"/>
                <a:cs typeface="Cambria"/>
                <a:sym typeface="Cambria"/>
              </a:rPr>
              <a:t>Una clase importante a mencionar es el ManejadorAutenticacion.java, que sirve como un middleware en servicios SOAP con el fin de autenticar debidamente antes de permitir el paso a los métodos del </a:t>
            </a:r>
            <a:r>
              <a:rPr lang="es-ES" sz="1700" dirty="0" err="1">
                <a:latin typeface="Cambria"/>
                <a:ea typeface="Cambria"/>
                <a:cs typeface="Cambria"/>
                <a:sym typeface="Cambria"/>
              </a:rPr>
              <a:t>WebService</a:t>
            </a:r>
            <a:r>
              <a:rPr lang="es-ES" sz="1700" dirty="0">
                <a:latin typeface="Cambria"/>
                <a:ea typeface="Cambria"/>
                <a:cs typeface="Cambria"/>
                <a:sym typeface="Cambria"/>
              </a:rPr>
              <a:t>. Esta clase se crea en Web </a:t>
            </a:r>
            <a:r>
              <a:rPr lang="es-ES" sz="1700" dirty="0" err="1">
                <a:latin typeface="Cambria"/>
                <a:ea typeface="Cambria"/>
                <a:cs typeface="Cambria"/>
                <a:sym typeface="Cambria"/>
              </a:rPr>
              <a:t>Services</a:t>
            </a:r>
            <a:r>
              <a:rPr lang="es-ES" sz="1700" dirty="0">
                <a:latin typeface="Cambria"/>
                <a:ea typeface="Cambria"/>
                <a:cs typeface="Cambria"/>
                <a:sym typeface="Cambria"/>
              </a:rPr>
              <a:t> &gt; </a:t>
            </a:r>
            <a:r>
              <a:rPr lang="es-ES" sz="1700" dirty="0" err="1">
                <a:latin typeface="Cambria"/>
                <a:ea typeface="Cambria"/>
                <a:cs typeface="Cambria"/>
                <a:sym typeface="Cambria"/>
              </a:rPr>
              <a:t>Message</a:t>
            </a:r>
            <a:r>
              <a:rPr lang="es-ES" sz="1700" dirty="0">
                <a:latin typeface="Cambria"/>
                <a:ea typeface="Cambria"/>
                <a:cs typeface="Cambria"/>
                <a:sym typeface="Cambria"/>
              </a:rPr>
              <a:t> </a:t>
            </a:r>
            <a:r>
              <a:rPr lang="es-ES" sz="1700" dirty="0" err="1">
                <a:latin typeface="Cambria"/>
                <a:ea typeface="Cambria"/>
                <a:cs typeface="Cambria"/>
                <a:sym typeface="Cambria"/>
              </a:rPr>
              <a:t>Handler</a:t>
            </a:r>
            <a:r>
              <a:rPr lang="es-ES" sz="1700" dirty="0">
                <a:latin typeface="Cambria"/>
                <a:ea typeface="Cambria"/>
                <a:cs typeface="Cambria"/>
                <a:sym typeface="Cambria"/>
              </a:rPr>
              <a:t>.</a:t>
            </a:r>
            <a:endParaRPr sz="1700" dirty="0">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700" dirty="0">
              <a:latin typeface="Cambria"/>
              <a:ea typeface="Cambria"/>
              <a:cs typeface="Cambria"/>
              <a:sym typeface="Cambria"/>
            </a:endParaRPr>
          </a:p>
        </p:txBody>
      </p:sp>
      <p:sp>
        <p:nvSpPr>
          <p:cNvPr id="214" name="Google Shape;214;p2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E51DFD91-F36F-B7ED-F4AC-1C4DCFE2750A}"/>
              </a:ext>
            </a:extLst>
          </p:cNvPr>
          <p:cNvPicPr>
            <a:picLocks noChangeAspect="1"/>
          </p:cNvPicPr>
          <p:nvPr/>
        </p:nvPicPr>
        <p:blipFill>
          <a:blip r:embed="rId3"/>
          <a:stretch>
            <a:fillRect/>
          </a:stretch>
        </p:blipFill>
        <p:spPr>
          <a:xfrm>
            <a:off x="2811069" y="3516836"/>
            <a:ext cx="4619462" cy="314351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21" name="Google Shape;221;p28"/>
          <p:cNvSpPr txBox="1">
            <a:spLocks noGrp="1"/>
          </p:cNvSpPr>
          <p:nvPr>
            <p:ph type="body" idx="1"/>
          </p:nvPr>
        </p:nvSpPr>
        <p:spPr>
          <a:xfrm>
            <a:off x="581192" y="1876272"/>
            <a:ext cx="8589300" cy="12486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 y la autenticación que maneja credenciales </a:t>
            </a:r>
            <a:r>
              <a:rPr lang="es-ES" sz="1400" dirty="0" err="1">
                <a:latin typeface="Cambria"/>
                <a:ea typeface="Cambria"/>
                <a:cs typeface="Cambria"/>
                <a:sym typeface="Cambria"/>
              </a:rPr>
              <a:t>hardcodeadas</a:t>
            </a:r>
            <a:r>
              <a:rPr lang="es-ES" sz="1400" dirty="0">
                <a:latin typeface="Cambria"/>
                <a:ea typeface="Cambria"/>
                <a:cs typeface="Cambria"/>
                <a:sym typeface="Cambria"/>
              </a:rPr>
              <a:t> en código (Usuario: </a:t>
            </a:r>
            <a:r>
              <a:rPr lang="es-ES" sz="1400" b="1" dirty="0">
                <a:latin typeface="Cambria"/>
                <a:ea typeface="Cambria"/>
                <a:cs typeface="Cambria"/>
                <a:sym typeface="Cambria"/>
              </a:rPr>
              <a:t>MONSTER</a:t>
            </a:r>
            <a:r>
              <a:rPr lang="es-ES" sz="1400" dirty="0">
                <a:latin typeface="Cambria"/>
                <a:ea typeface="Cambria"/>
                <a:cs typeface="Cambria"/>
                <a:sym typeface="Cambria"/>
              </a:rPr>
              <a:t>, Contraseña: </a:t>
            </a:r>
            <a:r>
              <a:rPr lang="es-ES" sz="1400" b="1" dirty="0">
                <a:latin typeface="Cambria"/>
                <a:ea typeface="Cambria"/>
                <a:cs typeface="Cambria"/>
                <a:sym typeface="Cambria"/>
              </a:rPr>
              <a:t>MONSTER9</a:t>
            </a:r>
            <a:r>
              <a:rPr lang="es-ES" sz="1400" dirty="0">
                <a:latin typeface="Cambria"/>
                <a:ea typeface="Cambria"/>
                <a:cs typeface="Cambria"/>
                <a:sym typeface="Cambria"/>
              </a:rPr>
              <a:t>)</a:t>
            </a:r>
            <a:endParaRPr sz="1400" dirty="0">
              <a:latin typeface="Cambria"/>
              <a:ea typeface="Cambria"/>
              <a:cs typeface="Cambria"/>
              <a:sym typeface="Cambria"/>
            </a:endParaRPr>
          </a:p>
          <a:p>
            <a:pPr marL="457200" lvl="0" indent="-304800" algn="just" rtl="0">
              <a:lnSpc>
                <a:spcPct val="107000"/>
              </a:lnSpc>
              <a:spcBef>
                <a:spcPts val="0"/>
              </a:spcBef>
              <a:spcAft>
                <a:spcPts val="0"/>
              </a:spcAft>
              <a:buSzPts val="1200"/>
              <a:buFont typeface="Cambria"/>
              <a:buChar char="∙"/>
            </a:pPr>
            <a:r>
              <a:rPr lang="es-ES" sz="1400" dirty="0">
                <a:latin typeface="Cambria"/>
                <a:ea typeface="Cambria"/>
                <a:cs typeface="Cambria"/>
                <a:sym typeface="Cambria"/>
              </a:rPr>
              <a:t>es fundamental mencionar que se debe crear un </a:t>
            </a:r>
            <a:r>
              <a:rPr lang="es-ES" sz="1400" dirty="0" err="1">
                <a:latin typeface="Cambria"/>
                <a:ea typeface="Cambria"/>
                <a:cs typeface="Cambria"/>
                <a:sym typeface="Cambria"/>
              </a:rPr>
              <a:t>xml</a:t>
            </a:r>
            <a:r>
              <a:rPr lang="es-ES" sz="1400" dirty="0">
                <a:latin typeface="Cambria"/>
                <a:ea typeface="Cambria"/>
                <a:cs typeface="Cambria"/>
                <a:sym typeface="Cambria"/>
              </a:rPr>
              <a:t> dentro de los recursos que mapee a la clase para que el proyecto pueda poner en ejecución el </a:t>
            </a:r>
            <a:r>
              <a:rPr lang="es-ES" sz="1400" dirty="0" err="1">
                <a:latin typeface="Cambria"/>
                <a:ea typeface="Cambria"/>
                <a:cs typeface="Cambria"/>
                <a:sym typeface="Cambria"/>
              </a:rPr>
              <a:t>handler</a:t>
            </a:r>
            <a:r>
              <a:rPr lang="es-ES" sz="1400" dirty="0">
                <a:latin typeface="Cambria"/>
                <a:ea typeface="Cambria"/>
                <a:cs typeface="Cambria"/>
                <a:sym typeface="Cambria"/>
              </a:rPr>
              <a:t>.</a:t>
            </a:r>
            <a:endParaRPr sz="1400" dirty="0">
              <a:latin typeface="Cambria"/>
              <a:ea typeface="Cambria"/>
              <a:cs typeface="Cambria"/>
              <a:sym typeface="Cambria"/>
            </a:endParaRPr>
          </a:p>
        </p:txBody>
      </p:sp>
      <p:sp>
        <p:nvSpPr>
          <p:cNvPr id="222" name="Google Shape;222;p2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24" name="Google Shape;224;p28"/>
          <p:cNvGraphicFramePr/>
          <p:nvPr>
            <p:extLst>
              <p:ext uri="{D42A27DB-BD31-4B8C-83A1-F6EECF244321}">
                <p14:modId xmlns:p14="http://schemas.microsoft.com/office/powerpoint/2010/main" val="1946528576"/>
              </p:ext>
            </p:extLst>
          </p:nvPr>
        </p:nvGraphicFramePr>
        <p:xfrm>
          <a:off x="2220839" y="4582588"/>
          <a:ext cx="4894525" cy="2215300"/>
        </p:xfrm>
        <a:graphic>
          <a:graphicData uri="http://schemas.openxmlformats.org/drawingml/2006/table">
            <a:tbl>
              <a:tblPr>
                <a:noFill/>
                <a:tableStyleId>{BF136021-7255-42B7-A7E7-87A8D8FFE9CA}</a:tableStyleId>
              </a:tblPr>
              <a:tblGrid>
                <a:gridCol w="4894525">
                  <a:extLst>
                    <a:ext uri="{9D8B030D-6E8A-4147-A177-3AD203B41FA5}">
                      <a16:colId xmlns:a16="http://schemas.microsoft.com/office/drawing/2014/main" val="20000"/>
                    </a:ext>
                  </a:extLst>
                </a:gridCol>
              </a:tblGrid>
              <a:tr h="22153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package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ec.edu.monster.controladores.manejadoresws</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ec.edu.monster.seguridad.AdministradorTokens</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jakarta.xml.ws.handler.soap.SOAPHandler</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jakarta.xml.ws.handler.soap.SOAPMessageContext</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jakarta.xml.ws.handler.MessageContext</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javax.xml.namespace.QName</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org.w3c.dom.NodeList;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java.util.Set</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ManejadorAutenticacion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implements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SOAPHandler</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SOAPMessageContext</a:t>
                      </a:r>
                      <a:r>
                        <a:rPr lang="es-ES" sz="1000" dirty="0">
                          <a:solidFill>
                            <a:srgbClr val="4F81BD"/>
                          </a:solidFill>
                          <a:latin typeface="Calibri"/>
                          <a:ea typeface="Calibri"/>
                          <a:cs typeface="Calibri"/>
                          <a:sym typeface="Calibri"/>
                        </a:rPr>
                        <a:t>&gt;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3F7C4AA1-DDEB-4D14-EFE3-9F277A8722E3}"/>
              </a:ext>
            </a:extLst>
          </p:cNvPr>
          <p:cNvPicPr>
            <a:picLocks noChangeAspect="1"/>
          </p:cNvPicPr>
          <p:nvPr/>
        </p:nvPicPr>
        <p:blipFill>
          <a:blip r:embed="rId3"/>
          <a:stretch>
            <a:fillRect/>
          </a:stretch>
        </p:blipFill>
        <p:spPr>
          <a:xfrm>
            <a:off x="1931781" y="3208924"/>
            <a:ext cx="5472640" cy="128961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0" name="Google Shape;230;p29"/>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400" dirty="0">
              <a:latin typeface="Cambria"/>
              <a:ea typeface="Cambria"/>
              <a:cs typeface="Cambria"/>
              <a:sym typeface="Cambria"/>
            </a:endParaRPr>
          </a:p>
        </p:txBody>
      </p:sp>
      <p:sp>
        <p:nvSpPr>
          <p:cNvPr id="231" name="Google Shape;231;p2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32" name="Google Shape;232;p29"/>
          <p:cNvGraphicFramePr/>
          <p:nvPr/>
        </p:nvGraphicFramePr>
        <p:xfrm>
          <a:off x="2964625" y="1876275"/>
          <a:ext cx="6062675" cy="50647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None/>
                      </a:pPr>
                      <a:r>
                        <a:rPr lang="es-ES" sz="900">
                          <a:solidFill>
                            <a:srgbClr val="4F81BD"/>
                          </a:solidFill>
                          <a:latin typeface="Calibri"/>
                          <a:ea typeface="Calibri"/>
                          <a:cs typeface="Calibri"/>
                          <a:sym typeface="Calibri"/>
                        </a:rPr>
                        <a:t>@Override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public boolean handleMessage(SOAPMessageContext contexto)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Boolean esSalida = (Boolean) contexto.get(MessageContext.MESSAGE_OUTBOUND_PROPERTY);</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(!esSalida)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try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QName operacion = (QName) contexto.get(MessageContext.WSDL_OPERATION);</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(operacion != null &amp;&amp; "login".equals(operacion.getLocalPart()))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mensajeSOAP = contexto.getMessage();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var encabezado = mensajeSOAP.getSOAPHeader();</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(encabezado == null)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Se requiere encabezado SOAP con el token de seguridad.");</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NodeList nodosToken = encabezado.getElementsByTagNameNS("*", "token");</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(nodosToken.getLength() == 0)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No se encontró el token. Inicie sesión primero.");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String token = nodosToken.item(0).getTextContent();</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if (!AdministradorTokens.validarToken(token))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RuntimeException("Acceso denegado: Token inválido o expirado.");</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 catch (Exception e)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throw new RuntimeException(e.getMessage());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return true;</a:t>
                      </a:r>
                      <a:endParaRPr sz="900">
                        <a:solidFill>
                          <a:srgbClr val="4F81BD"/>
                        </a:solidFill>
                        <a:latin typeface="Calibri"/>
                        <a:ea typeface="Calibri"/>
                        <a:cs typeface="Calibri"/>
                        <a:sym typeface="Calibri"/>
                      </a:endParaRPr>
                    </a:p>
                    <a:p>
                      <a:pPr marL="0" lvl="0" indent="0" algn="l" rtl="0">
                        <a:spcBef>
                          <a:spcPts val="0"/>
                        </a:spcBef>
                        <a:spcAft>
                          <a:spcPts val="0"/>
                        </a:spcAft>
                        <a:buNone/>
                      </a:pPr>
                      <a:r>
                        <a:rPr lang="es-ES" sz="900">
                          <a:solidFill>
                            <a:srgbClr val="4F81BD"/>
                          </a:solidFill>
                          <a:latin typeface="Calibri"/>
                          <a:ea typeface="Calibri"/>
                          <a:cs typeface="Calibri"/>
                          <a:sym typeface="Calibri"/>
                        </a:rPr>
                        <a:t>    }</a:t>
                      </a: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38" name="Google Shape;238;p3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just" rtl="0">
              <a:lnSpc>
                <a:spcPct val="107000"/>
              </a:lnSpc>
              <a:spcBef>
                <a:spcPts val="0"/>
              </a:spcBef>
              <a:spcAft>
                <a:spcPts val="0"/>
              </a:spcAft>
              <a:buSzPts val="1556"/>
              <a:buChar char="∙"/>
            </a:pPr>
            <a:r>
              <a:rPr lang="es-ES" sz="1400" dirty="0">
                <a:latin typeface="Cambria"/>
                <a:ea typeface="Cambria"/>
                <a:cs typeface="Cambria"/>
                <a:sym typeface="Cambria"/>
              </a:rPr>
              <a:t>Esta clase contiene la lógica que se puede observar en la Tabla junto a la complementaria para gestionar la autenticación con tokens y la autenticación que maneja credenciales quemadas en código.</a:t>
            </a:r>
            <a:endParaRPr sz="1400" dirty="0">
              <a:latin typeface="Cambria"/>
              <a:ea typeface="Cambria"/>
              <a:cs typeface="Cambria"/>
              <a:sym typeface="Cambria"/>
            </a:endParaRPr>
          </a:p>
        </p:txBody>
      </p:sp>
      <p:sp>
        <p:nvSpPr>
          <p:cNvPr id="239" name="Google Shape;239;p3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0" name="Google Shape;240;p30"/>
          <p:cNvGraphicFramePr/>
          <p:nvPr/>
        </p:nvGraphicFramePr>
        <p:xfrm>
          <a:off x="3064663" y="2920413"/>
          <a:ext cx="6062675" cy="26416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951625">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Set&lt;QName&gt; getHeaders()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boolean handleFault(SOAPMessageContext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true;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void close(MessageContext contexto)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9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46" name="Google Shape;246;p31"/>
          <p:cNvSpPr txBox="1">
            <a:spLocks noGrp="1"/>
          </p:cNvSpPr>
          <p:nvPr>
            <p:ph type="body" idx="1"/>
          </p:nvPr>
        </p:nvSpPr>
        <p:spPr>
          <a:xfrm>
            <a:off x="581192" y="1867767"/>
            <a:ext cx="8014948" cy="1808733"/>
          </a:xfrm>
          <a:prstGeom prst="rect">
            <a:avLst/>
          </a:prstGeom>
          <a:noFill/>
          <a:ln>
            <a:noFill/>
          </a:ln>
        </p:spPr>
        <p:txBody>
          <a:bodyPr spcFirstLastPara="1" wrap="square" lIns="91425" tIns="45700" rIns="91425" bIns="45700" anchor="ctr" anchorCtr="0">
            <a:noAutofit/>
          </a:bodyPr>
          <a:lstStyle/>
          <a:p>
            <a:pPr marL="34290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1.2.5	Lógica</a:t>
            </a:r>
            <a:endParaRPr sz="1600" dirty="0">
              <a:latin typeface="Cambria"/>
              <a:ea typeface="Cambria"/>
              <a:cs typeface="Cambria"/>
              <a:sym typeface="Cambria"/>
            </a:endParaRPr>
          </a:p>
          <a:p>
            <a:pPr marL="0" lvl="0" indent="0" algn="just" rtl="0">
              <a:lnSpc>
                <a:spcPct val="107000"/>
              </a:lnSpc>
              <a:spcBef>
                <a:spcPts val="0"/>
              </a:spcBef>
              <a:spcAft>
                <a:spcPts val="0"/>
              </a:spcAft>
              <a:buNone/>
            </a:pPr>
            <a:endParaRPr sz="1600" dirty="0">
              <a:latin typeface="Cambria"/>
              <a:ea typeface="Cambria"/>
              <a:cs typeface="Cambria"/>
              <a:sym typeface="Cambria"/>
            </a:endParaRPr>
          </a:p>
          <a:p>
            <a:pPr marL="0" lvl="0" indent="0" algn="just" rtl="0">
              <a:lnSpc>
                <a:spcPct val="107000"/>
              </a:lnSpc>
              <a:spcBef>
                <a:spcPts val="0"/>
              </a:spcBef>
              <a:spcAft>
                <a:spcPts val="0"/>
              </a:spcAft>
              <a:buNone/>
            </a:pPr>
            <a:r>
              <a:rPr lang="es-ES" sz="16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600" dirty="0">
              <a:latin typeface="Cambria"/>
              <a:ea typeface="Cambria"/>
              <a:cs typeface="Cambria"/>
              <a:sym typeface="Cambria"/>
            </a:endParaRPr>
          </a:p>
        </p:txBody>
      </p:sp>
      <p:sp>
        <p:nvSpPr>
          <p:cNvPr id="247" name="Google Shape;247;p3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48" name="Google Shape;248;p31"/>
          <p:cNvGraphicFramePr/>
          <p:nvPr>
            <p:extLst>
              <p:ext uri="{D42A27DB-BD31-4B8C-83A1-F6EECF244321}">
                <p14:modId xmlns:p14="http://schemas.microsoft.com/office/powerpoint/2010/main" val="3881810180"/>
              </p:ext>
            </p:extLst>
          </p:nvPr>
        </p:nvGraphicFramePr>
        <p:xfrm>
          <a:off x="669529" y="3948349"/>
          <a:ext cx="6062675" cy="14071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dirty="0" err="1">
                          <a:solidFill>
                            <a:srgbClr val="4F81BD"/>
                          </a:solidFill>
                          <a:latin typeface="Calibri"/>
                          <a:ea typeface="Calibri"/>
                          <a:cs typeface="Calibri"/>
                          <a:sym typeface="Calibri"/>
                        </a:rPr>
                        <a:t>package</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ec.edu.monster.modelos.utilidades</a:t>
                      </a:r>
                      <a:r>
                        <a:rPr lang="es-ES" sz="1200" dirty="0">
                          <a:solidFill>
                            <a:srgbClr val="4F81BD"/>
                          </a:solidFill>
                          <a:latin typeface="Calibri"/>
                          <a:ea typeface="Calibri"/>
                          <a:cs typeface="Calibri"/>
                          <a:sym typeface="Calibri"/>
                        </a:rPr>
                        <a:t>;</a:t>
                      </a:r>
                      <a:endParaRPr sz="1200" dirty="0">
                        <a:solidFill>
                          <a:srgbClr val="4F81BD"/>
                        </a:solidFill>
                        <a:latin typeface="Calibri"/>
                        <a:ea typeface="Calibri"/>
                        <a:cs typeface="Calibri"/>
                        <a:sym typeface="Calibri"/>
                      </a:endParaRPr>
                    </a:p>
                    <a:p>
                      <a:pPr marL="0" lvl="0" indent="0" algn="l" rtl="0">
                        <a:spcBef>
                          <a:spcPts val="0"/>
                        </a:spcBef>
                        <a:spcAft>
                          <a:spcPts val="0"/>
                        </a:spcAft>
                        <a:buNone/>
                      </a:pPr>
                      <a:endParaRPr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interface </a:t>
                      </a:r>
                      <a:r>
                        <a:rPr lang="es-ES" sz="1200" dirty="0" err="1">
                          <a:solidFill>
                            <a:srgbClr val="4F81BD"/>
                          </a:solidFill>
                          <a:latin typeface="Calibri"/>
                          <a:ea typeface="Calibri"/>
                          <a:cs typeface="Calibri"/>
                          <a:sym typeface="Calibri"/>
                        </a:rPr>
                        <a:t>IConversor</a:t>
                      </a:r>
                      <a:r>
                        <a:rPr lang="es-ES" sz="1200" dirty="0">
                          <a:solidFill>
                            <a:srgbClr val="4F81BD"/>
                          </a:solidFill>
                          <a:latin typeface="Calibri"/>
                          <a:ea typeface="Calibri"/>
                          <a:cs typeface="Calibri"/>
                          <a:sym typeface="Calibri"/>
                        </a:rPr>
                        <a:t>&lt;T&gt; {</a:t>
                      </a:r>
                      <a:endParaRPr sz="1200" dirty="0">
                        <a:solidFill>
                          <a:srgbClr val="4F81BD"/>
                        </a:solidFill>
                        <a:latin typeface="Calibri"/>
                        <a:ea typeface="Calibri"/>
                        <a:cs typeface="Calibri"/>
                        <a:sym typeface="Calibri"/>
                      </a:endParaRPr>
                    </a:p>
                    <a:p>
                      <a:pPr marL="0" lvl="0" indent="0" algn="l" rtl="0">
                        <a:spcBef>
                          <a:spcPts val="0"/>
                        </a:spcBef>
                        <a:spcAft>
                          <a:spcPts val="0"/>
                        </a:spcAft>
                        <a:buNone/>
                      </a:pPr>
                      <a:endParaRPr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public</a:t>
                      </a:r>
                      <a:r>
                        <a:rPr lang="es-ES" sz="1200" dirty="0">
                          <a:solidFill>
                            <a:srgbClr val="4F81BD"/>
                          </a:solidFill>
                          <a:latin typeface="Calibri"/>
                          <a:ea typeface="Calibri"/>
                          <a:cs typeface="Calibri"/>
                          <a:sym typeface="Calibri"/>
                        </a:rPr>
                        <a:t> </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convertir(</a:t>
                      </a:r>
                      <a:r>
                        <a:rPr lang="es-ES" sz="1200" dirty="0" err="1">
                          <a:solidFill>
                            <a:srgbClr val="4F81BD"/>
                          </a:solidFill>
                          <a:latin typeface="Calibri"/>
                          <a:ea typeface="Calibri"/>
                          <a:cs typeface="Calibri"/>
                          <a:sym typeface="Calibri"/>
                        </a:rPr>
                        <a:t>double</a:t>
                      </a:r>
                      <a:r>
                        <a:rPr lang="es-ES" sz="1200" dirty="0">
                          <a:solidFill>
                            <a:srgbClr val="4F81BD"/>
                          </a:solidFill>
                          <a:latin typeface="Calibri"/>
                          <a:ea typeface="Calibri"/>
                          <a:cs typeface="Calibri"/>
                          <a:sym typeface="Calibri"/>
                        </a:rPr>
                        <a:t> valor, T </a:t>
                      </a:r>
                      <a:r>
                        <a:rPr lang="es-ES" sz="1200" dirty="0" err="1">
                          <a:solidFill>
                            <a:srgbClr val="4F81BD"/>
                          </a:solidFill>
                          <a:latin typeface="Calibri"/>
                          <a:ea typeface="Calibri"/>
                          <a:cs typeface="Calibri"/>
                          <a:sym typeface="Calibri"/>
                        </a:rPr>
                        <a:t>unidadInicial</a:t>
                      </a:r>
                      <a:r>
                        <a:rPr lang="es-ES" sz="1200" dirty="0">
                          <a:solidFill>
                            <a:srgbClr val="4F81BD"/>
                          </a:solidFill>
                          <a:latin typeface="Calibri"/>
                          <a:ea typeface="Calibri"/>
                          <a:cs typeface="Calibri"/>
                          <a:sym typeface="Calibri"/>
                        </a:rPr>
                        <a:t>, T </a:t>
                      </a:r>
                      <a:r>
                        <a:rPr lang="es-ES" sz="1200" dirty="0" err="1">
                          <a:solidFill>
                            <a:srgbClr val="4F81BD"/>
                          </a:solidFill>
                          <a:latin typeface="Calibri"/>
                          <a:ea typeface="Calibri"/>
                          <a:cs typeface="Calibri"/>
                          <a:sym typeface="Calibri"/>
                        </a:rPr>
                        <a:t>unidadFinal</a:t>
                      </a:r>
                      <a:r>
                        <a:rPr lang="es-ES" sz="1200" dirty="0">
                          <a:solidFill>
                            <a:srgbClr val="4F81BD"/>
                          </a:solidFill>
                          <a:latin typeface="Calibri"/>
                          <a:ea typeface="Calibri"/>
                          <a:cs typeface="Calibri"/>
                          <a:sym typeface="Calibri"/>
                        </a:rPr>
                        <a:t>);</a:t>
                      </a:r>
                      <a:endParaRPr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    </a:t>
                      </a:r>
                      <a:endParaRPr sz="1200" dirty="0">
                        <a:solidFill>
                          <a:srgbClr val="4F81BD"/>
                        </a:solidFill>
                        <a:latin typeface="Calibri"/>
                        <a:ea typeface="Calibri"/>
                        <a:cs typeface="Calibri"/>
                        <a:sym typeface="Calibri"/>
                      </a:endParaRPr>
                    </a:p>
                    <a:p>
                      <a:pPr marL="0" lvl="0" indent="0" algn="l" rtl="0">
                        <a:spcBef>
                          <a:spcPts val="0"/>
                        </a:spcBef>
                        <a:spcAft>
                          <a:spcPts val="0"/>
                        </a:spcAft>
                        <a:buNone/>
                      </a:pPr>
                      <a:r>
                        <a:rPr lang="es-ES" sz="1200" dirty="0">
                          <a:solidFill>
                            <a:srgbClr val="4F81BD"/>
                          </a:solidFill>
                          <a:latin typeface="Calibri"/>
                          <a:ea typeface="Calibri"/>
                          <a:cs typeface="Calibri"/>
                          <a:sym typeface="Calibri"/>
                        </a:rPr>
                        <a:t>}</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54" name="Google Shape;254;p32"/>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55" name="Google Shape;255;p3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56" name="Google Shape;256;p32"/>
          <p:cNvGraphicFramePr/>
          <p:nvPr/>
        </p:nvGraphicFramePr>
        <p:xfrm>
          <a:off x="30173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package ec.edu.monster.modelos.utilidades;</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ec.edu.monster.modelos.utilidades.enums.UnidadLongitud;</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import java.util.Map;</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public class ConversorLongitud implements IConversor&lt;UnidadLongitud&gt;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private final Map&lt;UnidadLongitud, Double&gt; factores = Map.of(</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UnidadLongitud.MILIMETRO, 0.001,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UnidadLongitud.CENTIMETRO, 0.01,</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UnidadLongitud.METRO, 1.0,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UnidadLongitud.KILOMETRO, 1000.0,</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UnidadLongitud.YARDA, 0.9144</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ConversorLongitud()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@Override</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public double convertir(double valor, UnidadLongitud unidadOrigen, UnidadLongitud 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(unidadOrigen == null || unidadFinal == null)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IllegalArgumentException("Las unidades no pueden ser null");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if (!factores.containsKey(unidadOrigen) || !factores.containsKey(unidadFinal))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throw new IllegalArgumentException("Unidad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double valorEnBase = valor * factores.get(unidadOrigen);</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return valorEnBase / factores.get(unidadFinal);</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62" name="Google Shape;262;p33"/>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63" name="Google Shape;263;p3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64" name="Google Shape;264;p33"/>
          <p:cNvGraphicFramePr/>
          <p:nvPr/>
        </p:nvGraphicFramePr>
        <p:xfrm>
          <a:off x="30173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dirty="0" err="1">
                          <a:solidFill>
                            <a:srgbClr val="4F81BD"/>
                          </a:solidFill>
                          <a:latin typeface="Calibri"/>
                          <a:ea typeface="Calibri"/>
                          <a:cs typeface="Calibri"/>
                          <a:sym typeface="Calibri"/>
                        </a:rPr>
                        <a:t>package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ec.edu.monster.modelos.utilidades</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ec.edu.monster.modelos.utilidades.enums.UnidadMasa</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import</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java.util.Map</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class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implements</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IConversor</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&gt;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private</a:t>
                      </a:r>
                      <a:r>
                        <a:rPr lang="es-ES" sz="1000" dirty="0">
                          <a:solidFill>
                            <a:srgbClr val="4F81BD"/>
                          </a:solidFill>
                          <a:latin typeface="Calibri"/>
                          <a:ea typeface="Calibri"/>
                          <a:cs typeface="Calibri"/>
                          <a:sym typeface="Calibri"/>
                        </a:rPr>
                        <a:t> final </a:t>
                      </a:r>
                      <a:r>
                        <a:rPr lang="es-ES" sz="1000" dirty="0" err="1">
                          <a:solidFill>
                            <a:srgbClr val="4F81BD"/>
                          </a:solidFill>
                          <a:latin typeface="Calibri"/>
                          <a:ea typeface="Calibri"/>
                          <a:cs typeface="Calibri"/>
                          <a:sym typeface="Calibri"/>
                        </a:rPr>
                        <a:t>Map</a:t>
                      </a:r>
                      <a:r>
                        <a:rPr lang="es-ES" sz="1000" dirty="0">
                          <a:solidFill>
                            <a:srgbClr val="4F81BD"/>
                          </a:solidFill>
                          <a:latin typeface="Calibri"/>
                          <a:ea typeface="Calibri"/>
                          <a:cs typeface="Calibri"/>
                          <a:sym typeface="Calibri"/>
                        </a:rPr>
                        <a:t>&lt;</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&gt; factores = </a:t>
                      </a:r>
                      <a:r>
                        <a:rPr lang="es-ES" sz="1000" dirty="0" err="1">
                          <a:solidFill>
                            <a:srgbClr val="4F81BD"/>
                          </a:solidFill>
                          <a:latin typeface="Calibri"/>
                          <a:ea typeface="Calibri"/>
                          <a:cs typeface="Calibri"/>
                          <a:sym typeface="Calibri"/>
                        </a:rPr>
                        <a:t>Map.of</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UnidadMasa.MILIGRAMO</a:t>
                      </a:r>
                      <a:r>
                        <a:rPr lang="es-ES" sz="1000" dirty="0">
                          <a:solidFill>
                            <a:srgbClr val="4F81BD"/>
                          </a:solidFill>
                          <a:latin typeface="Calibri"/>
                          <a:ea typeface="Calibri"/>
                          <a:cs typeface="Calibri"/>
                          <a:sym typeface="Calibri"/>
                        </a:rPr>
                        <a:t>, 0.001,</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UnidadMasa.GRAMO</a:t>
                      </a:r>
                      <a:r>
                        <a:rPr lang="es-ES" sz="1000" dirty="0">
                          <a:solidFill>
                            <a:srgbClr val="4F81BD"/>
                          </a:solidFill>
                          <a:latin typeface="Calibri"/>
                          <a:ea typeface="Calibri"/>
                          <a:cs typeface="Calibri"/>
                          <a:sym typeface="Calibri"/>
                        </a:rPr>
                        <a:t>, 1.0,</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UnidadMasa.KILOGRAMO</a:t>
                      </a:r>
                      <a:r>
                        <a:rPr lang="es-ES" sz="1000" dirty="0">
                          <a:solidFill>
                            <a:srgbClr val="4F81BD"/>
                          </a:solidFill>
                          <a:latin typeface="Calibri"/>
                          <a:ea typeface="Calibri"/>
                          <a:cs typeface="Calibri"/>
                          <a:sym typeface="Calibri"/>
                        </a:rPr>
                        <a:t>, 1000.0,</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UnidadMasa.TONELADA</a:t>
                      </a:r>
                      <a:r>
                        <a:rPr lang="es-ES" sz="1000" dirty="0">
                          <a:solidFill>
                            <a:srgbClr val="4F81BD"/>
                          </a:solidFill>
                          <a:latin typeface="Calibri"/>
                          <a:ea typeface="Calibri"/>
                          <a:cs typeface="Calibri"/>
                          <a:sym typeface="Calibri"/>
                        </a:rPr>
                        <a:t>, 1_000_000.0,</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UnidadMasa.ONZA</a:t>
                      </a:r>
                      <a:r>
                        <a:rPr lang="es-ES" sz="1000" dirty="0">
                          <a:solidFill>
                            <a:srgbClr val="4F81BD"/>
                          </a:solidFill>
                          <a:latin typeface="Calibri"/>
                          <a:ea typeface="Calibri"/>
                          <a:cs typeface="Calibri"/>
                          <a:sym typeface="Calibri"/>
                        </a:rPr>
                        <a:t>, 28.3495</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ConversorMasa</a:t>
                      </a: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@Override</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public</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convertir(</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valor,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UnidadMasa</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("Las unidades no pueden ser </a:t>
                      </a:r>
                      <a:r>
                        <a:rPr lang="es-ES" sz="1000" dirty="0" err="1">
                          <a:solidFill>
                            <a:srgbClr val="4F81BD"/>
                          </a:solidFill>
                          <a:latin typeface="Calibri"/>
                          <a:ea typeface="Calibri"/>
                          <a:cs typeface="Calibri"/>
                          <a:sym typeface="Calibri"/>
                        </a:rPr>
                        <a:t>null</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if</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factores.containsKey</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factores.containsKey</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throw</a:t>
                      </a:r>
                      <a:r>
                        <a:rPr lang="es-ES" sz="1000" dirty="0">
                          <a:solidFill>
                            <a:srgbClr val="4F81BD"/>
                          </a:solidFill>
                          <a:latin typeface="Calibri"/>
                          <a:ea typeface="Calibri"/>
                          <a:cs typeface="Calibri"/>
                          <a:sym typeface="Calibri"/>
                        </a:rPr>
                        <a:t> new </a:t>
                      </a:r>
                      <a:r>
                        <a:rPr lang="es-ES" sz="1000" dirty="0" err="1">
                          <a:solidFill>
                            <a:srgbClr val="4F81BD"/>
                          </a:solidFill>
                          <a:latin typeface="Calibri"/>
                          <a:ea typeface="Calibri"/>
                          <a:cs typeface="Calibri"/>
                          <a:sym typeface="Calibri"/>
                        </a:rPr>
                        <a:t>IllegalArgumentException</a:t>
                      </a:r>
                      <a:r>
                        <a:rPr lang="es-ES" sz="1000" dirty="0">
                          <a:solidFill>
                            <a:srgbClr val="4F81BD"/>
                          </a:solidFill>
                          <a:latin typeface="Calibri"/>
                          <a:ea typeface="Calibri"/>
                          <a:cs typeface="Calibri"/>
                          <a:sym typeface="Calibri"/>
                        </a:rPr>
                        <a:t>("Unidad no soportada");</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double</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valorEnBase</a:t>
                      </a:r>
                      <a:r>
                        <a:rPr lang="es-ES" sz="1000" dirty="0">
                          <a:solidFill>
                            <a:srgbClr val="4F81BD"/>
                          </a:solidFill>
                          <a:latin typeface="Calibri"/>
                          <a:ea typeface="Calibri"/>
                          <a:cs typeface="Calibri"/>
                          <a:sym typeface="Calibri"/>
                        </a:rPr>
                        <a:t> = valor * </a:t>
                      </a:r>
                      <a:r>
                        <a:rPr lang="es-ES" sz="1000" dirty="0" err="1">
                          <a:solidFill>
                            <a:srgbClr val="4F81BD"/>
                          </a:solidFill>
                          <a:latin typeface="Calibri"/>
                          <a:ea typeface="Calibri"/>
                          <a:cs typeface="Calibri"/>
                          <a:sym typeface="Calibri"/>
                        </a:rPr>
                        <a:t>factores.get</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unidadOrigen</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return</a:t>
                      </a:r>
                      <a:r>
                        <a:rPr lang="es-ES" sz="1000" dirty="0">
                          <a:solidFill>
                            <a:srgbClr val="4F81BD"/>
                          </a:solidFill>
                          <a:latin typeface="Calibri"/>
                          <a:ea typeface="Calibri"/>
                          <a:cs typeface="Calibri"/>
                          <a:sym typeface="Calibri"/>
                        </a:rPr>
                        <a:t> </a:t>
                      </a:r>
                      <a:r>
                        <a:rPr lang="es-ES" sz="1000" dirty="0" err="1">
                          <a:solidFill>
                            <a:srgbClr val="4F81BD"/>
                          </a:solidFill>
                          <a:latin typeface="Calibri"/>
                          <a:ea typeface="Calibri"/>
                          <a:cs typeface="Calibri"/>
                          <a:sym typeface="Calibri"/>
                        </a:rPr>
                        <a:t>valorEnBase</a:t>
                      </a:r>
                      <a:r>
                        <a:rPr lang="es-ES" sz="1000" dirty="0">
                          <a:solidFill>
                            <a:srgbClr val="4F81BD"/>
                          </a:solidFill>
                          <a:latin typeface="Calibri"/>
                          <a:ea typeface="Calibri"/>
                          <a:cs typeface="Calibri"/>
                          <a:sym typeface="Calibri"/>
                        </a:rPr>
                        <a:t> / </a:t>
                      </a:r>
                      <a:r>
                        <a:rPr lang="es-ES" sz="1000" dirty="0" err="1">
                          <a:solidFill>
                            <a:srgbClr val="4F81BD"/>
                          </a:solidFill>
                          <a:latin typeface="Calibri"/>
                          <a:ea typeface="Calibri"/>
                          <a:cs typeface="Calibri"/>
                          <a:sym typeface="Calibri"/>
                        </a:rPr>
                        <a:t>factores.get</a:t>
                      </a:r>
                      <a:r>
                        <a:rPr lang="es-ES" sz="1000" dirty="0">
                          <a:solidFill>
                            <a:srgbClr val="4F81BD"/>
                          </a:solidFill>
                          <a:latin typeface="Calibri"/>
                          <a:ea typeface="Calibri"/>
                          <a:cs typeface="Calibri"/>
                          <a:sym typeface="Calibri"/>
                        </a:rPr>
                        <a:t>(</a:t>
                      </a:r>
                      <a:r>
                        <a:rPr lang="es-ES" sz="1000" dirty="0" err="1">
                          <a:solidFill>
                            <a:srgbClr val="4F81BD"/>
                          </a:solidFill>
                          <a:latin typeface="Calibri"/>
                          <a:ea typeface="Calibri"/>
                          <a:cs typeface="Calibri"/>
                          <a:sym typeface="Calibri"/>
                        </a:rPr>
                        <a:t>unidadFinal</a:t>
                      </a: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    }</a:t>
                      </a:r>
                      <a:endParaRPr sz="1000" dirty="0">
                        <a:solidFill>
                          <a:srgbClr val="4F81BD"/>
                        </a:solidFill>
                        <a:latin typeface="Calibri"/>
                        <a:ea typeface="Calibri"/>
                        <a:cs typeface="Calibri"/>
                        <a:sym typeface="Calibri"/>
                      </a:endParaRPr>
                    </a:p>
                    <a:p>
                      <a:pPr marL="0" lvl="0" indent="0" algn="l" rtl="0">
                        <a:spcBef>
                          <a:spcPts val="0"/>
                        </a:spcBef>
                        <a:spcAft>
                          <a:spcPts val="0"/>
                        </a:spcAft>
                        <a:buNone/>
                      </a:pPr>
                      <a:r>
                        <a:rPr lang="es-ES" sz="1000" dirty="0">
                          <a:solidFill>
                            <a:srgbClr val="4F81BD"/>
                          </a:solidFill>
                          <a:latin typeface="Calibri"/>
                          <a:ea typeface="Calibri"/>
                          <a:cs typeface="Calibri"/>
                          <a:sym typeface="Calibri"/>
                        </a:rPr>
                        <a:t>}</a:t>
                      </a:r>
                      <a:endParaRPr sz="10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0" name="Google Shape;270;p34"/>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1" name="Google Shape;271;p3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72" name="Google Shape;272;p34"/>
          <p:cNvGraphicFramePr/>
          <p:nvPr/>
        </p:nvGraphicFramePr>
        <p:xfrm>
          <a:off x="2891513" y="2209650"/>
          <a:ext cx="6062675" cy="43027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ec.edu.monster.modelos.utilidades;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ec.edu.monster.modelos.utilidades.enums.UnidadTemperatura;</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ec.edu.monster.modelos.utilidades.enums.UnidadTemperatura.CELSIUS;</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ec.edu.monster.modelos.utilidades.enums.UnidadTemperatura.FAHRENHEIT;</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ec.edu.monster.modelos.utilidades.enums.UnidadTemperatura.KELVIN;</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static ec.edu.monster.modelos.utilidades.enums.UnidadTemperatura.RANKINE;</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ConversorTemperatura implements IConversor&lt;UnidadTemperatura&gt;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ConversorTemperatura()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@Override</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UnidadTemperatura origen, UnidadTemperatura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null || destino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IllegalArgumentException("Las unidades no pueden ser null");</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(origen ==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valor;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78" name="Google Shape;278;p35"/>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Ahora se procede a completar el resto de la lógica, donde las utilidades exponen la lógica (utilizando factores de conversión y fórmulas) como se puede ver en las tablas aplicando una interfaz con el fin de hacer que los servicios puedan inyectar cualquier tipo de conversión sin limitarse a uno en concreto como se puede ver en la Tabla del Servicio</a:t>
            </a:r>
            <a:endParaRPr sz="1400" dirty="0">
              <a:latin typeface="Cambria"/>
              <a:ea typeface="Cambria"/>
              <a:cs typeface="Cambria"/>
              <a:sym typeface="Cambria"/>
            </a:endParaRPr>
          </a:p>
        </p:txBody>
      </p:sp>
      <p:sp>
        <p:nvSpPr>
          <p:cNvPr id="279" name="Google Shape;279;p3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80" name="Google Shape;280;p35"/>
          <p:cNvGraphicFramePr/>
          <p:nvPr/>
        </p:nvGraphicFramePr>
        <p:xfrm>
          <a:off x="2891513" y="1838175"/>
          <a:ext cx="6062675" cy="500380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000">
                          <a:solidFill>
                            <a:srgbClr val="4F81BD"/>
                          </a:solidFill>
                          <a:latin typeface="Calibri"/>
                          <a:ea typeface="Calibri"/>
                          <a:cs typeface="Calibri"/>
                          <a:sym typeface="Calibri"/>
                        </a:rPr>
                        <a:t>return switch (origen)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+ 273.15)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- 32)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- 32) * 5 / 9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- 273.15;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- 273.15) * 9 / 5 + 32;</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valor * 9 / 5;</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RANKINE -&gt; switch (destino)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CELSIUS -&gt; (valor - 491.67)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FAHRENHEIT -&gt; valor - 459.67;</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case KELVIN -&gt; valor * 5 / 9;</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default -&gt; throw new IllegalArgumentException("Conversión no soportada");</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    }</a:t>
                      </a:r>
                      <a:endParaRPr sz="1000">
                        <a:solidFill>
                          <a:srgbClr val="4F81BD"/>
                        </a:solidFill>
                        <a:latin typeface="Calibri"/>
                        <a:ea typeface="Calibri"/>
                        <a:cs typeface="Calibri"/>
                        <a:sym typeface="Calibri"/>
                      </a:endParaRPr>
                    </a:p>
                    <a:p>
                      <a:pPr marL="0" lvl="0" indent="0" algn="l" rtl="0">
                        <a:spcBef>
                          <a:spcPts val="0"/>
                        </a:spcBef>
                        <a:spcAft>
                          <a:spcPts val="0"/>
                        </a:spcAft>
                        <a:buNone/>
                      </a:pPr>
                      <a:r>
                        <a:rPr lang="es-ES" sz="1000">
                          <a:solidFill>
                            <a:srgbClr val="4F81BD"/>
                          </a:solidFill>
                          <a:latin typeface="Calibri"/>
                          <a:ea typeface="Calibri"/>
                          <a:cs typeface="Calibri"/>
                          <a:sym typeface="Calibri"/>
                        </a:rPr>
                        <a:t>}</a:t>
                      </a:r>
                      <a:endParaRPr sz="8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86" name="Google Shape;286;p36"/>
          <p:cNvSpPr txBox="1">
            <a:spLocks noGrp="1"/>
          </p:cNvSpPr>
          <p:nvPr>
            <p:ph type="body" idx="1"/>
          </p:nvPr>
        </p:nvSpPr>
        <p:spPr>
          <a:xfrm>
            <a:off x="581200" y="3037175"/>
            <a:ext cx="2132400" cy="26058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400" dirty="0">
                <a:latin typeface="Cambria"/>
                <a:ea typeface="Cambria"/>
                <a:cs typeface="Cambria"/>
                <a:sym typeface="Cambria"/>
              </a:rPr>
              <a:t>Aplicando una interfaz con el fin de hacer que el servicio pueda inyectar cualquier tipo de conversión sin limitarse a uno en concreto como se puede ver en la Tabla del Servicio</a:t>
            </a:r>
            <a:endParaRPr sz="1400" dirty="0">
              <a:latin typeface="Cambria"/>
              <a:ea typeface="Cambria"/>
              <a:cs typeface="Cambria"/>
              <a:sym typeface="Cambria"/>
            </a:endParaRPr>
          </a:p>
        </p:txBody>
      </p:sp>
      <p:sp>
        <p:nvSpPr>
          <p:cNvPr id="287" name="Google Shape;287;p3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288" name="Google Shape;288;p36"/>
          <p:cNvGraphicFramePr/>
          <p:nvPr/>
        </p:nvGraphicFramePr>
        <p:xfrm>
          <a:off x="2891513" y="2557313"/>
          <a:ext cx="6062675" cy="360172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1160900">
                <a:tc>
                  <a:txBody>
                    <a:bodyPr/>
                    <a:lstStyle/>
                    <a:p>
                      <a:pPr marL="0" lvl="0" indent="0" algn="l" rtl="0">
                        <a:spcBef>
                          <a:spcPts val="0"/>
                        </a:spcBef>
                        <a:spcAft>
                          <a:spcPts val="0"/>
                        </a:spcAft>
                        <a:buNone/>
                      </a:pPr>
                      <a:r>
                        <a:rPr lang="es-ES" sz="1200">
                          <a:solidFill>
                            <a:srgbClr val="4F81BD"/>
                          </a:solidFill>
                          <a:latin typeface="Calibri"/>
                          <a:ea typeface="Calibri"/>
                          <a:cs typeface="Calibri"/>
                          <a:sym typeface="Calibri"/>
                        </a:rPr>
                        <a:t>package ec.edu.monster.servicios;</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import ec.edu.monster.modelos.utilidades.IConversor;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public class ServicioConversor&lt;T&gt;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private final IConversor&lt;T&gt;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ServicioConversor(IConversor&lt;T&gt; conversor)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this.conversor =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public double convertir(double valor, T origen, T destino)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if (conversor == null)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throw new IllegalStateException("No se ha inyectado un conversor");</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return conversor.convertir(valor, origen, destino);</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    }</a:t>
                      </a:r>
                      <a:endParaRPr sz="1200">
                        <a:solidFill>
                          <a:srgbClr val="4F81BD"/>
                        </a:solidFill>
                        <a:latin typeface="Calibri"/>
                        <a:ea typeface="Calibri"/>
                        <a:cs typeface="Calibri"/>
                        <a:sym typeface="Calibri"/>
                      </a:endParaRPr>
                    </a:p>
                    <a:p>
                      <a:pPr marL="0" lvl="0" indent="0" algn="l" rtl="0">
                        <a:spcBef>
                          <a:spcPts val="0"/>
                        </a:spcBef>
                        <a:spcAft>
                          <a:spcPts val="0"/>
                        </a:spcAft>
                        <a:buNone/>
                      </a:pPr>
                      <a:r>
                        <a:rPr lang="es-ES" sz="1200">
                          <a:solidFill>
                            <a:srgbClr val="4F81BD"/>
                          </a:solidFill>
                          <a:latin typeface="Calibri"/>
                          <a:ea typeface="Calibri"/>
                          <a:cs typeface="Calibri"/>
                          <a:sym typeface="Calibri"/>
                        </a:rPr>
                        <a:t>}</a:t>
                      </a:r>
                      <a:endParaRPr sz="120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294" name="Google Shape;294;p37"/>
          <p:cNvSpPr txBox="1">
            <a:spLocks noGrp="1"/>
          </p:cNvSpPr>
          <p:nvPr>
            <p:ph type="body" idx="1"/>
          </p:nvPr>
        </p:nvSpPr>
        <p:spPr>
          <a:xfrm>
            <a:off x="490582" y="2007528"/>
            <a:ext cx="3323537" cy="4558800"/>
          </a:xfrm>
          <a:prstGeom prst="rect">
            <a:avLst/>
          </a:prstGeom>
          <a:noFill/>
          <a:ln>
            <a:noFill/>
          </a:ln>
        </p:spPr>
        <p:txBody>
          <a:bodyPr spcFirstLastPara="1" wrap="square" lIns="91425" tIns="45700" rIns="91425" bIns="45700" anchor="ctr" anchorCtr="0">
            <a:normAutofit/>
          </a:bodyPr>
          <a:lstStyle/>
          <a:p>
            <a:pPr marL="342900" marR="0" lvl="0" indent="-342900" algn="just" rtl="0">
              <a:lnSpc>
                <a:spcPct val="107000"/>
              </a:lnSpc>
              <a:spcBef>
                <a:spcPts val="0"/>
              </a:spcBef>
              <a:spcAft>
                <a:spcPts val="0"/>
              </a:spcAft>
              <a:buSzPts val="1785"/>
              <a:buChar char="∙"/>
            </a:pPr>
            <a:r>
              <a:rPr lang="es-ES" sz="1600" b="1" dirty="0">
                <a:latin typeface="Cambria"/>
                <a:ea typeface="Cambria"/>
                <a:cs typeface="Cambria"/>
                <a:sym typeface="Cambria"/>
              </a:rPr>
              <a:t>1.2.6 	Ejecución en Servidor</a:t>
            </a:r>
            <a:endParaRPr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dirty="0">
                <a:latin typeface="Cambria"/>
                <a:ea typeface="Cambria"/>
                <a:cs typeface="Cambria"/>
                <a:sym typeface="Cambria"/>
              </a:rPr>
              <a:t>Se ejecuta el programa corriendo en nuestro servidor payara y se comprueba que el contrato WSDL esté correcto en la ruta (En los puertos de Docker se configuro 9080 para payara): </a:t>
            </a:r>
          </a:p>
          <a:p>
            <a:pPr marL="342900" lvl="0" indent="-323850" algn="just">
              <a:lnSpc>
                <a:spcPct val="107000"/>
              </a:lnSpc>
              <a:spcBef>
                <a:spcPts val="0"/>
              </a:spcBef>
              <a:buSzPts val="1356"/>
              <a:buFont typeface="Cambria"/>
              <a:buChar char="∙"/>
            </a:pPr>
            <a:endParaRPr lang="es-ES" sz="1600" dirty="0">
              <a:latin typeface="Cambria"/>
              <a:ea typeface="Cambria"/>
              <a:cs typeface="Cambria"/>
              <a:sym typeface="Cambria"/>
            </a:endParaRPr>
          </a:p>
          <a:p>
            <a:pPr marL="342900" lvl="0" indent="-323850" algn="just">
              <a:lnSpc>
                <a:spcPct val="107000"/>
              </a:lnSpc>
              <a:spcBef>
                <a:spcPts val="0"/>
              </a:spcBef>
              <a:buSzPts val="1356"/>
              <a:buFont typeface="Cambria"/>
              <a:buChar char="∙"/>
            </a:pPr>
            <a:r>
              <a:rPr lang="es-ES" sz="1600" i="1" dirty="0">
                <a:solidFill>
                  <a:schemeClr val="accent1">
                    <a:lumMod val="60000"/>
                    <a:lumOff val="40000"/>
                  </a:schemeClr>
                </a:solidFill>
                <a:latin typeface="Cambria"/>
                <a:ea typeface="Cambria"/>
                <a:cs typeface="Cambria"/>
                <a:sym typeface="Cambria"/>
              </a:rPr>
              <a:t>http://localhost:9080/WS_CON_UNI_JAVA_SOAP/WSConversorUnidades?wsdl</a:t>
            </a:r>
            <a:endParaRPr sz="1600" i="1" dirty="0">
              <a:solidFill>
                <a:schemeClr val="accent1">
                  <a:lumMod val="60000"/>
                  <a:lumOff val="40000"/>
                </a:schemeClr>
              </a:solidFill>
              <a:latin typeface="Cambria"/>
              <a:ea typeface="Cambria"/>
              <a:cs typeface="Cambria"/>
              <a:sym typeface="Cambria"/>
            </a:endParaRPr>
          </a:p>
          <a:p>
            <a:pPr marL="342900" marR="0" lvl="0" indent="-245629" algn="just" rtl="0">
              <a:lnSpc>
                <a:spcPct val="107000"/>
              </a:lnSpc>
              <a:spcBef>
                <a:spcPts val="0"/>
              </a:spcBef>
              <a:spcAft>
                <a:spcPts val="0"/>
              </a:spcAft>
              <a:buSzPts val="1656"/>
              <a:buFont typeface="Noto Sans Symbols"/>
              <a:buNone/>
            </a:pPr>
            <a:endParaRPr sz="1800" dirty="0">
              <a:latin typeface="Cambria"/>
              <a:ea typeface="Cambria"/>
              <a:cs typeface="Cambria"/>
              <a:sym typeface="Cambria"/>
            </a:endParaRPr>
          </a:p>
        </p:txBody>
      </p:sp>
      <p:sp>
        <p:nvSpPr>
          <p:cNvPr id="295" name="Google Shape;295;p37"/>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SERVIDOR SOAP</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2729AD37-130F-7105-4F60-104A99EAAF90}"/>
              </a:ext>
            </a:extLst>
          </p:cNvPr>
          <p:cNvPicPr>
            <a:picLocks noChangeAspect="1"/>
          </p:cNvPicPr>
          <p:nvPr/>
        </p:nvPicPr>
        <p:blipFill>
          <a:blip r:embed="rId3"/>
          <a:stretch>
            <a:fillRect/>
          </a:stretch>
        </p:blipFill>
        <p:spPr>
          <a:xfrm>
            <a:off x="4084969" y="1873512"/>
            <a:ext cx="4829434" cy="1082902"/>
          </a:xfrm>
          <a:prstGeom prst="rect">
            <a:avLst/>
          </a:prstGeom>
        </p:spPr>
      </p:pic>
      <p:pic>
        <p:nvPicPr>
          <p:cNvPr id="5" name="Picture 4">
            <a:extLst>
              <a:ext uri="{FF2B5EF4-FFF2-40B4-BE49-F238E27FC236}">
                <a16:creationId xmlns:a16="http://schemas.microsoft.com/office/drawing/2014/main" id="{99976573-4D5F-ACE2-C534-54B4D4A04A7C}"/>
              </a:ext>
            </a:extLst>
          </p:cNvPr>
          <p:cNvPicPr>
            <a:picLocks noChangeAspect="1"/>
          </p:cNvPicPr>
          <p:nvPr/>
        </p:nvPicPr>
        <p:blipFill>
          <a:blip r:embed="rId4"/>
          <a:stretch>
            <a:fillRect/>
          </a:stretch>
        </p:blipFill>
        <p:spPr>
          <a:xfrm>
            <a:off x="4201643" y="2956414"/>
            <a:ext cx="4596085" cy="366995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02" name="Google Shape;302;p3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303" name="Google Shape;303;p38"/>
          <p:cNvSpPr txBox="1">
            <a:spLocks noGrp="1"/>
          </p:cNvSpPr>
          <p:nvPr>
            <p:ph type="body" idx="1"/>
          </p:nvPr>
        </p:nvSpPr>
        <p:spPr>
          <a:xfrm>
            <a:off x="498873" y="2079535"/>
            <a:ext cx="8581500" cy="1471595"/>
          </a:xfrm>
          <a:prstGeom prst="rect">
            <a:avLst/>
          </a:prstGeom>
          <a:noFill/>
          <a:ln>
            <a:noFill/>
          </a:ln>
        </p:spPr>
        <p:txBody>
          <a:bodyPr spcFirstLastPara="1" wrap="square" lIns="91425" tIns="45700" rIns="91425" bIns="45700" anchor="ctr" anchorCtr="0">
            <a:noAutofit/>
          </a:bodyPr>
          <a:lstStyle/>
          <a:p>
            <a:pPr marL="0" lvl="0" indent="0" algn="just"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1.3  CREACIÓN DEL PROYECTO CLIENTE CONSOLA</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Para el cliente consola se uso NetBeans en el cual se debe crear un nuevo proyecto para ello se seleccionó el gestor de proyectos Java </a:t>
            </a:r>
            <a:r>
              <a:rPr lang="es-MX" sz="1400" dirty="0" err="1">
                <a:latin typeface="Cambria"/>
                <a:ea typeface="Cambria"/>
                <a:cs typeface="Cambria"/>
                <a:sym typeface="Cambria"/>
              </a:rPr>
              <a:t>with</a:t>
            </a:r>
            <a:r>
              <a:rPr lang="es-MX" sz="1400" dirty="0">
                <a:latin typeface="Cambria"/>
                <a:ea typeface="Cambria"/>
                <a:cs typeface="Cambria"/>
                <a:sym typeface="Cambria"/>
              </a:rPr>
              <a:t> Maven, el tipo de aplicativo que se usa es Java </a:t>
            </a:r>
            <a:r>
              <a:rPr lang="es-MX" sz="1400" dirty="0" err="1">
                <a:latin typeface="Cambria"/>
                <a:ea typeface="Cambria"/>
                <a:cs typeface="Cambria"/>
                <a:sym typeface="Cambria"/>
              </a:rPr>
              <a:t>Application</a:t>
            </a:r>
            <a:r>
              <a:rPr lang="es-MX" sz="1400" dirty="0">
                <a:latin typeface="Cambria"/>
                <a:ea typeface="Cambria"/>
                <a:cs typeface="Cambria"/>
                <a:sym typeface="Cambria"/>
              </a:rPr>
              <a:t>.</a:t>
            </a:r>
          </a:p>
          <a:p>
            <a:pPr marL="422426" lvl="0" indent="-285750" algn="just" rtl="0">
              <a:lnSpc>
                <a:spcPct val="115000"/>
              </a:lnSpc>
              <a:spcBef>
                <a:spcPts val="0"/>
              </a:spcBef>
              <a:spcAft>
                <a:spcPts val="0"/>
              </a:spcAft>
              <a:buSzPct val="100064"/>
              <a:buFont typeface="Arial" panose="020B0604020202020204" pitchFamily="34" charset="0"/>
              <a:buChar char="•"/>
            </a:pPr>
            <a:r>
              <a:rPr lang="es-MX" sz="1400" dirty="0">
                <a:latin typeface="Cambria"/>
                <a:ea typeface="Cambria"/>
                <a:cs typeface="Cambria"/>
                <a:sym typeface="Cambria"/>
              </a:rPr>
              <a:t>Se asigna un nombre al proyecto, se da una </a:t>
            </a:r>
            <a:r>
              <a:rPr lang="es-MX" sz="1400" dirty="0" err="1">
                <a:latin typeface="Cambria"/>
                <a:ea typeface="Cambria"/>
                <a:cs typeface="Cambria"/>
                <a:sym typeface="Cambria"/>
              </a:rPr>
              <a:t>ubicacion</a:t>
            </a:r>
            <a:r>
              <a:rPr lang="es-MX" sz="1400" dirty="0">
                <a:latin typeface="Cambria"/>
                <a:ea typeface="Cambria"/>
                <a:cs typeface="Cambria"/>
                <a:sym typeface="Cambria"/>
              </a:rPr>
              <a:t>, y se configura el </a:t>
            </a:r>
            <a:r>
              <a:rPr lang="es-MX" sz="1400" dirty="0" err="1">
                <a:latin typeface="Cambria"/>
                <a:ea typeface="Cambria"/>
                <a:cs typeface="Cambria"/>
                <a:sym typeface="Cambria"/>
              </a:rPr>
              <a:t>group</a:t>
            </a:r>
            <a:r>
              <a:rPr lang="es-MX" sz="1400" dirty="0">
                <a:latin typeface="Cambria"/>
                <a:ea typeface="Cambria"/>
                <a:cs typeface="Cambria"/>
                <a:sym typeface="Cambria"/>
              </a:rPr>
              <a:t> id con el que se quiere nombrar.</a:t>
            </a:r>
          </a:p>
          <a:p>
            <a:pPr marL="0" lvl="0" indent="0" algn="l" rtl="0">
              <a:lnSpc>
                <a:spcPct val="115000"/>
              </a:lnSpc>
              <a:spcBef>
                <a:spcPts val="1200"/>
              </a:spcBef>
              <a:spcAft>
                <a:spcPts val="1200"/>
              </a:spcAft>
              <a:buSzPct val="99162"/>
              <a:buNone/>
            </a:pPr>
            <a:endParaRPr sz="1400" dirty="0">
              <a:latin typeface="Cambria"/>
              <a:ea typeface="Cambria"/>
              <a:cs typeface="Cambria"/>
              <a:sym typeface="Cambria"/>
            </a:endParaRPr>
          </a:p>
        </p:txBody>
      </p:sp>
      <p:pic>
        <p:nvPicPr>
          <p:cNvPr id="3" name="Picture 2">
            <a:extLst>
              <a:ext uri="{FF2B5EF4-FFF2-40B4-BE49-F238E27FC236}">
                <a16:creationId xmlns:a16="http://schemas.microsoft.com/office/drawing/2014/main" id="{D21FD43A-51C3-C83D-9282-DAFC6FBE4777}"/>
              </a:ext>
            </a:extLst>
          </p:cNvPr>
          <p:cNvPicPr>
            <a:picLocks noChangeAspect="1"/>
          </p:cNvPicPr>
          <p:nvPr/>
        </p:nvPicPr>
        <p:blipFill>
          <a:blip r:embed="rId3"/>
          <a:stretch>
            <a:fillRect/>
          </a:stretch>
        </p:blipFill>
        <p:spPr>
          <a:xfrm>
            <a:off x="450353" y="3728330"/>
            <a:ext cx="4339270" cy="2928165"/>
          </a:xfrm>
          <a:prstGeom prst="rect">
            <a:avLst/>
          </a:prstGeom>
        </p:spPr>
      </p:pic>
      <p:pic>
        <p:nvPicPr>
          <p:cNvPr id="5" name="Picture 4">
            <a:extLst>
              <a:ext uri="{FF2B5EF4-FFF2-40B4-BE49-F238E27FC236}">
                <a16:creationId xmlns:a16="http://schemas.microsoft.com/office/drawing/2014/main" id="{00E5A95D-B541-BC83-1B1A-1FB6BF5A15C9}"/>
              </a:ext>
            </a:extLst>
          </p:cNvPr>
          <p:cNvPicPr>
            <a:picLocks noChangeAspect="1"/>
          </p:cNvPicPr>
          <p:nvPr/>
        </p:nvPicPr>
        <p:blipFill>
          <a:blip r:embed="rId4"/>
          <a:stretch>
            <a:fillRect/>
          </a:stretch>
        </p:blipFill>
        <p:spPr>
          <a:xfrm>
            <a:off x="5162443" y="3728330"/>
            <a:ext cx="3848433" cy="252243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9"/>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DESARROLLO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OBJETIVO</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accent2"/>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SERVIDOR SOAP</a:t>
            </a:r>
            <a:endParaRPr sz="1400" b="0" i="0" u="none" strike="noStrike" cap="none" dirty="0">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FFFF00"/>
              </a:buClr>
              <a:buSzPts val="1104"/>
              <a:buFont typeface="Noto Sans Symbols"/>
              <a:buChar char="◼"/>
            </a:pPr>
            <a:r>
              <a:rPr lang="es-ES" sz="1200" b="1" i="0" u="none" strike="noStrike" cap="none"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ESCRITORIO</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WEB</a:t>
            </a:r>
            <a:endParaRPr sz="1400" b="0" i="0" u="none" strike="noStrike" cap="none" dirty="0">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CREACIÓN DEL PROYECTO – CLIENTE MOVIL</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CONCLUSIONES</a:t>
            </a:r>
            <a:endParaRPr sz="1400" b="0" i="0" u="none" strike="noStrike" cap="none" dirty="0">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dirty="0">
                <a:solidFill>
                  <a:schemeClr val="lt1"/>
                </a:solidFill>
                <a:latin typeface="Gill Sans"/>
                <a:ea typeface="Gill Sans"/>
                <a:cs typeface="Gill Sans"/>
                <a:sym typeface="Gill Sans"/>
              </a:rPr>
              <a:t>RECOMENDACIONES</a:t>
            </a:r>
            <a:endParaRPr sz="1400" b="0" i="0" u="none" strike="noStrike" cap="none" dirty="0">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11" name="Google Shape;311;p3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2" name="Google Shape;312;p39"/>
          <p:cNvSpPr txBox="1">
            <a:spLocks noGrp="1"/>
          </p:cNvSpPr>
          <p:nvPr>
            <p:ph type="body" idx="1"/>
          </p:nvPr>
        </p:nvSpPr>
        <p:spPr>
          <a:xfrm>
            <a:off x="581192" y="1785292"/>
            <a:ext cx="8581500" cy="2149500"/>
          </a:xfrm>
          <a:prstGeom prst="rect">
            <a:avLst/>
          </a:prstGeom>
          <a:noFill/>
          <a:ln>
            <a:noFill/>
          </a:ln>
        </p:spPr>
        <p:txBody>
          <a:bodyPr spcFirstLastPara="1" wrap="square" lIns="91425" tIns="45700" rIns="91425" bIns="45700" anchor="ctr" anchorCtr="0">
            <a:normAutofit/>
          </a:bodyPr>
          <a:lstStyle/>
          <a:p>
            <a:pPr marL="415036" indent="-285750">
              <a:lnSpc>
                <a:spcPct val="115000"/>
              </a:lnSpc>
              <a:spcBef>
                <a:spcPts val="0"/>
              </a:spcBef>
              <a:buSzPts val="1564"/>
              <a:buFont typeface="Arial" panose="020B0604020202020204" pitchFamily="34" charset="0"/>
              <a:buChar char="•"/>
            </a:pPr>
            <a:r>
              <a:rPr lang="es-ES" sz="1564" dirty="0">
                <a:latin typeface="Cambria"/>
                <a:ea typeface="Cambria"/>
                <a:cs typeface="Cambria"/>
                <a:sym typeface="Cambria"/>
              </a:rPr>
              <a:t>Una vez que se creó el proyecto se debe generar los diferentes paquetes, donde se colocarán los archivos con código fuente, se deberá ejecutar desde el archivo principal que se va a crear</a:t>
            </a:r>
            <a:endParaRPr sz="1564" dirty="0">
              <a:latin typeface="Cambria"/>
              <a:ea typeface="Cambria"/>
              <a:cs typeface="Cambria"/>
              <a:sym typeface="Cambria"/>
            </a:endParaRPr>
          </a:p>
          <a:p>
            <a:pPr marL="0" lvl="0" indent="0" algn="l" rtl="0">
              <a:lnSpc>
                <a:spcPct val="115000"/>
              </a:lnSpc>
              <a:spcBef>
                <a:spcPts val="1200"/>
              </a:spcBef>
              <a:spcAft>
                <a:spcPts val="1200"/>
              </a:spcAft>
              <a:buSzPts val="1656"/>
              <a:buNone/>
            </a:pPr>
            <a:endParaRPr sz="1670" dirty="0">
              <a:latin typeface="Cambria"/>
              <a:ea typeface="Cambria"/>
              <a:cs typeface="Cambria"/>
              <a:sym typeface="Cambria"/>
            </a:endParaRPr>
          </a:p>
        </p:txBody>
      </p:sp>
      <p:pic>
        <p:nvPicPr>
          <p:cNvPr id="3" name="Picture 2">
            <a:extLst>
              <a:ext uri="{FF2B5EF4-FFF2-40B4-BE49-F238E27FC236}">
                <a16:creationId xmlns:a16="http://schemas.microsoft.com/office/drawing/2014/main" id="{2288EAEA-F5FC-40F7-3D9D-6661D8C023E6}"/>
              </a:ext>
            </a:extLst>
          </p:cNvPr>
          <p:cNvPicPr>
            <a:picLocks noChangeAspect="1"/>
          </p:cNvPicPr>
          <p:nvPr/>
        </p:nvPicPr>
        <p:blipFill>
          <a:blip r:embed="rId3"/>
          <a:stretch>
            <a:fillRect/>
          </a:stretch>
        </p:blipFill>
        <p:spPr>
          <a:xfrm>
            <a:off x="3121000" y="3348615"/>
            <a:ext cx="3501883" cy="299354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19" name="Google Shape;319;p40"/>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
        <p:nvSpPr>
          <p:cNvPr id="320" name="Google Shape;320;p4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1" name="Google Shape;321;p40"/>
          <p:cNvGraphicFramePr/>
          <p:nvPr>
            <p:extLst>
              <p:ext uri="{D42A27DB-BD31-4B8C-83A1-F6EECF244321}">
                <p14:modId xmlns:p14="http://schemas.microsoft.com/office/powerpoint/2010/main" val="15472153"/>
              </p:ext>
            </p:extLst>
          </p:nvPr>
        </p:nvGraphicFramePr>
        <p:xfrm>
          <a:off x="2964625" y="1876275"/>
          <a:ext cx="6062675" cy="498856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4701300">
                <a:tc>
                  <a:txBody>
                    <a:bodyPr/>
                    <a:lstStyle/>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ec.edu.monster.configuracion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io.github.cdimascio.dotenv.Dotenv</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java.io.File</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java.net.URISyntaxException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java.net.MalformedURLException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java.net.URL;</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Lee la configuración del servicio sin dejar direcciones dentro del código. */</a:t>
                      </a:r>
                    </a:p>
                    <a:p>
                      <a:pPr marL="0" lvl="0" indent="0" algn="l" rtl="0">
                        <a:spcBef>
                          <a:spcPts val="0"/>
                        </a:spcBef>
                        <a:spcAft>
                          <a:spcPts val="0"/>
                        </a:spcAft>
                        <a:buClr>
                          <a:schemeClr val="dk1"/>
                        </a:buClr>
                        <a:buSzPts val="1100"/>
                        <a:buFont typeface="Arial"/>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SoapConfig</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ARCHIVO_ENV = ".</a:t>
                      </a:r>
                      <a:r>
                        <a:rPr lang="es-ES" sz="1100" dirty="0" err="1">
                          <a:solidFill>
                            <a:srgbClr val="4F81BD"/>
                          </a:solidFill>
                          <a:latin typeface="Calibri"/>
                          <a:ea typeface="Calibri"/>
                          <a:cs typeface="Calibri"/>
                          <a:sym typeface="Calibri"/>
                        </a:rPr>
                        <a:t>development.env</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Dotenv</a:t>
                      </a:r>
                      <a:r>
                        <a:rPr lang="es-ES" sz="1100" dirty="0">
                          <a:solidFill>
                            <a:srgbClr val="4F81BD"/>
                          </a:solidFill>
                          <a:latin typeface="Calibri"/>
                          <a:ea typeface="Calibri"/>
                          <a:cs typeface="Calibri"/>
                          <a:sym typeface="Calibri"/>
                        </a:rPr>
                        <a:t> ENV = </a:t>
                      </a:r>
                      <a:r>
                        <a:rPr lang="es-ES" sz="1100" dirty="0" err="1">
                          <a:solidFill>
                            <a:srgbClr val="4F81BD"/>
                          </a:solidFill>
                          <a:latin typeface="Calibri"/>
                          <a:ea typeface="Calibri"/>
                          <a:cs typeface="Calibri"/>
                          <a:sym typeface="Calibri"/>
                        </a:rPr>
                        <a:t>Dotenv.configure</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directory</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ubicarDirectorio</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filename</a:t>
                      </a:r>
                      <a:r>
                        <a:rPr lang="es-ES" sz="1100" dirty="0">
                          <a:solidFill>
                            <a:srgbClr val="4F81BD"/>
                          </a:solidFill>
                          <a:latin typeface="Calibri"/>
                          <a:ea typeface="Calibri"/>
                          <a:cs typeface="Calibri"/>
                          <a:sym typeface="Calibri"/>
                        </a:rPr>
                        <a:t>(ARCHIVO_ENV)</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ignoreIfMissing</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.load();</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SoapConfig</a:t>
                      </a:r>
                      <a:r>
                        <a:rPr lang="es-ES" sz="1100" dirty="0">
                          <a:solidFill>
                            <a:srgbClr val="4F81BD"/>
                          </a:solidFill>
                          <a:latin typeface="Calibri"/>
                          <a:ea typeface="Calibri"/>
                          <a:cs typeface="Calibri"/>
                          <a:sym typeface="Calibri"/>
                        </a:rPr>
                        <a:t>() {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ubicarDirectorio</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(new File(ARCHIVO_ENV).</a:t>
                      </a:r>
                      <a:r>
                        <a:rPr lang="es-ES" sz="1100" dirty="0" err="1">
                          <a:solidFill>
                            <a:srgbClr val="4F81BD"/>
                          </a:solidFill>
                          <a:latin typeface="Calibri"/>
                          <a:ea typeface="Calibri"/>
                          <a:cs typeface="Calibri"/>
                          <a:sym typeface="Calibri"/>
                        </a:rPr>
                        <a:t>isFile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try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var</a:t>
                      </a:r>
                      <a:r>
                        <a:rPr lang="es-ES" sz="1100" dirty="0">
                          <a:solidFill>
                            <a:srgbClr val="4F81BD"/>
                          </a:solidFill>
                          <a:latin typeface="Calibri"/>
                          <a:ea typeface="Calibri"/>
                          <a:cs typeface="Calibri"/>
                          <a:sym typeface="Calibri"/>
                        </a:rPr>
                        <a:t> recurso = </a:t>
                      </a:r>
                      <a:r>
                        <a:rPr lang="es-ES" sz="1100" dirty="0" err="1">
                          <a:solidFill>
                            <a:srgbClr val="4F81BD"/>
                          </a:solidFill>
                          <a:latin typeface="Calibri"/>
                          <a:ea typeface="Calibri"/>
                          <a:cs typeface="Calibri"/>
                          <a:sym typeface="Calibri"/>
                        </a:rPr>
                        <a:t>SoapConfig.class.getResource</a:t>
                      </a:r>
                      <a:r>
                        <a:rPr lang="es-ES" sz="1100" dirty="0">
                          <a:solidFill>
                            <a:srgbClr val="4F81BD"/>
                          </a:solidFill>
                          <a:latin typeface="Calibri"/>
                          <a:ea typeface="Calibri"/>
                          <a:cs typeface="Calibri"/>
                          <a:sym typeface="Calibri"/>
                        </a:rPr>
                        <a:t>("/" + ARCHIVO_ENV);</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(recurso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 &amp;&amp; "file".</a:t>
                      </a:r>
                      <a:r>
                        <a:rPr lang="es-ES" sz="1100" dirty="0" err="1">
                          <a:solidFill>
                            <a:srgbClr val="4F81BD"/>
                          </a:solidFill>
                          <a:latin typeface="Calibri"/>
                          <a:ea typeface="Calibri"/>
                          <a:cs typeface="Calibri"/>
                          <a:sym typeface="Calibri"/>
                        </a:rPr>
                        <a:t>equalsIgnoreCase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recurso.getProtocol</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File(</a:t>
                      </a:r>
                      <a:r>
                        <a:rPr lang="es-ES" sz="1100" dirty="0" err="1">
                          <a:solidFill>
                            <a:srgbClr val="4F81BD"/>
                          </a:solidFill>
                          <a:latin typeface="Calibri"/>
                          <a:ea typeface="Calibri"/>
                          <a:cs typeface="Calibri"/>
                          <a:sym typeface="Calibri"/>
                        </a:rPr>
                        <a:t>recurso.toURI</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getParent</a:t>
                      </a:r>
                      <a:r>
                        <a:rPr lang="es-ES" sz="1100" dirty="0">
                          <a:solidFill>
                            <a:srgbClr val="4F81BD"/>
                          </a:solidFill>
                          <a:latin typeface="Calibri"/>
                          <a:ea typeface="Calibri"/>
                          <a:cs typeface="Calibri"/>
                          <a:sym typeface="Calibri"/>
                        </a:rPr>
                        <a:t>();</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 catch (</a:t>
                      </a:r>
                      <a:r>
                        <a:rPr lang="es-ES" sz="1100" dirty="0" err="1">
                          <a:solidFill>
                            <a:srgbClr val="4F81BD"/>
                          </a:solidFill>
                          <a:latin typeface="Calibri"/>
                          <a:ea typeface="Calibri"/>
                          <a:cs typeface="Calibri"/>
                          <a:sym typeface="Calibri"/>
                        </a:rPr>
                        <a:t>URISyntaxException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ignored</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 Se probará el archivo de desarrollo a continuación.</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28" name="Google Shape;328;p4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29" name="Google Shape;329;p41"/>
          <p:cNvGraphicFramePr/>
          <p:nvPr>
            <p:extLst>
              <p:ext uri="{D42A27DB-BD31-4B8C-83A1-F6EECF244321}">
                <p14:modId xmlns:p14="http://schemas.microsoft.com/office/powerpoint/2010/main" val="1277805151"/>
              </p:ext>
            </p:extLst>
          </p:nvPr>
        </p:nvGraphicFramePr>
        <p:xfrm>
          <a:off x="2964625" y="1876275"/>
          <a:ext cx="6062675" cy="4820920"/>
        </p:xfrm>
        <a:graphic>
          <a:graphicData uri="http://schemas.openxmlformats.org/drawingml/2006/table">
            <a:tbl>
              <a:tblPr>
                <a:noFill/>
                <a:tableStyleId>{BF136021-7255-42B7-A7E7-87A8D8FFE9CA}</a:tableStyleId>
              </a:tblPr>
              <a:tblGrid>
                <a:gridCol w="6062675">
                  <a:extLst>
                    <a:ext uri="{9D8B030D-6E8A-4147-A177-3AD203B41FA5}">
                      <a16:colId xmlns:a16="http://schemas.microsoft.com/office/drawing/2014/main" val="20000"/>
                    </a:ext>
                  </a:extLst>
                </a:gridCol>
              </a:tblGrid>
              <a:tr h="3566293">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File desarrollo = new File("</a:t>
                      </a:r>
                      <a:r>
                        <a:rPr lang="es-ES" sz="1100" dirty="0" err="1">
                          <a:solidFill>
                            <a:srgbClr val="4F81BD"/>
                          </a:solidFill>
                          <a:latin typeface="Calibri"/>
                          <a:ea typeface="Calibri"/>
                          <a:cs typeface="Calibri"/>
                          <a:sym typeface="Calibri"/>
                        </a:rPr>
                        <a:t>src</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main</a:t>
                      </a:r>
                      <a:r>
                        <a:rPr lang="es-ES" sz="1100" dirty="0">
                          <a:solidFill>
                            <a:srgbClr val="4F81BD"/>
                          </a:solidFill>
                          <a:latin typeface="Calibri"/>
                          <a:ea typeface="Calibri"/>
                          <a:cs typeface="Calibri"/>
                          <a:sym typeface="Calibri"/>
                        </a:rPr>
                        <a:t>/recursos", ARCHIVO_ENV);</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desarrollo.isFile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desarrollo.getParent</a:t>
                      </a:r>
                      <a:r>
                        <a:rPr lang="es-ES" sz="1100" dirty="0">
                          <a:solidFill>
                            <a:srgbClr val="4F81BD"/>
                          </a:solidFill>
                          <a:latin typeface="Calibri"/>
                          <a:ea typeface="Calibri"/>
                          <a:cs typeface="Calibri"/>
                          <a:sym typeface="Calibri"/>
                        </a:rPr>
                        <a:t>() :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requerido(</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clave)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valor = </a:t>
                      </a:r>
                      <a:r>
                        <a:rPr lang="es-ES" sz="1100" dirty="0" err="1">
                          <a:solidFill>
                            <a:srgbClr val="4F81BD"/>
                          </a:solidFill>
                          <a:latin typeface="Calibri"/>
                          <a:ea typeface="Calibri"/>
                          <a:cs typeface="Calibri"/>
                          <a:sym typeface="Calibri"/>
                        </a:rPr>
                        <a:t>ENV.get</a:t>
                      </a:r>
                      <a:r>
                        <a:rPr lang="es-ES" sz="1100" dirty="0">
                          <a:solidFill>
                            <a:srgbClr val="4F81BD"/>
                          </a:solidFill>
                          <a:latin typeface="Calibri"/>
                          <a:ea typeface="Calibri"/>
                          <a:cs typeface="Calibri"/>
                          <a:sym typeface="Calibri"/>
                        </a:rPr>
                        <a:t>(clave);</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(valor ==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valor.isBlank</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throw</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IllegalStateException</a:t>
                      </a:r>
                      <a:r>
                        <a:rPr lang="es-ES" sz="1100" dirty="0">
                          <a:solidFill>
                            <a:srgbClr val="4F81BD"/>
                          </a:solidFill>
                          <a:latin typeface="Calibri"/>
                          <a:ea typeface="Calibri"/>
                          <a:cs typeface="Calibri"/>
                          <a:sym typeface="Calibri"/>
                        </a:rPr>
                        <a:t>("Falta la variable '" + clave + "' en " + ARCHIVO_ENV);</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valor;</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endpoint</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requerido("SOAP_ENDPOINT");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targetNamespace</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requerido("SOAP_TARGET_NAMESPACE");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URL </a:t>
                      </a:r>
                      <a:r>
                        <a:rPr lang="es-ES" sz="1100" dirty="0" err="1">
                          <a:solidFill>
                            <a:srgbClr val="4F81BD"/>
                          </a:solidFill>
                          <a:latin typeface="Calibri"/>
                          <a:ea typeface="Calibri"/>
                          <a:cs typeface="Calibri"/>
                          <a:sym typeface="Calibri"/>
                        </a:rPr>
                        <a:t>wsdl</a:t>
                      </a: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try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new URL(requerido("SOAP_WSDL"));</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 catch (</a:t>
                      </a:r>
                      <a:r>
                        <a:rPr lang="es-ES" sz="1100" dirty="0" err="1">
                          <a:solidFill>
                            <a:srgbClr val="4F81BD"/>
                          </a:solidFill>
                          <a:latin typeface="Calibri"/>
                          <a:ea typeface="Calibri"/>
                          <a:cs typeface="Calibri"/>
                          <a:sym typeface="Calibri"/>
                        </a:rPr>
                        <a:t>MalformedURLException</a:t>
                      </a:r>
                      <a:r>
                        <a:rPr lang="es-ES" sz="1100" dirty="0">
                          <a:solidFill>
                            <a:srgbClr val="4F81BD"/>
                          </a:solidFill>
                          <a:latin typeface="Calibri"/>
                          <a:ea typeface="Calibri"/>
                          <a:cs typeface="Calibri"/>
                          <a:sym typeface="Calibri"/>
                        </a:rPr>
                        <a:t> ex)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throw</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IllegalStateException</a:t>
                      </a:r>
                      <a:r>
                        <a:rPr lang="es-ES" sz="1100" dirty="0">
                          <a:solidFill>
                            <a:srgbClr val="4F81BD"/>
                          </a:solidFill>
                          <a:latin typeface="Calibri"/>
                          <a:ea typeface="Calibri"/>
                          <a:cs typeface="Calibri"/>
                          <a:sym typeface="Calibri"/>
                        </a:rPr>
                        <a:t>("SOAP_WSDL no contiene una URL válida", ex);</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connectTimeout</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entero("SOAP_CONNECT_TIMEOUT");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readTimeout</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entero("SOAP_READ_TIMEOUT");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boolean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insecureTls</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Boolean.parseBoolean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ENV.get</a:t>
                      </a:r>
                      <a:r>
                        <a:rPr lang="es-ES" sz="1100" dirty="0">
                          <a:solidFill>
                            <a:srgbClr val="4F81BD"/>
                          </a:solidFill>
                          <a:latin typeface="Calibri"/>
                          <a:ea typeface="Calibri"/>
                          <a:cs typeface="Calibri"/>
                          <a:sym typeface="Calibri"/>
                        </a:rPr>
                        <a:t>("SOAP_INSECURE_TLS", "false")); }</a:t>
                      </a:r>
                    </a:p>
                    <a:p>
                      <a:pPr marL="0" lvl="0" indent="0" algn="l" rtl="0">
                        <a:spcBef>
                          <a:spcPts val="0"/>
                        </a:spcBef>
                        <a:spcAft>
                          <a:spcPts val="0"/>
                        </a:spcAft>
                        <a:buClr>
                          <a:schemeClr val="dk1"/>
                        </a:buClr>
                        <a:buSzPts val="1100"/>
                        <a:buFont typeface="Arial"/>
                        <a:buNone/>
                      </a:pPr>
                      <a:endParaRPr lang="es-ES"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2348F5FA-412C-637F-1F87-8B5060DD571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36" name="Google Shape;336;p42"/>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37" name="Google Shape;337;p42"/>
          <p:cNvGraphicFramePr/>
          <p:nvPr>
            <p:extLst>
              <p:ext uri="{D42A27DB-BD31-4B8C-83A1-F6EECF244321}">
                <p14:modId xmlns:p14="http://schemas.microsoft.com/office/powerpoint/2010/main" val="43437914"/>
              </p:ext>
            </p:extLst>
          </p:nvPr>
        </p:nvGraphicFramePr>
        <p:xfrm>
          <a:off x="3258803" y="3352738"/>
          <a:ext cx="5439425" cy="1748374"/>
        </p:xfrm>
        <a:graphic>
          <a:graphicData uri="http://schemas.openxmlformats.org/drawingml/2006/table">
            <a:tbl>
              <a:tblPr>
                <a:noFill/>
                <a:tableStyleId>{BF136021-7255-42B7-A7E7-87A8D8FFE9CA}</a:tableStyleId>
              </a:tblPr>
              <a:tblGrid>
                <a:gridCol w="5439425">
                  <a:extLst>
                    <a:ext uri="{9D8B030D-6E8A-4147-A177-3AD203B41FA5}">
                      <a16:colId xmlns:a16="http://schemas.microsoft.com/office/drawing/2014/main" val="20000"/>
                    </a:ext>
                  </a:extLst>
                </a:gridCol>
              </a:tblGrid>
              <a:tr h="1748374">
                <a:tc>
                  <a:txBody>
                    <a:bodyPr/>
                    <a:lstStyle/>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static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a:t>
                      </a:r>
                      <a:r>
                        <a:rPr lang="es-ES" sz="1100" dirty="0">
                          <a:solidFill>
                            <a:srgbClr val="4F81BD"/>
                          </a:solidFill>
                          <a:latin typeface="Calibri"/>
                          <a:ea typeface="Calibri"/>
                          <a:cs typeface="Calibri"/>
                          <a:sym typeface="Calibri"/>
                        </a:rPr>
                        <a:t> entero(</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clave)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try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Integer.parseInt</a:t>
                      </a:r>
                      <a:r>
                        <a:rPr lang="es-ES" sz="1100" dirty="0">
                          <a:solidFill>
                            <a:srgbClr val="4F81BD"/>
                          </a:solidFill>
                          <a:latin typeface="Calibri"/>
                          <a:ea typeface="Calibri"/>
                          <a:cs typeface="Calibri"/>
                          <a:sym typeface="Calibri"/>
                        </a:rPr>
                        <a:t>(requerido(clave));</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 catch (</a:t>
                      </a:r>
                      <a:r>
                        <a:rPr lang="es-ES" sz="1100" dirty="0" err="1">
                          <a:solidFill>
                            <a:srgbClr val="4F81BD"/>
                          </a:solidFill>
                          <a:latin typeface="Calibri"/>
                          <a:ea typeface="Calibri"/>
                          <a:cs typeface="Calibri"/>
                          <a:sym typeface="Calibri"/>
                        </a:rPr>
                        <a:t>NumberFormatException</a:t>
                      </a:r>
                      <a:r>
                        <a:rPr lang="es-ES" sz="1100" dirty="0">
                          <a:solidFill>
                            <a:srgbClr val="4F81BD"/>
                          </a:solidFill>
                          <a:latin typeface="Calibri"/>
                          <a:ea typeface="Calibri"/>
                          <a:cs typeface="Calibri"/>
                          <a:sym typeface="Calibri"/>
                        </a:rPr>
                        <a:t> ex)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throw</a:t>
                      </a:r>
                      <a:r>
                        <a:rPr lang="es-ES" sz="1100" dirty="0">
                          <a:solidFill>
                            <a:srgbClr val="4F81BD"/>
                          </a:solidFill>
                          <a:latin typeface="Calibri"/>
                          <a:ea typeface="Calibri"/>
                          <a:cs typeface="Calibri"/>
                          <a:sym typeface="Calibri"/>
                        </a:rPr>
                        <a:t> new </a:t>
                      </a:r>
                      <a:r>
                        <a:rPr lang="es-ES" sz="1100" dirty="0" err="1">
                          <a:solidFill>
                            <a:srgbClr val="4F81BD"/>
                          </a:solidFill>
                          <a:latin typeface="Calibri"/>
                          <a:ea typeface="Calibri"/>
                          <a:cs typeface="Calibri"/>
                          <a:sym typeface="Calibri"/>
                        </a:rPr>
                        <a:t>IllegalStateException</a:t>
                      </a:r>
                      <a:r>
                        <a:rPr lang="es-ES" sz="1100" dirty="0">
                          <a:solidFill>
                            <a:srgbClr val="4F81BD"/>
                          </a:solidFill>
                          <a:latin typeface="Calibri"/>
                          <a:ea typeface="Calibri"/>
                          <a:cs typeface="Calibri"/>
                          <a:sym typeface="Calibri"/>
                        </a:rPr>
                        <a:t>("La variable '" + clave + "' debe ser un entero", ex);</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B1440CD-484E-713C-F3FF-CC800025A4E3}"/>
              </a:ext>
            </a:extLst>
          </p:cNvPr>
          <p:cNvSpPr txBox="1">
            <a:spLocks noGrp="1"/>
          </p:cNvSpPr>
          <p:nvPr>
            <p:ph type="body" idx="1"/>
          </p:nvPr>
        </p:nvSpPr>
        <p:spPr>
          <a:xfrm>
            <a:off x="581200" y="187627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43" name="Google Shape;343;p43"/>
          <p:cNvSpPr txBox="1">
            <a:spLocks noGrp="1"/>
          </p:cNvSpPr>
          <p:nvPr>
            <p:ph type="body" idx="1"/>
          </p:nvPr>
        </p:nvSpPr>
        <p:spPr>
          <a:xfrm>
            <a:off x="830650" y="2141151"/>
            <a:ext cx="7742247" cy="90684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Se </a:t>
            </a:r>
            <a:r>
              <a:rPr lang="es-MX" sz="1400" dirty="0" err="1">
                <a:solidFill>
                  <a:schemeClr val="dk1"/>
                </a:solidFill>
                <a:latin typeface="Calibri"/>
                <a:ea typeface="Calibri"/>
                <a:cs typeface="Calibri"/>
                <a:sym typeface="Calibri"/>
              </a:rPr>
              <a:t>debrá</a:t>
            </a:r>
            <a:r>
              <a:rPr lang="es-MX" sz="1400" dirty="0">
                <a:solidFill>
                  <a:schemeClr val="dk1"/>
                </a:solidFill>
                <a:latin typeface="Calibri"/>
                <a:ea typeface="Calibri"/>
                <a:cs typeface="Calibri"/>
                <a:sym typeface="Calibri"/>
              </a:rPr>
              <a:t> configurar un archivo .</a:t>
            </a:r>
            <a:r>
              <a:rPr lang="es-MX" sz="1400" dirty="0" err="1">
                <a:solidFill>
                  <a:schemeClr val="dk1"/>
                </a:solidFill>
                <a:latin typeface="Calibri"/>
                <a:ea typeface="Calibri"/>
                <a:cs typeface="Calibri"/>
                <a:sym typeface="Calibri"/>
              </a:rPr>
              <a:t>development.env</a:t>
            </a:r>
            <a:r>
              <a:rPr lang="es-MX" sz="1400" dirty="0">
                <a:solidFill>
                  <a:schemeClr val="dk1"/>
                </a:solidFill>
                <a:latin typeface="Calibri"/>
                <a:ea typeface="Calibri"/>
                <a:cs typeface="Calibri"/>
                <a:sym typeface="Calibri"/>
              </a:rPr>
              <a:t> para tener los </a:t>
            </a:r>
            <a:r>
              <a:rPr lang="es-MX" sz="1400" dirty="0" err="1">
                <a:solidFill>
                  <a:schemeClr val="dk1"/>
                </a:solidFill>
                <a:latin typeface="Calibri"/>
                <a:ea typeface="Calibri"/>
                <a:cs typeface="Calibri"/>
                <a:sym typeface="Calibri"/>
              </a:rPr>
              <a:t>endpoints</a:t>
            </a:r>
            <a:r>
              <a:rPr lang="es-MX" sz="1400" dirty="0">
                <a:solidFill>
                  <a:schemeClr val="dk1"/>
                </a:solidFill>
                <a:latin typeface="Calibri"/>
                <a:ea typeface="Calibri"/>
                <a:cs typeface="Calibri"/>
                <a:sym typeface="Calibri"/>
              </a:rPr>
              <a:t> y la configuración de conexión entre el WS y el cliente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44" name="Google Shape;344;p43"/>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46" name="Google Shape;346;p43"/>
          <p:cNvGraphicFramePr/>
          <p:nvPr>
            <p:extLst>
              <p:ext uri="{D42A27DB-BD31-4B8C-83A1-F6EECF244321}">
                <p14:modId xmlns:p14="http://schemas.microsoft.com/office/powerpoint/2010/main" val="2682903296"/>
              </p:ext>
            </p:extLst>
          </p:nvPr>
        </p:nvGraphicFramePr>
        <p:xfrm>
          <a:off x="1538726" y="3164758"/>
          <a:ext cx="6326093" cy="1468120"/>
        </p:xfrm>
        <a:graphic>
          <a:graphicData uri="http://schemas.openxmlformats.org/drawingml/2006/table">
            <a:tbl>
              <a:tblPr>
                <a:noFill/>
                <a:tableStyleId>{BF136021-7255-42B7-A7E7-87A8D8FFE9CA}</a:tableStyleId>
              </a:tblPr>
              <a:tblGrid>
                <a:gridCol w="6326093">
                  <a:extLst>
                    <a:ext uri="{9D8B030D-6E8A-4147-A177-3AD203B41FA5}">
                      <a16:colId xmlns:a16="http://schemas.microsoft.com/office/drawing/2014/main" val="20000"/>
                    </a:ext>
                  </a:extLst>
                </a:gridCol>
              </a:tblGrid>
              <a:tr h="1272407">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SOAP_ENDPOINT=http://localhost:9080/WS_CON_UNI_JAVA_SOAP/WSConversorUnidades</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SOAP_WSDL=http://localhost:9080/WS_CON_UNI_JAVA_SOAP/WSConversorUnidades?WSDL</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SOAP_TARGET_NAMESPACE=http://ws.monster.edu.ec/</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SOAP_CONNECT_TIMEOUT=10000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SOAP_READ_TIMEOUT=10000</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SOAP_INSECURE_TLS=false</a:t>
                      </a:r>
                    </a:p>
                    <a:p>
                      <a:pPr marL="0" lvl="0" indent="0" algn="l" rtl="0">
                        <a:spcBef>
                          <a:spcPts val="0"/>
                        </a:spcBef>
                        <a:spcAft>
                          <a:spcPts val="0"/>
                        </a:spcAft>
                        <a:buNone/>
                      </a:pPr>
                      <a:endParaRPr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53" name="Google Shape;353;p44"/>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54" name="Google Shape;354;p44"/>
          <p:cNvGraphicFramePr/>
          <p:nvPr>
            <p:extLst>
              <p:ext uri="{D42A27DB-BD31-4B8C-83A1-F6EECF244321}">
                <p14:modId xmlns:p14="http://schemas.microsoft.com/office/powerpoint/2010/main" val="3555172028"/>
              </p:ext>
            </p:extLst>
          </p:nvPr>
        </p:nvGraphicFramePr>
        <p:xfrm>
          <a:off x="2043325" y="2041263"/>
          <a:ext cx="3522650" cy="3972225"/>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ec.edu.monster.controladores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ec.edu.monster.servicios.WSConversorCliente</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ec.edu.monster.vistas.ConsolaVista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Controla la autenticación y conserva el token en el cliente de servicios. */</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LoginController</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ConsolaVista</a:t>
                      </a:r>
                      <a:r>
                        <a:rPr lang="es-ES" sz="1100" dirty="0">
                          <a:solidFill>
                            <a:srgbClr val="4F81BD"/>
                          </a:solidFill>
                          <a:latin typeface="Calibri"/>
                          <a:ea typeface="Calibri"/>
                          <a:cs typeface="Calibri"/>
                          <a:sym typeface="Calibri"/>
                        </a:rPr>
                        <a:t> vista;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WSConversorCliente</a:t>
                      </a:r>
                      <a:r>
                        <a:rPr lang="es-ES" sz="1100" dirty="0">
                          <a:solidFill>
                            <a:srgbClr val="4F81BD"/>
                          </a:solidFill>
                          <a:latin typeface="Calibri"/>
                          <a:ea typeface="Calibri"/>
                          <a:cs typeface="Calibri"/>
                          <a:sym typeface="Calibri"/>
                        </a:rPr>
                        <a:t> cliente;</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LoginController</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ConsolaVista</a:t>
                      </a:r>
                      <a:r>
                        <a:rPr lang="es-ES" sz="1100" dirty="0">
                          <a:solidFill>
                            <a:srgbClr val="4F81BD"/>
                          </a:solidFill>
                          <a:latin typeface="Calibri"/>
                          <a:ea typeface="Calibri"/>
                          <a:cs typeface="Calibri"/>
                          <a:sym typeface="Calibri"/>
                        </a:rPr>
                        <a:t> vista, </a:t>
                      </a:r>
                      <a:r>
                        <a:rPr lang="es-ES" sz="1100" dirty="0" err="1">
                          <a:solidFill>
                            <a:srgbClr val="4F81BD"/>
                          </a:solidFill>
                          <a:latin typeface="Calibri"/>
                          <a:ea typeface="Calibri"/>
                          <a:cs typeface="Calibri"/>
                          <a:sym typeface="Calibri"/>
                        </a:rPr>
                        <a:t>WSConversorCliente</a:t>
                      </a:r>
                      <a:r>
                        <a:rPr lang="es-ES" sz="1100" dirty="0">
                          <a:solidFill>
                            <a:srgbClr val="4F81BD"/>
                          </a:solidFill>
                          <a:latin typeface="Calibri"/>
                          <a:ea typeface="Calibri"/>
                          <a:cs typeface="Calibri"/>
                          <a:sym typeface="Calibri"/>
                        </a:rPr>
                        <a:t> cliente)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this.vista</a:t>
                      </a:r>
                      <a:r>
                        <a:rPr lang="es-ES" sz="1100" dirty="0">
                          <a:solidFill>
                            <a:srgbClr val="4F81BD"/>
                          </a:solidFill>
                          <a:latin typeface="Calibri"/>
                          <a:ea typeface="Calibri"/>
                          <a:cs typeface="Calibri"/>
                          <a:sym typeface="Calibri"/>
                        </a:rPr>
                        <a:t> = vista;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this.cliente</a:t>
                      </a:r>
                      <a:r>
                        <a:rPr lang="es-ES" sz="1100" dirty="0">
                          <a:solidFill>
                            <a:srgbClr val="4F81BD"/>
                          </a:solidFill>
                          <a:latin typeface="Calibri"/>
                          <a:ea typeface="Calibri"/>
                          <a:cs typeface="Calibri"/>
                          <a:sym typeface="Calibri"/>
                        </a:rPr>
                        <a:t> = cliente;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55" name="Google Shape;355;p44"/>
          <p:cNvGraphicFramePr/>
          <p:nvPr>
            <p:extLst>
              <p:ext uri="{D42A27DB-BD31-4B8C-83A1-F6EECF244321}">
                <p14:modId xmlns:p14="http://schemas.microsoft.com/office/powerpoint/2010/main" val="468871021"/>
              </p:ext>
            </p:extLst>
          </p:nvPr>
        </p:nvGraphicFramePr>
        <p:xfrm>
          <a:off x="5684675" y="2041263"/>
          <a:ext cx="3699025" cy="3972225"/>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boolean</a:t>
                      </a:r>
                      <a:r>
                        <a:rPr lang="es-ES" sz="1100" dirty="0">
                          <a:solidFill>
                            <a:srgbClr val="4F81BD"/>
                          </a:solidFill>
                          <a:latin typeface="Calibri"/>
                          <a:ea typeface="Calibri"/>
                          <a:cs typeface="Calibri"/>
                          <a:sym typeface="Calibri"/>
                        </a:rPr>
                        <a:t> autenticar()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vista.mostrarMensaje</a:t>
                      </a:r>
                      <a:r>
                        <a:rPr lang="es-ES" sz="1100" dirty="0">
                          <a:solidFill>
                            <a:srgbClr val="4F81BD"/>
                          </a:solidFill>
                          <a:latin typeface="Calibri"/>
                          <a:ea typeface="Calibri"/>
                          <a:cs typeface="Calibri"/>
                          <a:sym typeface="Calibri"/>
                        </a:rPr>
                        <a:t>("\n--- Inicio de sesión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usuario = </a:t>
                      </a:r>
                      <a:r>
                        <a:rPr lang="es-ES" sz="1100" dirty="0" err="1">
                          <a:solidFill>
                            <a:srgbClr val="4F81BD"/>
                          </a:solidFill>
                          <a:latin typeface="Calibri"/>
                          <a:ea typeface="Calibri"/>
                          <a:cs typeface="Calibri"/>
                          <a:sym typeface="Calibri"/>
                        </a:rPr>
                        <a:t>vista.solicitarTexto</a:t>
                      </a:r>
                      <a:r>
                        <a:rPr lang="es-ES" sz="1100" dirty="0">
                          <a:solidFill>
                            <a:srgbClr val="4F81BD"/>
                          </a:solidFill>
                          <a:latin typeface="Calibri"/>
                          <a:ea typeface="Calibri"/>
                          <a:cs typeface="Calibri"/>
                          <a:sym typeface="Calibri"/>
                        </a:rPr>
                        <a:t>("Usuario: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contrasenia</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vista.solicitarContrasenia</a:t>
                      </a:r>
                      <a:r>
                        <a:rPr lang="es-ES" sz="1100" dirty="0">
                          <a:solidFill>
                            <a:srgbClr val="4F81BD"/>
                          </a:solidFill>
                          <a:latin typeface="Calibri"/>
                          <a:ea typeface="Calibri"/>
                          <a:cs typeface="Calibri"/>
                          <a:sym typeface="Calibri"/>
                        </a:rPr>
                        <a:t>("Contraseña: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usuario.isBlank</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contrasenia.isBlank</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vista.mostrarError</a:t>
                      </a:r>
                      <a:r>
                        <a:rPr lang="es-ES" sz="1100" dirty="0">
                          <a:solidFill>
                            <a:srgbClr val="4F81BD"/>
                          </a:solidFill>
                          <a:latin typeface="Calibri"/>
                          <a:ea typeface="Calibri"/>
                          <a:cs typeface="Calibri"/>
                          <a:sym typeface="Calibri"/>
                        </a:rPr>
                        <a:t>("El usuario y la contraseña son obligatorios.");</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cliente.login</a:t>
                      </a:r>
                      <a:r>
                        <a:rPr lang="es-ES" sz="1100" dirty="0">
                          <a:solidFill>
                            <a:srgbClr val="4F81BD"/>
                          </a:solidFill>
                          <a:latin typeface="Calibri"/>
                          <a:ea typeface="Calibri"/>
                          <a:cs typeface="Calibri"/>
                          <a:sym typeface="Calibri"/>
                        </a:rPr>
                        <a:t>(usuario, </a:t>
                      </a:r>
                      <a:r>
                        <a:rPr lang="es-ES" sz="1100" dirty="0" err="1">
                          <a:solidFill>
                            <a:srgbClr val="4F81BD"/>
                          </a:solidFill>
                          <a:latin typeface="Calibri"/>
                          <a:ea typeface="Calibri"/>
                          <a:cs typeface="Calibri"/>
                          <a:sym typeface="Calibri"/>
                        </a:rPr>
                        <a:t>contrasenia</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vista.mostrarError</a:t>
                      </a:r>
                      <a:r>
                        <a:rPr lang="es-ES" sz="1100" dirty="0">
                          <a:solidFill>
                            <a:srgbClr val="4F81BD"/>
                          </a:solidFill>
                          <a:latin typeface="Calibri"/>
                          <a:ea typeface="Calibri"/>
                          <a:cs typeface="Calibri"/>
                          <a:sym typeface="Calibri"/>
                        </a:rPr>
                        <a:t>("Credenciales inválidas o no fue posible comunicarse con el servidor.");</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false;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vista.mostrarMensaje</a:t>
                      </a:r>
                      <a:r>
                        <a:rPr lang="es-ES" sz="1100" dirty="0">
                          <a:solidFill>
                            <a:srgbClr val="4F81BD"/>
                          </a:solidFill>
                          <a:latin typeface="Calibri"/>
                          <a:ea typeface="Calibri"/>
                          <a:cs typeface="Calibri"/>
                          <a:sym typeface="Calibri"/>
                        </a:rPr>
                        <a:t>("Sesión iniciada correctamente.");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true;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C9AFB88C-A432-9504-50B3-CFBB6EF109C1}"/>
              </a:ext>
            </a:extLst>
          </p:cNvPr>
          <p:cNvSpPr txBox="1">
            <a:spLocks/>
          </p:cNvSpPr>
          <p:nvPr/>
        </p:nvSpPr>
        <p:spPr>
          <a:xfrm>
            <a:off x="-89075" y="1826848"/>
            <a:ext cx="2132400" cy="47013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62" name="Google Shape;362;p4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363" name="Google Shape;363;p45"/>
          <p:cNvGraphicFramePr/>
          <p:nvPr>
            <p:extLst>
              <p:ext uri="{D42A27DB-BD31-4B8C-83A1-F6EECF244321}">
                <p14:modId xmlns:p14="http://schemas.microsoft.com/office/powerpoint/2010/main" val="3624106868"/>
              </p:ext>
            </p:extLst>
          </p:nvPr>
        </p:nvGraphicFramePr>
        <p:xfrm>
          <a:off x="1964150" y="1874095"/>
          <a:ext cx="3522650" cy="4988560"/>
        </p:xfrm>
        <a:graphic>
          <a:graphicData uri="http://schemas.openxmlformats.org/drawingml/2006/table">
            <a:tbl>
              <a:tblPr>
                <a:noFill/>
                <a:tableStyleId>{BF136021-7255-42B7-A7E7-87A8D8FFE9CA}</a:tableStyleId>
              </a:tblPr>
              <a:tblGrid>
                <a:gridCol w="3522650">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package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ec.edu.monster.controladores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ec.edu.monster.modelos.ResultadoConversion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ec.edu.monster.modelos.TipoConversion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ec.edu.monster.servicios.WSConversorCliente</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import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ec.edu.monster.vistas.ConsolaVista</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Orquesta la conversión entre la vista de consola y el servicio SOAP. */</a:t>
                      </a:r>
                    </a:p>
                    <a:p>
                      <a:pPr marL="0" lvl="0" indent="0" algn="l" rtl="0">
                        <a:spcBef>
                          <a:spcPts val="0"/>
                        </a:spcBef>
                        <a:spcAft>
                          <a:spcPts val="0"/>
                        </a:spcAft>
                        <a:buNone/>
                      </a:pP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ConversionController</a:t>
                      </a: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ConsolaVista</a:t>
                      </a:r>
                      <a:r>
                        <a:rPr lang="es-ES" sz="1100" dirty="0">
                          <a:solidFill>
                            <a:srgbClr val="4F81BD"/>
                          </a:solidFill>
                          <a:latin typeface="Calibri"/>
                          <a:ea typeface="Calibri"/>
                          <a:cs typeface="Calibri"/>
                          <a:sym typeface="Calibri"/>
                        </a:rPr>
                        <a:t> vista;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final </a:t>
                      </a:r>
                      <a:r>
                        <a:rPr lang="es-ES" sz="1100" dirty="0" err="1">
                          <a:solidFill>
                            <a:srgbClr val="4F81BD"/>
                          </a:solidFill>
                          <a:latin typeface="Calibri"/>
                          <a:ea typeface="Calibri"/>
                          <a:cs typeface="Calibri"/>
                          <a:sym typeface="Calibri"/>
                        </a:rPr>
                        <a:t>WSConversorCliente</a:t>
                      </a:r>
                      <a:r>
                        <a:rPr lang="es-ES" sz="1100" dirty="0">
                          <a:solidFill>
                            <a:srgbClr val="4F81BD"/>
                          </a:solidFill>
                          <a:latin typeface="Calibri"/>
                          <a:ea typeface="Calibri"/>
                          <a:cs typeface="Calibri"/>
                          <a:sym typeface="Calibri"/>
                        </a:rPr>
                        <a:t> cliente;</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ConversionController</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ConsolaVista</a:t>
                      </a:r>
                      <a:r>
                        <a:rPr lang="es-ES" sz="1100" dirty="0">
                          <a:solidFill>
                            <a:srgbClr val="4F81BD"/>
                          </a:solidFill>
                          <a:latin typeface="Calibri"/>
                          <a:ea typeface="Calibri"/>
                          <a:cs typeface="Calibri"/>
                          <a:sym typeface="Calibri"/>
                        </a:rPr>
                        <a:t> vista, </a:t>
                      </a:r>
                      <a:r>
                        <a:rPr lang="es-ES" sz="1100" dirty="0" err="1">
                          <a:solidFill>
                            <a:srgbClr val="4F81BD"/>
                          </a:solidFill>
                          <a:latin typeface="Calibri"/>
                          <a:ea typeface="Calibri"/>
                          <a:cs typeface="Calibri"/>
                          <a:sym typeface="Calibri"/>
                        </a:rPr>
                        <a:t>WSConversorCliente</a:t>
                      </a:r>
                      <a:r>
                        <a:rPr lang="es-ES" sz="1100" dirty="0">
                          <a:solidFill>
                            <a:srgbClr val="4F81BD"/>
                          </a:solidFill>
                          <a:latin typeface="Calibri"/>
                          <a:ea typeface="Calibri"/>
                          <a:cs typeface="Calibri"/>
                          <a:sym typeface="Calibri"/>
                        </a:rPr>
                        <a:t> cliente)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this.vista</a:t>
                      </a:r>
                      <a:r>
                        <a:rPr lang="es-ES" sz="1100" dirty="0">
                          <a:solidFill>
                            <a:srgbClr val="4F81BD"/>
                          </a:solidFill>
                          <a:latin typeface="Calibri"/>
                          <a:ea typeface="Calibri"/>
                          <a:cs typeface="Calibri"/>
                          <a:sym typeface="Calibri"/>
                        </a:rPr>
                        <a:t> = vista;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this.cliente</a:t>
                      </a:r>
                      <a:r>
                        <a:rPr lang="es-ES" sz="1100" dirty="0">
                          <a:solidFill>
                            <a:srgbClr val="4F81BD"/>
                          </a:solidFill>
                          <a:latin typeface="Calibri"/>
                          <a:ea typeface="Calibri"/>
                          <a:cs typeface="Calibri"/>
                          <a:sym typeface="Calibri"/>
                        </a:rPr>
                        <a:t> = cliente;</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public</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void</a:t>
                      </a:r>
                      <a:r>
                        <a:rPr lang="es-ES" sz="1100" dirty="0">
                          <a:solidFill>
                            <a:srgbClr val="4F81BD"/>
                          </a:solidFill>
                          <a:latin typeface="Calibri"/>
                          <a:ea typeface="Calibri"/>
                          <a:cs typeface="Calibri"/>
                          <a:sym typeface="Calibri"/>
                        </a:rPr>
                        <a:t> convertir(</a:t>
                      </a:r>
                      <a:r>
                        <a:rPr lang="es-ES" sz="1100" dirty="0" err="1">
                          <a:solidFill>
                            <a:srgbClr val="4F81BD"/>
                          </a:solidFill>
                          <a:latin typeface="Calibri"/>
                          <a:ea typeface="Calibri"/>
                          <a:cs typeface="Calibri"/>
                          <a:sym typeface="Calibri"/>
                        </a:rPr>
                        <a:t>TipoConversion</a:t>
                      </a:r>
                      <a:r>
                        <a:rPr lang="es-ES" sz="1100" dirty="0">
                          <a:solidFill>
                            <a:srgbClr val="4F81BD"/>
                          </a:solidFill>
                          <a:latin typeface="Calibri"/>
                          <a:ea typeface="Calibri"/>
                          <a:cs typeface="Calibri"/>
                          <a:sym typeface="Calibri"/>
                        </a:rPr>
                        <a:t> tipo)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vista.mostrarMensaje</a:t>
                      </a:r>
                      <a:r>
                        <a:rPr lang="es-ES" sz="1100" dirty="0">
                          <a:solidFill>
                            <a:srgbClr val="4F81BD"/>
                          </a:solidFill>
                          <a:latin typeface="Calibri"/>
                          <a:ea typeface="Calibri"/>
                          <a:cs typeface="Calibri"/>
                          <a:sym typeface="Calibri"/>
                        </a:rPr>
                        <a:t>("\n--- Conversión de " + </a:t>
                      </a:r>
                      <a:r>
                        <a:rPr lang="es-ES" sz="1100" dirty="0" err="1">
                          <a:solidFill>
                            <a:srgbClr val="4F81BD"/>
                          </a:solidFill>
                          <a:latin typeface="Calibri"/>
                          <a:ea typeface="Calibri"/>
                          <a:cs typeface="Calibri"/>
                          <a:sym typeface="Calibri"/>
                        </a:rPr>
                        <a:t>tipo.titulo</a:t>
                      </a:r>
                      <a:r>
                        <a:rPr lang="es-ES" sz="1100" dirty="0">
                          <a:solidFill>
                            <a:srgbClr val="4F81BD"/>
                          </a:solidFill>
                          <a:latin typeface="Calibri"/>
                          <a:ea typeface="Calibri"/>
                          <a:cs typeface="Calibri"/>
                          <a:sym typeface="Calibri"/>
                        </a:rPr>
                        <a:t>() + "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valor = </a:t>
                      </a:r>
                      <a:r>
                        <a:rPr lang="es-ES" sz="1100" dirty="0" err="1">
                          <a:solidFill>
                            <a:srgbClr val="4F81BD"/>
                          </a:solidFill>
                          <a:latin typeface="Calibri"/>
                          <a:ea typeface="Calibri"/>
                          <a:cs typeface="Calibri"/>
                          <a:sym typeface="Calibri"/>
                        </a:rPr>
                        <a:t>vista.solicitarValor</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if</a:t>
                      </a:r>
                      <a:r>
                        <a:rPr lang="es-ES" sz="1100" dirty="0">
                          <a:solidFill>
                            <a:srgbClr val="4F81BD"/>
                          </a:solidFill>
                          <a:latin typeface="Calibri"/>
                          <a:ea typeface="Calibri"/>
                          <a:cs typeface="Calibri"/>
                          <a:sym typeface="Calibri"/>
                        </a:rPr>
                        <a:t> (tipo == </a:t>
                      </a:r>
                      <a:r>
                        <a:rPr lang="es-ES" sz="1100" dirty="0" err="1">
                          <a:solidFill>
                            <a:srgbClr val="4F81BD"/>
                          </a:solidFill>
                          <a:latin typeface="Calibri"/>
                          <a:ea typeface="Calibri"/>
                          <a:cs typeface="Calibri"/>
                          <a:sym typeface="Calibri"/>
                        </a:rPr>
                        <a:t>TipoConversion.MASA</a:t>
                      </a:r>
                      <a:r>
                        <a:rPr lang="es-ES" sz="1100" dirty="0">
                          <a:solidFill>
                            <a:srgbClr val="4F81BD"/>
                          </a:solidFill>
                          <a:latin typeface="Calibri"/>
                          <a:ea typeface="Calibri"/>
                          <a:cs typeface="Calibri"/>
                          <a:sym typeface="Calibri"/>
                        </a:rPr>
                        <a:t> &amp;&amp; valor &lt; 0)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vista.mostrarError</a:t>
                      </a:r>
                      <a:r>
                        <a:rPr lang="es-ES" sz="1100" dirty="0">
                          <a:solidFill>
                            <a:srgbClr val="4F81BD"/>
                          </a:solidFill>
                          <a:latin typeface="Calibri"/>
                          <a:ea typeface="Calibri"/>
                          <a:cs typeface="Calibri"/>
                          <a:sym typeface="Calibri"/>
                        </a:rPr>
                        <a:t>("La masa no puede ser negativa.");</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364" name="Google Shape;364;p45"/>
          <p:cNvGraphicFramePr/>
          <p:nvPr>
            <p:extLst>
              <p:ext uri="{D42A27DB-BD31-4B8C-83A1-F6EECF244321}">
                <p14:modId xmlns:p14="http://schemas.microsoft.com/office/powerpoint/2010/main" val="957192987"/>
              </p:ext>
            </p:extLst>
          </p:nvPr>
        </p:nvGraphicFramePr>
        <p:xfrm>
          <a:off x="5684675" y="1874095"/>
          <a:ext cx="3699025" cy="4485640"/>
        </p:xfrm>
        <a:graphic>
          <a:graphicData uri="http://schemas.openxmlformats.org/drawingml/2006/table">
            <a:tbl>
              <a:tblPr>
                <a:noFill/>
                <a:tableStyleId>{BF136021-7255-42B7-A7E7-87A8D8FFE9CA}</a:tableStyleId>
              </a:tblPr>
              <a:tblGrid>
                <a:gridCol w="3699025">
                  <a:extLst>
                    <a:ext uri="{9D8B030D-6E8A-4147-A177-3AD203B41FA5}">
                      <a16:colId xmlns:a16="http://schemas.microsoft.com/office/drawing/2014/main" val="20000"/>
                    </a:ext>
                  </a:extLst>
                </a:gridCol>
              </a:tblGrid>
              <a:tr h="3972225">
                <a:tc>
                  <a:txBody>
                    <a:bodyPr/>
                    <a:lstStyle/>
                    <a:p>
                      <a:pPr marL="0" lvl="0" indent="0" algn="l" rtl="0">
                        <a:spcBef>
                          <a:spcPts val="0"/>
                        </a:spcBef>
                        <a:spcAft>
                          <a:spcPts val="0"/>
                        </a:spcAft>
                        <a:buNone/>
                      </a:pP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origen = </a:t>
                      </a:r>
                      <a:r>
                        <a:rPr lang="es-ES" sz="1100" dirty="0" err="1">
                          <a:solidFill>
                            <a:srgbClr val="4F81BD"/>
                          </a:solidFill>
                          <a:latin typeface="Calibri"/>
                          <a:ea typeface="Calibri"/>
                          <a:cs typeface="Calibri"/>
                          <a:sym typeface="Calibri"/>
                        </a:rPr>
                        <a:t>vista.seleccionarUnidad</a:t>
                      </a:r>
                      <a:r>
                        <a:rPr lang="es-ES" sz="1100" dirty="0">
                          <a:solidFill>
                            <a:srgbClr val="4F81BD"/>
                          </a:solidFill>
                          <a:latin typeface="Calibri"/>
                          <a:ea typeface="Calibri"/>
                          <a:cs typeface="Calibri"/>
                          <a:sym typeface="Calibri"/>
                        </a:rPr>
                        <a:t>("Unidad de origen:", </a:t>
                      </a:r>
                      <a:r>
                        <a:rPr lang="es-ES" sz="1100" dirty="0" err="1">
                          <a:solidFill>
                            <a:srgbClr val="4F81BD"/>
                          </a:solidFill>
                          <a:latin typeface="Calibri"/>
                          <a:ea typeface="Calibri"/>
                          <a:cs typeface="Calibri"/>
                          <a:sym typeface="Calibri"/>
                        </a:rPr>
                        <a:t>tipo.unidades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destino = </a:t>
                      </a:r>
                      <a:r>
                        <a:rPr lang="es-ES" sz="1100" dirty="0" err="1">
                          <a:solidFill>
                            <a:srgbClr val="4F81BD"/>
                          </a:solidFill>
                          <a:latin typeface="Calibri"/>
                          <a:ea typeface="Calibri"/>
                          <a:cs typeface="Calibri"/>
                          <a:sym typeface="Calibri"/>
                        </a:rPr>
                        <a:t>vista.seleccionarUnidad</a:t>
                      </a:r>
                      <a:r>
                        <a:rPr lang="es-ES" sz="1100" dirty="0">
                          <a:solidFill>
                            <a:srgbClr val="4F81BD"/>
                          </a:solidFill>
                          <a:latin typeface="Calibri"/>
                          <a:ea typeface="Calibri"/>
                          <a:cs typeface="Calibri"/>
                          <a:sym typeface="Calibri"/>
                        </a:rPr>
                        <a:t>("Unidad de destino:", </a:t>
                      </a:r>
                      <a:r>
                        <a:rPr lang="es-ES" sz="1100" dirty="0" err="1">
                          <a:solidFill>
                            <a:srgbClr val="4F81BD"/>
                          </a:solidFill>
                          <a:latin typeface="Calibri"/>
                          <a:ea typeface="Calibri"/>
                          <a:cs typeface="Calibri"/>
                          <a:sym typeface="Calibri"/>
                        </a:rPr>
                        <a:t>tipo.unidades</a:t>
                      </a:r>
                      <a:r>
                        <a:rPr lang="es-ES" sz="1100" dirty="0">
                          <a:solidFill>
                            <a:srgbClr val="4F81BD"/>
                          </a:solidFill>
                          <a:latin typeface="Calibri"/>
                          <a:ea typeface="Calibri"/>
                          <a:cs typeface="Calibri"/>
                          <a:sym typeface="Calibri"/>
                        </a:rPr>
                        <a:t>());</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try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resultado = </a:t>
                      </a:r>
                      <a:r>
                        <a:rPr lang="es-ES" sz="1100" dirty="0" err="1">
                          <a:solidFill>
                            <a:srgbClr val="4F81BD"/>
                          </a:solidFill>
                          <a:latin typeface="Calibri"/>
                          <a:ea typeface="Calibri"/>
                          <a:cs typeface="Calibri"/>
                          <a:sym typeface="Calibri"/>
                        </a:rPr>
                        <a:t>solicitarConversion</a:t>
                      </a:r>
                      <a:r>
                        <a:rPr lang="es-ES" sz="1100" dirty="0">
                          <a:solidFill>
                            <a:srgbClr val="4F81BD"/>
                          </a:solidFill>
                          <a:latin typeface="Calibri"/>
                          <a:ea typeface="Calibri"/>
                          <a:cs typeface="Calibri"/>
                          <a:sym typeface="Calibri"/>
                        </a:rPr>
                        <a:t>(tipo, valor, origen, destino);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vista.mostrarConversion</a:t>
                      </a:r>
                      <a:r>
                        <a:rPr lang="es-ES" sz="1100" dirty="0">
                          <a:solidFill>
                            <a:srgbClr val="4F81BD"/>
                          </a:solidFill>
                          <a:latin typeface="Calibri"/>
                          <a:ea typeface="Calibri"/>
                          <a:cs typeface="Calibri"/>
                          <a:sym typeface="Calibri"/>
                        </a:rPr>
                        <a:t>(tipo, new </a:t>
                      </a:r>
                      <a:r>
                        <a:rPr lang="es-ES" sz="1100" dirty="0" err="1">
                          <a:solidFill>
                            <a:srgbClr val="4F81BD"/>
                          </a:solidFill>
                          <a:latin typeface="Calibri"/>
                          <a:ea typeface="Calibri"/>
                          <a:cs typeface="Calibri"/>
                          <a:sym typeface="Calibri"/>
                        </a:rPr>
                        <a:t>ResultadoConversion</a:t>
                      </a:r>
                      <a:r>
                        <a:rPr lang="es-ES" sz="1100" dirty="0">
                          <a:solidFill>
                            <a:srgbClr val="4F81BD"/>
                          </a:solidFill>
                          <a:latin typeface="Calibri"/>
                          <a:ea typeface="Calibri"/>
                          <a:cs typeface="Calibri"/>
                          <a:sym typeface="Calibri"/>
                        </a:rPr>
                        <a:t>(valor, origen, destino, resultado));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 catch (</a:t>
                      </a:r>
                      <a:r>
                        <a:rPr lang="es-ES" sz="1100" dirty="0" err="1">
                          <a:solidFill>
                            <a:srgbClr val="4F81BD"/>
                          </a:solidFill>
                          <a:latin typeface="Calibri"/>
                          <a:ea typeface="Calibri"/>
                          <a:cs typeface="Calibri"/>
                          <a:sym typeface="Calibri"/>
                        </a:rPr>
                        <a:t>RuntimeException</a:t>
                      </a:r>
                      <a:r>
                        <a:rPr lang="es-ES" sz="1100" dirty="0">
                          <a:solidFill>
                            <a:srgbClr val="4F81BD"/>
                          </a:solidFill>
                          <a:latin typeface="Calibri"/>
                          <a:ea typeface="Calibri"/>
                          <a:cs typeface="Calibri"/>
                          <a:sym typeface="Calibri"/>
                        </a:rPr>
                        <a:t> ex)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vista.mostrarError</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mensajeSeguro</a:t>
                      </a:r>
                      <a:r>
                        <a:rPr lang="es-ES" sz="1100" dirty="0">
                          <a:solidFill>
                            <a:srgbClr val="4F81BD"/>
                          </a:solidFill>
                          <a:latin typeface="Calibri"/>
                          <a:ea typeface="Calibri"/>
                          <a:cs typeface="Calibri"/>
                          <a:sym typeface="Calibri"/>
                        </a:rPr>
                        <a:t>(ex));</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solicitarConversion</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TipoConversion</a:t>
                      </a:r>
                      <a:r>
                        <a:rPr lang="es-ES" sz="1100" dirty="0">
                          <a:solidFill>
                            <a:srgbClr val="4F81BD"/>
                          </a:solidFill>
                          <a:latin typeface="Calibri"/>
                          <a:ea typeface="Calibri"/>
                          <a:cs typeface="Calibri"/>
                          <a:sym typeface="Calibri"/>
                        </a:rPr>
                        <a:t> tipo, </a:t>
                      </a:r>
                      <a:r>
                        <a:rPr lang="es-ES" sz="1100" dirty="0" err="1">
                          <a:solidFill>
                            <a:srgbClr val="4F81BD"/>
                          </a:solidFill>
                          <a:latin typeface="Calibri"/>
                          <a:ea typeface="Calibri"/>
                          <a:cs typeface="Calibri"/>
                          <a:sym typeface="Calibri"/>
                        </a:rPr>
                        <a:t>double</a:t>
                      </a:r>
                      <a:r>
                        <a:rPr lang="es-ES" sz="1100" dirty="0">
                          <a:solidFill>
                            <a:srgbClr val="4F81BD"/>
                          </a:solidFill>
                          <a:latin typeface="Calibri"/>
                          <a:ea typeface="Calibri"/>
                          <a:cs typeface="Calibri"/>
                          <a:sym typeface="Calibri"/>
                        </a:rPr>
                        <a:t> valor,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origen,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destino)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return</a:t>
                      </a:r>
                      <a:r>
                        <a:rPr lang="es-ES" sz="1100" dirty="0">
                          <a:solidFill>
                            <a:srgbClr val="4F81BD"/>
                          </a:solidFill>
                          <a:latin typeface="Calibri"/>
                          <a:ea typeface="Calibri"/>
                          <a:cs typeface="Calibri"/>
                          <a:sym typeface="Calibri"/>
                        </a:rPr>
                        <a:t> switch (tipo)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case TEMPERATURA -&gt; </a:t>
                      </a:r>
                      <a:r>
                        <a:rPr lang="es-ES" sz="1100" dirty="0" err="1">
                          <a:solidFill>
                            <a:srgbClr val="4F81BD"/>
                          </a:solidFill>
                          <a:latin typeface="Calibri"/>
                          <a:ea typeface="Calibri"/>
                          <a:cs typeface="Calibri"/>
                          <a:sym typeface="Calibri"/>
                        </a:rPr>
                        <a:t>cliente.convertirTemperatura</a:t>
                      </a:r>
                      <a:r>
                        <a:rPr lang="es-ES" sz="11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case MASA -&gt; </a:t>
                      </a:r>
                      <a:r>
                        <a:rPr lang="es-ES" sz="1100" dirty="0" err="1">
                          <a:solidFill>
                            <a:srgbClr val="4F81BD"/>
                          </a:solidFill>
                          <a:latin typeface="Calibri"/>
                          <a:ea typeface="Calibri"/>
                          <a:cs typeface="Calibri"/>
                          <a:sym typeface="Calibri"/>
                        </a:rPr>
                        <a:t>cliente.convertirMasa</a:t>
                      </a:r>
                      <a:r>
                        <a:rPr lang="es-ES" sz="11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case LONGITUD -&gt; </a:t>
                      </a:r>
                      <a:r>
                        <a:rPr lang="es-ES" sz="1100" dirty="0" err="1">
                          <a:solidFill>
                            <a:srgbClr val="4F81BD"/>
                          </a:solidFill>
                          <a:latin typeface="Calibri"/>
                          <a:ea typeface="Calibri"/>
                          <a:cs typeface="Calibri"/>
                          <a:sym typeface="Calibri"/>
                        </a:rPr>
                        <a:t>cliente.convertirLongitud</a:t>
                      </a:r>
                      <a:r>
                        <a:rPr lang="es-ES" sz="1100" dirty="0">
                          <a:solidFill>
                            <a:srgbClr val="4F81BD"/>
                          </a:solidFill>
                          <a:latin typeface="Calibri"/>
                          <a:ea typeface="Calibri"/>
                          <a:cs typeface="Calibri"/>
                          <a:sym typeface="Calibri"/>
                        </a:rPr>
                        <a:t>(valor, origen, destino);</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spcBef>
                          <a:spcPts val="0"/>
                        </a:spcBef>
                        <a:spcAft>
                          <a:spcPts val="0"/>
                        </a:spcAft>
                        <a:buNone/>
                      </a:pPr>
                      <a:endParaRPr lang="es-ES"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8215E44A-8DF1-C436-C40F-F9558F788280}"/>
              </a:ext>
            </a:extLst>
          </p:cNvPr>
          <p:cNvSpPr txBox="1">
            <a:spLocks noGrp="1"/>
          </p:cNvSpPr>
          <p:nvPr>
            <p:ph type="body" idx="1"/>
          </p:nvPr>
        </p:nvSpPr>
        <p:spPr>
          <a:xfrm>
            <a:off x="-86065" y="1874095"/>
            <a:ext cx="2132400" cy="470130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370" name="Google Shape;370;p46"/>
          <p:cNvSpPr txBox="1">
            <a:spLocks noGrp="1"/>
          </p:cNvSpPr>
          <p:nvPr>
            <p:ph type="body" idx="1"/>
          </p:nvPr>
        </p:nvSpPr>
        <p:spPr>
          <a:xfrm>
            <a:off x="344995" y="1959919"/>
            <a:ext cx="7513901" cy="750330"/>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100" dirty="0">
                <a:solidFill>
                  <a:schemeClr val="dk1"/>
                </a:solidFill>
                <a:latin typeface="Calibri"/>
                <a:ea typeface="Calibri"/>
                <a:cs typeface="Calibri"/>
                <a:sym typeface="Calibri"/>
              </a:rPr>
              <a:t>Se puede verificar que el cliente funciona de forma correcta, se levanta y tiene comunicación </a:t>
            </a:r>
            <a:endParaRPr sz="1400" b="1" dirty="0">
              <a:solidFill>
                <a:srgbClr val="17365D"/>
              </a:solidFill>
              <a:latin typeface="Calibri"/>
              <a:ea typeface="Calibri"/>
              <a:cs typeface="Calibri"/>
              <a:sym typeface="Calibri"/>
            </a:endParaRPr>
          </a:p>
          <a:p>
            <a:pPr marL="457200" lvl="0" indent="-298450" algn="l" rtl="0">
              <a:lnSpc>
                <a:spcPct val="150000"/>
              </a:lnSpc>
              <a:spcBef>
                <a:spcPts val="0"/>
              </a:spcBef>
              <a:spcAft>
                <a:spcPts val="0"/>
              </a:spcAft>
              <a:buClr>
                <a:schemeClr val="dk1"/>
              </a:buClr>
              <a:buSzPts val="1100"/>
              <a:buFont typeface="Calibri"/>
              <a:buChar char="∙"/>
            </a:pPr>
            <a:endParaRPr sz="11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200" dirty="0">
              <a:latin typeface="Cambria"/>
              <a:ea typeface="Cambria"/>
              <a:cs typeface="Cambria"/>
              <a:sym typeface="Cambria"/>
            </a:endParaRPr>
          </a:p>
        </p:txBody>
      </p:sp>
      <p:sp>
        <p:nvSpPr>
          <p:cNvPr id="371" name="Google Shape;371;p4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pic>
        <p:nvPicPr>
          <p:cNvPr id="3" name="Picture 2">
            <a:extLst>
              <a:ext uri="{FF2B5EF4-FFF2-40B4-BE49-F238E27FC236}">
                <a16:creationId xmlns:a16="http://schemas.microsoft.com/office/drawing/2014/main" id="{E7E5445B-7BDC-ABD1-001E-041404815056}"/>
              </a:ext>
            </a:extLst>
          </p:cNvPr>
          <p:cNvPicPr>
            <a:picLocks noChangeAspect="1"/>
          </p:cNvPicPr>
          <p:nvPr/>
        </p:nvPicPr>
        <p:blipFill>
          <a:blip r:embed="rId3"/>
          <a:stretch>
            <a:fillRect/>
          </a:stretch>
        </p:blipFill>
        <p:spPr>
          <a:xfrm>
            <a:off x="581192" y="2775464"/>
            <a:ext cx="5340800" cy="2898568"/>
          </a:xfrm>
          <a:prstGeom prst="rect">
            <a:avLst/>
          </a:prstGeom>
        </p:spPr>
      </p:pic>
      <p:pic>
        <p:nvPicPr>
          <p:cNvPr id="5" name="Picture 4">
            <a:extLst>
              <a:ext uri="{FF2B5EF4-FFF2-40B4-BE49-F238E27FC236}">
                <a16:creationId xmlns:a16="http://schemas.microsoft.com/office/drawing/2014/main" id="{0A6F441D-59B7-994D-2112-96535448A582}"/>
              </a:ext>
            </a:extLst>
          </p:cNvPr>
          <p:cNvPicPr>
            <a:picLocks noChangeAspect="1"/>
          </p:cNvPicPr>
          <p:nvPr/>
        </p:nvPicPr>
        <p:blipFill>
          <a:blip r:embed="rId4"/>
          <a:stretch>
            <a:fillRect/>
          </a:stretch>
        </p:blipFill>
        <p:spPr>
          <a:xfrm>
            <a:off x="6132506" y="2576283"/>
            <a:ext cx="2628573" cy="357956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6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35" name="Google Shape;535;p6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36" name="Google Shape;536;p66"/>
          <p:cNvSpPr txBox="1">
            <a:spLocks noGrp="1"/>
          </p:cNvSpPr>
          <p:nvPr>
            <p:ph type="body" idx="1"/>
          </p:nvPr>
        </p:nvSpPr>
        <p:spPr>
          <a:xfrm>
            <a:off x="603287" y="2062478"/>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de escritorio se debe crear un proyecto de java </a:t>
            </a:r>
            <a:r>
              <a:rPr lang="es-ES" sz="1564" dirty="0" err="1">
                <a:latin typeface="Cambria"/>
                <a:ea typeface="Cambria"/>
                <a:cs typeface="Cambria"/>
                <a:sym typeface="Cambria"/>
              </a:rPr>
              <a:t>application</a:t>
            </a:r>
            <a:r>
              <a:rPr lang="es-ES" sz="1564" dirty="0">
                <a:latin typeface="Cambria"/>
                <a:ea typeface="Cambria"/>
                <a:cs typeface="Cambria"/>
                <a:sym typeface="Cambria"/>
              </a:rPr>
              <a:t>, el cual se inicializará y configurará para manejar el patrón arquitectónico MVC y los paquetes con el código respectivo</a:t>
            </a:r>
            <a:endParaRPr dirty="0">
              <a:latin typeface="Cambria"/>
              <a:ea typeface="Cambria"/>
              <a:cs typeface="Cambria"/>
              <a:sym typeface="Cambria"/>
            </a:endParaRPr>
          </a:p>
        </p:txBody>
      </p:sp>
      <p:pic>
        <p:nvPicPr>
          <p:cNvPr id="5" name="Picture 4">
            <a:extLst>
              <a:ext uri="{FF2B5EF4-FFF2-40B4-BE49-F238E27FC236}">
                <a16:creationId xmlns:a16="http://schemas.microsoft.com/office/drawing/2014/main" id="{DB87D13C-52EA-9A2B-E978-9B419FCDC72B}"/>
              </a:ext>
            </a:extLst>
          </p:cNvPr>
          <p:cNvPicPr>
            <a:picLocks noChangeAspect="1"/>
          </p:cNvPicPr>
          <p:nvPr/>
        </p:nvPicPr>
        <p:blipFill>
          <a:blip r:embed="rId3"/>
          <a:stretch>
            <a:fillRect/>
          </a:stretch>
        </p:blipFill>
        <p:spPr>
          <a:xfrm>
            <a:off x="467580" y="3348256"/>
            <a:ext cx="4664972" cy="3161815"/>
          </a:xfrm>
          <a:prstGeom prst="rect">
            <a:avLst/>
          </a:prstGeom>
        </p:spPr>
      </p:pic>
      <p:sp>
        <p:nvSpPr>
          <p:cNvPr id="7" name="TextBox 6">
            <a:extLst>
              <a:ext uri="{FF2B5EF4-FFF2-40B4-BE49-F238E27FC236}">
                <a16:creationId xmlns:a16="http://schemas.microsoft.com/office/drawing/2014/main" id="{EF2CADB8-69AC-EDFA-0B55-D4A654EE905F}"/>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1.4  CREACIÓN DEL PROYECTO CLIENTE ESCRITORIO</a:t>
            </a:r>
          </a:p>
        </p:txBody>
      </p:sp>
      <p:pic>
        <p:nvPicPr>
          <p:cNvPr id="9" name="Picture 8">
            <a:extLst>
              <a:ext uri="{FF2B5EF4-FFF2-40B4-BE49-F238E27FC236}">
                <a16:creationId xmlns:a16="http://schemas.microsoft.com/office/drawing/2014/main" id="{A46BA23B-E190-4F72-32A5-208B49624900}"/>
              </a:ext>
            </a:extLst>
          </p:cNvPr>
          <p:cNvPicPr>
            <a:picLocks noChangeAspect="1"/>
          </p:cNvPicPr>
          <p:nvPr/>
        </p:nvPicPr>
        <p:blipFill>
          <a:blip r:embed="rId4"/>
          <a:stretch>
            <a:fillRect/>
          </a:stretch>
        </p:blipFill>
        <p:spPr>
          <a:xfrm>
            <a:off x="5293339" y="3615229"/>
            <a:ext cx="3708137" cy="23255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6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45" name="Google Shape;545;p6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lang="es-EC"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47" name="Google Shape;547;p67"/>
          <p:cNvGraphicFramePr/>
          <p:nvPr>
            <p:extLst>
              <p:ext uri="{D42A27DB-BD31-4B8C-83A1-F6EECF244321}">
                <p14:modId xmlns:p14="http://schemas.microsoft.com/office/powerpoint/2010/main" val="4173007503"/>
              </p:ext>
            </p:extLst>
          </p:nvPr>
        </p:nvGraphicFramePr>
        <p:xfrm>
          <a:off x="1940435" y="2166597"/>
          <a:ext cx="3351270" cy="4255008"/>
        </p:xfrm>
        <a:graphic>
          <a:graphicData uri="http://schemas.openxmlformats.org/drawingml/2006/table">
            <a:tbl>
              <a:tblPr>
                <a:noFill/>
                <a:tableStyleId>{BF136021-7255-42B7-A7E7-87A8D8FFE9CA}</a:tableStyleId>
              </a:tblPr>
              <a:tblGrid>
                <a:gridCol w="335127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package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ec.edu.monster.servicios</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jakarta.xml.ws.BindingProvider</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jakarta.xml.ws.WebServiceException</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jakarta.xml.ws.handler.Handler</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ec.edu.monster.controladores.config.SoapConfig</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ec.edu.monster.seguridad.AdministradorTokensCliente</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ec.edu.monster.seguridad.ManejadorClienteAutenticacion</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ec.edu.monster.seguridad.TlsInseguro</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java.net.URL;</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java.util.List</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import</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java.util.Map</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class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WSConversorCliente</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private</a:t>
                      </a:r>
                      <a:r>
                        <a:rPr lang="es-EC" sz="900" dirty="0">
                          <a:solidFill>
                            <a:srgbClr val="4F81BD"/>
                          </a:solidFill>
                          <a:latin typeface="Calibri"/>
                          <a:ea typeface="Calibri"/>
                          <a:cs typeface="Calibri"/>
                          <a:sym typeface="Calibri"/>
                        </a:rPr>
                        <a:t> final </a:t>
                      </a:r>
                      <a:r>
                        <a:rPr lang="es-EC" sz="900" dirty="0" err="1">
                          <a:solidFill>
                            <a:srgbClr val="4F81BD"/>
                          </a:solidFill>
                          <a:latin typeface="Calibri"/>
                          <a:ea typeface="Calibri"/>
                          <a:cs typeface="Calibri"/>
                          <a:sym typeface="Calibri"/>
                        </a:rPr>
                        <a:t>WSConversorUnidades</a:t>
                      </a:r>
                      <a:r>
                        <a:rPr lang="es-EC" sz="900" dirty="0">
                          <a:solidFill>
                            <a:srgbClr val="4F81BD"/>
                          </a:solidFill>
                          <a:latin typeface="Calibri"/>
                          <a:ea typeface="Calibri"/>
                          <a:cs typeface="Calibri"/>
                          <a:sym typeface="Calibri"/>
                        </a:rPr>
                        <a:t> puerto;</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WSConversorCliente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throws</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Exception</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SoapConfig.insecureTls</a:t>
                      </a: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TlsInseguro.habilitar</a:t>
                      </a:r>
                      <a:r>
                        <a:rPr lang="es-EC"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graphicFrame>
        <p:nvGraphicFramePr>
          <p:cNvPr id="4" name="Google Shape;547;p67">
            <a:extLst>
              <a:ext uri="{FF2B5EF4-FFF2-40B4-BE49-F238E27FC236}">
                <a16:creationId xmlns:a16="http://schemas.microsoft.com/office/drawing/2014/main" id="{A67D1364-BD2F-E428-B2CB-FA95B82F5E06}"/>
              </a:ext>
            </a:extLst>
          </p:cNvPr>
          <p:cNvGraphicFramePr/>
          <p:nvPr>
            <p:extLst>
              <p:ext uri="{D42A27DB-BD31-4B8C-83A1-F6EECF244321}">
                <p14:modId xmlns:p14="http://schemas.microsoft.com/office/powerpoint/2010/main" val="4145324527"/>
              </p:ext>
            </p:extLst>
          </p:nvPr>
        </p:nvGraphicFramePr>
        <p:xfrm>
          <a:off x="5394152" y="1837551"/>
          <a:ext cx="3887097" cy="4847463"/>
        </p:xfrm>
        <a:graphic>
          <a:graphicData uri="http://schemas.openxmlformats.org/drawingml/2006/table">
            <a:tbl>
              <a:tblPr>
                <a:noFill/>
                <a:tableStyleId>{BF136021-7255-42B7-A7E7-87A8D8FFE9CA}</a:tableStyleId>
              </a:tblPr>
              <a:tblGrid>
                <a:gridCol w="3887097">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convertirTemperatura</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valor,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origen,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destino)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puerto.convertirTemperatura</a:t>
                      </a:r>
                      <a:r>
                        <a:rPr lang="es-EC" sz="900" dirty="0">
                          <a:solidFill>
                            <a:srgbClr val="4F81BD"/>
                          </a:solidFill>
                          <a:latin typeface="Calibri"/>
                          <a:ea typeface="Calibri"/>
                          <a:cs typeface="Calibri"/>
                          <a:sym typeface="Calibri"/>
                        </a:rPr>
                        <a:t>(valor, origen, destino);</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WebServiceException</a:t>
                      </a:r>
                      <a:r>
                        <a:rPr lang="es-EC" sz="900" dirty="0">
                          <a:solidFill>
                            <a:srgbClr val="4F81BD"/>
                          </a:solidFill>
                          <a:latin typeface="Calibri"/>
                          <a:ea typeface="Calibri"/>
                          <a:cs typeface="Calibri"/>
                          <a:sym typeface="Calibri"/>
                        </a:rPr>
                        <a:t> e)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throw</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RuntimeException</a:t>
                      </a:r>
                      <a:r>
                        <a:rPr lang="es-EC" sz="900" dirty="0">
                          <a:solidFill>
                            <a:srgbClr val="4F81BD"/>
                          </a:solidFill>
                          <a:latin typeface="Calibri"/>
                          <a:ea typeface="Calibri"/>
                          <a:cs typeface="Calibri"/>
                          <a:sym typeface="Calibri"/>
                        </a:rPr>
                        <a:t>("Error al convertir temperatura: " + </a:t>
                      </a:r>
                      <a:r>
                        <a:rPr lang="es-EC" sz="900" dirty="0" err="1">
                          <a:solidFill>
                            <a:srgbClr val="4F81BD"/>
                          </a:solidFill>
                          <a:latin typeface="Calibri"/>
                          <a:ea typeface="Calibri"/>
                          <a:cs typeface="Calibri"/>
                          <a:sym typeface="Calibri"/>
                        </a:rPr>
                        <a:t>e.getMessage</a:t>
                      </a:r>
                      <a:r>
                        <a:rPr lang="es-EC" sz="900" dirty="0">
                          <a:solidFill>
                            <a:srgbClr val="4F81BD"/>
                          </a:solidFill>
                          <a:latin typeface="Calibri"/>
                          <a:ea typeface="Calibri"/>
                          <a:cs typeface="Calibri"/>
                          <a:sym typeface="Calibri"/>
                        </a:rPr>
                        <a:t>(), e);</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convertirLongitud</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valor,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origen,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destino)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puerto.convertirLongitud</a:t>
                      </a:r>
                      <a:r>
                        <a:rPr lang="es-EC" sz="900" dirty="0">
                          <a:solidFill>
                            <a:srgbClr val="4F81BD"/>
                          </a:solidFill>
                          <a:latin typeface="Calibri"/>
                          <a:ea typeface="Calibri"/>
                          <a:cs typeface="Calibri"/>
                          <a:sym typeface="Calibri"/>
                        </a:rPr>
                        <a:t>(valor, origen, destino);</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WebServiceException</a:t>
                      </a:r>
                      <a:r>
                        <a:rPr lang="es-EC" sz="900" dirty="0">
                          <a:solidFill>
                            <a:srgbClr val="4F81BD"/>
                          </a:solidFill>
                          <a:latin typeface="Calibri"/>
                          <a:ea typeface="Calibri"/>
                          <a:cs typeface="Calibri"/>
                          <a:sym typeface="Calibri"/>
                        </a:rPr>
                        <a:t> e)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throw</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RuntimeException</a:t>
                      </a:r>
                      <a:r>
                        <a:rPr lang="es-EC" sz="900" dirty="0">
                          <a:solidFill>
                            <a:srgbClr val="4F81BD"/>
                          </a:solidFill>
                          <a:latin typeface="Calibri"/>
                          <a:ea typeface="Calibri"/>
                          <a:cs typeface="Calibri"/>
                          <a:sym typeface="Calibri"/>
                        </a:rPr>
                        <a:t>("Error al convertir longitud: " + </a:t>
                      </a:r>
                      <a:r>
                        <a:rPr lang="es-EC" sz="900" dirty="0" err="1">
                          <a:solidFill>
                            <a:srgbClr val="4F81BD"/>
                          </a:solidFill>
                          <a:latin typeface="Calibri"/>
                          <a:ea typeface="Calibri"/>
                          <a:cs typeface="Calibri"/>
                          <a:sym typeface="Calibri"/>
                        </a:rPr>
                        <a:t>e.getMessage</a:t>
                      </a:r>
                      <a:r>
                        <a:rPr lang="es-EC" sz="900" dirty="0">
                          <a:solidFill>
                            <a:srgbClr val="4F81BD"/>
                          </a:solidFill>
                          <a:latin typeface="Calibri"/>
                          <a:ea typeface="Calibri"/>
                          <a:cs typeface="Calibri"/>
                          <a:sym typeface="Calibri"/>
                        </a:rPr>
                        <a:t>(), e);</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convertirMasa</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double</a:t>
                      </a:r>
                      <a:r>
                        <a:rPr lang="es-EC" sz="900" dirty="0">
                          <a:solidFill>
                            <a:srgbClr val="4F81BD"/>
                          </a:solidFill>
                          <a:latin typeface="Calibri"/>
                          <a:ea typeface="Calibri"/>
                          <a:cs typeface="Calibri"/>
                          <a:sym typeface="Calibri"/>
                        </a:rPr>
                        <a:t> valor,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origen,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destino)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puerto.convertirMasa</a:t>
                      </a:r>
                      <a:r>
                        <a:rPr lang="es-EC" sz="900" dirty="0">
                          <a:solidFill>
                            <a:srgbClr val="4F81BD"/>
                          </a:solidFill>
                          <a:latin typeface="Calibri"/>
                          <a:ea typeface="Calibri"/>
                          <a:cs typeface="Calibri"/>
                          <a:sym typeface="Calibri"/>
                        </a:rPr>
                        <a:t>(valor, origen, destino);</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WebServiceException</a:t>
                      </a:r>
                      <a:r>
                        <a:rPr lang="es-EC" sz="900" dirty="0">
                          <a:solidFill>
                            <a:srgbClr val="4F81BD"/>
                          </a:solidFill>
                          <a:latin typeface="Calibri"/>
                          <a:ea typeface="Calibri"/>
                          <a:cs typeface="Calibri"/>
                          <a:sym typeface="Calibri"/>
                        </a:rPr>
                        <a:t> e) {</a:t>
                      </a:r>
                    </a:p>
                    <a:p>
                      <a:pPr marL="0" lvl="0" indent="0" algn="l" rtl="0">
                        <a:lnSpc>
                          <a:spcPct val="144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throw</a:t>
                      </a:r>
                      <a:r>
                        <a:rPr lang="es-EC" sz="900" dirty="0">
                          <a:solidFill>
                            <a:srgbClr val="4F81BD"/>
                          </a:solidFill>
                          <a:latin typeface="Calibri"/>
                          <a:ea typeface="Calibri"/>
                          <a:cs typeface="Calibri"/>
                          <a:sym typeface="Calibri"/>
                        </a:rPr>
                        <a:t> new </a:t>
                      </a:r>
                      <a:r>
                        <a:rPr lang="es-EC" sz="900" dirty="0" err="1">
                          <a:solidFill>
                            <a:srgbClr val="4F81BD"/>
                          </a:solidFill>
                          <a:latin typeface="Calibri"/>
                          <a:ea typeface="Calibri"/>
                          <a:cs typeface="Calibri"/>
                          <a:sym typeface="Calibri"/>
                        </a:rPr>
                        <a:t>RuntimeException</a:t>
                      </a:r>
                      <a:r>
                        <a:rPr lang="es-EC" sz="900" dirty="0">
                          <a:solidFill>
                            <a:srgbClr val="4F81BD"/>
                          </a:solidFill>
                          <a:latin typeface="Calibri"/>
                          <a:ea typeface="Calibri"/>
                          <a:cs typeface="Calibri"/>
                          <a:sym typeface="Calibri"/>
                        </a:rPr>
                        <a:t>("Error al convertir masa: " + </a:t>
                      </a:r>
                      <a:r>
                        <a:rPr lang="es-EC" sz="900" dirty="0" err="1">
                          <a:solidFill>
                            <a:srgbClr val="4F81BD"/>
                          </a:solidFill>
                          <a:latin typeface="Calibri"/>
                          <a:ea typeface="Calibri"/>
                          <a:cs typeface="Calibri"/>
                          <a:sym typeface="Calibri"/>
                        </a:rPr>
                        <a:t>e.getMessage</a:t>
                      </a:r>
                      <a:r>
                        <a:rPr lang="es-EC" sz="900" dirty="0">
                          <a:solidFill>
                            <a:srgbClr val="4F81BD"/>
                          </a:solidFill>
                          <a:latin typeface="Calibri"/>
                          <a:ea typeface="Calibri"/>
                          <a:cs typeface="Calibri"/>
                          <a:sym typeface="Calibri"/>
                        </a:rPr>
                        <a:t>(), e);</a:t>
                      </a:r>
                    </a:p>
                  </a:txBody>
                  <a:tcPr marL="63500" marR="63500" marT="63500" marB="63500"/>
                </a:tc>
                <a:extLst>
                  <a:ext uri="{0D108BD9-81ED-4DB2-BD59-A6C34878D82A}">
                    <a16:rowId xmlns:a16="http://schemas.microsoft.com/office/drawing/2014/main" val="10000"/>
                  </a:ext>
                </a:extLst>
              </a:tr>
            </a:tbl>
          </a:graphicData>
        </a:graphic>
      </p:graphicFrame>
      <p:sp>
        <p:nvSpPr>
          <p:cNvPr id="5" name="Google Shape;319;p40">
            <a:extLst>
              <a:ext uri="{FF2B5EF4-FFF2-40B4-BE49-F238E27FC236}">
                <a16:creationId xmlns:a16="http://schemas.microsoft.com/office/drawing/2014/main" id="{90E606E2-56E3-1D77-8B34-317086E79A6F}"/>
              </a:ext>
            </a:extLst>
          </p:cNvPr>
          <p:cNvSpPr txBox="1">
            <a:spLocks noGrp="1"/>
          </p:cNvSpPr>
          <p:nvPr>
            <p:ph type="body" idx="1"/>
          </p:nvPr>
        </p:nvSpPr>
        <p:spPr>
          <a:xfrm>
            <a:off x="-1" y="1837551"/>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53" name="Google Shape;553;p6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555" name="Google Shape;555;p68"/>
          <p:cNvGraphicFramePr/>
          <p:nvPr>
            <p:extLst>
              <p:ext uri="{D42A27DB-BD31-4B8C-83A1-F6EECF244321}">
                <p14:modId xmlns:p14="http://schemas.microsoft.com/office/powerpoint/2010/main" val="3787550277"/>
              </p:ext>
            </p:extLst>
          </p:nvPr>
        </p:nvGraphicFramePr>
        <p:xfrm>
          <a:off x="2332838" y="2136238"/>
          <a:ext cx="6484300" cy="4056634"/>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023900">
                <a:tc>
                  <a:txBody>
                    <a:bodyPr/>
                    <a:lstStyle/>
                    <a:p>
                      <a:pPr marL="0" lvl="0" indent="0" algn="l" rtl="0">
                        <a:lnSpc>
                          <a:spcPct val="144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CLIESC_JAVA_SOAP {</a:t>
                      </a:r>
                    </a:p>
                    <a:p>
                      <a:pPr marL="0" lvl="0" indent="0" algn="l" rtl="0">
                        <a:lnSpc>
                          <a:spcPct val="144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void</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main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args</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SwingUtilities.invokeLater</a:t>
                      </a:r>
                      <a:r>
                        <a:rPr lang="es-ES" sz="900" dirty="0">
                          <a:solidFill>
                            <a:srgbClr val="4F81BD"/>
                          </a:solidFill>
                          <a:latin typeface="Calibri"/>
                          <a:ea typeface="Calibri"/>
                          <a:cs typeface="Calibri"/>
                          <a:sym typeface="Calibri"/>
                        </a:rPr>
                        <a:t>(() -&gt;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AppTheme.instalar</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WSConversorCliente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LoginVista</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a:t>
                      </a:r>
                      <a:r>
                        <a:rPr lang="es-ES" sz="900" dirty="0">
                          <a:solidFill>
                            <a:srgbClr val="4F81BD"/>
                          </a:solidFill>
                          <a:latin typeface="Calibri"/>
                          <a:ea typeface="Calibri"/>
                          <a:cs typeface="Calibri"/>
                          <a:sym typeface="Calibri"/>
                        </a:rPr>
                        <a:t> = new </a:t>
                      </a:r>
                      <a:r>
                        <a:rPr lang="es-ES" sz="900" dirty="0" err="1">
                          <a:solidFill>
                            <a:srgbClr val="4F81BD"/>
                          </a:solidFill>
                          <a:latin typeface="Calibri"/>
                          <a:ea typeface="Calibri"/>
                          <a:cs typeface="Calibri"/>
                          <a:sym typeface="Calibri"/>
                        </a:rPr>
                        <a:t>LoginVista</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new </a:t>
                      </a:r>
                      <a:r>
                        <a:rPr lang="es-ES" sz="900" dirty="0" err="1">
                          <a:solidFill>
                            <a:srgbClr val="4F81BD"/>
                          </a:solidFill>
                          <a:latin typeface="Calibri"/>
                          <a:ea typeface="Calibri"/>
                          <a:cs typeface="Calibri"/>
                          <a:sym typeface="Calibri"/>
                        </a:rPr>
                        <a:t>LoginController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login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client</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login.setVisible</a:t>
                      </a:r>
                      <a:r>
                        <a:rPr lang="es-ES" sz="900" dirty="0">
                          <a:solidFill>
                            <a:srgbClr val="4F81BD"/>
                          </a:solidFill>
                          <a:latin typeface="Calibri"/>
                          <a:ea typeface="Calibri"/>
                          <a:cs typeface="Calibri"/>
                          <a:sym typeface="Calibri"/>
                        </a:rPr>
                        <a:t>(true);</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e)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JOptionPane.showMessageDialog</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"No se pudo conectar al servidor SOAP:\n" + </a:t>
                      </a:r>
                      <a:r>
                        <a:rPr lang="es-ES" sz="900" dirty="0" err="1">
                          <a:solidFill>
                            <a:srgbClr val="4F81BD"/>
                          </a:solidFill>
                          <a:latin typeface="Calibri"/>
                          <a:ea typeface="Calibri"/>
                          <a:cs typeface="Calibri"/>
                          <a:sym typeface="Calibri"/>
                        </a:rPr>
                        <a:t>e.getMessage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"Error de conexión", </a:t>
                      </a:r>
                      <a:r>
                        <a:rPr lang="es-ES" sz="900" dirty="0" err="1">
                          <a:solidFill>
                            <a:srgbClr val="4F81BD"/>
                          </a:solidFill>
                          <a:latin typeface="Calibri"/>
                          <a:ea typeface="Calibri"/>
                          <a:cs typeface="Calibri"/>
                          <a:sym typeface="Calibri"/>
                        </a:rPr>
                        <a:t>JOptionPane.ERROR_MESSAGE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System.exit</a:t>
                      </a:r>
                      <a:r>
                        <a:rPr lang="es-ES" sz="900" dirty="0">
                          <a:solidFill>
                            <a:srgbClr val="4F81BD"/>
                          </a:solidFill>
                          <a:latin typeface="Calibri"/>
                          <a:ea typeface="Calibri"/>
                          <a:cs typeface="Calibri"/>
                          <a:sym typeface="Calibri"/>
                        </a:rPr>
                        <a:t>(1);</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1100" dirty="0">
                        <a:solidFill>
                          <a:schemeClr val="dk1"/>
                        </a:solidFill>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endParaRPr sz="1100" dirty="0">
                        <a:solidFill>
                          <a:schemeClr val="dk1"/>
                        </a:solidFill>
                      </a:endParaRP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3E5A9CED-F171-E838-6853-A7AC2D6B416B}"/>
              </a:ext>
            </a:extLst>
          </p:cNvPr>
          <p:cNvSpPr txBox="1">
            <a:spLocks noGrp="1"/>
          </p:cNvSpPr>
          <p:nvPr>
            <p:ph type="body" idx="1"/>
          </p:nvPr>
        </p:nvSpPr>
        <p:spPr>
          <a:xfrm>
            <a:off x="172993" y="2136238"/>
            <a:ext cx="1940435" cy="4447919"/>
          </a:xfrm>
          <a:prstGeom prst="rect">
            <a:avLst/>
          </a:prstGeom>
          <a:noFill/>
          <a:ln>
            <a:noFill/>
          </a:ln>
        </p:spPr>
        <p:txBody>
          <a:bodyPr spcFirstLastPara="1" wrap="square" lIns="91425" tIns="45700" rIns="91425" bIns="45700" anchor="ctr" anchorCtr="0">
            <a:normAutofit/>
          </a:bodyPr>
          <a:lstStyle/>
          <a:p>
            <a:pPr marL="457200" lvl="0" indent="-327406" algn="l" rtl="0">
              <a:lnSpc>
                <a:spcPct val="150000"/>
              </a:lnSpc>
              <a:spcBef>
                <a:spcPts val="0"/>
              </a:spcBef>
              <a:spcAft>
                <a:spcPts val="0"/>
              </a:spcAft>
              <a:buSzPts val="1556"/>
              <a:buChar char="∙"/>
            </a:pPr>
            <a:r>
              <a:rPr lang="es-ES" sz="1400" dirty="0">
                <a:solidFill>
                  <a:schemeClr val="dk1"/>
                </a:solidFill>
                <a:latin typeface="Calibri"/>
                <a:ea typeface="Calibri"/>
                <a:cs typeface="Calibri"/>
                <a:sym typeface="Calibri"/>
              </a:rPr>
              <a:t>A continuación se detallarán las clases principales con su código fuente.</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1" name="Google Shape;561;p69"/>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62" name="Google Shape;562;p69"/>
          <p:cNvSpPr txBox="1">
            <a:spLocks noGrp="1"/>
          </p:cNvSpPr>
          <p:nvPr>
            <p:ph type="body" idx="1"/>
          </p:nvPr>
        </p:nvSpPr>
        <p:spPr>
          <a:xfrm>
            <a:off x="271974" y="2738849"/>
            <a:ext cx="4491014" cy="886044"/>
          </a:xfrm>
          <a:prstGeom prst="rect">
            <a:avLst/>
          </a:prstGeom>
          <a:noFill/>
          <a:ln>
            <a:noFill/>
          </a:ln>
        </p:spPr>
        <p:txBody>
          <a:bodyPr spcFirstLastPara="1" wrap="square" lIns="91425" tIns="45700" rIns="91425" bIns="45700" anchor="ctr" anchorCtr="0">
            <a:noAutofit/>
          </a:bodyPr>
          <a:lstStyle/>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La configuración para la conexión con el servidor se maneja igual que en la conexión desde el cliente de consola</a:t>
            </a:r>
          </a:p>
          <a:p>
            <a:pPr marL="457200" lvl="0" indent="-327406" algn="l" rtl="0">
              <a:lnSpc>
                <a:spcPct val="150000"/>
              </a:lnSpc>
              <a:spcBef>
                <a:spcPts val="0"/>
              </a:spcBef>
              <a:spcAft>
                <a:spcPts val="0"/>
              </a:spcAft>
              <a:buSzPts val="1556"/>
              <a:buChar char="∙"/>
            </a:pPr>
            <a:r>
              <a:rPr lang="es-MX" sz="1400" dirty="0">
                <a:solidFill>
                  <a:schemeClr val="dk1"/>
                </a:solidFill>
                <a:latin typeface="Calibri"/>
                <a:ea typeface="Calibri"/>
                <a:cs typeface="Calibri"/>
                <a:sym typeface="Calibri"/>
              </a:rPr>
              <a:t>Para poder probar se debe ejecutar el archivo principal del proyecto</a:t>
            </a:r>
            <a:endParaRPr sz="1400" dirty="0">
              <a:solidFill>
                <a:schemeClr val="dk1"/>
              </a:solidFill>
              <a:latin typeface="Calibri"/>
              <a:ea typeface="Calibri"/>
              <a:cs typeface="Calibri"/>
              <a:sym typeface="Calibri"/>
            </a:endParaRPr>
          </a:p>
          <a:p>
            <a:pPr marL="457200" lvl="0" indent="-304800" algn="just" rtl="0">
              <a:lnSpc>
                <a:spcPct val="107000"/>
              </a:lnSpc>
              <a:spcBef>
                <a:spcPts val="0"/>
              </a:spcBef>
              <a:spcAft>
                <a:spcPts val="0"/>
              </a:spcAft>
              <a:buSzPts val="1200"/>
              <a:buFont typeface="Cambria"/>
              <a:buChar char="∙"/>
            </a:pPr>
            <a:endParaRPr sz="1400" dirty="0">
              <a:latin typeface="Cambria"/>
              <a:ea typeface="Cambria"/>
              <a:cs typeface="Cambria"/>
              <a:sym typeface="Cambria"/>
            </a:endParaRPr>
          </a:p>
        </p:txBody>
      </p:sp>
      <p:graphicFrame>
        <p:nvGraphicFramePr>
          <p:cNvPr id="563" name="Google Shape;563;p69"/>
          <p:cNvGraphicFramePr/>
          <p:nvPr>
            <p:extLst>
              <p:ext uri="{D42A27DB-BD31-4B8C-83A1-F6EECF244321}">
                <p14:modId xmlns:p14="http://schemas.microsoft.com/office/powerpoint/2010/main" val="1264834394"/>
              </p:ext>
            </p:extLst>
          </p:nvPr>
        </p:nvGraphicFramePr>
        <p:xfrm>
          <a:off x="4762988" y="1923059"/>
          <a:ext cx="4043261" cy="4742085"/>
        </p:xfrm>
        <a:graphic>
          <a:graphicData uri="http://schemas.openxmlformats.org/drawingml/2006/table">
            <a:tbl>
              <a:tblPr>
                <a:noFill/>
                <a:tableStyleId>{BF136021-7255-42B7-A7E7-87A8D8FFE9CA}</a:tableStyleId>
              </a:tblPr>
              <a:tblGrid>
                <a:gridCol w="4043261">
                  <a:extLst>
                    <a:ext uri="{9D8B030D-6E8A-4147-A177-3AD203B41FA5}">
                      <a16:colId xmlns:a16="http://schemas.microsoft.com/office/drawing/2014/main" val="20000"/>
                    </a:ext>
                  </a:extLst>
                </a:gridCol>
              </a:tblGrid>
              <a:tr h="4742085">
                <a:tc>
                  <a:txBody>
                    <a:bodyPr/>
                    <a:lstStyle/>
                    <a:p>
                      <a:pPr marL="0" lvl="0" indent="0" algn="l" rtl="0">
                        <a:lnSpc>
                          <a:spcPct val="144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SoapConfig</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ARCHIVO_ENV = ".</a:t>
                      </a:r>
                      <a:r>
                        <a:rPr lang="es-ES" sz="900" dirty="0" err="1">
                          <a:solidFill>
                            <a:srgbClr val="4F81BD"/>
                          </a:solidFill>
                          <a:latin typeface="Calibri"/>
                          <a:ea typeface="Calibri"/>
                          <a:cs typeface="Calibri"/>
                          <a:sym typeface="Calibri"/>
                        </a:rPr>
                        <a:t>development.env</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final </a:t>
                      </a:r>
                      <a:r>
                        <a:rPr lang="es-ES" sz="900" dirty="0" err="1">
                          <a:solidFill>
                            <a:srgbClr val="4F81BD"/>
                          </a:solidFill>
                          <a:latin typeface="Calibri"/>
                          <a:ea typeface="Calibri"/>
                          <a:cs typeface="Calibri"/>
                          <a:sym typeface="Calibri"/>
                        </a:rPr>
                        <a:t>Dotenv</a:t>
                      </a:r>
                      <a:r>
                        <a:rPr lang="es-ES" sz="900" dirty="0">
                          <a:solidFill>
                            <a:srgbClr val="4F81BD"/>
                          </a:solidFill>
                          <a:latin typeface="Calibri"/>
                          <a:ea typeface="Calibri"/>
                          <a:cs typeface="Calibri"/>
                          <a:sym typeface="Calibri"/>
                        </a:rPr>
                        <a:t> DOTENV = cargar();</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SoapConfig</a:t>
                      </a:r>
                      <a:r>
                        <a:rPr lang="es-ES" sz="900" dirty="0">
                          <a:solidFill>
                            <a:srgbClr val="4F81BD"/>
                          </a:solidFill>
                          <a:latin typeface="Calibri"/>
                          <a:ea typeface="Calibri"/>
                          <a:cs typeface="Calibri"/>
                          <a:sym typeface="Calibri"/>
                        </a:rPr>
                        <a:t>() {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Dotenv</a:t>
                      </a:r>
                      <a:r>
                        <a:rPr lang="es-ES" sz="900" dirty="0">
                          <a:solidFill>
                            <a:srgbClr val="4F81BD"/>
                          </a:solidFill>
                          <a:latin typeface="Calibri"/>
                          <a:ea typeface="Calibri"/>
                          <a:cs typeface="Calibri"/>
                          <a:sym typeface="Calibri"/>
                        </a:rPr>
                        <a:t> cargar()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Dotenv.configure</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directory</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ubicarDirectorio</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filename</a:t>
                      </a:r>
                      <a:r>
                        <a:rPr lang="es-ES" sz="900" dirty="0">
                          <a:solidFill>
                            <a:srgbClr val="4F81BD"/>
                          </a:solidFill>
                          <a:latin typeface="Calibri"/>
                          <a:ea typeface="Calibri"/>
                          <a:cs typeface="Calibri"/>
                          <a:sym typeface="Calibri"/>
                        </a:rPr>
                        <a:t>(ARCHIVO_ENV)</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ignoreIfMissing</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.load();</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static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ubicarDirectorio</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(new File(ARCHIVO_ENV).</a:t>
                      </a:r>
                      <a:r>
                        <a:rPr lang="es-ES" sz="900" dirty="0" err="1">
                          <a:solidFill>
                            <a:srgbClr val="4F81BD"/>
                          </a:solidFill>
                          <a:latin typeface="Calibri"/>
                          <a:ea typeface="Calibri"/>
                          <a:cs typeface="Calibri"/>
                          <a:sym typeface="Calibri"/>
                        </a:rPr>
                        <a:t>isFile</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URL recurso = </a:t>
                      </a:r>
                      <a:r>
                        <a:rPr lang="es-ES" sz="900" dirty="0" err="1">
                          <a:solidFill>
                            <a:srgbClr val="4F81BD"/>
                          </a:solidFill>
                          <a:latin typeface="Calibri"/>
                          <a:ea typeface="Calibri"/>
                          <a:cs typeface="Calibri"/>
                          <a:sym typeface="Calibri"/>
                        </a:rPr>
                        <a:t>SoapConfig.class.getResource</a:t>
                      </a:r>
                      <a:r>
                        <a:rPr lang="es-ES" sz="900" dirty="0">
                          <a:solidFill>
                            <a:srgbClr val="4F81BD"/>
                          </a:solidFill>
                          <a:latin typeface="Calibri"/>
                          <a:ea typeface="Calibri"/>
                          <a:cs typeface="Calibri"/>
                          <a:sym typeface="Calibri"/>
                        </a:rPr>
                        <a:t>("/" + ARCHIVO_ENV);</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(recurso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&amp;&amp; "file".</a:t>
                      </a:r>
                      <a:r>
                        <a:rPr lang="es-ES" sz="900" dirty="0" err="1">
                          <a:solidFill>
                            <a:srgbClr val="4F81BD"/>
                          </a:solidFill>
                          <a:latin typeface="Calibri"/>
                          <a:ea typeface="Calibri"/>
                          <a:cs typeface="Calibri"/>
                          <a:sym typeface="Calibri"/>
                        </a:rPr>
                        <a:t>equalsIgnoreCase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recurso.getProtocol</a:t>
                      </a: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try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Path</a:t>
                      </a:r>
                      <a:r>
                        <a:rPr lang="es-ES" sz="900" dirty="0">
                          <a:solidFill>
                            <a:srgbClr val="4F81BD"/>
                          </a:solidFill>
                          <a:latin typeface="Calibri"/>
                          <a:ea typeface="Calibri"/>
                          <a:cs typeface="Calibri"/>
                          <a:sym typeface="Calibri"/>
                        </a:rPr>
                        <a:t> ruta = </a:t>
                      </a:r>
                      <a:r>
                        <a:rPr lang="es-ES" sz="900" dirty="0" err="1">
                          <a:solidFill>
                            <a:srgbClr val="4F81BD"/>
                          </a:solidFill>
                          <a:latin typeface="Calibri"/>
                          <a:ea typeface="Calibri"/>
                          <a:cs typeface="Calibri"/>
                          <a:sym typeface="Calibri"/>
                        </a:rPr>
                        <a:t>Paths.get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recurso.toURI</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ruta.getParent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toString</a:t>
                      </a:r>
                      <a:r>
                        <a:rPr lang="es-ES" sz="900" dirty="0">
                          <a:solidFill>
                            <a:srgbClr val="4F81BD"/>
                          </a:solidFill>
                          <a:latin typeface="Calibri"/>
                          <a:ea typeface="Calibri"/>
                          <a:cs typeface="Calibri"/>
                          <a:sym typeface="Calibri"/>
                        </a:rPr>
                        <a:t>();</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ignorado)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44000"/>
                        </a:lnSpc>
                        <a:spcBef>
                          <a:spcPts val="0"/>
                        </a:spcBef>
                        <a:spcAft>
                          <a:spcPts val="0"/>
                        </a:spcAft>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8296BBCD-6625-1CA2-75D8-DCF2B5E613DA}"/>
              </a:ext>
            </a:extLst>
          </p:cNvPr>
          <p:cNvPicPr>
            <a:picLocks noChangeAspect="1"/>
          </p:cNvPicPr>
          <p:nvPr/>
        </p:nvPicPr>
        <p:blipFill>
          <a:blip r:embed="rId3"/>
          <a:stretch>
            <a:fillRect/>
          </a:stretch>
        </p:blipFill>
        <p:spPr>
          <a:xfrm>
            <a:off x="852812" y="4077731"/>
            <a:ext cx="3515803" cy="25492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69" name="Google Shape;569;p70"/>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1" name="Google Shape;571;p70"/>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81BAB808-DE65-7F10-83B4-5D79A43D8EBF}"/>
              </a:ext>
            </a:extLst>
          </p:cNvPr>
          <p:cNvPicPr>
            <a:picLocks noChangeAspect="1"/>
          </p:cNvPicPr>
          <p:nvPr/>
        </p:nvPicPr>
        <p:blipFill>
          <a:blip r:embed="rId3"/>
          <a:stretch>
            <a:fillRect/>
          </a:stretch>
        </p:blipFill>
        <p:spPr>
          <a:xfrm>
            <a:off x="2148257" y="2526869"/>
            <a:ext cx="5611786" cy="390662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77" name="Google Shape;577;p71"/>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78" name="Google Shape;578;p71"/>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inicial al iniciar sesión</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4C621075-3CD1-7C87-EF12-36A397FEC092}"/>
              </a:ext>
            </a:extLst>
          </p:cNvPr>
          <p:cNvPicPr>
            <a:picLocks noChangeAspect="1"/>
          </p:cNvPicPr>
          <p:nvPr/>
        </p:nvPicPr>
        <p:blipFill>
          <a:blip r:embed="rId3"/>
          <a:stretch>
            <a:fillRect/>
          </a:stretch>
        </p:blipFill>
        <p:spPr>
          <a:xfrm>
            <a:off x="1932874" y="2514114"/>
            <a:ext cx="5984152" cy="404810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85" name="Google Shape;585;p7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ESCRITORIO</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86" name="Google Shape;586;p7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de una conversión de temperatura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F879563B-FF1F-6024-C10C-3BDBB57A7A63}"/>
              </a:ext>
            </a:extLst>
          </p:cNvPr>
          <p:cNvPicPr>
            <a:picLocks noChangeAspect="1"/>
          </p:cNvPicPr>
          <p:nvPr/>
        </p:nvPicPr>
        <p:blipFill>
          <a:blip r:embed="rId3"/>
          <a:stretch>
            <a:fillRect/>
          </a:stretch>
        </p:blipFill>
        <p:spPr>
          <a:xfrm>
            <a:off x="2020957" y="2610549"/>
            <a:ext cx="5807985" cy="385909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593" name="Google Shape;593;p7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594" name="Google Shape;594;p73"/>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09197" lvl="0" indent="-285750" algn="just" rtl="0">
              <a:lnSpc>
                <a:spcPct val="107000"/>
              </a:lnSpc>
              <a:spcBef>
                <a:spcPts val="0"/>
              </a:spcBef>
              <a:spcAft>
                <a:spcPts val="0"/>
              </a:spcAft>
              <a:buSzPts val="1656"/>
              <a:buFont typeface="Arial" panose="020B0604020202020204" pitchFamily="34" charset="0"/>
              <a:buChar char="•"/>
            </a:pPr>
            <a:r>
              <a:rPr lang="es-ES" sz="1564" dirty="0">
                <a:latin typeface="Cambria"/>
                <a:ea typeface="Cambria"/>
                <a:cs typeface="Cambria"/>
                <a:sym typeface="Cambria"/>
              </a:rPr>
              <a:t>Para el cliente web se debe crear en java una web </a:t>
            </a:r>
            <a:r>
              <a:rPr lang="es-ES" sz="1564" dirty="0" err="1">
                <a:latin typeface="Cambria"/>
                <a:ea typeface="Cambria"/>
                <a:cs typeface="Cambria"/>
                <a:sym typeface="Cambria"/>
              </a:rPr>
              <a:t>application</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36902FD8-93D1-66C6-E6F4-D37C43665E30}"/>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a:t>
            </a:r>
            <a:r>
              <a:rPr lang="es-MX" b="1" dirty="0">
                <a:latin typeface="Cambria"/>
                <a:ea typeface="Cambria"/>
                <a:cs typeface="Cambria"/>
                <a:sym typeface="Cambria"/>
              </a:rPr>
              <a:t>5</a:t>
            </a:r>
            <a:r>
              <a:rPr lang="es-MX" sz="1400" b="1" dirty="0">
                <a:latin typeface="Cambria"/>
                <a:ea typeface="Cambria"/>
                <a:cs typeface="Cambria"/>
                <a:sym typeface="Cambria"/>
              </a:rPr>
              <a:t>  CREACIÓN DEL PROYECTO CLIENTE </a:t>
            </a:r>
            <a:r>
              <a:rPr lang="es-MX" b="1" dirty="0">
                <a:latin typeface="Cambria"/>
                <a:ea typeface="Cambria"/>
                <a:cs typeface="Cambria"/>
                <a:sym typeface="Cambria"/>
              </a:rPr>
              <a:t>WEB</a:t>
            </a:r>
            <a:endParaRPr lang="es-MX" sz="1400" b="1" dirty="0">
              <a:latin typeface="Cambria"/>
              <a:ea typeface="Cambria"/>
              <a:cs typeface="Cambria"/>
              <a:sym typeface="Cambria"/>
            </a:endParaRPr>
          </a:p>
        </p:txBody>
      </p:sp>
      <p:pic>
        <p:nvPicPr>
          <p:cNvPr id="6" name="Picture 5">
            <a:extLst>
              <a:ext uri="{FF2B5EF4-FFF2-40B4-BE49-F238E27FC236}">
                <a16:creationId xmlns:a16="http://schemas.microsoft.com/office/drawing/2014/main" id="{DEB357B6-7FC5-EAB8-C703-D2E55A0A226B}"/>
              </a:ext>
            </a:extLst>
          </p:cNvPr>
          <p:cNvPicPr>
            <a:picLocks noChangeAspect="1"/>
          </p:cNvPicPr>
          <p:nvPr/>
        </p:nvPicPr>
        <p:blipFill>
          <a:blip r:embed="rId3"/>
          <a:stretch>
            <a:fillRect/>
          </a:stretch>
        </p:blipFill>
        <p:spPr>
          <a:xfrm>
            <a:off x="481207" y="2997438"/>
            <a:ext cx="4667441" cy="3176162"/>
          </a:xfrm>
          <a:prstGeom prst="rect">
            <a:avLst/>
          </a:prstGeom>
        </p:spPr>
      </p:pic>
      <p:pic>
        <p:nvPicPr>
          <p:cNvPr id="8" name="Picture 7">
            <a:extLst>
              <a:ext uri="{FF2B5EF4-FFF2-40B4-BE49-F238E27FC236}">
                <a16:creationId xmlns:a16="http://schemas.microsoft.com/office/drawing/2014/main" id="{F50BE311-2AA5-EF6F-1AE1-F9A38D0CEBD8}"/>
              </a:ext>
            </a:extLst>
          </p:cNvPr>
          <p:cNvPicPr>
            <a:picLocks noChangeAspect="1"/>
          </p:cNvPicPr>
          <p:nvPr/>
        </p:nvPicPr>
        <p:blipFill>
          <a:blip r:embed="rId4"/>
          <a:stretch>
            <a:fillRect/>
          </a:stretch>
        </p:blipFill>
        <p:spPr>
          <a:xfrm>
            <a:off x="5436412" y="3546399"/>
            <a:ext cx="3444538" cy="232430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02" name="Google Shape;602;p7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04" name="Google Shape;604;p74"/>
          <p:cNvGraphicFramePr/>
          <p:nvPr>
            <p:extLst>
              <p:ext uri="{D42A27DB-BD31-4B8C-83A1-F6EECF244321}">
                <p14:modId xmlns:p14="http://schemas.microsoft.com/office/powerpoint/2010/main" val="2513144088"/>
              </p:ext>
            </p:extLst>
          </p:nvPr>
        </p:nvGraphicFramePr>
        <p:xfrm>
          <a:off x="2332836" y="1831178"/>
          <a:ext cx="6484300" cy="5053775"/>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C" sz="900" dirty="0" err="1">
                          <a:solidFill>
                            <a:srgbClr val="4F81BD"/>
                          </a:solidFill>
                          <a:latin typeface="Calibri"/>
                          <a:ea typeface="Calibri"/>
                          <a:cs typeface="Calibri"/>
                          <a:sym typeface="Calibri"/>
                        </a:rPr>
                        <a:t>public</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iniciarSesion</a:t>
                      </a:r>
                      <a:r>
                        <a:rPr lang="es-EC"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usuario = </a:t>
                      </a:r>
                      <a:r>
                        <a:rPr lang="es-EC" sz="900" dirty="0" err="1">
                          <a:solidFill>
                            <a:srgbClr val="4F81BD"/>
                          </a:solidFill>
                          <a:latin typeface="Calibri"/>
                          <a:ea typeface="Calibri"/>
                          <a:cs typeface="Calibri"/>
                          <a:sym typeface="Calibri"/>
                        </a:rPr>
                        <a:t>credenciales.getUsuario</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contrasenia</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credenciales.getContrasenia</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if</a:t>
                      </a:r>
                      <a:r>
                        <a:rPr lang="es-EC" sz="900" dirty="0">
                          <a:solidFill>
                            <a:srgbClr val="4F81BD"/>
                          </a:solidFill>
                          <a:latin typeface="Calibri"/>
                          <a:ea typeface="Calibri"/>
                          <a:cs typeface="Calibri"/>
                          <a:sym typeface="Calibri"/>
                        </a:rPr>
                        <a:t> (usuario ==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usuario.isBlank</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contrasenia</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contrasenia.isBlank</a:t>
                      </a:r>
                      <a:r>
                        <a:rPr lang="es-EC"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mensaje(</a:t>
                      </a:r>
                      <a:r>
                        <a:rPr lang="es-EC" sz="900" dirty="0" err="1">
                          <a:solidFill>
                            <a:srgbClr val="4F81BD"/>
                          </a:solidFill>
                          <a:latin typeface="Calibri"/>
                          <a:ea typeface="Calibri"/>
                          <a:cs typeface="Calibri"/>
                          <a:sym typeface="Calibri"/>
                        </a:rPr>
                        <a:t>FacesMessage.SEVERITY_WARN</a:t>
                      </a:r>
                      <a:r>
                        <a:rPr lang="es-EC" sz="900" dirty="0">
                          <a:solidFill>
                            <a:srgbClr val="4F81BD"/>
                          </a:solidFill>
                          <a:latin typeface="Calibri"/>
                          <a:ea typeface="Calibri"/>
                          <a:cs typeface="Calibri"/>
                          <a:sym typeface="Calibri"/>
                        </a:rPr>
                        <a:t>, "", "Debe ingresar usuario y </a:t>
                      </a:r>
                      <a:r>
                        <a:rPr lang="es-EC" sz="900" dirty="0" err="1">
                          <a:solidFill>
                            <a:srgbClr val="4F81BD"/>
                          </a:solidFill>
                          <a:latin typeface="Calibri"/>
                          <a:ea typeface="Calibri"/>
                          <a:cs typeface="Calibri"/>
                          <a:sym typeface="Calibri"/>
                        </a:rPr>
                        <a:t>contrasenia</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C"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try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token = </a:t>
                      </a:r>
                      <a:r>
                        <a:rPr lang="es-EC" sz="900" dirty="0" err="1">
                          <a:solidFill>
                            <a:srgbClr val="4F81BD"/>
                          </a:solidFill>
                          <a:latin typeface="Calibri"/>
                          <a:ea typeface="Calibri"/>
                          <a:cs typeface="Calibri"/>
                          <a:sym typeface="Calibri"/>
                        </a:rPr>
                        <a:t>autenticacionServicio.login</a:t>
                      </a:r>
                      <a:r>
                        <a:rPr lang="es-EC" sz="900" dirty="0">
                          <a:solidFill>
                            <a:srgbClr val="4F81BD"/>
                          </a:solidFill>
                          <a:latin typeface="Calibri"/>
                          <a:ea typeface="Calibri"/>
                          <a:cs typeface="Calibri"/>
                          <a:sym typeface="Calibri"/>
                        </a:rPr>
                        <a:t>(usuario, </a:t>
                      </a:r>
                      <a:r>
                        <a:rPr lang="es-EC" sz="900" dirty="0" err="1">
                          <a:solidFill>
                            <a:srgbClr val="4F81BD"/>
                          </a:solidFill>
                          <a:latin typeface="Calibri"/>
                          <a:ea typeface="Calibri"/>
                          <a:cs typeface="Calibri"/>
                          <a:sym typeface="Calibri"/>
                        </a:rPr>
                        <a:t>contrasenia</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sesionBean.iniciarSesion</a:t>
                      </a:r>
                      <a:r>
                        <a:rPr lang="es-EC" sz="900" dirty="0">
                          <a:solidFill>
                            <a:srgbClr val="4F81BD"/>
                          </a:solidFill>
                          <a:latin typeface="Calibri"/>
                          <a:ea typeface="Calibri"/>
                          <a:cs typeface="Calibri"/>
                          <a:sym typeface="Calibri"/>
                        </a:rPr>
                        <a:t>(usuario, token);</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conversor?faces-redirect</a:t>
                      </a:r>
                      <a:r>
                        <a:rPr lang="es-EC" sz="900" dirty="0">
                          <a:solidFill>
                            <a:srgbClr val="4F81BD"/>
                          </a:solidFill>
                          <a:latin typeface="Calibri"/>
                          <a:ea typeface="Calibri"/>
                          <a:cs typeface="Calibri"/>
                          <a:sym typeface="Calibri"/>
                        </a:rPr>
                        <a:t>=true";</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SOAPFaultException</a:t>
                      </a:r>
                      <a:r>
                        <a:rPr lang="es-EC" sz="900" dirty="0">
                          <a:solidFill>
                            <a:srgbClr val="4F81BD"/>
                          </a:solidFill>
                          <a:latin typeface="Calibri"/>
                          <a:ea typeface="Calibri"/>
                          <a:cs typeface="Calibri"/>
                          <a:sym typeface="Calibri"/>
                        </a:rPr>
                        <a:t> e)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faultString</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e.getFault</a:t>
                      </a:r>
                      <a:r>
                        <a:rPr lang="es-EC" sz="900" dirty="0">
                          <a:solidFill>
                            <a:srgbClr val="4F81BD"/>
                          </a:solidFill>
                          <a:latin typeface="Calibri"/>
                          <a:ea typeface="Calibri"/>
                          <a:cs typeface="Calibri"/>
                          <a:sym typeface="Calibri"/>
                        </a:rPr>
                        <a:t>().</a:t>
                      </a:r>
                      <a:r>
                        <a:rPr lang="es-EC" sz="900" dirty="0" err="1">
                          <a:solidFill>
                            <a:srgbClr val="4F81BD"/>
                          </a:solidFill>
                          <a:latin typeface="Calibri"/>
                          <a:ea typeface="Calibri"/>
                          <a:cs typeface="Calibri"/>
                          <a:sym typeface="Calibri"/>
                        </a:rPr>
                        <a:t>getFaultString</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String</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friendlyMsg</a:t>
                      </a:r>
                      <a:r>
                        <a:rPr lang="es-EC" sz="900" dirty="0">
                          <a:solidFill>
                            <a:srgbClr val="4F81BD"/>
                          </a:solidFill>
                          <a:latin typeface="Calibri"/>
                          <a:ea typeface="Calibri"/>
                          <a:cs typeface="Calibri"/>
                          <a:sym typeface="Calibri"/>
                        </a:rPr>
                        <a:t> = switch (</a:t>
                      </a:r>
                      <a:r>
                        <a:rPr lang="es-EC" sz="900" dirty="0" err="1">
                          <a:solidFill>
                            <a:srgbClr val="4F81BD"/>
                          </a:solidFill>
                          <a:latin typeface="Calibri"/>
                          <a:ea typeface="Calibri"/>
                          <a:cs typeface="Calibri"/>
                          <a:sym typeface="Calibri"/>
                        </a:rPr>
                        <a:t>faultString</a:t>
                      </a:r>
                      <a:r>
                        <a:rPr lang="es-EC"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case "Usuario o contraseña incorrectos" -&gt; "Usuario o contraseña incorrectos";</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case "Acceso denegado: Se requiere encabezado SOAP con el token de seguridad." -&gt;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"Sesión expirada. Inicie sesión nuevamente.";</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case "Acceso denegado: No se encontró el token. Inicie sesión primero." -&gt;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"Sesión expirada. Inicie sesión nuevamente.";</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case "Acceso denegado: Token inválido o expirado." -&gt;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"Sesión expirada. Inicie sesión nuevamente.";</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default -&gt; "Error de autenticación: " + </a:t>
                      </a:r>
                      <a:r>
                        <a:rPr lang="es-EC" sz="900" dirty="0" err="1">
                          <a:solidFill>
                            <a:srgbClr val="4F81BD"/>
                          </a:solidFill>
                          <a:latin typeface="Calibri"/>
                          <a:ea typeface="Calibri"/>
                          <a:cs typeface="Calibri"/>
                          <a:sym typeface="Calibri"/>
                        </a:rPr>
                        <a:t>faultString</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mensaje(</a:t>
                      </a:r>
                      <a:r>
                        <a:rPr lang="es-EC" sz="900" dirty="0" err="1">
                          <a:solidFill>
                            <a:srgbClr val="4F81BD"/>
                          </a:solidFill>
                          <a:latin typeface="Calibri"/>
                          <a:ea typeface="Calibri"/>
                          <a:cs typeface="Calibri"/>
                          <a:sym typeface="Calibri"/>
                        </a:rPr>
                        <a:t>FacesMessage.SEVERITY_ERROR</a:t>
                      </a:r>
                      <a:r>
                        <a:rPr lang="es-EC" sz="900" dirty="0">
                          <a:solidFill>
                            <a:srgbClr val="4F81BD"/>
                          </a:solidFill>
                          <a:latin typeface="Calibri"/>
                          <a:ea typeface="Calibri"/>
                          <a:cs typeface="Calibri"/>
                          <a:sym typeface="Calibri"/>
                        </a:rPr>
                        <a:t>, "", </a:t>
                      </a:r>
                      <a:r>
                        <a:rPr lang="es-EC" sz="900" dirty="0" err="1">
                          <a:solidFill>
                            <a:srgbClr val="4F81BD"/>
                          </a:solidFill>
                          <a:latin typeface="Calibri"/>
                          <a:ea typeface="Calibri"/>
                          <a:cs typeface="Calibri"/>
                          <a:sym typeface="Calibri"/>
                        </a:rPr>
                        <a:t>friendlyMsg</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 catch (</a:t>
                      </a:r>
                      <a:r>
                        <a:rPr lang="es-EC" sz="900" dirty="0" err="1">
                          <a:solidFill>
                            <a:srgbClr val="4F81BD"/>
                          </a:solidFill>
                          <a:latin typeface="Calibri"/>
                          <a:ea typeface="Calibri"/>
                          <a:cs typeface="Calibri"/>
                          <a:sym typeface="Calibri"/>
                        </a:rPr>
                        <a:t>Exception</a:t>
                      </a:r>
                      <a:r>
                        <a:rPr lang="es-EC" sz="900" dirty="0">
                          <a:solidFill>
                            <a:srgbClr val="4F81BD"/>
                          </a:solidFill>
                          <a:latin typeface="Calibri"/>
                          <a:ea typeface="Calibri"/>
                          <a:cs typeface="Calibri"/>
                          <a:sym typeface="Calibri"/>
                        </a:rPr>
                        <a:t> e) {</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mensaje(</a:t>
                      </a:r>
                      <a:r>
                        <a:rPr lang="es-EC" sz="900" dirty="0" err="1">
                          <a:solidFill>
                            <a:srgbClr val="4F81BD"/>
                          </a:solidFill>
                          <a:latin typeface="Calibri"/>
                          <a:ea typeface="Calibri"/>
                          <a:cs typeface="Calibri"/>
                          <a:sym typeface="Calibri"/>
                        </a:rPr>
                        <a:t>FacesMessage.SEVERITY_ERROR</a:t>
                      </a:r>
                      <a:r>
                        <a:rPr lang="es-EC" sz="900" dirty="0">
                          <a:solidFill>
                            <a:srgbClr val="4F81BD"/>
                          </a:solidFill>
                          <a:latin typeface="Calibri"/>
                          <a:ea typeface="Calibri"/>
                          <a:cs typeface="Calibri"/>
                          <a:sym typeface="Calibri"/>
                        </a:rPr>
                        <a:t>, "", "Error de conexión: " + </a:t>
                      </a:r>
                      <a:r>
                        <a:rPr lang="es-EC" sz="900" dirty="0" err="1">
                          <a:solidFill>
                            <a:srgbClr val="4F81BD"/>
                          </a:solidFill>
                          <a:latin typeface="Calibri"/>
                          <a:ea typeface="Calibri"/>
                          <a:cs typeface="Calibri"/>
                          <a:sym typeface="Calibri"/>
                        </a:rPr>
                        <a:t>e.getMessage</a:t>
                      </a:r>
                      <a:r>
                        <a:rPr lang="es-EC"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return</a:t>
                      </a:r>
                      <a:r>
                        <a:rPr lang="es-EC" sz="900" dirty="0">
                          <a:solidFill>
                            <a:srgbClr val="4F81BD"/>
                          </a:solidFill>
                          <a:latin typeface="Calibri"/>
                          <a:ea typeface="Calibri"/>
                          <a:cs typeface="Calibri"/>
                          <a:sym typeface="Calibri"/>
                        </a:rPr>
                        <a:t> </a:t>
                      </a:r>
                      <a:r>
                        <a:rPr lang="es-EC" sz="900" dirty="0" err="1">
                          <a:solidFill>
                            <a:srgbClr val="4F81BD"/>
                          </a:solidFill>
                          <a:latin typeface="Calibri"/>
                          <a:ea typeface="Calibri"/>
                          <a:cs typeface="Calibri"/>
                          <a:sym typeface="Calibri"/>
                        </a:rPr>
                        <a:t>null</a:t>
                      </a:r>
                      <a:r>
                        <a:rPr lang="es-EC"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BE968C85-F64A-23C5-DD96-F0424BDCA40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7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0" name="Google Shape;610;p75"/>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graphicFrame>
        <p:nvGraphicFramePr>
          <p:cNvPr id="612" name="Google Shape;612;p75"/>
          <p:cNvGraphicFramePr/>
          <p:nvPr>
            <p:extLst>
              <p:ext uri="{D42A27DB-BD31-4B8C-83A1-F6EECF244321}">
                <p14:modId xmlns:p14="http://schemas.microsoft.com/office/powerpoint/2010/main" val="1109322256"/>
              </p:ext>
            </p:extLst>
          </p:nvPr>
        </p:nvGraphicFramePr>
        <p:xfrm>
          <a:off x="2332825" y="1795025"/>
          <a:ext cx="6484300" cy="4724591"/>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65025">
                <a:tc>
                  <a:txBody>
                    <a:bodyPr/>
                    <a:lstStyle/>
                    <a:p>
                      <a:pPr marL="0" lvl="0" indent="0" algn="l" rtl="0">
                        <a:lnSpc>
                          <a:spcPct val="120000"/>
                        </a:lnSpc>
                        <a:spcBef>
                          <a:spcPts val="0"/>
                        </a:spcBef>
                        <a:spcAft>
                          <a:spcPts val="0"/>
                        </a:spcAft>
                        <a:buNone/>
                      </a:pPr>
                      <a:r>
                        <a:rPr lang="es-ES" sz="900" dirty="0" err="1">
                          <a:solidFill>
                            <a:srgbClr val="4F81BD"/>
                          </a:solidFill>
                          <a:latin typeface="Calibri"/>
                          <a:ea typeface="Calibri"/>
                          <a:cs typeface="Calibri"/>
                          <a:sym typeface="Calibri"/>
                        </a:rPr>
                        <a:t>public</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void</a:t>
                      </a:r>
                      <a:r>
                        <a:rPr lang="es-ES" sz="900" dirty="0">
                          <a:solidFill>
                            <a:srgbClr val="4F81BD"/>
                          </a:solidFill>
                          <a:latin typeface="Calibri"/>
                          <a:ea typeface="Calibri"/>
                          <a:cs typeface="Calibri"/>
                          <a:sym typeface="Calibri"/>
                        </a:rPr>
                        <a:t> convertir()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unidadInicial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unidadInicial.isBlank</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unidadFinal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null</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unidadFinal.isBlank</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mensaje(</a:t>
                      </a:r>
                      <a:r>
                        <a:rPr lang="es-ES" sz="900" dirty="0" err="1">
                          <a:solidFill>
                            <a:srgbClr val="4F81BD"/>
                          </a:solidFill>
                          <a:latin typeface="Calibri"/>
                          <a:ea typeface="Calibri"/>
                          <a:cs typeface="Calibri"/>
                          <a:sym typeface="Calibri"/>
                        </a:rPr>
                        <a:t>FacesMessage.SEVERITY_WARN</a:t>
                      </a:r>
                      <a:r>
                        <a:rPr lang="es-ES" sz="900" dirty="0">
                          <a:solidFill>
                            <a:srgbClr val="4F81BD"/>
                          </a:solidFill>
                          <a:latin typeface="Calibri"/>
                          <a:ea typeface="Calibri"/>
                          <a:cs typeface="Calibri"/>
                          <a:sym typeface="Calibri"/>
                        </a:rPr>
                        <a:t>, "Debe seleccionar ambas unidades (inicial y final).");</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try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switch (</a:t>
                      </a:r>
                      <a:r>
                        <a:rPr lang="es-ES" sz="900" dirty="0" err="1">
                          <a:solidFill>
                            <a:srgbClr val="4F81BD"/>
                          </a:solidFill>
                          <a:latin typeface="Calibri"/>
                          <a:ea typeface="Calibri"/>
                          <a:cs typeface="Calibri"/>
                          <a:sym typeface="Calibri"/>
                        </a:rPr>
                        <a:t>tipoConversion</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case "masa":</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resultado = </a:t>
                      </a:r>
                      <a:r>
                        <a:rPr lang="es-ES" sz="900" dirty="0" err="1">
                          <a:solidFill>
                            <a:srgbClr val="4F81BD"/>
                          </a:solidFill>
                          <a:latin typeface="Calibri"/>
                          <a:ea typeface="Calibri"/>
                          <a:cs typeface="Calibri"/>
                          <a:sym typeface="Calibri"/>
                        </a:rPr>
                        <a:t>conversorServicio.convertirMasa</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sesionBean.getToken</a:t>
                      </a:r>
                      <a:r>
                        <a:rPr lang="es-ES" sz="900" dirty="0">
                          <a:solidFill>
                            <a:srgbClr val="4F81BD"/>
                          </a:solidFill>
                          <a:latin typeface="Calibri"/>
                          <a:ea typeface="Calibri"/>
                          <a:cs typeface="Calibri"/>
                          <a:sym typeface="Calibri"/>
                        </a:rPr>
                        <a:t>(), valor, </a:t>
                      </a:r>
                      <a:r>
                        <a:rPr lang="es-ES" sz="900" dirty="0" err="1">
                          <a:solidFill>
                            <a:srgbClr val="4F81BD"/>
                          </a:solidFill>
                          <a:latin typeface="Calibri"/>
                          <a:ea typeface="Calibri"/>
                          <a:cs typeface="Calibri"/>
                          <a:sym typeface="Calibri"/>
                        </a:rPr>
                        <a:t>unidadInicial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unidadFinal</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break;</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case "temperatura":</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resultado = </a:t>
                      </a:r>
                      <a:r>
                        <a:rPr lang="es-ES" sz="900" dirty="0" err="1">
                          <a:solidFill>
                            <a:srgbClr val="4F81BD"/>
                          </a:solidFill>
                          <a:latin typeface="Calibri"/>
                          <a:ea typeface="Calibri"/>
                          <a:cs typeface="Calibri"/>
                          <a:sym typeface="Calibri"/>
                        </a:rPr>
                        <a:t>conversorServicio.convertirTemperatura</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sesionBean.getToken</a:t>
                      </a:r>
                      <a:r>
                        <a:rPr lang="es-ES" sz="900" dirty="0">
                          <a:solidFill>
                            <a:srgbClr val="4F81BD"/>
                          </a:solidFill>
                          <a:latin typeface="Calibri"/>
                          <a:ea typeface="Calibri"/>
                          <a:cs typeface="Calibri"/>
                          <a:sym typeface="Calibri"/>
                        </a:rPr>
                        <a:t>(), valor, </a:t>
                      </a:r>
                      <a:r>
                        <a:rPr lang="es-ES" sz="900" dirty="0" err="1">
                          <a:solidFill>
                            <a:srgbClr val="4F81BD"/>
                          </a:solidFill>
                          <a:latin typeface="Calibri"/>
                          <a:ea typeface="Calibri"/>
                          <a:cs typeface="Calibri"/>
                          <a:sym typeface="Calibri"/>
                        </a:rPr>
                        <a:t>unidadInicial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unidadFinal</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break;</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case "longitud":</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default: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resultado = </a:t>
                      </a:r>
                      <a:r>
                        <a:rPr lang="es-ES" sz="900" dirty="0" err="1">
                          <a:solidFill>
                            <a:srgbClr val="4F81BD"/>
                          </a:solidFill>
                          <a:latin typeface="Calibri"/>
                          <a:ea typeface="Calibri"/>
                          <a:cs typeface="Calibri"/>
                          <a:sym typeface="Calibri"/>
                        </a:rPr>
                        <a:t>conversorServicio.convertirLongitud</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sesionBean.getToken</a:t>
                      </a:r>
                      <a:r>
                        <a:rPr lang="es-ES" sz="900" dirty="0">
                          <a:solidFill>
                            <a:srgbClr val="4F81BD"/>
                          </a:solidFill>
                          <a:latin typeface="Calibri"/>
                          <a:ea typeface="Calibri"/>
                          <a:cs typeface="Calibri"/>
                          <a:sym typeface="Calibri"/>
                        </a:rPr>
                        <a:t>(), valor, </a:t>
                      </a:r>
                      <a:r>
                        <a:rPr lang="es-ES" sz="900" dirty="0" err="1">
                          <a:solidFill>
                            <a:srgbClr val="4F81BD"/>
                          </a:solidFill>
                          <a:latin typeface="Calibri"/>
                          <a:ea typeface="Calibri"/>
                          <a:cs typeface="Calibri"/>
                          <a:sym typeface="Calibri"/>
                        </a:rPr>
                        <a:t>unidadInicial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unidadFinal</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break;</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mensaje(</a:t>
                      </a:r>
                      <a:r>
                        <a:rPr lang="es-ES" sz="900" dirty="0" err="1">
                          <a:solidFill>
                            <a:srgbClr val="4F81BD"/>
                          </a:solidFill>
                          <a:latin typeface="Calibri"/>
                          <a:ea typeface="Calibri"/>
                          <a:cs typeface="Calibri"/>
                          <a:sym typeface="Calibri"/>
                        </a:rPr>
                        <a:t>FacesMessage.SEVERITY_INFO</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Conversion</a:t>
                      </a:r>
                      <a:r>
                        <a:rPr lang="es-ES" sz="900" dirty="0">
                          <a:solidFill>
                            <a:srgbClr val="4F81BD"/>
                          </a:solidFill>
                          <a:latin typeface="Calibri"/>
                          <a:ea typeface="Calibri"/>
                          <a:cs typeface="Calibri"/>
                          <a:sym typeface="Calibri"/>
                        </a:rPr>
                        <a:t> realizada: " + resultado);</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SOAPFaultException</a:t>
                      </a:r>
                      <a:r>
                        <a:rPr lang="es-ES" sz="900" dirty="0">
                          <a:solidFill>
                            <a:srgbClr val="4F81BD"/>
                          </a:solidFill>
                          <a:latin typeface="Calibri"/>
                          <a:ea typeface="Calibri"/>
                          <a:cs typeface="Calibri"/>
                          <a:sym typeface="Calibri"/>
                        </a:rPr>
                        <a:t> e)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fault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e.getFault</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getFaultString</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clean</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fault.replaceAll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Please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the</a:t>
                      </a:r>
                      <a:r>
                        <a:rPr lang="es-ES" sz="900" dirty="0">
                          <a:solidFill>
                            <a:srgbClr val="4F81BD"/>
                          </a:solidFill>
                          <a:latin typeface="Calibri"/>
                          <a:ea typeface="Calibri"/>
                          <a:cs typeface="Calibri"/>
                          <a:sym typeface="Calibri"/>
                        </a:rPr>
                        <a:t> server log.*",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mensaje(</a:t>
                      </a:r>
                      <a:r>
                        <a:rPr lang="es-ES" sz="900" dirty="0" err="1">
                          <a:solidFill>
                            <a:srgbClr val="4F81BD"/>
                          </a:solidFill>
                          <a:latin typeface="Calibri"/>
                          <a:ea typeface="Calibri"/>
                          <a:cs typeface="Calibri"/>
                          <a:sym typeface="Calibri"/>
                        </a:rPr>
                        <a:t>FacesMessage.SEVERITY_ERROR</a:t>
                      </a:r>
                      <a:r>
                        <a:rPr lang="es-ES" sz="900" dirty="0">
                          <a:solidFill>
                            <a:srgbClr val="4F81BD"/>
                          </a:solidFill>
                          <a:latin typeface="Calibri"/>
                          <a:ea typeface="Calibri"/>
                          <a:cs typeface="Calibri"/>
                          <a:sym typeface="Calibri"/>
                        </a:rPr>
                        <a:t>, "Error al convertir: " + </a:t>
                      </a:r>
                      <a:r>
                        <a:rPr lang="es-ES" sz="900" dirty="0" err="1">
                          <a:solidFill>
                            <a:srgbClr val="4F81BD"/>
                          </a:solidFill>
                          <a:latin typeface="Calibri"/>
                          <a:ea typeface="Calibri"/>
                          <a:cs typeface="Calibri"/>
                          <a:sym typeface="Calibri"/>
                        </a:rPr>
                        <a:t>clean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catch (</a:t>
                      </a:r>
                      <a:r>
                        <a:rPr lang="es-ES" sz="900" dirty="0" err="1">
                          <a:solidFill>
                            <a:srgbClr val="4F81BD"/>
                          </a:solidFill>
                          <a:latin typeface="Calibri"/>
                          <a:ea typeface="Calibri"/>
                          <a:cs typeface="Calibri"/>
                          <a:sym typeface="Calibri"/>
                        </a:rPr>
                        <a:t>Exception</a:t>
                      </a:r>
                      <a:r>
                        <a:rPr lang="es-ES" sz="900" dirty="0">
                          <a:solidFill>
                            <a:srgbClr val="4F81BD"/>
                          </a:solidFill>
                          <a:latin typeface="Calibri"/>
                          <a:ea typeface="Calibri"/>
                          <a:cs typeface="Calibri"/>
                          <a:sym typeface="Calibri"/>
                        </a:rPr>
                        <a:t> e)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msg</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e.getMessage</a:t>
                      </a:r>
                      <a:r>
                        <a:rPr lang="es-ES" sz="900" dirty="0">
                          <a:solidFill>
                            <a:srgbClr val="4F81BD"/>
                          </a:solidFill>
                          <a:latin typeface="Calibri"/>
                          <a:ea typeface="Calibri"/>
                          <a:cs typeface="Calibri"/>
                          <a:sym typeface="Calibri"/>
                        </a:rPr>
                        <a:t>();</a:t>
                      </a:r>
                    </a:p>
                  </a:txBody>
                  <a:tcPr marL="63500" marR="63500" marT="63500" marB="63500"/>
                </a:tc>
                <a:extLst>
                  <a:ext uri="{0D108BD9-81ED-4DB2-BD59-A6C34878D82A}">
                    <a16:rowId xmlns:a16="http://schemas.microsoft.com/office/drawing/2014/main" val="10000"/>
                  </a:ext>
                </a:extLst>
              </a:tr>
            </a:tbl>
          </a:graphicData>
        </a:graphic>
      </p:graphicFrame>
      <p:sp>
        <p:nvSpPr>
          <p:cNvPr id="4" name="Google Shape;319;p40">
            <a:extLst>
              <a:ext uri="{FF2B5EF4-FFF2-40B4-BE49-F238E27FC236}">
                <a16:creationId xmlns:a16="http://schemas.microsoft.com/office/drawing/2014/main" id="{AE6B9AB3-AC2B-4910-2D8C-D489EE42B92A}"/>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7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18" name="Google Shape;618;p76"/>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0" name="Google Shape;620;p76"/>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B11D4A21-F5ED-7F1C-105F-1A6B41CEB51D}"/>
              </a:ext>
            </a:extLst>
          </p:cNvPr>
          <p:cNvPicPr>
            <a:picLocks noChangeAspect="1"/>
          </p:cNvPicPr>
          <p:nvPr/>
        </p:nvPicPr>
        <p:blipFill>
          <a:blip r:embed="rId3"/>
          <a:stretch>
            <a:fillRect/>
          </a:stretch>
        </p:blipFill>
        <p:spPr>
          <a:xfrm>
            <a:off x="1395036" y="2610549"/>
            <a:ext cx="7059827" cy="3741671"/>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26" name="Google Shape;626;p77"/>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27" name="Google Shape;627;p77"/>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C232D08C-14E4-302A-801B-B69E231358C6}"/>
              </a:ext>
            </a:extLst>
          </p:cNvPr>
          <p:cNvPicPr>
            <a:picLocks noChangeAspect="1"/>
          </p:cNvPicPr>
          <p:nvPr/>
        </p:nvPicPr>
        <p:blipFill>
          <a:blip r:embed="rId3"/>
          <a:stretch>
            <a:fillRect/>
          </a:stretch>
        </p:blipFill>
        <p:spPr>
          <a:xfrm>
            <a:off x="1230222" y="2610549"/>
            <a:ext cx="7389456" cy="3804587"/>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dirty="0"/>
              <a:t>DESARROLLO</a:t>
            </a:r>
            <a:endParaRPr dirty="0"/>
          </a:p>
        </p:txBody>
      </p:sp>
      <p:sp>
        <p:nvSpPr>
          <p:cNvPr id="634" name="Google Shape;634;p78"/>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lt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WEB</a:t>
            </a:r>
            <a:endParaRPr dirty="0">
              <a:solidFill>
                <a:srgbClr val="FFFF00"/>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MOVIL</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35" name="Google Shape;635;p78"/>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B724CED2-9855-F409-03C3-5C04955DE2B4}"/>
              </a:ext>
            </a:extLst>
          </p:cNvPr>
          <p:cNvPicPr>
            <a:picLocks noChangeAspect="1"/>
          </p:cNvPicPr>
          <p:nvPr/>
        </p:nvPicPr>
        <p:blipFill>
          <a:blip r:embed="rId3"/>
          <a:stretch>
            <a:fillRect/>
          </a:stretch>
        </p:blipFill>
        <p:spPr>
          <a:xfrm>
            <a:off x="1254805" y="2610549"/>
            <a:ext cx="7340290" cy="392860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aphicFrame>
        <p:nvGraphicFramePr>
          <p:cNvPr id="641" name="Google Shape;641;p79"/>
          <p:cNvGraphicFramePr/>
          <p:nvPr>
            <p:extLst>
              <p:ext uri="{D42A27DB-BD31-4B8C-83A1-F6EECF244321}">
                <p14:modId xmlns:p14="http://schemas.microsoft.com/office/powerpoint/2010/main" val="1000816467"/>
              </p:ext>
            </p:extLst>
          </p:nvPr>
        </p:nvGraphicFramePr>
        <p:xfrm>
          <a:off x="2380079" y="2830857"/>
          <a:ext cx="2914665" cy="3751175"/>
        </p:xfrm>
        <a:graphic>
          <a:graphicData uri="http://schemas.openxmlformats.org/drawingml/2006/table">
            <a:tbl>
              <a:tblPr>
                <a:noFill/>
                <a:tableStyleId>{BF136021-7255-42B7-A7E7-87A8D8FFE9CA}</a:tableStyleId>
              </a:tblPr>
              <a:tblGrid>
                <a:gridCol w="2914665">
                  <a:extLst>
                    <a:ext uri="{9D8B030D-6E8A-4147-A177-3AD203B41FA5}">
                      <a16:colId xmlns:a16="http://schemas.microsoft.com/office/drawing/2014/main" val="20000"/>
                    </a:ext>
                  </a:extLst>
                </a:gridCol>
              </a:tblGrid>
              <a:tr h="3751175">
                <a:tc>
                  <a:txBody>
                    <a:bodyPr/>
                    <a:lstStyle/>
                    <a:p>
                      <a:pPr marL="0" lvl="0" indent="0" algn="l" rtl="0">
                        <a:lnSpc>
                          <a:spcPct val="120000"/>
                        </a:lnSpc>
                        <a:spcBef>
                          <a:spcPts val="0"/>
                        </a:spcBef>
                        <a:spcAft>
                          <a:spcPts val="0"/>
                        </a:spcAft>
                        <a:buClr>
                          <a:schemeClr val="dk1"/>
                        </a:buClr>
                        <a:buSzPts val="1100"/>
                        <a:buFont typeface="Arial"/>
                        <a:buNone/>
                      </a:pPr>
                      <a:r>
                        <a:rPr lang="es-ES" sz="900" dirty="0" err="1">
                          <a:solidFill>
                            <a:srgbClr val="4F81BD"/>
                          </a:solidFill>
                          <a:latin typeface="Calibri"/>
                          <a:ea typeface="Calibri"/>
                          <a:cs typeface="Calibri"/>
                          <a:sym typeface="Calibri"/>
                        </a:rPr>
                        <a:t>class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ConverterController</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view</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ConverterView</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model</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UnitConverterModel</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category</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UnitCategory</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scope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CoroutineScope</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fromIndex</a:t>
                      </a:r>
                      <a:r>
                        <a:rPr lang="es-ES" sz="900" dirty="0">
                          <a:solidFill>
                            <a:srgbClr val="4F81BD"/>
                          </a:solidFill>
                          <a:latin typeface="Calibri"/>
                          <a:ea typeface="Calibri"/>
                          <a:cs typeface="Calibri"/>
                          <a:sym typeface="Calibri"/>
                        </a:rPr>
                        <a:t> = 0</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private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var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toIndex</a:t>
                      </a:r>
                      <a:r>
                        <a:rPr lang="es-ES" sz="900" dirty="0">
                          <a:solidFill>
                            <a:srgbClr val="4F81BD"/>
                          </a:solidFill>
                          <a:latin typeface="Calibri"/>
                          <a:ea typeface="Calibri"/>
                          <a:cs typeface="Calibri"/>
                          <a:sym typeface="Calibri"/>
                        </a:rPr>
                        <a:t> = 1</a:t>
                      </a:r>
                    </a:p>
                    <a:p>
                      <a:pPr marL="0" lvl="0" indent="0" algn="l" rtl="0">
                        <a:lnSpc>
                          <a:spcPct val="120000"/>
                        </a:lnSpc>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fun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onViewCreated</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units</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model.unitsOf</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category</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view.showTitle</a:t>
                      </a:r>
                      <a:r>
                        <a:rPr lang="es-ES" sz="900" dirty="0">
                          <a:solidFill>
                            <a:srgbClr val="4F81BD"/>
                          </a:solidFill>
                          <a:latin typeface="Calibri"/>
                          <a:ea typeface="Calibri"/>
                          <a:cs typeface="Calibri"/>
                          <a:sym typeface="Calibri"/>
                        </a:rPr>
                        <a:t>("Convertidor de ${</a:t>
                      </a:r>
                      <a:r>
                        <a:rPr lang="es-ES" sz="900" dirty="0" err="1">
                          <a:solidFill>
                            <a:srgbClr val="4F81BD"/>
                          </a:solidFill>
                          <a:latin typeface="Calibri"/>
                          <a:ea typeface="Calibri"/>
                          <a:cs typeface="Calibri"/>
                          <a:sym typeface="Calibri"/>
                        </a:rPr>
                        <a:t>category.title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view.showUnits</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units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fromIndex</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toIndex</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refreshSymbols</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fun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onFromSelected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index</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Int</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fromIndex</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index</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onSelectionChanged</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9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
        <p:nvSpPr>
          <p:cNvPr id="642" name="Google Shape;642;p79"/>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43" name="Google Shape;643;p79"/>
          <p:cNvSpPr/>
          <p:nvPr/>
        </p:nvSpPr>
        <p:spPr>
          <a:xfrm>
            <a:off x="9383700"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646" name="Google Shape;646;p79"/>
          <p:cNvSpPr txBox="1">
            <a:spLocks noGrp="1"/>
          </p:cNvSpPr>
          <p:nvPr>
            <p:ph type="body" idx="1"/>
          </p:nvPr>
        </p:nvSpPr>
        <p:spPr>
          <a:xfrm>
            <a:off x="581200" y="1902979"/>
            <a:ext cx="8589300" cy="1170900"/>
          </a:xfrm>
          <a:prstGeom prst="rect">
            <a:avLst/>
          </a:prstGeom>
          <a:noFill/>
          <a:ln>
            <a:noFill/>
          </a:ln>
        </p:spPr>
        <p:txBody>
          <a:bodyPr spcFirstLastPara="1" wrap="square" lIns="91425" tIns="45700" rIns="91425" bIns="45700" anchor="ctr" anchorCtr="0">
            <a:normAutofit/>
          </a:bodyPr>
          <a:lstStyle/>
          <a:p>
            <a:pPr marL="457200" lvl="0" indent="-333753" algn="just" rtl="0">
              <a:lnSpc>
                <a:spcPct val="107000"/>
              </a:lnSpc>
              <a:spcBef>
                <a:spcPts val="0"/>
              </a:spcBef>
              <a:spcAft>
                <a:spcPts val="0"/>
              </a:spcAft>
              <a:buSzPts val="1656"/>
              <a:buChar char="●"/>
            </a:pPr>
            <a:r>
              <a:rPr lang="es-ES" sz="1564" dirty="0">
                <a:latin typeface="Cambria"/>
                <a:ea typeface="Cambria"/>
                <a:cs typeface="Cambria"/>
                <a:sym typeface="Cambria"/>
              </a:rPr>
              <a:t>Para el cliente móvil se debe crear la instancia que llame al código que esta en el proyecto .</a:t>
            </a:r>
            <a:r>
              <a:rPr lang="es-ES" sz="1564" dirty="0" err="1">
                <a:latin typeface="Cambria"/>
                <a:ea typeface="Cambria"/>
                <a:cs typeface="Cambria"/>
                <a:sym typeface="Cambria"/>
              </a:rPr>
              <a:t>shared</a:t>
            </a:r>
            <a:r>
              <a:rPr lang="es-ES" sz="1564" dirty="0">
                <a:latin typeface="Cambria"/>
                <a:ea typeface="Cambria"/>
                <a:cs typeface="Cambria"/>
                <a:sym typeface="Cambria"/>
              </a:rPr>
              <a:t>, por lo que el código se ve así:</a:t>
            </a:r>
            <a:endParaRPr dirty="0">
              <a:latin typeface="Cambria"/>
              <a:ea typeface="Cambria"/>
              <a:cs typeface="Cambria"/>
              <a:sym typeface="Cambria"/>
            </a:endParaRPr>
          </a:p>
        </p:txBody>
      </p:sp>
      <p:sp>
        <p:nvSpPr>
          <p:cNvPr id="2" name="TextBox 1">
            <a:extLst>
              <a:ext uri="{FF2B5EF4-FFF2-40B4-BE49-F238E27FC236}">
                <a16:creationId xmlns:a16="http://schemas.microsoft.com/office/drawing/2014/main" id="{B85A9A1D-525D-99F6-AC54-08B6DE41E24A}"/>
              </a:ext>
            </a:extLst>
          </p:cNvPr>
          <p:cNvSpPr txBox="1"/>
          <p:nvPr/>
        </p:nvSpPr>
        <p:spPr>
          <a:xfrm>
            <a:off x="704335" y="1902979"/>
            <a:ext cx="6104238" cy="318998"/>
          </a:xfrm>
          <a:prstGeom prst="rect">
            <a:avLst/>
          </a:prstGeom>
          <a:noFill/>
        </p:spPr>
        <p:txBody>
          <a:bodyPr wrap="square">
            <a:spAutoFit/>
          </a:bodyPr>
          <a:lstStyle/>
          <a:p>
            <a:pPr marL="0" lvl="0" indent="0" algn="l" rtl="0">
              <a:lnSpc>
                <a:spcPct val="115000"/>
              </a:lnSpc>
              <a:spcBef>
                <a:spcPts val="1200"/>
              </a:spcBef>
              <a:spcAft>
                <a:spcPts val="0"/>
              </a:spcAft>
              <a:buClr>
                <a:schemeClr val="dk1"/>
              </a:buClr>
              <a:buSzPct val="70332"/>
              <a:buFont typeface="Arial"/>
              <a:buNone/>
            </a:pPr>
            <a:r>
              <a:rPr lang="es-MX" sz="1400" b="1" dirty="0">
                <a:latin typeface="Cambria"/>
                <a:ea typeface="Cambria"/>
                <a:cs typeface="Cambria"/>
                <a:sym typeface="Cambria"/>
              </a:rPr>
              <a:t>1.6  CREACIÓN DEL PROYECTO CLIENTE </a:t>
            </a:r>
            <a:r>
              <a:rPr lang="es-MX" b="1" dirty="0">
                <a:latin typeface="Cambria"/>
                <a:ea typeface="Cambria"/>
                <a:cs typeface="Cambria"/>
                <a:sym typeface="Cambria"/>
              </a:rPr>
              <a:t>MÓVIL</a:t>
            </a:r>
            <a:endParaRPr lang="es-MX" sz="1400" b="1" dirty="0">
              <a:latin typeface="Cambria"/>
              <a:ea typeface="Cambria"/>
              <a:cs typeface="Cambria"/>
              <a:sym typeface="Cambria"/>
            </a:endParaRPr>
          </a:p>
        </p:txBody>
      </p:sp>
      <p:sp>
        <p:nvSpPr>
          <p:cNvPr id="5" name="Google Shape;319;p40">
            <a:extLst>
              <a:ext uri="{FF2B5EF4-FFF2-40B4-BE49-F238E27FC236}">
                <a16:creationId xmlns:a16="http://schemas.microsoft.com/office/drawing/2014/main" id="{1E11576F-AAA7-4AA1-58F8-C2A5941A9E4D}"/>
              </a:ext>
            </a:extLst>
          </p:cNvPr>
          <p:cNvSpPr txBox="1">
            <a:spLocks/>
          </p:cNvSpPr>
          <p:nvPr/>
        </p:nvSpPr>
        <p:spPr>
          <a:xfrm>
            <a:off x="109123" y="2221977"/>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graphicFrame>
        <p:nvGraphicFramePr>
          <p:cNvPr id="6" name="Google Shape;641;p79">
            <a:extLst>
              <a:ext uri="{FF2B5EF4-FFF2-40B4-BE49-F238E27FC236}">
                <a16:creationId xmlns:a16="http://schemas.microsoft.com/office/drawing/2014/main" id="{545869A5-1335-6537-74F7-4FA70C305678}"/>
              </a:ext>
            </a:extLst>
          </p:cNvPr>
          <p:cNvGraphicFramePr/>
          <p:nvPr>
            <p:extLst>
              <p:ext uri="{D42A27DB-BD31-4B8C-83A1-F6EECF244321}">
                <p14:modId xmlns:p14="http://schemas.microsoft.com/office/powerpoint/2010/main" val="199888614"/>
              </p:ext>
            </p:extLst>
          </p:nvPr>
        </p:nvGraphicFramePr>
        <p:xfrm>
          <a:off x="5625265" y="2644203"/>
          <a:ext cx="3288265" cy="4213797"/>
        </p:xfrm>
        <a:graphic>
          <a:graphicData uri="http://schemas.openxmlformats.org/drawingml/2006/table">
            <a:tbl>
              <a:tblPr>
                <a:noFill/>
                <a:tableStyleId>{BF136021-7255-42B7-A7E7-87A8D8FFE9CA}</a:tableStyleId>
              </a:tblPr>
              <a:tblGrid>
                <a:gridCol w="3288265">
                  <a:extLst>
                    <a:ext uri="{9D8B030D-6E8A-4147-A177-3AD203B41FA5}">
                      <a16:colId xmlns:a16="http://schemas.microsoft.com/office/drawing/2014/main" val="20000"/>
                    </a:ext>
                  </a:extLst>
                </a:gridCol>
              </a:tblGrid>
              <a:tr h="3873263">
                <a:tc>
                  <a:txBody>
                    <a:bodyPr/>
                    <a:lstStyle/>
                    <a:p>
                      <a:pPr marL="0" lvl="0" indent="0" algn="l" rtl="0">
                        <a:lnSpc>
                          <a:spcPct val="120000"/>
                        </a:lnSpc>
                        <a:spcBef>
                          <a:spcPts val="0"/>
                        </a:spcBef>
                        <a:spcAft>
                          <a:spcPts val="0"/>
                        </a:spcAft>
                        <a:buClr>
                          <a:schemeClr val="dk1"/>
                        </a:buClr>
                        <a:buSzPts val="1100"/>
                        <a:buFont typeface="Arial"/>
                        <a:buNone/>
                      </a:pPr>
                      <a:r>
                        <a:rPr lang="es-ES" sz="800" dirty="0" err="1">
                          <a:solidFill>
                            <a:srgbClr val="4F81BD"/>
                          </a:solidFill>
                          <a:latin typeface="Calibri"/>
                          <a:ea typeface="Calibri"/>
                          <a:cs typeface="Calibri"/>
                          <a:sym typeface="Calibri"/>
                        </a:rPr>
                        <a:t>fun</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onConvertClicked</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rawValue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String</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val </a:t>
                      </a:r>
                      <a:r>
                        <a:rPr lang="es-ES" sz="800" dirty="0" err="1">
                          <a:solidFill>
                            <a:srgbClr val="4F81BD"/>
                          </a:solidFill>
                          <a:latin typeface="Calibri"/>
                          <a:ea typeface="Calibri"/>
                          <a:cs typeface="Calibri"/>
                          <a:sym typeface="Calibri"/>
                        </a:rPr>
                        <a:t>value</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rawValue.trim</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replace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toDoubleOrNull</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if</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value</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view.showInputError</a:t>
                      </a:r>
                      <a:r>
                        <a:rPr lang="es-ES" sz="800" dirty="0">
                          <a:solidFill>
                            <a:srgbClr val="4F81BD"/>
                          </a:solidFill>
                          <a:latin typeface="Calibri"/>
                          <a:ea typeface="Calibri"/>
                          <a:cs typeface="Calibri"/>
                          <a:sym typeface="Calibri"/>
                        </a:rPr>
                        <a:t>("Ingresa un número válido")</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return</a:t>
                      </a:r>
                      <a:endParaRPr lang="es-ES" sz="8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view.showInputError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null</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view.showLoading</a:t>
                      </a:r>
                      <a:r>
                        <a:rPr lang="es-ES" sz="800" dirty="0">
                          <a:solidFill>
                            <a:srgbClr val="4F81BD"/>
                          </a:solidFill>
                          <a:latin typeface="Calibri"/>
                          <a:ea typeface="Calibri"/>
                          <a:cs typeface="Calibri"/>
                          <a:sym typeface="Calibri"/>
                        </a:rPr>
                        <a:t>(true)</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scope.launch</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try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val </a:t>
                      </a:r>
                      <a:r>
                        <a:rPr lang="es-ES" sz="800" dirty="0" err="1">
                          <a:solidFill>
                            <a:srgbClr val="4F81BD"/>
                          </a:solidFill>
                          <a:latin typeface="Calibri"/>
                          <a:ea typeface="Calibri"/>
                          <a:cs typeface="Calibri"/>
                          <a:sym typeface="Calibri"/>
                        </a:rPr>
                        <a:t>result</a:t>
                      </a: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withContext</a:t>
                      </a:r>
                      <a:r>
                        <a:rPr lang="es-ES" sz="800" dirty="0">
                          <a:solidFill>
                            <a:srgbClr val="4F81BD"/>
                          </a:solidFill>
                          <a:latin typeface="Calibri"/>
                          <a:ea typeface="Calibri"/>
                          <a:cs typeface="Calibri"/>
                          <a:sym typeface="Calibri"/>
                        </a:rPr>
                        <a:t>(Dispatchers.IO)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model.convert</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category</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value</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fromIndex</a:t>
                      </a: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toIndex</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view.showResult</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format</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result</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catch (e: </a:t>
                      </a:r>
                      <a:r>
                        <a:rPr lang="es-ES" sz="800" dirty="0" err="1">
                          <a:solidFill>
                            <a:srgbClr val="4F81BD"/>
                          </a:solidFill>
                          <a:latin typeface="Calibri"/>
                          <a:ea typeface="Calibri"/>
                          <a:cs typeface="Calibri"/>
                          <a:sym typeface="Calibri"/>
                        </a:rPr>
                        <a:t>SessionExpiredException</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view.clearResult</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view.showSessionExpiredError</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catch (e: </a:t>
                      </a:r>
                      <a:r>
                        <a:rPr lang="es-ES" sz="800" dirty="0" err="1">
                          <a:solidFill>
                            <a:srgbClr val="4F81BD"/>
                          </a:solidFill>
                          <a:latin typeface="Calibri"/>
                          <a:ea typeface="Calibri"/>
                          <a:cs typeface="Calibri"/>
                          <a:sym typeface="Calibri"/>
                        </a:rPr>
                        <a:t>SoapException</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view.clearResult</a:t>
                      </a:r>
                      <a:r>
                        <a:rPr lang="es-ES" sz="8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view.showError</a:t>
                      </a:r>
                      <a:r>
                        <a:rPr lang="es-ES" sz="800" dirty="0">
                          <a:solidFill>
                            <a:srgbClr val="4F81BD"/>
                          </a:solidFill>
                          <a:latin typeface="Calibri"/>
                          <a:ea typeface="Calibri"/>
                          <a:cs typeface="Calibri"/>
                          <a:sym typeface="Calibri"/>
                        </a:rPr>
                        <a:t>(</a:t>
                      </a:r>
                      <a:r>
                        <a:rPr lang="es-ES" sz="800" dirty="0" err="1">
                          <a:solidFill>
                            <a:srgbClr val="4F81BD"/>
                          </a:solidFill>
                          <a:latin typeface="Calibri"/>
                          <a:ea typeface="Calibri"/>
                          <a:cs typeface="Calibri"/>
                          <a:sym typeface="Calibri"/>
                        </a:rPr>
                        <a:t>e.message</a:t>
                      </a:r>
                      <a:r>
                        <a:rPr lang="es-ES" sz="800" dirty="0">
                          <a:solidFill>
                            <a:srgbClr val="4F81BD"/>
                          </a:solidFill>
                          <a:latin typeface="Calibri"/>
                          <a:ea typeface="Calibri"/>
                          <a:cs typeface="Calibri"/>
                          <a:sym typeface="Calibri"/>
                        </a:rPr>
                        <a:t> ?: "Error de comunicación con el servidor")</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 </a:t>
                      </a:r>
                      <a:r>
                        <a:rPr lang="es-ES" sz="800" dirty="0" err="1">
                          <a:solidFill>
                            <a:srgbClr val="4F81BD"/>
                          </a:solidFill>
                          <a:latin typeface="Calibri"/>
                          <a:ea typeface="Calibri"/>
                          <a:cs typeface="Calibri"/>
                          <a:sym typeface="Calibri"/>
                        </a:rPr>
                        <a:t>finally</a:t>
                      </a: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r>
                        <a:rPr lang="es-ES" sz="800" dirty="0" err="1">
                          <a:solidFill>
                            <a:srgbClr val="4F81BD"/>
                          </a:solidFill>
                          <a:latin typeface="Calibri"/>
                          <a:ea typeface="Calibri"/>
                          <a:cs typeface="Calibri"/>
                          <a:sym typeface="Calibri"/>
                        </a:rPr>
                        <a:t>view.showLoading</a:t>
                      </a:r>
                      <a:r>
                        <a:rPr lang="es-ES" sz="800" dirty="0">
                          <a:solidFill>
                            <a:srgbClr val="4F81BD"/>
                          </a:solidFill>
                          <a:latin typeface="Calibri"/>
                          <a:ea typeface="Calibri"/>
                          <a:cs typeface="Calibri"/>
                          <a:sym typeface="Calibri"/>
                        </a:rPr>
                        <a:t>(false)</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Clr>
                          <a:schemeClr val="dk1"/>
                        </a:buClr>
                        <a:buSzPts val="1100"/>
                        <a:buFont typeface="Arial"/>
                        <a:buNone/>
                      </a:pPr>
                      <a:r>
                        <a:rPr lang="es-ES" sz="800" dirty="0">
                          <a:solidFill>
                            <a:srgbClr val="4F81BD"/>
                          </a:solidFill>
                          <a:latin typeface="Calibri"/>
                          <a:ea typeface="Calibri"/>
                          <a:cs typeface="Calibri"/>
                          <a:sym typeface="Calibri"/>
                        </a:rPr>
                        <a:t>    }</a:t>
                      </a:r>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aphicFrame>
        <p:nvGraphicFramePr>
          <p:cNvPr id="651" name="Google Shape;651;p80"/>
          <p:cNvGraphicFramePr/>
          <p:nvPr>
            <p:extLst>
              <p:ext uri="{D42A27DB-BD31-4B8C-83A1-F6EECF244321}">
                <p14:modId xmlns:p14="http://schemas.microsoft.com/office/powerpoint/2010/main" val="2471951461"/>
              </p:ext>
            </p:extLst>
          </p:nvPr>
        </p:nvGraphicFramePr>
        <p:xfrm>
          <a:off x="2332838" y="2061638"/>
          <a:ext cx="6484300" cy="4493000"/>
        </p:xfrm>
        <a:graphic>
          <a:graphicData uri="http://schemas.openxmlformats.org/drawingml/2006/table">
            <a:tbl>
              <a:tblPr>
                <a:noFill/>
                <a:tableStyleId>{BF136021-7255-42B7-A7E7-87A8D8FFE9CA}</a:tableStyleId>
              </a:tblPr>
              <a:tblGrid>
                <a:gridCol w="6484300">
                  <a:extLst>
                    <a:ext uri="{9D8B030D-6E8A-4147-A177-3AD203B41FA5}">
                      <a16:colId xmlns:a16="http://schemas.microsoft.com/office/drawing/2014/main" val="20000"/>
                    </a:ext>
                  </a:extLst>
                </a:gridCol>
              </a:tblGrid>
              <a:tr h="4493000">
                <a:tc>
                  <a:txBody>
                    <a:bodyPr/>
                    <a:lstStyle/>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fun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onLoginClicked</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username</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password</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String</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user</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username.trim</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user.isEmpty</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view.showUsernameError</a:t>
                      </a:r>
                      <a:r>
                        <a:rPr lang="es-ES" sz="900" dirty="0">
                          <a:solidFill>
                            <a:srgbClr val="4F81BD"/>
                          </a:solidFill>
                          <a:latin typeface="Calibri"/>
                          <a:ea typeface="Calibri"/>
                          <a:cs typeface="Calibri"/>
                          <a:sym typeface="Calibri"/>
                        </a:rPr>
                        <a:t>("Ingresa tu usuario")</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if</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password.isEmpty</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view.showPasswordError</a:t>
                      </a:r>
                      <a:r>
                        <a:rPr lang="es-ES" sz="900" dirty="0">
                          <a:solidFill>
                            <a:srgbClr val="4F81BD"/>
                          </a:solidFill>
                          <a:latin typeface="Calibri"/>
                          <a:ea typeface="Calibri"/>
                          <a:cs typeface="Calibri"/>
                          <a:sym typeface="Calibri"/>
                        </a:rPr>
                        <a:t>("Ingresa tu contraseña")</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return</a:t>
                      </a: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endParaRPr lang="es-ES" sz="9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view.showLoading</a:t>
                      </a:r>
                      <a:r>
                        <a:rPr lang="es-ES" sz="900" dirty="0">
                          <a:solidFill>
                            <a:srgbClr val="4F81BD"/>
                          </a:solidFill>
                          <a:latin typeface="Calibri"/>
                          <a:ea typeface="Calibri"/>
                          <a:cs typeface="Calibri"/>
                          <a:sym typeface="Calibri"/>
                        </a:rPr>
                        <a:t>(true)</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scope.launch</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 La llamada SOAP es bloqueante: se ejecuta fuera del hilo principal.</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val </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 </a:t>
                      </a:r>
                      <a:r>
                        <a:rPr lang="es-ES" sz="900" dirty="0" err="1">
                          <a:solidFill>
                            <a:srgbClr val="4F81BD"/>
                          </a:solidFill>
                          <a:latin typeface="Calibri"/>
                          <a:ea typeface="Calibri"/>
                          <a:cs typeface="Calibri"/>
                          <a:sym typeface="Calibri"/>
                        </a:rPr>
                        <a:t>withContext</a:t>
                      </a:r>
                      <a:r>
                        <a:rPr lang="es-ES" sz="900" dirty="0">
                          <a:solidFill>
                            <a:srgbClr val="4F81BD"/>
                          </a:solidFill>
                          <a:latin typeface="Calibri"/>
                          <a:ea typeface="Calibri"/>
                          <a:cs typeface="Calibri"/>
                          <a:sym typeface="Calibri"/>
                        </a:rPr>
                        <a:t>(Dispatchers.IO) { </a:t>
                      </a:r>
                      <a:r>
                        <a:rPr lang="es-ES" sz="900" dirty="0" err="1">
                          <a:solidFill>
                            <a:srgbClr val="4F81BD"/>
                          </a:solidFill>
                          <a:latin typeface="Calibri"/>
                          <a:ea typeface="Calibri"/>
                          <a:cs typeface="Calibri"/>
                          <a:sym typeface="Calibri"/>
                        </a:rPr>
                        <a:t>model.login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user</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password</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view.showLoading</a:t>
                      </a:r>
                      <a:r>
                        <a:rPr lang="es-ES" sz="900" dirty="0">
                          <a:solidFill>
                            <a:srgbClr val="4F81BD"/>
                          </a:solidFill>
                          <a:latin typeface="Calibri"/>
                          <a:ea typeface="Calibri"/>
                          <a:cs typeface="Calibri"/>
                          <a:sym typeface="Calibri"/>
                        </a:rPr>
                        <a:t>(false)</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when</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result</a:t>
                      </a: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LoginResult.Success</a:t>
                      </a:r>
                      <a:r>
                        <a:rPr lang="es-ES" sz="900" dirty="0">
                          <a:solidFill>
                            <a:srgbClr val="4F81BD"/>
                          </a:solidFill>
                          <a:latin typeface="Calibri"/>
                          <a:ea typeface="Calibri"/>
                          <a:cs typeface="Calibri"/>
                          <a:sym typeface="Calibri"/>
                        </a:rPr>
                        <a:t> -&gt;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session.saveToken</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view.navigateToHome</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result.token</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is</a:t>
                      </a:r>
                      <a:r>
                        <a:rPr lang="es-ES" sz="900" dirty="0">
                          <a:solidFill>
                            <a:srgbClr val="4F81BD"/>
                          </a:solidFill>
                          <a:latin typeface="Calibri"/>
                          <a:ea typeface="Calibri"/>
                          <a:cs typeface="Calibri"/>
                          <a:sym typeface="Calibri"/>
                        </a:rPr>
                        <a:t> </a:t>
                      </a:r>
                      <a:r>
                        <a:rPr lang="es-ES" sz="900" dirty="0" err="1">
                          <a:solidFill>
                            <a:srgbClr val="4F81BD"/>
                          </a:solidFill>
                          <a:latin typeface="Calibri"/>
                          <a:ea typeface="Calibri"/>
                          <a:cs typeface="Calibri"/>
                          <a:sym typeface="Calibri"/>
                        </a:rPr>
                        <a:t>LoginResult.Failure</a:t>
                      </a:r>
                      <a:r>
                        <a:rPr lang="es-ES" sz="900" dirty="0">
                          <a:solidFill>
                            <a:srgbClr val="4F81BD"/>
                          </a:solidFill>
                          <a:latin typeface="Calibri"/>
                          <a:ea typeface="Calibri"/>
                          <a:cs typeface="Calibri"/>
                          <a:sym typeface="Calibri"/>
                        </a:rPr>
                        <a:t> -&gt; </a:t>
                      </a:r>
                      <a:r>
                        <a:rPr lang="es-ES" sz="900" dirty="0" err="1">
                          <a:solidFill>
                            <a:srgbClr val="4F81BD"/>
                          </a:solidFill>
                          <a:latin typeface="Calibri"/>
                          <a:ea typeface="Calibri"/>
                          <a:cs typeface="Calibri"/>
                          <a:sym typeface="Calibri"/>
                        </a:rPr>
                        <a:t>view.showError</a:t>
                      </a:r>
                      <a:r>
                        <a:rPr lang="es-ES" sz="900" dirty="0">
                          <a:solidFill>
                            <a:srgbClr val="4F81BD"/>
                          </a:solidFill>
                          <a:latin typeface="Calibri"/>
                          <a:ea typeface="Calibri"/>
                          <a:cs typeface="Calibri"/>
                          <a:sym typeface="Calibri"/>
                        </a:rPr>
                        <a:t>(</a:t>
                      </a:r>
                      <a:r>
                        <a:rPr lang="es-ES" sz="900" dirty="0" err="1">
                          <a:solidFill>
                            <a:srgbClr val="4F81BD"/>
                          </a:solidFill>
                          <a:latin typeface="Calibri"/>
                          <a:ea typeface="Calibri"/>
                          <a:cs typeface="Calibri"/>
                          <a:sym typeface="Calibri"/>
                        </a:rPr>
                        <a:t>result.message</a:t>
                      </a:r>
                      <a:r>
                        <a:rPr lang="es-ES" sz="9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900" dirty="0">
                          <a:solidFill>
                            <a:srgbClr val="4F81BD"/>
                          </a:solidFill>
                          <a:latin typeface="Calibri"/>
                          <a:ea typeface="Calibri"/>
                          <a:cs typeface="Calibri"/>
                          <a:sym typeface="Calibri"/>
                        </a:rPr>
                        <a:t>    }</a:t>
                      </a:r>
                      <a:endParaRPr sz="9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52" name="Google Shape;652;p80"/>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53" name="Google Shape;653;p80"/>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EDF1264D-7178-17B2-553C-4C1B312EC422}"/>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graphicFrame>
        <p:nvGraphicFramePr>
          <p:cNvPr id="659" name="Google Shape;659;p81"/>
          <p:cNvGraphicFramePr/>
          <p:nvPr>
            <p:extLst>
              <p:ext uri="{D42A27DB-BD31-4B8C-83A1-F6EECF244321}">
                <p14:modId xmlns:p14="http://schemas.microsoft.com/office/powerpoint/2010/main" val="2881567615"/>
              </p:ext>
            </p:extLst>
          </p:nvPr>
        </p:nvGraphicFramePr>
        <p:xfrm>
          <a:off x="2835333" y="2808725"/>
          <a:ext cx="5954440" cy="2389797"/>
        </p:xfrm>
        <a:graphic>
          <a:graphicData uri="http://schemas.openxmlformats.org/drawingml/2006/table">
            <a:tbl>
              <a:tblPr>
                <a:noFill/>
                <a:tableStyleId>{BF136021-7255-42B7-A7E7-87A8D8FFE9CA}</a:tableStyleId>
              </a:tblPr>
              <a:tblGrid>
                <a:gridCol w="5954440">
                  <a:extLst>
                    <a:ext uri="{9D8B030D-6E8A-4147-A177-3AD203B41FA5}">
                      <a16:colId xmlns:a16="http://schemas.microsoft.com/office/drawing/2014/main" val="20000"/>
                    </a:ext>
                  </a:extLst>
                </a:gridCol>
              </a:tblGrid>
              <a:tr h="2389797">
                <a:tc>
                  <a:txBody>
                    <a:bodyPr/>
                    <a:lstStyle/>
                    <a:p>
                      <a:pPr marL="0" lvl="0" indent="0" algn="l" rtl="0">
                        <a:lnSpc>
                          <a:spcPct val="120000"/>
                        </a:lnSpc>
                        <a:spcBef>
                          <a:spcPts val="0"/>
                        </a:spcBef>
                        <a:spcAft>
                          <a:spcPts val="0"/>
                        </a:spcAft>
                        <a:buNone/>
                      </a:pPr>
                      <a:r>
                        <a:rPr lang="es-ES" sz="1100" dirty="0" err="1">
                          <a:solidFill>
                            <a:srgbClr val="4F81BD"/>
                          </a:solidFill>
                          <a:latin typeface="Calibri"/>
                          <a:ea typeface="Calibri"/>
                          <a:cs typeface="Calibri"/>
                          <a:sym typeface="Calibri"/>
                        </a:rPr>
                        <a:t>class</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SessionStore</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context</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Context</a:t>
                      </a: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val </a:t>
                      </a:r>
                      <a:r>
                        <a:rPr lang="es-ES" sz="1100" dirty="0" err="1">
                          <a:solidFill>
                            <a:srgbClr val="4F81BD"/>
                          </a:solidFill>
                          <a:latin typeface="Calibri"/>
                          <a:ea typeface="Calibri"/>
                          <a:cs typeface="Calibri"/>
                          <a:sym typeface="Calibri"/>
                        </a:rPr>
                        <a:t>prefs</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context.getSharedPreferences</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session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Context.MODE_PRIVATE</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fun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saveToken</a:t>
                      </a:r>
                      <a:r>
                        <a:rPr lang="es-ES" sz="1100" dirty="0">
                          <a:solidFill>
                            <a:srgbClr val="4F81BD"/>
                          </a:solidFill>
                          <a:latin typeface="Calibri"/>
                          <a:ea typeface="Calibri"/>
                          <a:cs typeface="Calibri"/>
                          <a:sym typeface="Calibri"/>
                        </a:rPr>
                        <a:t>(token: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prefs.edit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putString</a:t>
                      </a:r>
                      <a:r>
                        <a:rPr lang="es-ES" sz="1100" dirty="0">
                          <a:solidFill>
                            <a:srgbClr val="4F81BD"/>
                          </a:solidFill>
                          <a:latin typeface="Calibri"/>
                          <a:ea typeface="Calibri"/>
                          <a:cs typeface="Calibri"/>
                          <a:sym typeface="Calibri"/>
                        </a:rPr>
                        <a:t>(KEY_TOKEN, token).</a:t>
                      </a:r>
                      <a:r>
                        <a:rPr lang="es-ES" sz="1100" dirty="0" err="1">
                          <a:solidFill>
                            <a:srgbClr val="4F81BD"/>
                          </a:solidFill>
                          <a:latin typeface="Calibri"/>
                          <a:ea typeface="Calibri"/>
                          <a:cs typeface="Calibri"/>
                          <a:sym typeface="Calibri"/>
                        </a:rPr>
                        <a:t>apply</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fun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getToken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String</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prefs.getString</a:t>
                      </a:r>
                      <a:r>
                        <a:rPr lang="es-ES" sz="1100" dirty="0">
                          <a:solidFill>
                            <a:srgbClr val="4F81BD"/>
                          </a:solidFill>
                          <a:latin typeface="Calibri"/>
                          <a:ea typeface="Calibri"/>
                          <a:cs typeface="Calibri"/>
                          <a:sym typeface="Calibri"/>
                        </a:rPr>
                        <a:t>(KEY_TOKEN, </a:t>
                      </a:r>
                      <a:r>
                        <a:rPr lang="es-ES" sz="1100" dirty="0" err="1">
                          <a:solidFill>
                            <a:srgbClr val="4F81BD"/>
                          </a:solidFill>
                          <a:latin typeface="Calibri"/>
                          <a:ea typeface="Calibri"/>
                          <a:cs typeface="Calibri"/>
                          <a:sym typeface="Calibri"/>
                        </a:rPr>
                        <a:t>null</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fun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clear</a:t>
                      </a:r>
                      <a:r>
                        <a:rPr lang="es-ES" sz="1100" dirty="0">
                          <a:solidFill>
                            <a:srgbClr val="4F81BD"/>
                          </a:solidFill>
                          <a:latin typeface="Calibri"/>
                          <a:ea typeface="Calibri"/>
                          <a:cs typeface="Calibri"/>
                          <a:sym typeface="Calibri"/>
                        </a:rPr>
                        <a:t>() = </a:t>
                      </a:r>
                      <a:r>
                        <a:rPr lang="es-ES" sz="1100" dirty="0" err="1">
                          <a:solidFill>
                            <a:srgbClr val="4F81BD"/>
                          </a:solidFill>
                          <a:latin typeface="Calibri"/>
                          <a:ea typeface="Calibri"/>
                          <a:cs typeface="Calibri"/>
                          <a:sym typeface="Calibri"/>
                        </a:rPr>
                        <a:t>prefs.edit</a:t>
                      </a:r>
                      <a:r>
                        <a:rPr lang="es-ES" sz="1100" dirty="0">
                          <a:solidFill>
                            <a:srgbClr val="4F81BD"/>
                          </a:solidFill>
                          <a:latin typeface="Calibri"/>
                          <a:ea typeface="Calibri"/>
                          <a:cs typeface="Calibri"/>
                          <a:sym typeface="Calibri"/>
                        </a:rPr>
                        <a:t>().</a:t>
                      </a:r>
                      <a:r>
                        <a:rPr lang="es-ES" sz="1100" dirty="0" err="1">
                          <a:solidFill>
                            <a:srgbClr val="4F81BD"/>
                          </a:solidFill>
                          <a:latin typeface="Calibri"/>
                          <a:ea typeface="Calibri"/>
                          <a:cs typeface="Calibri"/>
                          <a:sym typeface="Calibri"/>
                        </a:rPr>
                        <a:t>remove</a:t>
                      </a:r>
                      <a:r>
                        <a:rPr lang="es-ES" sz="1100" dirty="0">
                          <a:solidFill>
                            <a:srgbClr val="4F81BD"/>
                          </a:solidFill>
                          <a:latin typeface="Calibri"/>
                          <a:ea typeface="Calibri"/>
                          <a:cs typeface="Calibri"/>
                          <a:sym typeface="Calibri"/>
                        </a:rPr>
                        <a:t>(KEY_TOKEN).</a:t>
                      </a:r>
                      <a:r>
                        <a:rPr lang="es-ES" sz="1100" dirty="0" err="1">
                          <a:solidFill>
                            <a:srgbClr val="4F81BD"/>
                          </a:solidFill>
                          <a:latin typeface="Calibri"/>
                          <a:ea typeface="Calibri"/>
                          <a:cs typeface="Calibri"/>
                          <a:sym typeface="Calibri"/>
                        </a:rPr>
                        <a:t>apply</a:t>
                      </a:r>
                      <a:r>
                        <a:rPr lang="es-ES" sz="1100" dirty="0">
                          <a:solidFill>
                            <a:srgbClr val="4F81BD"/>
                          </a:solidFill>
                          <a:latin typeface="Calibri"/>
                          <a:ea typeface="Calibri"/>
                          <a:cs typeface="Calibri"/>
                          <a:sym typeface="Calibri"/>
                        </a:rPr>
                        <a:t>()</a:t>
                      </a:r>
                    </a:p>
                    <a:p>
                      <a:pPr marL="0" lvl="0" indent="0" algn="l" rtl="0">
                        <a:lnSpc>
                          <a:spcPct val="120000"/>
                        </a:lnSpc>
                        <a:spcBef>
                          <a:spcPts val="0"/>
                        </a:spcBef>
                        <a:spcAft>
                          <a:spcPts val="0"/>
                        </a:spcAft>
                        <a:buNone/>
                      </a:pPr>
                      <a:endParaRPr lang="es-ES" sz="1100" dirty="0">
                        <a:solidFill>
                          <a:srgbClr val="4F81BD"/>
                        </a:solidFill>
                        <a:latin typeface="Calibri"/>
                        <a:ea typeface="Calibri"/>
                        <a:cs typeface="Calibri"/>
                        <a:sym typeface="Calibri"/>
                      </a:endParaRP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private</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companion</a:t>
                      </a: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object</a:t>
                      </a: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r>
                        <a:rPr lang="es-ES" sz="1100" dirty="0" err="1">
                          <a:solidFill>
                            <a:srgbClr val="4F81BD"/>
                          </a:solidFill>
                          <a:latin typeface="Calibri"/>
                          <a:ea typeface="Calibri"/>
                          <a:cs typeface="Calibri"/>
                          <a:sym typeface="Calibri"/>
                        </a:rPr>
                        <a:t>const</a:t>
                      </a:r>
                      <a:r>
                        <a:rPr lang="es-ES" sz="1100" dirty="0">
                          <a:solidFill>
                            <a:srgbClr val="4F81BD"/>
                          </a:solidFill>
                          <a:latin typeface="Calibri"/>
                          <a:ea typeface="Calibri"/>
                          <a:cs typeface="Calibri"/>
                          <a:sym typeface="Calibri"/>
                        </a:rPr>
                        <a:t> val KEY_TOKEN = "token"</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    }</a:t>
                      </a:r>
                    </a:p>
                    <a:p>
                      <a:pPr marL="0" lvl="0" indent="0" algn="l" rtl="0">
                        <a:lnSpc>
                          <a:spcPct val="120000"/>
                        </a:lnSpc>
                        <a:spcBef>
                          <a:spcPts val="0"/>
                        </a:spcBef>
                        <a:spcAft>
                          <a:spcPts val="0"/>
                        </a:spcAft>
                        <a:buNone/>
                      </a:pPr>
                      <a:r>
                        <a:rPr lang="es-ES" sz="1100" dirty="0">
                          <a:solidFill>
                            <a:srgbClr val="4F81BD"/>
                          </a:solidFill>
                          <a:latin typeface="Calibri"/>
                          <a:ea typeface="Calibri"/>
                          <a:cs typeface="Calibri"/>
                          <a:sym typeface="Calibri"/>
                        </a:rPr>
                        <a:t>}</a:t>
                      </a:r>
                      <a:endParaRPr sz="1100" dirty="0">
                        <a:solidFill>
                          <a:srgbClr val="4F81BD"/>
                        </a:solidFill>
                        <a:latin typeface="Calibri"/>
                        <a:ea typeface="Calibri"/>
                        <a:cs typeface="Calibri"/>
                        <a:sym typeface="Calibri"/>
                      </a:endParaRPr>
                    </a:p>
                  </a:txBody>
                  <a:tcPr marL="63500" marR="63500" marT="63500" marB="63500"/>
                </a:tc>
                <a:extLst>
                  <a:ext uri="{0D108BD9-81ED-4DB2-BD59-A6C34878D82A}">
                    <a16:rowId xmlns:a16="http://schemas.microsoft.com/office/drawing/2014/main" val="10000"/>
                  </a:ext>
                </a:extLst>
              </a:tr>
            </a:tbl>
          </a:graphicData>
        </a:graphic>
      </p:graphicFrame>
      <p:sp>
        <p:nvSpPr>
          <p:cNvPr id="660" name="Google Shape;660;p8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1" name="Google Shape;661;p81"/>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1400"/>
              <a:buFont typeface="Arial"/>
              <a:buNone/>
            </a:pP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p>
          <a:p>
            <a:pPr marL="763200" lvl="1"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p>
          <a:p>
            <a:pPr marL="306000" lvl="0" indent="-306000" algn="l" rtl="0">
              <a:spcBef>
                <a:spcPts val="840"/>
              </a:spcBef>
              <a:spcAft>
                <a:spcPts val="0"/>
              </a:spcAft>
              <a:buClr>
                <a:srgbClr val="4590B8"/>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p>
          <a:p>
            <a:pPr marL="457200" lvl="0" indent="0" algn="l" rtl="0">
              <a:spcBef>
                <a:spcPts val="840"/>
              </a:spcBef>
              <a:spcAft>
                <a:spcPts val="0"/>
              </a:spcAft>
              <a:buClr>
                <a:srgbClr val="000000"/>
              </a:buClr>
              <a:buSzPts val="1400"/>
              <a:buFont typeface="Arial"/>
              <a:buNone/>
            </a:pPr>
            <a:endParaRPr dirty="0"/>
          </a:p>
          <a:p>
            <a:pPr marL="457200" lvl="0" indent="0" algn="l" rtl="0">
              <a:spcBef>
                <a:spcPts val="840"/>
              </a:spcBef>
              <a:spcAft>
                <a:spcPts val="0"/>
              </a:spcAft>
              <a:buClr>
                <a:srgbClr val="000000"/>
              </a:buClr>
              <a:buSzPts val="1400"/>
              <a:buFont typeface="Arial"/>
              <a:buNone/>
            </a:pPr>
            <a:endParaRPr dirty="0"/>
          </a:p>
          <a:p>
            <a:pPr marL="457200" marR="0" lvl="0" indent="0" algn="l" rtl="0">
              <a:lnSpc>
                <a:spcPct val="100000"/>
              </a:lnSpc>
              <a:spcBef>
                <a:spcPts val="840"/>
              </a:spcBef>
              <a:spcAft>
                <a:spcPts val="0"/>
              </a:spcAft>
              <a:buClr>
                <a:srgbClr val="000000"/>
              </a:buClr>
              <a:buSzPts val="1400"/>
              <a:buFont typeface="Arial"/>
              <a:buNone/>
            </a:pPr>
            <a:endParaRPr dirty="0"/>
          </a:p>
        </p:txBody>
      </p:sp>
      <p:sp>
        <p:nvSpPr>
          <p:cNvPr id="4" name="Google Shape;319;p40">
            <a:extLst>
              <a:ext uri="{FF2B5EF4-FFF2-40B4-BE49-F238E27FC236}">
                <a16:creationId xmlns:a16="http://schemas.microsoft.com/office/drawing/2014/main" id="{9A9551A8-D9D7-F278-5223-55A702F913A3}"/>
              </a:ext>
            </a:extLst>
          </p:cNvPr>
          <p:cNvSpPr txBox="1">
            <a:spLocks/>
          </p:cNvSpPr>
          <p:nvPr/>
        </p:nvSpPr>
        <p:spPr>
          <a:xfrm>
            <a:off x="-1" y="1837551"/>
            <a:ext cx="1940435" cy="444791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sym typeface="Gill Sans"/>
              </a:defRPr>
            </a:lvl9pPr>
          </a:lstStyle>
          <a:p>
            <a:pPr indent="-327406">
              <a:lnSpc>
                <a:spcPct val="150000"/>
              </a:lnSpc>
              <a:spcBef>
                <a:spcPts val="0"/>
              </a:spcBef>
              <a:buSzPts val="1556"/>
              <a:buFont typeface="Noto Sans Symbols"/>
              <a:buChar char="∙"/>
            </a:pPr>
            <a:r>
              <a:rPr lang="es-MX" sz="1400" dirty="0">
                <a:solidFill>
                  <a:schemeClr val="dk1"/>
                </a:solidFill>
                <a:latin typeface="Calibri"/>
                <a:ea typeface="Calibri"/>
                <a:cs typeface="Calibri"/>
                <a:sym typeface="Calibri"/>
              </a:rPr>
              <a:t>A continuación se detallarán las clases principales con su código fuente.</a:t>
            </a:r>
          </a:p>
          <a:p>
            <a:pPr indent="-304800" algn="just">
              <a:lnSpc>
                <a:spcPct val="107000"/>
              </a:lnSpc>
              <a:spcBef>
                <a:spcPts val="0"/>
              </a:spcBef>
              <a:buSzPts val="1200"/>
              <a:buFont typeface="Cambria"/>
              <a:buChar char="∙"/>
            </a:pPr>
            <a:endParaRPr lang="es-MX" sz="1400" dirty="0">
              <a:latin typeface="Cambria"/>
              <a:ea typeface="Cambria"/>
              <a:cs typeface="Cambria"/>
              <a:sym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82"/>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68" name="Google Shape;668;p82"/>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69" name="Google Shape;669;p82"/>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login</a:t>
            </a:r>
            <a:endParaRPr sz="2000" b="0" i="0" u="none" strike="noStrike" cap="none">
              <a:solidFill>
                <a:srgbClr val="3D3D3D"/>
              </a:solidFill>
              <a:latin typeface="Cambria"/>
              <a:ea typeface="Cambria"/>
              <a:cs typeface="Cambria"/>
              <a:sym typeface="Cambria"/>
            </a:endParaRPr>
          </a:p>
        </p:txBody>
      </p:sp>
      <p:pic>
        <p:nvPicPr>
          <p:cNvPr id="5" name="Picture 4">
            <a:extLst>
              <a:ext uri="{FF2B5EF4-FFF2-40B4-BE49-F238E27FC236}">
                <a16:creationId xmlns:a16="http://schemas.microsoft.com/office/drawing/2014/main" id="{C131F9B4-E4FC-30D2-83FA-1FE2C502EE51}"/>
              </a:ext>
            </a:extLst>
          </p:cNvPr>
          <p:cNvPicPr>
            <a:picLocks noChangeAspect="1"/>
          </p:cNvPicPr>
          <p:nvPr/>
        </p:nvPicPr>
        <p:blipFill>
          <a:blip r:embed="rId3"/>
          <a:stretch>
            <a:fillRect/>
          </a:stretch>
        </p:blipFill>
        <p:spPr>
          <a:xfrm>
            <a:off x="3814923" y="2137329"/>
            <a:ext cx="2077626" cy="4644401"/>
          </a:xfrm>
          <a:prstGeom prst="rect">
            <a:avLst/>
          </a:prstGeom>
          <a:ln>
            <a:solidFill>
              <a:schemeClr val="tx1"/>
            </a:solid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3"/>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76" name="Google Shape;676;p83"/>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77" name="Google Shape;677;p83"/>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a:solidFill>
                  <a:srgbClr val="3D3D3D"/>
                </a:solidFill>
                <a:latin typeface="Cambria"/>
                <a:ea typeface="Cambria"/>
                <a:cs typeface="Cambria"/>
                <a:sym typeface="Cambria"/>
              </a:rPr>
              <a:t>Vista Conversor de unidades</a:t>
            </a:r>
            <a:endParaRPr sz="2000" b="0" i="0" u="none" strike="noStrike" cap="none">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15E4874F-9F6B-38C4-9F7B-8337A7C375F9}"/>
              </a:ext>
            </a:extLst>
          </p:cNvPr>
          <p:cNvPicPr>
            <a:picLocks noChangeAspect="1"/>
          </p:cNvPicPr>
          <p:nvPr/>
        </p:nvPicPr>
        <p:blipFill>
          <a:blip r:embed="rId3"/>
          <a:stretch>
            <a:fillRect/>
          </a:stretch>
        </p:blipFill>
        <p:spPr>
          <a:xfrm>
            <a:off x="4488041" y="2154939"/>
            <a:ext cx="2848518" cy="4185026"/>
          </a:xfrm>
          <a:prstGeom prst="rect">
            <a:avLst/>
          </a:prstGeom>
          <a:ln>
            <a:solidFill>
              <a:schemeClr val="tx1"/>
            </a:solid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84"/>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DESARROLLO</a:t>
            </a:r>
            <a:endParaRPr/>
          </a:p>
        </p:txBody>
      </p:sp>
      <p:sp>
        <p:nvSpPr>
          <p:cNvPr id="684" name="Google Shape;684;p84"/>
          <p:cNvSpPr/>
          <p:nvPr/>
        </p:nvSpPr>
        <p:spPr>
          <a:xfrm>
            <a:off x="9383697" y="14347"/>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400"/>
              <a:buFont typeface="Arial"/>
              <a:buNone/>
            </a:pP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rgbClr val="FFFF00"/>
                </a:solidFill>
                <a:latin typeface="Gill Sans"/>
                <a:ea typeface="Gill Sans"/>
                <a:cs typeface="Gill Sans"/>
                <a:sym typeface="Gill Sans"/>
              </a:rPr>
              <a:t>DESARROLLO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OBJETIVO</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SERVIDOR SOAP</a:t>
            </a:r>
            <a:endParaRPr dirty="0">
              <a:solidFill>
                <a:schemeClr val="lt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CONSOLA</a:t>
            </a:r>
            <a:endParaRPr sz="1200" b="1" dirty="0">
              <a:solidFill>
                <a:schemeClr val="lt1"/>
              </a:solidFill>
              <a:latin typeface="Gill Sans"/>
              <a:ea typeface="Gill Sans"/>
              <a:cs typeface="Gill Sans"/>
              <a:sym typeface="Gill Sans"/>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ESCRITORIO</a:t>
            </a:r>
            <a:endParaRPr dirty="0">
              <a:solidFill>
                <a:schemeClr val="dk1"/>
              </a:solidFill>
            </a:endParaRPr>
          </a:p>
          <a:p>
            <a:pPr marL="763200" lvl="1"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CREACIÓN DEL PROYECTO – CLIENTE WEB</a:t>
            </a:r>
            <a:endParaRPr dirty="0">
              <a:solidFill>
                <a:schemeClr val="dk1"/>
              </a:solidFill>
            </a:endParaRPr>
          </a:p>
          <a:p>
            <a:pPr marL="763200" lvl="1" indent="-306000" algn="l" rtl="0">
              <a:spcBef>
                <a:spcPts val="840"/>
              </a:spcBef>
              <a:spcAft>
                <a:spcPts val="0"/>
              </a:spcAft>
              <a:buClr>
                <a:srgbClr val="FFFF00"/>
              </a:buClr>
              <a:buSzPts val="1104"/>
              <a:buFont typeface="Noto Sans Symbols"/>
              <a:buChar char="◼"/>
            </a:pPr>
            <a:r>
              <a:rPr lang="es-ES" sz="1200" b="1" dirty="0">
                <a:solidFill>
                  <a:srgbClr val="FFFF00"/>
                </a:solidFill>
                <a:latin typeface="Gill Sans"/>
                <a:ea typeface="Gill Sans"/>
                <a:cs typeface="Gill Sans"/>
                <a:sym typeface="Gill Sans"/>
              </a:rPr>
              <a:t>CREACIÓN DEL PROYECTO – CLIENTE MOVIL</a:t>
            </a:r>
            <a:endParaRPr dirty="0">
              <a:solidFill>
                <a:srgbClr val="FFFF00"/>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CONCLUSIONES</a:t>
            </a:r>
            <a:endParaRPr dirty="0">
              <a:solidFill>
                <a:schemeClr val="dk1"/>
              </a:solidFill>
            </a:endParaRPr>
          </a:p>
          <a:p>
            <a:pPr marL="306000" lvl="0" indent="-306000" algn="l" rtl="0">
              <a:spcBef>
                <a:spcPts val="840"/>
              </a:spcBef>
              <a:spcAft>
                <a:spcPts val="0"/>
              </a:spcAft>
              <a:buClr>
                <a:schemeClr val="accent2"/>
              </a:buClr>
              <a:buSzPts val="1104"/>
              <a:buFont typeface="Noto Sans Symbols"/>
              <a:buChar char="◼"/>
            </a:pPr>
            <a:r>
              <a:rPr lang="es-ES" sz="1200" b="1" dirty="0">
                <a:solidFill>
                  <a:schemeClr val="lt1"/>
                </a:solidFill>
                <a:latin typeface="Gill Sans"/>
                <a:ea typeface="Gill Sans"/>
                <a:cs typeface="Gill Sans"/>
                <a:sym typeface="Gill Sans"/>
              </a:rPr>
              <a:t>RECOMENDACIONES</a:t>
            </a: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lvl="0" indent="0" algn="l" rtl="0">
              <a:spcBef>
                <a:spcPts val="840"/>
              </a:spcBef>
              <a:spcAft>
                <a:spcPts val="0"/>
              </a:spcAft>
              <a:buClr>
                <a:schemeClr val="dk1"/>
              </a:buClr>
              <a:buSzPts val="1400"/>
              <a:buFont typeface="Arial"/>
              <a:buNone/>
            </a:pPr>
            <a:endParaRPr dirty="0">
              <a:solidFill>
                <a:schemeClr val="dk1"/>
              </a:solidFill>
            </a:endParaRPr>
          </a:p>
          <a:p>
            <a:pPr marL="457200" marR="0" lvl="0" indent="0" algn="l" rtl="0">
              <a:lnSpc>
                <a:spcPct val="100000"/>
              </a:lnSpc>
              <a:spcBef>
                <a:spcPts val="840"/>
              </a:spcBef>
              <a:spcAft>
                <a:spcPts val="0"/>
              </a:spcAft>
              <a:buClr>
                <a:srgbClr val="000000"/>
              </a:buClr>
              <a:buSzPts val="1400"/>
              <a:buFont typeface="Arial"/>
              <a:buNone/>
            </a:pPr>
            <a:endParaRPr dirty="0">
              <a:solidFill>
                <a:schemeClr val="dk1"/>
              </a:solidFill>
            </a:endParaRPr>
          </a:p>
        </p:txBody>
      </p:sp>
      <p:sp>
        <p:nvSpPr>
          <p:cNvPr id="685" name="Google Shape;685;p84"/>
          <p:cNvSpPr txBox="1"/>
          <p:nvPr/>
        </p:nvSpPr>
        <p:spPr>
          <a:xfrm>
            <a:off x="636600" y="1868349"/>
            <a:ext cx="8576700" cy="742200"/>
          </a:xfrm>
          <a:prstGeom prst="rect">
            <a:avLst/>
          </a:prstGeom>
          <a:noFill/>
          <a:ln>
            <a:noFill/>
          </a:ln>
        </p:spPr>
        <p:txBody>
          <a:bodyPr spcFirstLastPara="1" wrap="square" lIns="91425" tIns="45700" rIns="91425" bIns="45700" anchor="ctr" anchorCtr="0">
            <a:normAutofit/>
          </a:bodyPr>
          <a:lstStyle/>
          <a:p>
            <a:pPr marL="457200" marR="0" lvl="0" indent="-355600" algn="just" rtl="0">
              <a:lnSpc>
                <a:spcPct val="107000"/>
              </a:lnSpc>
              <a:spcBef>
                <a:spcPts val="0"/>
              </a:spcBef>
              <a:spcAft>
                <a:spcPts val="0"/>
              </a:spcAft>
              <a:buClr>
                <a:srgbClr val="3D3D3D"/>
              </a:buClr>
              <a:buSzPts val="2000"/>
              <a:buFont typeface="Cambria"/>
              <a:buChar char="∙"/>
            </a:pPr>
            <a:r>
              <a:rPr lang="es-ES" sz="1800" b="1" dirty="0">
                <a:solidFill>
                  <a:srgbClr val="3D3D3D"/>
                </a:solidFill>
                <a:latin typeface="Cambria"/>
                <a:ea typeface="Cambria"/>
                <a:cs typeface="Cambria"/>
                <a:sym typeface="Cambria"/>
              </a:rPr>
              <a:t>Vista Conversión realizada</a:t>
            </a:r>
            <a:endParaRPr sz="2000" b="0" i="0" u="none" strike="noStrike" cap="none" dirty="0">
              <a:solidFill>
                <a:srgbClr val="3D3D3D"/>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436EB5F3-E297-6F61-8BED-E259E91FBF70}"/>
              </a:ext>
            </a:extLst>
          </p:cNvPr>
          <p:cNvPicPr>
            <a:picLocks noChangeAspect="1"/>
          </p:cNvPicPr>
          <p:nvPr/>
        </p:nvPicPr>
        <p:blipFill>
          <a:blip r:embed="rId3"/>
          <a:stretch>
            <a:fillRect/>
          </a:stretch>
        </p:blipFill>
        <p:spPr>
          <a:xfrm>
            <a:off x="4634655" y="2321287"/>
            <a:ext cx="3109229" cy="4244708"/>
          </a:xfrm>
          <a:prstGeom prst="rect">
            <a:avLst/>
          </a:prstGeom>
          <a:ln>
            <a:solidFill>
              <a:schemeClr val="tx1"/>
            </a:solid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CONCLUSIONES</a:t>
            </a:r>
            <a:endParaRPr/>
          </a:p>
        </p:txBody>
      </p:sp>
      <p:sp>
        <p:nvSpPr>
          <p:cNvPr id="692" name="Google Shape;692;p85"/>
          <p:cNvSpPr txBox="1">
            <a:spLocks noGrp="1"/>
          </p:cNvSpPr>
          <p:nvPr>
            <p:ph type="body" idx="1"/>
          </p:nvPr>
        </p:nvSpPr>
        <p:spPr>
          <a:xfrm>
            <a:off x="581192" y="2180496"/>
            <a:ext cx="8589300" cy="3678300"/>
          </a:xfrm>
          <a:prstGeom prst="rect">
            <a:avLst/>
          </a:prstGeom>
          <a:noFill/>
          <a:ln>
            <a:noFill/>
          </a:ln>
        </p:spPr>
        <p:txBody>
          <a:bodyPr spcFirstLastPara="1" wrap="square" lIns="91425" tIns="45700" rIns="91425" bIns="45700" anchor="ctr" anchorCtr="0">
            <a:normAutofit/>
          </a:bodyPr>
          <a:lstStyle/>
          <a:p>
            <a:pPr marL="0" marR="0" lvl="0" indent="0" algn="just" rtl="0">
              <a:lnSpc>
                <a:spcPct val="107000"/>
              </a:lnSpc>
              <a:spcBef>
                <a:spcPts val="0"/>
              </a:spcBef>
              <a:spcAft>
                <a:spcPts val="0"/>
              </a:spcAft>
              <a:buSzPts val="1656"/>
              <a:buNone/>
            </a:pPr>
            <a:r>
              <a:rPr lang="es-ES" sz="1900" dirty="0">
                <a:latin typeface="Cambria"/>
                <a:ea typeface="Cambria"/>
                <a:cs typeface="Cambria"/>
                <a:sym typeface="Cambria"/>
              </a:rPr>
              <a:t>La culminación de este proyecto evidencia la efectividad de una Arquitectura Orientada a Servicios (SOA) al integrar exitosamente un servidor SOAP robusto, desarrollado en Java y alojado en Payara Server, con un ecosistema de clientes multiplataforma (web, móvil, escritorio y consola) que fueron desarrollados en lenguaje Java en el entorno de desarrollo de </a:t>
            </a:r>
            <a:r>
              <a:rPr lang="es-ES" sz="1900" dirty="0" err="1">
                <a:latin typeface="Cambria"/>
                <a:ea typeface="Cambria"/>
                <a:cs typeface="Cambria"/>
                <a:sym typeface="Cambria"/>
              </a:rPr>
              <a:t>Netbeans</a:t>
            </a:r>
            <a:r>
              <a:rPr lang="es-ES" sz="1900" dirty="0">
                <a:latin typeface="Cambria"/>
                <a:ea typeface="Cambria"/>
                <a:cs typeface="Cambria"/>
                <a:sym typeface="Cambria"/>
              </a:rPr>
              <a:t> y Android Studio, así como el servidor SOAP resultó ser una solución robusta, los clientes utilizaron el mismo patrón arquitectónico MVC y el mismo sistema de conexión de los clientes con el servidor.</a:t>
            </a:r>
            <a:endParaRPr sz="1900" dirty="0"/>
          </a:p>
        </p:txBody>
      </p:sp>
      <p:sp>
        <p:nvSpPr>
          <p:cNvPr id="693" name="Google Shape;693;p85"/>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CONCLUSIONES</a:t>
            </a:r>
            <a:endParaRPr sz="1400" b="0" i="0" u="none" strike="noStrike" cap="none">
              <a:solidFill>
                <a:srgbClr val="FFFF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RECOMENDACIONES</a:t>
            </a:r>
            <a:endParaRPr sz="1400" b="0" i="0" u="none" strike="noStrike" cap="none">
              <a:solidFill>
                <a:srgbClr val="0000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86"/>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RECOMENDACIONES</a:t>
            </a:r>
            <a:endParaRPr/>
          </a:p>
        </p:txBody>
      </p:sp>
      <p:sp>
        <p:nvSpPr>
          <p:cNvPr id="699" name="Google Shape;699;p86"/>
          <p:cNvSpPr txBox="1">
            <a:spLocks noGrp="1"/>
          </p:cNvSpPr>
          <p:nvPr>
            <p:ph type="body" idx="1"/>
          </p:nvPr>
        </p:nvSpPr>
        <p:spPr>
          <a:xfrm>
            <a:off x="581200" y="2025325"/>
            <a:ext cx="8500800" cy="4291200"/>
          </a:xfrm>
          <a:prstGeom prst="rect">
            <a:avLst/>
          </a:prstGeom>
          <a:noFill/>
          <a:ln>
            <a:noFill/>
          </a:ln>
        </p:spPr>
        <p:txBody>
          <a:bodyPr spcFirstLastPara="1" wrap="square" lIns="91425" tIns="45700" rIns="91425" bIns="45700" anchor="ctr" anchorCtr="0">
            <a:normAutofit/>
          </a:bodyPr>
          <a:lstStyle/>
          <a:p>
            <a:pPr marL="0" lvl="0" indent="0" algn="just" rtl="0">
              <a:lnSpc>
                <a:spcPct val="107000"/>
              </a:lnSpc>
              <a:spcBef>
                <a:spcPts val="0"/>
              </a:spcBef>
              <a:spcAft>
                <a:spcPts val="0"/>
              </a:spcAft>
              <a:buNone/>
            </a:pPr>
            <a:r>
              <a:rPr lang="es-ES" sz="1900" dirty="0">
                <a:latin typeface="Cambria"/>
                <a:ea typeface="Cambria"/>
                <a:cs typeface="Cambria"/>
                <a:sym typeface="Cambria"/>
              </a:rPr>
              <a:t>Integrar una base de datos (BDD) formal para reemplazar el manejo de credenciales quemadas en código y permitir el almacenamiento histórico personal de las conversiones de manera persistente y escalable.</a:t>
            </a:r>
            <a:endParaRPr sz="1900" dirty="0">
              <a:latin typeface="Cambria"/>
              <a:ea typeface="Cambria"/>
              <a:cs typeface="Cambria"/>
              <a:sym typeface="Cambria"/>
            </a:endParaRPr>
          </a:p>
          <a:p>
            <a:pPr marL="0" lvl="0" indent="0" algn="just" rtl="0">
              <a:lnSpc>
                <a:spcPct val="107000"/>
              </a:lnSpc>
              <a:spcBef>
                <a:spcPts val="0"/>
              </a:spcBef>
              <a:spcAft>
                <a:spcPts val="0"/>
              </a:spcAft>
              <a:buNone/>
            </a:pP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Integrar protocolos de cifrado a nivel de mensaje (WS-Security) y el uso de HTTPS en entornos de producción para proteger la integridad del token de seguridad y los datos sensibles durante el tránsito en la red.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 </a:t>
            </a:r>
            <a:endParaRPr sz="1900" dirty="0">
              <a:latin typeface="Cambria"/>
              <a:ea typeface="Cambria"/>
              <a:cs typeface="Cambria"/>
              <a:sym typeface="Cambria"/>
            </a:endParaRPr>
          </a:p>
          <a:p>
            <a:pPr marL="0" lvl="0" indent="0" algn="just" rtl="0">
              <a:lnSpc>
                <a:spcPct val="107000"/>
              </a:lnSpc>
              <a:spcBef>
                <a:spcPts val="0"/>
              </a:spcBef>
              <a:spcAft>
                <a:spcPts val="0"/>
              </a:spcAft>
              <a:buNone/>
            </a:pPr>
            <a:r>
              <a:rPr lang="es-ES" sz="1900" dirty="0">
                <a:latin typeface="Cambria"/>
                <a:ea typeface="Cambria"/>
                <a:cs typeface="Cambria"/>
                <a:sym typeface="Cambria"/>
              </a:rPr>
              <a:t>Incorporar herramientas de análisis estático de código automatizadas como </a:t>
            </a:r>
            <a:r>
              <a:rPr lang="es-ES" sz="1900" dirty="0" err="1">
                <a:latin typeface="Cambria"/>
                <a:ea typeface="Cambria"/>
                <a:cs typeface="Cambria"/>
                <a:sym typeface="Cambria"/>
              </a:rPr>
              <a:t>Sonarqube</a:t>
            </a:r>
            <a:r>
              <a:rPr lang="es-ES" sz="1900" dirty="0">
                <a:latin typeface="Cambria"/>
                <a:ea typeface="Cambria"/>
                <a:cs typeface="Cambria"/>
                <a:sym typeface="Cambria"/>
              </a:rPr>
              <a:t> dentro del ciclo de vida de desarrollo para monitorear la calidad del software y asegurar que las nuevas funcionalidades no rompan la compatibilidad con el contrato WSDL expuesto, así como realizar pruebas de carga con </a:t>
            </a:r>
            <a:r>
              <a:rPr lang="es-ES" sz="1900" dirty="0" err="1">
                <a:latin typeface="Cambria"/>
                <a:ea typeface="Cambria"/>
                <a:cs typeface="Cambria"/>
                <a:sym typeface="Cambria"/>
              </a:rPr>
              <a:t>jmeter</a:t>
            </a:r>
            <a:r>
              <a:rPr lang="es-ES" sz="1900" dirty="0">
                <a:latin typeface="Cambria"/>
                <a:ea typeface="Cambria"/>
                <a:cs typeface="Cambria"/>
                <a:sym typeface="Cambria"/>
              </a:rPr>
              <a:t> y suites de pruebas unitarias.</a:t>
            </a:r>
            <a:endParaRPr sz="1900" dirty="0">
              <a:latin typeface="Cambria"/>
              <a:ea typeface="Cambria"/>
              <a:cs typeface="Cambria"/>
              <a:sym typeface="Cambria"/>
            </a:endParaRPr>
          </a:p>
        </p:txBody>
      </p:sp>
      <p:sp>
        <p:nvSpPr>
          <p:cNvPr id="700" name="Google Shape;700;p86"/>
          <p:cNvSpPr/>
          <p:nvPr/>
        </p:nvSpPr>
        <p:spPr>
          <a:xfrm>
            <a:off x="9383697" y="0"/>
            <a:ext cx="28083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rgbClr val="FFFF00"/>
                </a:solidFill>
                <a:latin typeface="Gill Sans"/>
                <a:ea typeface="Gill Sans"/>
                <a:cs typeface="Gill Sans"/>
                <a:sym typeface="Gill Sans"/>
              </a:rPr>
              <a:t>DESARROLLO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OBJETIVO</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chemeClr val="lt1"/>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SERVIDOR SOAP</a:t>
            </a:r>
            <a:endParaRPr sz="1400" b="0" i="0" u="none" strike="noStrike" cap="none">
              <a:solidFill>
                <a:schemeClr val="lt1"/>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CONSOLA</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ESCRITORIO</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WEB</a:t>
            </a:r>
            <a:endParaRPr sz="1400" b="0" i="0" u="none" strike="noStrike" cap="none">
              <a:solidFill>
                <a:srgbClr val="000000"/>
              </a:solidFill>
              <a:latin typeface="Arial"/>
              <a:ea typeface="Arial"/>
              <a:cs typeface="Arial"/>
              <a:sym typeface="Arial"/>
            </a:endParaRPr>
          </a:p>
          <a:p>
            <a:pPr marL="763200" marR="0" lvl="1"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CREACIÓN DEL PROYECTO – CLIENTE MOVIL</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4590B8"/>
              </a:buClr>
              <a:buSzPts val="1104"/>
              <a:buFont typeface="Noto Sans Symbols"/>
              <a:buChar char="◼"/>
            </a:pPr>
            <a:r>
              <a:rPr lang="es-ES" sz="1200" b="1" i="0" u="none" strike="noStrike" cap="none">
                <a:solidFill>
                  <a:schemeClr val="lt1"/>
                </a:solidFill>
                <a:latin typeface="Gill Sans"/>
                <a:ea typeface="Gill Sans"/>
                <a:cs typeface="Gill Sans"/>
                <a:sym typeface="Gill Sans"/>
              </a:rPr>
              <a:t>CONCLUSIONES</a:t>
            </a:r>
            <a:endParaRPr sz="1400" b="0" i="0" u="none" strike="noStrike" cap="none">
              <a:solidFill>
                <a:srgbClr val="000000"/>
              </a:solidFill>
              <a:latin typeface="Arial"/>
              <a:ea typeface="Arial"/>
              <a:cs typeface="Arial"/>
              <a:sym typeface="Arial"/>
            </a:endParaRPr>
          </a:p>
          <a:p>
            <a:pPr marL="306000" marR="0" lvl="0" indent="-306000" algn="l" rtl="0">
              <a:lnSpc>
                <a:spcPct val="100000"/>
              </a:lnSpc>
              <a:spcBef>
                <a:spcPts val="840"/>
              </a:spcBef>
              <a:spcAft>
                <a:spcPts val="0"/>
              </a:spcAft>
              <a:buClr>
                <a:srgbClr val="FFFF00"/>
              </a:buClr>
              <a:buSzPts val="1104"/>
              <a:buFont typeface="Noto Sans Symbols"/>
              <a:buChar char="◼"/>
            </a:pPr>
            <a:r>
              <a:rPr lang="es-ES" sz="1200" b="1" i="0" u="none" strike="noStrike" cap="none">
                <a:solidFill>
                  <a:srgbClr val="FFFF00"/>
                </a:solidFill>
                <a:latin typeface="Gill Sans"/>
                <a:ea typeface="Gill Sans"/>
                <a:cs typeface="Gill Sans"/>
                <a:sym typeface="Gill Sans"/>
              </a:rPr>
              <a:t>RECOMENDACIONES</a:t>
            </a:r>
            <a:endParaRPr sz="1400" b="0" i="0" u="none" strike="noStrike" cap="none">
              <a:solidFill>
                <a:srgbClr val="FFFF00"/>
              </a:solidFill>
              <a:latin typeface="Arial"/>
              <a:ea typeface="Arial"/>
              <a:cs typeface="Arial"/>
              <a:sym typeface="Arial"/>
            </a:endParaRPr>
          </a:p>
          <a:p>
            <a:pPr marL="457200" marR="0" lvl="0" indent="0" algn="l" rtl="0">
              <a:lnSpc>
                <a:spcPct val="100000"/>
              </a:lnSpc>
              <a:spcBef>
                <a:spcPts val="84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8360</Words>
  <Application>Microsoft Office PowerPoint</Application>
  <PresentationFormat>Widescreen</PresentationFormat>
  <Paragraphs>1439</Paragraphs>
  <Slides>56</Slides>
  <Notes>56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Noto Sans Symbols</vt:lpstr>
      <vt:lpstr>Cambria</vt:lpstr>
      <vt:lpstr>Gill Sans</vt:lpstr>
      <vt:lpstr>Calibri</vt:lpstr>
      <vt:lpstr>Dividendo</vt:lpstr>
      <vt:lpstr>MANUAL CONVERSIÓN UNIDADES SOAP JAVA</vt:lpstr>
      <vt:lpstr>PowerPoint Presentation</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DESARROLLO</vt:lpstr>
      <vt:lpstr>CONCLUSIONES</vt:lpstr>
      <vt:lpstr>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Mateo Medranda</cp:lastModifiedBy>
  <cp:revision>6</cp:revision>
  <dcterms:modified xsi:type="dcterms:W3CDTF">2026-10-24T01:23:28Z</dcterms:modified>
</cp:coreProperties>
</file>