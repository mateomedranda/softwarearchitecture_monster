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9"/>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330" r:id="rId15"/>
    <p:sldId id="271" r:id="rId16"/>
    <p:sldId id="272" r:id="rId17"/>
    <p:sldId id="274" r:id="rId18"/>
    <p:sldId id="275" r:id="rId19"/>
    <p:sldId id="276" r:id="rId20"/>
    <p:sldId id="277" r:id="rId21"/>
    <p:sldId id="278" r:id="rId22"/>
    <p:sldId id="280" r:id="rId23"/>
    <p:sldId id="281" r:id="rId24"/>
    <p:sldId id="282" r:id="rId25"/>
    <p:sldId id="283" r:id="rId26"/>
    <p:sldId id="284" r:id="rId27"/>
    <p:sldId id="285" r:id="rId28"/>
    <p:sldId id="286" r:id="rId29"/>
    <p:sldId id="287" r:id="rId30"/>
    <p:sldId id="288" r:id="rId31"/>
    <p:sldId id="289" r:id="rId32"/>
    <p:sldId id="331" r:id="rId33"/>
    <p:sldId id="332" r:id="rId34"/>
    <p:sldId id="333" r:id="rId35"/>
    <p:sldId id="309" r:id="rId36"/>
    <p:sldId id="310" r:id="rId37"/>
    <p:sldId id="311" r:id="rId38"/>
    <p:sldId id="312" r:id="rId39"/>
    <p:sldId id="313" r:id="rId40"/>
    <p:sldId id="314" r:id="rId41"/>
    <p:sldId id="315" r:id="rId42"/>
    <p:sldId id="316" r:id="rId43"/>
    <p:sldId id="317" r:id="rId44"/>
    <p:sldId id="318" r:id="rId45"/>
    <p:sldId id="319" r:id="rId46"/>
    <p:sldId id="334" r:id="rId47"/>
    <p:sldId id="320" r:id="rId48"/>
    <p:sldId id="321" r:id="rId49"/>
    <p:sldId id="322" r:id="rId50"/>
    <p:sldId id="323" r:id="rId51"/>
    <p:sldId id="324" r:id="rId52"/>
    <p:sldId id="335" r:id="rId53"/>
    <p:sldId id="325" r:id="rId54"/>
    <p:sldId id="326" r:id="rId55"/>
    <p:sldId id="327" r:id="rId56"/>
    <p:sldId id="328" r:id="rId57"/>
    <p:sldId id="329" r:id="rId58"/>
  </p:sldIdLst>
  <p:sldSz cx="12192000" cy="6858000"/>
  <p:notesSz cx="6858000" cy="9144000"/>
  <p:embeddedFontLst>
    <p:embeddedFont>
      <p:font typeface="Cambria" panose="02040503050406030204" pitchFamily="18" charset="0"/>
      <p:regular r:id="rId60"/>
      <p:bold r:id="rId61"/>
      <p:italic r:id="rId62"/>
      <p:boldItalic r:id="rId63"/>
    </p:embeddedFont>
    <p:embeddedFont>
      <p:font typeface="Gill Sans" panose="020B0604020202020204" charset="0"/>
      <p:regular r:id="rId64"/>
      <p:bold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8" y="-3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26227be_0_4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8526227be_0_4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526227be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a8526227be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8526227be_0_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a8526227be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526227be_0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a8526227be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526227b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a8526227be_0_4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8526227be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a8526227be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526227be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a8526227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526227be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g3a8526227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8526227be_0_4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8526227be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A46F4767-3E52-FE11-8FDB-A76C52CD3EA2}"/>
            </a:ext>
          </a:extLst>
        </p:cNvPr>
        <p:cNvGrpSpPr/>
        <p:nvPr/>
      </p:nvGrpSpPr>
      <p:grpSpPr>
        <a:xfrm>
          <a:off x="0" y="0"/>
          <a:ext cx="0" cy="0"/>
          <a:chOff x="0" y="0"/>
          <a:chExt cx="0" cy="0"/>
        </a:xfrm>
      </p:grpSpPr>
      <p:sp>
        <p:nvSpPr>
          <p:cNvPr id="201" name="Google Shape;201;g3a8526227be_0_504:notes">
            <a:extLst>
              <a:ext uri="{FF2B5EF4-FFF2-40B4-BE49-F238E27FC236}">
                <a16:creationId xmlns:a16="http://schemas.microsoft.com/office/drawing/2014/main" id="{849837E9-9F91-3E0C-9792-4D34537E34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a:extLst>
              <a:ext uri="{FF2B5EF4-FFF2-40B4-BE49-F238E27FC236}">
                <a16:creationId xmlns:a16="http://schemas.microsoft.com/office/drawing/2014/main" id="{A03AD4A7-5A74-07A2-AF0D-AF9888C742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0953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8526227b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a8526227be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8526227be_0_5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227" name="Google Shape;227;g3a8526227be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8526227be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a8526227be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8526227b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a8526227be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8526227be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a8526227be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8526227be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a8526227be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8526227be_0_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g3a8526227be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8526227be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3a8526227be_0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526227be_0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a8526227be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854632a9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854632a9a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854632a9a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854632a9a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854632a9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3a854632a9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854632a9a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g3a854632a9a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a854632a9a_2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a854632a9a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854632a9a_2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a854632a9a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854632a9a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8" name="Google Shape;358;g3a854632a9a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a854632a9a_2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2AA037C5-21E5-C0DF-F1BE-C6A43353744D}"/>
            </a:ext>
          </a:extLst>
        </p:cNvPr>
        <p:cNvGrpSpPr/>
        <p:nvPr/>
      </p:nvGrpSpPr>
      <p:grpSpPr>
        <a:xfrm>
          <a:off x="0" y="0"/>
          <a:ext cx="0" cy="0"/>
          <a:chOff x="0" y="0"/>
          <a:chExt cx="0" cy="0"/>
        </a:xfrm>
      </p:grpSpPr>
      <p:sp>
        <p:nvSpPr>
          <p:cNvPr id="366" name="Google Shape;366;g3a854632a9a_2_63:notes">
            <a:extLst>
              <a:ext uri="{FF2B5EF4-FFF2-40B4-BE49-F238E27FC236}">
                <a16:creationId xmlns:a16="http://schemas.microsoft.com/office/drawing/2014/main" id="{771357E5-62CC-C8B4-B344-30B4C1547C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a:extLst>
              <a:ext uri="{FF2B5EF4-FFF2-40B4-BE49-F238E27FC236}">
                <a16:creationId xmlns:a16="http://schemas.microsoft.com/office/drawing/2014/main" id="{9A847E0D-87A6-2F96-6697-9A4FD56649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58853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A37B5E15-155C-E310-190E-64C58FAEC810}"/>
            </a:ext>
          </a:extLst>
        </p:cNvPr>
        <p:cNvGrpSpPr/>
        <p:nvPr/>
      </p:nvGrpSpPr>
      <p:grpSpPr>
        <a:xfrm>
          <a:off x="0" y="0"/>
          <a:ext cx="0" cy="0"/>
          <a:chOff x="0" y="0"/>
          <a:chExt cx="0" cy="0"/>
        </a:xfrm>
      </p:grpSpPr>
      <p:sp>
        <p:nvSpPr>
          <p:cNvPr id="366" name="Google Shape;366;g3a854632a9a_2_63:notes">
            <a:extLst>
              <a:ext uri="{FF2B5EF4-FFF2-40B4-BE49-F238E27FC236}">
                <a16:creationId xmlns:a16="http://schemas.microsoft.com/office/drawing/2014/main" id="{8E8464D9-35DC-456E-F3FA-C0257AF56A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a:extLst>
              <a:ext uri="{FF2B5EF4-FFF2-40B4-BE49-F238E27FC236}">
                <a16:creationId xmlns:a16="http://schemas.microsoft.com/office/drawing/2014/main" id="{81AFA64F-7D46-42FF-7CAB-A36377E886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58267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a:extLst>
            <a:ext uri="{FF2B5EF4-FFF2-40B4-BE49-F238E27FC236}">
              <a16:creationId xmlns:a16="http://schemas.microsoft.com/office/drawing/2014/main" id="{52A704F7-300C-A404-2B20-DA697BFB76BF}"/>
            </a:ext>
          </a:extLst>
        </p:cNvPr>
        <p:cNvGrpSpPr/>
        <p:nvPr/>
      </p:nvGrpSpPr>
      <p:grpSpPr>
        <a:xfrm>
          <a:off x="0" y="0"/>
          <a:ext cx="0" cy="0"/>
          <a:chOff x="0" y="0"/>
          <a:chExt cx="0" cy="0"/>
        </a:xfrm>
      </p:grpSpPr>
      <p:sp>
        <p:nvSpPr>
          <p:cNvPr id="366" name="Google Shape;366;g3a854632a9a_2_63:notes">
            <a:extLst>
              <a:ext uri="{FF2B5EF4-FFF2-40B4-BE49-F238E27FC236}">
                <a16:creationId xmlns:a16="http://schemas.microsoft.com/office/drawing/2014/main" id="{981A37BB-55A5-4106-6C09-2D26C6ACA8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a:extLst>
              <a:ext uri="{FF2B5EF4-FFF2-40B4-BE49-F238E27FC236}">
                <a16:creationId xmlns:a16="http://schemas.microsoft.com/office/drawing/2014/main" id="{E03379AD-EF70-061A-ACC5-C212D560D8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6737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54632a9a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2" name="Google Shape;532;g3a854632a9a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854632a9a_2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2" name="Google Shape;542;g3a854632a9a_2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854632a9a_2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g3a854632a9a_2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854632a9a_2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a854632a9a_2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854632a9a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6" name="Google Shape;566;g3a854632a9a_2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854632a9a_2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4" name="Google Shape;574;g3a854632a9a_2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a854632a9a_2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g3a854632a9a_2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a854632a9a_2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3a854632a9a_2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a854632a9a_2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g3a854632a9a_2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a854632a9a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607" name="Google Shape;607;g3a854632a9a_2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854632a9a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a:extLst>
            <a:ext uri="{FF2B5EF4-FFF2-40B4-BE49-F238E27FC236}">
              <a16:creationId xmlns:a16="http://schemas.microsoft.com/office/drawing/2014/main" id="{E1E1BB20-FDA0-5D7D-F34D-706C969C1B7B}"/>
            </a:ext>
          </a:extLst>
        </p:cNvPr>
        <p:cNvGrpSpPr/>
        <p:nvPr/>
      </p:nvGrpSpPr>
      <p:grpSpPr>
        <a:xfrm>
          <a:off x="0" y="0"/>
          <a:ext cx="0" cy="0"/>
          <a:chOff x="0" y="0"/>
          <a:chExt cx="0" cy="0"/>
        </a:xfrm>
      </p:grpSpPr>
      <p:sp>
        <p:nvSpPr>
          <p:cNvPr id="614" name="Google Shape;614;g3a854632a9a_2_281:notes">
            <a:extLst>
              <a:ext uri="{FF2B5EF4-FFF2-40B4-BE49-F238E27FC236}">
                <a16:creationId xmlns:a16="http://schemas.microsoft.com/office/drawing/2014/main" id="{D6746467-1272-F40F-9481-8C7D069E64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a:extLst>
              <a:ext uri="{FF2B5EF4-FFF2-40B4-BE49-F238E27FC236}">
                <a16:creationId xmlns:a16="http://schemas.microsoft.com/office/drawing/2014/main" id="{4C9C7D2D-9B52-749F-BF80-574B7C3E2E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03474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a854632a9a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g3a854632a9a_2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a854632a9a_2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1" name="Google Shape;631;g3a854632a9a_2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a8526227be_0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a8526227be_0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a854632a9a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9" name="Google Shape;649;g3a854632a9a_2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854632a9a_2_3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a:extLst>
            <a:ext uri="{FF2B5EF4-FFF2-40B4-BE49-F238E27FC236}">
              <a16:creationId xmlns:a16="http://schemas.microsoft.com/office/drawing/2014/main" id="{74180C29-D4CE-2998-4B9D-387C9F356CF6}"/>
            </a:ext>
          </a:extLst>
        </p:cNvPr>
        <p:cNvGrpSpPr/>
        <p:nvPr/>
      </p:nvGrpSpPr>
      <p:grpSpPr>
        <a:xfrm>
          <a:off x="0" y="0"/>
          <a:ext cx="0" cy="0"/>
          <a:chOff x="0" y="0"/>
          <a:chExt cx="0" cy="0"/>
        </a:xfrm>
      </p:grpSpPr>
      <p:sp>
        <p:nvSpPr>
          <p:cNvPr id="656" name="Google Shape;656;g3a854632a9a_2_321:notes">
            <a:extLst>
              <a:ext uri="{FF2B5EF4-FFF2-40B4-BE49-F238E27FC236}">
                <a16:creationId xmlns:a16="http://schemas.microsoft.com/office/drawing/2014/main" id="{5F6B4465-2C3F-7F48-2C33-16EF9DE9C3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a:extLst>
              <a:ext uri="{FF2B5EF4-FFF2-40B4-BE49-F238E27FC236}">
                <a16:creationId xmlns:a16="http://schemas.microsoft.com/office/drawing/2014/main" id="{AFF0ADBC-2B5E-3345-4082-B2FADA29A1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98379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a854632a9a_2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a854632a9a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a854632a9a_2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3" name="Google Shape;673;g3a854632a9a_2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a854632a9a_2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1" name="Google Shape;681;g3a854632a9a_2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dirty="0">
                <a:solidFill>
                  <a:schemeClr val="lt1"/>
                </a:solidFill>
              </a:rPr>
              <a:t>MANUAL</a:t>
            </a:r>
            <a:br>
              <a:rPr lang="es-ES" dirty="0">
                <a:solidFill>
                  <a:schemeClr val="lt1"/>
                </a:solidFill>
              </a:rPr>
            </a:br>
            <a:r>
              <a:rPr lang="es-ES" dirty="0">
                <a:solidFill>
                  <a:schemeClr val="lt1"/>
                </a:solidFill>
              </a:rPr>
              <a:t>CONVERSIÓN UNIDADES RESTFUL DOTNET</a:t>
            </a:r>
            <a:endParaRPr dirty="0"/>
          </a:p>
        </p:txBody>
      </p:sp>
      <p:sp>
        <p:nvSpPr>
          <p:cNvPr id="97" name="Google Shape;97;p13"/>
          <p:cNvSpPr txBox="1">
            <a:spLocks noGrp="1"/>
          </p:cNvSpPr>
          <p:nvPr>
            <p:ph type="subTitle" idx="1"/>
          </p:nvPr>
        </p:nvSpPr>
        <p:spPr>
          <a:xfrm>
            <a:off x="599225" y="4530055"/>
            <a:ext cx="4261531" cy="18127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endParaRPr b="1" dirty="0">
              <a:solidFill>
                <a:schemeClr val="lt1"/>
              </a:solidFill>
            </a:endParaRPr>
          </a:p>
          <a:p>
            <a:pPr marL="0" lvl="0" indent="0" algn="l" rtl="0">
              <a:lnSpc>
                <a:spcPct val="100000"/>
              </a:lnSpc>
              <a:spcBef>
                <a:spcPts val="920"/>
              </a:spcBef>
              <a:spcAft>
                <a:spcPts val="0"/>
              </a:spcAft>
              <a:buSzPts val="1472"/>
              <a:buNone/>
            </a:pPr>
            <a:r>
              <a:rPr lang="es-ES" b="1" dirty="0">
                <a:solidFill>
                  <a:schemeClr val="lt1"/>
                </a:solidFill>
              </a:rPr>
              <a:t>INTEGRANTES:</a:t>
            </a:r>
            <a:r>
              <a:rPr lang="es-ES" dirty="0">
                <a:solidFill>
                  <a:schemeClr val="lt1"/>
                </a:solidFill>
              </a:rPr>
              <a:t> 	</a:t>
            </a:r>
          </a:p>
          <a:p>
            <a:pPr marL="0" lvl="0" indent="0" algn="l" rtl="0">
              <a:lnSpc>
                <a:spcPct val="100000"/>
              </a:lnSpc>
              <a:spcBef>
                <a:spcPts val="920"/>
              </a:spcBef>
              <a:spcAft>
                <a:spcPts val="0"/>
              </a:spcAft>
              <a:buSzPts val="1472"/>
              <a:buNone/>
            </a:pPr>
            <a:r>
              <a:rPr lang="es-ES" dirty="0">
                <a:solidFill>
                  <a:schemeClr val="lt1"/>
                </a:solidFill>
              </a:rPr>
              <a:t>	López Gabriel</a:t>
            </a:r>
          </a:p>
          <a:p>
            <a:pPr marL="0" lvl="0" indent="0" algn="l" rtl="0">
              <a:lnSpc>
                <a:spcPct val="100000"/>
              </a:lnSpc>
              <a:spcBef>
                <a:spcPts val="920"/>
              </a:spcBef>
              <a:spcAft>
                <a:spcPts val="0"/>
              </a:spcAft>
              <a:buSzPts val="1472"/>
              <a:buNone/>
            </a:pPr>
            <a:r>
              <a:rPr lang="es-ES" dirty="0">
                <a:solidFill>
                  <a:schemeClr val="lt1"/>
                </a:solidFill>
              </a:rPr>
              <a:t>	Medranda Mateo</a:t>
            </a:r>
          </a:p>
          <a:p>
            <a:pPr marL="0" lvl="0" indent="0" algn="l" rtl="0">
              <a:lnSpc>
                <a:spcPct val="100000"/>
              </a:lnSpc>
              <a:spcBef>
                <a:spcPts val="920"/>
              </a:spcBef>
              <a:spcAft>
                <a:spcPts val="0"/>
              </a:spcAft>
              <a:buSzPts val="1472"/>
              <a:buNone/>
            </a:pPr>
            <a:r>
              <a:rPr lang="es-MX" dirty="0">
                <a:solidFill>
                  <a:schemeClr val="lt1"/>
                </a:solidFill>
              </a:rPr>
              <a:t>	Pareja Marcelo</a:t>
            </a:r>
            <a:endParaRPr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21</a:t>
            </a:r>
            <a:r>
              <a:rPr lang="es-ES" sz="1600" b="1" dirty="0">
                <a:solidFill>
                  <a:srgbClr val="FFFFFF"/>
                </a:solidFill>
                <a:latin typeface="Gill Sans"/>
                <a:ea typeface="Gill Sans"/>
                <a:cs typeface="Gill Sans"/>
                <a:sym typeface="Gill Sans"/>
              </a:rPr>
              <a:t>/10/2026</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dirty="0">
                <a:solidFill>
                  <a:schemeClr val="lt1"/>
                </a:solidFill>
              </a:rPr>
              <a:t>DESARROLLO</a:t>
            </a:r>
            <a:endParaRPr dirty="0"/>
          </a:p>
          <a:p>
            <a:pPr marL="630000" lvl="1" indent="-320020" algn="l" rtl="0">
              <a:lnSpc>
                <a:spcPct val="100000"/>
              </a:lnSpc>
              <a:spcBef>
                <a:spcPts val="872"/>
              </a:spcBef>
              <a:spcAft>
                <a:spcPts val="0"/>
              </a:spcAft>
              <a:buSzPts val="1472"/>
              <a:buChar char="◼"/>
            </a:pPr>
            <a:r>
              <a:rPr lang="es-ES" dirty="0">
                <a:solidFill>
                  <a:schemeClr val="lt1"/>
                </a:solidFill>
              </a:rPr>
              <a:t>OBJETIVO</a:t>
            </a:r>
            <a:endParaRPr dirty="0"/>
          </a:p>
          <a:p>
            <a:pPr marL="630000" lvl="1" indent="-320020" algn="l" rtl="0">
              <a:lnSpc>
                <a:spcPct val="100000"/>
              </a:lnSpc>
              <a:spcBef>
                <a:spcPts val="872"/>
              </a:spcBef>
              <a:spcAft>
                <a:spcPts val="0"/>
              </a:spcAft>
              <a:buSzPts val="1472"/>
              <a:buChar char="◼"/>
            </a:pPr>
            <a:r>
              <a:rPr lang="es-ES" dirty="0">
                <a:solidFill>
                  <a:schemeClr val="lt1"/>
                </a:solidFill>
              </a:rPr>
              <a:t>CREACIÓN DEL SERVIDOR RESTFUL EN DOTNET</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CONSOLA</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ESCRITORIO</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WEB</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MÓVIL</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CONCLUSIONES</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RECOMENDACIONES</a:t>
            </a:r>
            <a:endParaRPr dirty="0"/>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dirty="0">
                <a:latin typeface="Cambria"/>
                <a:ea typeface="Cambria"/>
                <a:cs typeface="Cambria"/>
                <a:sym typeface="Cambria"/>
              </a:rPr>
              <a:t>1</a:t>
            </a:r>
            <a:r>
              <a:rPr lang="es-ES" sz="1800" b="1" dirty="0">
                <a:latin typeface="Cambria"/>
                <a:ea typeface="Cambria"/>
                <a:cs typeface="Cambria"/>
                <a:sym typeface="Cambria"/>
              </a:rPr>
              <a:t>.1	OBJETIVO</a:t>
            </a:r>
            <a:endParaRPr b="1" dirty="0"/>
          </a:p>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Desarrollar e implementar un Web </a:t>
            </a:r>
            <a:r>
              <a:rPr lang="es-ES" dirty="0" err="1">
                <a:latin typeface="Cambria"/>
                <a:ea typeface="Cambria"/>
                <a:cs typeface="Cambria"/>
                <a:sym typeface="Cambria"/>
              </a:rPr>
              <a:t>Service</a:t>
            </a:r>
            <a:r>
              <a:rPr lang="es-ES" dirty="0">
                <a:latin typeface="Cambria"/>
                <a:ea typeface="Cambria"/>
                <a:cs typeface="Cambria"/>
                <a:sym typeface="Cambria"/>
              </a:rPr>
              <a:t> utilizando RESTFUL mediante DOTNET para realizar conversiones de unidades y 4 clientes: consola, escritorio, web y móvil</a:t>
            </a:r>
            <a:endParaRPr dirty="0">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OBJETIVO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200" b="1" i="0" u="none" strike="noStrike" cap="none"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1953997"/>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1.2.1 	Servidor IIS</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En primer lugar, es necesario dirigirse a las “Características de Windows” para activar la característica “Internet </a:t>
            </a:r>
            <a:r>
              <a:rPr lang="es-ES" dirty="0" err="1">
                <a:latin typeface="Cambria"/>
                <a:ea typeface="Cambria"/>
                <a:cs typeface="Cambria"/>
                <a:sym typeface="Cambria"/>
              </a:rPr>
              <a:t>Information</a:t>
            </a:r>
            <a:r>
              <a:rPr lang="es-ES" dirty="0">
                <a:latin typeface="Cambria"/>
                <a:ea typeface="Cambria"/>
                <a:cs typeface="Cambria"/>
                <a:sym typeface="Cambria"/>
              </a:rPr>
              <a:t> </a:t>
            </a:r>
            <a:r>
              <a:rPr lang="es-ES" dirty="0" err="1">
                <a:latin typeface="Cambria"/>
                <a:ea typeface="Cambria"/>
                <a:cs typeface="Cambria"/>
                <a:sym typeface="Cambria"/>
              </a:rPr>
              <a:t>Services</a:t>
            </a:r>
            <a:r>
              <a:rPr lang="es-ES" dirty="0">
                <a:latin typeface="Cambria"/>
                <a:ea typeface="Cambria"/>
                <a:cs typeface="Cambria"/>
                <a:sym typeface="Cambria"/>
              </a:rPr>
              <a:t>” que es IIS que nos permitirá levantar el servidor web</a:t>
            </a:r>
            <a:endParaRPr sz="1800" dirty="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3B84A9C4-6D5F-B677-918E-B9A5ADB2BC54}"/>
              </a:ext>
            </a:extLst>
          </p:cNvPr>
          <p:cNvPicPr>
            <a:picLocks noChangeAspect="1"/>
          </p:cNvPicPr>
          <p:nvPr/>
        </p:nvPicPr>
        <p:blipFill>
          <a:blip r:embed="rId3"/>
          <a:stretch>
            <a:fillRect/>
          </a:stretch>
        </p:blipFill>
        <p:spPr>
          <a:xfrm>
            <a:off x="3182001" y="3696868"/>
            <a:ext cx="3387681" cy="30383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192" y="1601262"/>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Para comprobar la activación de IIS, se puede escribir en el navegador “localhost” lo cual nos llevará a la pantalla de internet </a:t>
            </a:r>
            <a:r>
              <a:rPr lang="es-ES" dirty="0" err="1">
                <a:latin typeface="Cambria"/>
                <a:ea typeface="Cambria"/>
                <a:cs typeface="Cambria"/>
                <a:sym typeface="Cambria"/>
              </a:rPr>
              <a:t>information</a:t>
            </a:r>
            <a:r>
              <a:rPr lang="es-ES" dirty="0">
                <a:latin typeface="Cambria"/>
                <a:ea typeface="Cambria"/>
                <a:cs typeface="Cambria"/>
                <a:sym typeface="Cambria"/>
              </a:rPr>
              <a:t> </a:t>
            </a:r>
            <a:r>
              <a:rPr lang="es-ES" dirty="0" err="1">
                <a:latin typeface="Cambria"/>
                <a:ea typeface="Cambria"/>
                <a:cs typeface="Cambria"/>
                <a:sym typeface="Cambria"/>
              </a:rPr>
              <a:t>services</a:t>
            </a:r>
            <a:endParaRPr dirty="0">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5D9F0330-3474-2F7B-1858-70600316D528}"/>
              </a:ext>
            </a:extLst>
          </p:cNvPr>
          <p:cNvPicPr>
            <a:picLocks noChangeAspect="1"/>
          </p:cNvPicPr>
          <p:nvPr/>
        </p:nvPicPr>
        <p:blipFill>
          <a:blip r:embed="rId3"/>
          <a:stretch>
            <a:fillRect/>
          </a:stretch>
        </p:blipFill>
        <p:spPr>
          <a:xfrm>
            <a:off x="1604460" y="2910406"/>
            <a:ext cx="6542780" cy="38092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192" y="1941603"/>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1.2.2 	Creación del Proyecto</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Una vez activado IIS, se debe descargar como herramientas “Windows </a:t>
            </a:r>
            <a:r>
              <a:rPr lang="es-ES" dirty="0" err="1">
                <a:latin typeface="Cambria"/>
                <a:ea typeface="Cambria"/>
                <a:cs typeface="Cambria"/>
                <a:sym typeface="Cambria"/>
              </a:rPr>
              <a:t>Communication</a:t>
            </a:r>
            <a:r>
              <a:rPr lang="es-ES" dirty="0">
                <a:latin typeface="Cambria"/>
                <a:ea typeface="Cambria"/>
                <a:cs typeface="Cambria"/>
                <a:sym typeface="Cambria"/>
              </a:rPr>
              <a:t> </a:t>
            </a:r>
            <a:r>
              <a:rPr lang="es-ES" dirty="0" err="1">
                <a:latin typeface="Cambria"/>
                <a:ea typeface="Cambria"/>
                <a:cs typeface="Cambria"/>
                <a:sym typeface="Cambria"/>
              </a:rPr>
              <a:t>Foundation</a:t>
            </a:r>
            <a:r>
              <a:rPr lang="es-ES" dirty="0">
                <a:latin typeface="Cambria"/>
                <a:ea typeface="Cambria"/>
                <a:cs typeface="Cambria"/>
                <a:sym typeface="Cambria"/>
              </a:rPr>
              <a:t>”</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1EF7A7BB-E00D-CD47-A837-9B4F19F77F3A}"/>
              </a:ext>
            </a:extLst>
          </p:cNvPr>
          <p:cNvPicPr>
            <a:picLocks noChangeAspect="1"/>
          </p:cNvPicPr>
          <p:nvPr/>
        </p:nvPicPr>
        <p:blipFill>
          <a:blip r:embed="rId3"/>
          <a:stretch>
            <a:fillRect/>
          </a:stretch>
        </p:blipFill>
        <p:spPr>
          <a:xfrm>
            <a:off x="2259510" y="3340476"/>
            <a:ext cx="5245161" cy="32939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a:spLocks noGrp="1"/>
          </p:cNvSpPr>
          <p:nvPr>
            <p:ph type="body" idx="1"/>
          </p:nvPr>
        </p:nvSpPr>
        <p:spPr>
          <a:xfrm>
            <a:off x="463956" y="1966545"/>
            <a:ext cx="8744040" cy="1165731"/>
          </a:xfrm>
          <a:prstGeom prst="rect">
            <a:avLst/>
          </a:prstGeom>
          <a:noFill/>
          <a:ln>
            <a:noFill/>
          </a:ln>
        </p:spPr>
        <p:txBody>
          <a:bodyPr spcFirstLastPara="1" wrap="square" lIns="91425" tIns="45700" rIns="91425" bIns="45700" anchor="ctr" anchorCtr="0">
            <a:noAutofit/>
          </a:bodyPr>
          <a:lstStyle/>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Se debe crear un proyecto ASP .NET CORE Web API, que va a ser el proyecto que tendrá el servidor </a:t>
            </a:r>
            <a:r>
              <a:rPr lang="es-ES" dirty="0" err="1">
                <a:latin typeface="Cambria"/>
                <a:ea typeface="Cambria"/>
                <a:cs typeface="Cambria"/>
                <a:sym typeface="Cambria"/>
              </a:rPr>
              <a:t>restful</a:t>
            </a:r>
            <a:r>
              <a:rPr lang="es-ES" dirty="0">
                <a:latin typeface="Cambria"/>
                <a:ea typeface="Cambria"/>
                <a:cs typeface="Cambria"/>
                <a:sym typeface="Cambria"/>
              </a:rPr>
              <a:t>.</a:t>
            </a:r>
            <a:endParaRPr dirty="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DF4B5B7D-3EEE-1A80-28D2-09C866897BFA}"/>
              </a:ext>
            </a:extLst>
          </p:cNvPr>
          <p:cNvPicPr>
            <a:picLocks noChangeAspect="1"/>
          </p:cNvPicPr>
          <p:nvPr/>
        </p:nvPicPr>
        <p:blipFill>
          <a:blip r:embed="rId3"/>
          <a:stretch>
            <a:fillRect/>
          </a:stretch>
        </p:blipFill>
        <p:spPr>
          <a:xfrm>
            <a:off x="1470819" y="3038797"/>
            <a:ext cx="6730314" cy="34409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317589" y="2143663"/>
            <a:ext cx="4557900" cy="38700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77"/>
              <a:buChar char="∙"/>
            </a:pPr>
            <a:r>
              <a:rPr lang="es-ES" b="1" dirty="0">
                <a:latin typeface="Cambria"/>
                <a:ea typeface="Cambria"/>
                <a:cs typeface="Cambria"/>
                <a:sym typeface="Cambria"/>
              </a:rPr>
              <a:t>ESTRUCTURA MVC</a:t>
            </a:r>
            <a:endParaRPr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b="1" dirty="0">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dirty="0">
                <a:latin typeface="Cambria"/>
                <a:ea typeface="Cambria"/>
                <a:cs typeface="Cambria"/>
                <a:sym typeface="Cambria"/>
              </a:rPr>
              <a:t>Aplicando un patrón arquitectónico MVC y configuración de DOTNET para levantar el servidor web</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C6F96972-DE32-69F2-EEA6-C33D842ED0F0}"/>
              </a:ext>
            </a:extLst>
          </p:cNvPr>
          <p:cNvPicPr>
            <a:picLocks noChangeAspect="1"/>
          </p:cNvPicPr>
          <p:nvPr/>
        </p:nvPicPr>
        <p:blipFill>
          <a:blip r:embed="rId3"/>
          <a:stretch>
            <a:fillRect/>
          </a:stretch>
        </p:blipFill>
        <p:spPr>
          <a:xfrm>
            <a:off x="5929152" y="2534176"/>
            <a:ext cx="3101609" cy="3505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a:spLocks noGrp="1"/>
          </p:cNvSpPr>
          <p:nvPr>
            <p:ph type="body" idx="1"/>
          </p:nvPr>
        </p:nvSpPr>
        <p:spPr>
          <a:xfrm>
            <a:off x="581192" y="1755678"/>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1.2.3 	Creación del </a:t>
            </a:r>
            <a:r>
              <a:rPr lang="es-ES" b="1" dirty="0" err="1">
                <a:latin typeface="Cambria"/>
                <a:ea typeface="Cambria"/>
                <a:cs typeface="Cambria"/>
                <a:sym typeface="Cambria"/>
              </a:rPr>
              <a:t>WebService</a:t>
            </a: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Dentro del proyecto se debe crearlos diferentes modelos para poder generar las conversiones y la autenticación</a:t>
            </a:r>
            <a:endParaRPr dirty="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4" name="Picture 3">
            <a:extLst>
              <a:ext uri="{FF2B5EF4-FFF2-40B4-BE49-F238E27FC236}">
                <a16:creationId xmlns:a16="http://schemas.microsoft.com/office/drawing/2014/main" id="{2CD3D115-5407-53B3-FC7F-26C15A3D892F}"/>
              </a:ext>
            </a:extLst>
          </p:cNvPr>
          <p:cNvPicPr>
            <a:picLocks noChangeAspect="1"/>
          </p:cNvPicPr>
          <p:nvPr/>
        </p:nvPicPr>
        <p:blipFill>
          <a:blip r:embed="rId3"/>
          <a:stretch>
            <a:fillRect/>
          </a:stretch>
        </p:blipFill>
        <p:spPr>
          <a:xfrm>
            <a:off x="1963277" y="3228332"/>
            <a:ext cx="6038335" cy="3140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a:spLocks noGrp="1"/>
          </p:cNvSpPr>
          <p:nvPr>
            <p:ph type="body" idx="1"/>
          </p:nvPr>
        </p:nvSpPr>
        <p:spPr>
          <a:xfrm>
            <a:off x="581199" y="2180500"/>
            <a:ext cx="2821028" cy="2961645"/>
          </a:xfrm>
          <a:prstGeom prst="rect">
            <a:avLst/>
          </a:prstGeom>
          <a:noFill/>
          <a:ln>
            <a:noFill/>
          </a:ln>
        </p:spPr>
        <p:txBody>
          <a:bodyPr spcFirstLastPara="1" wrap="square" lIns="91425" tIns="45700" rIns="91425" bIns="45700" anchor="ctr" anchorCtr="0">
            <a:noAutofit/>
          </a:bodyPr>
          <a:lstStyle/>
          <a:p>
            <a:pPr marL="457200" lvl="0" indent="-335090" rtl="0">
              <a:lnSpc>
                <a:spcPct val="107000"/>
              </a:lnSpc>
              <a:spcBef>
                <a:spcPts val="0"/>
              </a:spcBef>
              <a:spcAft>
                <a:spcPts val="0"/>
              </a:spcAft>
              <a:buSzPts val="1677"/>
              <a:buFont typeface="Cambria"/>
              <a:buChar char="∙"/>
            </a:pPr>
            <a:r>
              <a:rPr lang="es-ES" sz="1400" b="1" dirty="0">
                <a:latin typeface="Cambria"/>
                <a:ea typeface="Cambria"/>
                <a:cs typeface="Cambria"/>
                <a:sym typeface="Cambria"/>
              </a:rPr>
              <a:t>Se codifica el </a:t>
            </a:r>
            <a:r>
              <a:rPr lang="es-ES" sz="1400" b="1" dirty="0" err="1">
                <a:latin typeface="Cambria"/>
                <a:ea typeface="Cambria"/>
                <a:cs typeface="Cambria"/>
                <a:sym typeface="Cambria"/>
              </a:rPr>
              <a:t>webservice</a:t>
            </a:r>
            <a:r>
              <a:rPr lang="es-ES" sz="1400" b="1" dirty="0">
                <a:latin typeface="Cambria"/>
                <a:ea typeface="Cambria"/>
                <a:cs typeface="Cambria"/>
                <a:sym typeface="Cambria"/>
              </a:rPr>
              <a:t> bajo los siguientes lineamientos</a:t>
            </a:r>
            <a:endParaRPr sz="1400" b="1"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1.	Se deja preparado algunos modelos para poder implementar una respuesta </a:t>
            </a:r>
            <a:r>
              <a:rPr lang="es-ES" sz="1400" dirty="0" err="1">
                <a:latin typeface="Cambria"/>
                <a:ea typeface="Cambria"/>
                <a:cs typeface="Cambria"/>
                <a:sym typeface="Cambria"/>
              </a:rPr>
              <a:t>restful</a:t>
            </a:r>
            <a:endParaRPr sz="1400" dirty="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82" name="Google Shape;182;p23"/>
          <p:cNvGraphicFramePr/>
          <p:nvPr>
            <p:extLst>
              <p:ext uri="{D42A27DB-BD31-4B8C-83A1-F6EECF244321}">
                <p14:modId xmlns:p14="http://schemas.microsoft.com/office/powerpoint/2010/main" val="3815338935"/>
              </p:ext>
            </p:extLst>
          </p:nvPr>
        </p:nvGraphicFramePr>
        <p:xfrm>
          <a:off x="3615279" y="2835825"/>
          <a:ext cx="5400050" cy="197104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sealed</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RespuestaConversion</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 &lt;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&gt;Resultado de la conversión.&lt;/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ValorConvertido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get</a:t>
                      </a:r>
                      <a:r>
                        <a:rPr lang="es-ES" sz="1100" dirty="0">
                          <a:solidFill>
                            <a:srgbClr val="4F81BD"/>
                          </a:solidFill>
                          <a:latin typeface="Calibri"/>
                          <a:ea typeface="Calibri"/>
                          <a:cs typeface="Calibri"/>
                          <a:sym typeface="Calibri"/>
                        </a:rPr>
                        <a:t>; set;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 &lt;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&gt;Unidad de origen recibida en la solicitud.&lt;/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UnidadOrigen</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get</a:t>
                      </a:r>
                      <a:r>
                        <a:rPr lang="es-ES" sz="1100" dirty="0">
                          <a:solidFill>
                            <a:srgbClr val="4F81BD"/>
                          </a:solidFill>
                          <a:latin typeface="Calibri"/>
                          <a:ea typeface="Calibri"/>
                          <a:cs typeface="Calibri"/>
                          <a:sym typeface="Calibri"/>
                        </a:rPr>
                        <a:t>; set; } = </a:t>
                      </a:r>
                      <a:r>
                        <a:rPr lang="es-ES" sz="1100" dirty="0" err="1">
                          <a:solidFill>
                            <a:srgbClr val="4F81BD"/>
                          </a:solidFill>
                          <a:latin typeface="Calibri"/>
                          <a:ea typeface="Calibri"/>
                          <a:cs typeface="Calibri"/>
                          <a:sym typeface="Calibri"/>
                        </a:rPr>
                        <a:t>string.Empty</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 &lt;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&gt;Unidad de destino recibida en la solicitud.&lt;/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UnidadDestino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get</a:t>
                      </a:r>
                      <a:r>
                        <a:rPr lang="es-ES" sz="1100" dirty="0">
                          <a:solidFill>
                            <a:srgbClr val="4F81BD"/>
                          </a:solidFill>
                          <a:latin typeface="Calibri"/>
                          <a:ea typeface="Calibri"/>
                          <a:cs typeface="Calibri"/>
                          <a:sym typeface="Calibri"/>
                        </a:rPr>
                        <a:t>; set; } = </a:t>
                      </a:r>
                      <a:r>
                        <a:rPr lang="es-ES" sz="1100" dirty="0" err="1">
                          <a:solidFill>
                            <a:srgbClr val="4F81BD"/>
                          </a:solidFill>
                          <a:latin typeface="Calibri"/>
                          <a:ea typeface="Calibri"/>
                          <a:cs typeface="Calibri"/>
                          <a:sym typeface="Calibri"/>
                        </a:rPr>
                        <a:t>string.Empty</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a:spLocks noGrp="1"/>
          </p:cNvSpPr>
          <p:nvPr>
            <p:ph type="body" idx="1"/>
          </p:nvPr>
        </p:nvSpPr>
        <p:spPr>
          <a:xfrm>
            <a:off x="440100" y="2299082"/>
            <a:ext cx="3120251" cy="1987846"/>
          </a:xfrm>
          <a:prstGeom prst="rect">
            <a:avLst/>
          </a:prstGeom>
          <a:noFill/>
          <a:ln>
            <a:noFill/>
          </a:ln>
        </p:spPr>
        <p:txBody>
          <a:bodyPr spcFirstLastPara="1" wrap="square" lIns="91425" tIns="45700" rIns="91425" bIns="45700" anchor="ctr" anchorCtr="0">
            <a:normAutofit/>
          </a:bodyPr>
          <a:lstStyle/>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2.	Se configura el </a:t>
            </a:r>
            <a:r>
              <a:rPr lang="es-ES" sz="1400" dirty="0" err="1">
                <a:latin typeface="Cambria"/>
                <a:ea typeface="Cambria"/>
                <a:cs typeface="Cambria"/>
                <a:sym typeface="Cambria"/>
              </a:rPr>
              <a:t>endpoint</a:t>
            </a:r>
            <a:r>
              <a:rPr lang="es-ES" sz="1400" dirty="0">
                <a:latin typeface="Cambria"/>
                <a:ea typeface="Cambria"/>
                <a:cs typeface="Cambria"/>
                <a:sym typeface="Cambria"/>
              </a:rPr>
              <a:t> de nuestro servicio web.</a:t>
            </a:r>
            <a:endParaRPr sz="1400"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3.	Se crean los atributos respectivos.</a:t>
            </a:r>
            <a:endParaRPr sz="1400" b="1" dirty="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0" name="Google Shape;190;p24"/>
          <p:cNvGraphicFramePr/>
          <p:nvPr>
            <p:extLst>
              <p:ext uri="{D42A27DB-BD31-4B8C-83A1-F6EECF244321}">
                <p14:modId xmlns:p14="http://schemas.microsoft.com/office/powerpoint/2010/main" val="2264425240"/>
              </p:ext>
            </p:extLst>
          </p:nvPr>
        </p:nvGraphicFramePr>
        <p:xfrm>
          <a:off x="3709687" y="1960288"/>
          <a:ext cx="5400050" cy="498856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Route</a:t>
                      </a:r>
                      <a:r>
                        <a:rPr lang="es-ES" sz="1100" dirty="0">
                          <a:solidFill>
                            <a:srgbClr val="4F81BD"/>
                          </a:solidFill>
                          <a:latin typeface="Calibri"/>
                          <a:ea typeface="Calibri"/>
                          <a:cs typeface="Calibri"/>
                          <a:sym typeface="Calibri"/>
                        </a:rPr>
                        <a:t>("api/</a:t>
                      </a:r>
                      <a:r>
                        <a:rPr lang="es-ES" sz="1100" dirty="0" err="1">
                          <a:solidFill>
                            <a:srgbClr val="4F81BD"/>
                          </a:solidFill>
                          <a:latin typeface="Calibri"/>
                          <a:ea typeface="Calibri"/>
                          <a:cs typeface="Calibri"/>
                          <a:sym typeface="Calibri"/>
                        </a:rPr>
                        <a:t>autenticacion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ApiController</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AllowAnonymous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sealed</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ControladorAutenticacion</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ControllerBase</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readonly</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ServicioAutenticacion</a:t>
                      </a:r>
                      <a:r>
                        <a:rPr lang="es-ES" sz="1100" dirty="0">
                          <a:solidFill>
                            <a:srgbClr val="4F81BD"/>
                          </a:solidFill>
                          <a:latin typeface="Calibri"/>
                          <a:ea typeface="Calibri"/>
                          <a:cs typeface="Calibri"/>
                          <a:sym typeface="Calibri"/>
                        </a:rPr>
                        <a:t> _</a:t>
                      </a:r>
                      <a:r>
                        <a:rPr lang="es-ES" sz="1100" dirty="0" err="1">
                          <a:solidFill>
                            <a:srgbClr val="4F81BD"/>
                          </a:solidFill>
                          <a:latin typeface="Calibri"/>
                          <a:ea typeface="Calibri"/>
                          <a:cs typeface="Calibri"/>
                          <a:sym typeface="Calibri"/>
                        </a:rPr>
                        <a:t>servicioAutenticacion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ControladorAutenticacion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ServicioAutenticacion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servicioAutenticacion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_</a:t>
                      </a:r>
                      <a:r>
                        <a:rPr lang="es-ES" sz="1100" dirty="0" err="1">
                          <a:solidFill>
                            <a:srgbClr val="4F81BD"/>
                          </a:solidFill>
                          <a:latin typeface="Calibri"/>
                          <a:ea typeface="Calibri"/>
                          <a:cs typeface="Calibri"/>
                          <a:sym typeface="Calibri"/>
                        </a:rPr>
                        <a:t>servicioAutenticacion</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servicioAutenticacion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 &lt;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&gt;POST /api/</a:t>
                      </a:r>
                      <a:r>
                        <a:rPr lang="es-ES" sz="1100" dirty="0" err="1">
                          <a:solidFill>
                            <a:srgbClr val="4F81BD"/>
                          </a:solidFill>
                          <a:latin typeface="Calibri"/>
                          <a:ea typeface="Calibri"/>
                          <a:cs typeface="Calibri"/>
                          <a:sym typeface="Calibri"/>
                        </a:rPr>
                        <a:t>autenticacion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login</a:t>
                      </a:r>
                      <a:r>
                        <a:rPr lang="es-ES" sz="1100" dirty="0">
                          <a:solidFill>
                            <a:srgbClr val="4F81BD"/>
                          </a:solidFill>
                          <a:latin typeface="Calibri"/>
                          <a:ea typeface="Calibri"/>
                          <a:cs typeface="Calibri"/>
                          <a:sym typeface="Calibri"/>
                        </a:rPr>
                        <a:t>&lt;/</a:t>
                      </a:r>
                      <a:r>
                        <a:rPr lang="es-ES" sz="1100" dirty="0" err="1">
                          <a:solidFill>
                            <a:srgbClr val="4F81BD"/>
                          </a:solidFill>
                          <a:latin typeface="Calibri"/>
                          <a:ea typeface="Calibri"/>
                          <a:cs typeface="Calibri"/>
                          <a:sym typeface="Calibri"/>
                        </a:rPr>
                        <a:t>summary</a:t>
                      </a:r>
                      <a:r>
                        <a:rPr lang="es-ES" sz="11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HttpPost</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login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ProducesResponseType</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typeof</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RespuestaLogin</a:t>
                      </a:r>
                      <a:r>
                        <a:rPr lang="es-ES" sz="1100" dirty="0">
                          <a:solidFill>
                            <a:srgbClr val="4F81BD"/>
                          </a:solidFill>
                          <a:latin typeface="Calibri"/>
                          <a:ea typeface="Calibri"/>
                          <a:cs typeface="Calibri"/>
                          <a:sym typeface="Calibri"/>
                        </a:rPr>
                        <a:t>), StatusCodes.Status200OK)]</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ProducesResponseType</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typeof</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RespuestaError</a:t>
                      </a:r>
                      <a:r>
                        <a:rPr lang="es-ES" sz="1100" dirty="0">
                          <a:solidFill>
                            <a:srgbClr val="4F81BD"/>
                          </a:solidFill>
                          <a:latin typeface="Calibri"/>
                          <a:ea typeface="Calibri"/>
                          <a:cs typeface="Calibri"/>
                          <a:sym typeface="Calibri"/>
                        </a:rPr>
                        <a:t>), StatusCodes.Status400BadRequest)]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ProducesResponseType</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typeof</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RespuestaError</a:t>
                      </a:r>
                      <a:r>
                        <a:rPr lang="es-ES" sz="1100" dirty="0">
                          <a:solidFill>
                            <a:srgbClr val="4F81BD"/>
                          </a:solidFill>
                          <a:latin typeface="Calibri"/>
                          <a:ea typeface="Calibri"/>
                          <a:cs typeface="Calibri"/>
                          <a:sym typeface="Calibri"/>
                        </a:rPr>
                        <a:t>), StatusCodes.Status401Unauthorized)]</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IActionResult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IniciarSesion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FromBody</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SolicitudLogin</a:t>
                      </a:r>
                      <a:r>
                        <a:rPr lang="es-ES" sz="1100" dirty="0">
                          <a:solidFill>
                            <a:srgbClr val="4F81BD"/>
                          </a:solidFill>
                          <a:latin typeface="Calibri"/>
                          <a:ea typeface="Calibri"/>
                          <a:cs typeface="Calibri"/>
                          <a:sym typeface="Calibri"/>
                        </a:rPr>
                        <a:t> solicitud)</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var</a:t>
                      </a:r>
                      <a:r>
                        <a:rPr lang="es-ES" sz="1100" dirty="0">
                          <a:solidFill>
                            <a:srgbClr val="4F81BD"/>
                          </a:solidFill>
                          <a:latin typeface="Calibri"/>
                          <a:ea typeface="Calibri"/>
                          <a:cs typeface="Calibri"/>
                          <a:sym typeface="Calibri"/>
                        </a:rPr>
                        <a:t> resultado = _</a:t>
                      </a:r>
                      <a:r>
                        <a:rPr lang="es-ES" sz="1100" dirty="0" err="1">
                          <a:solidFill>
                            <a:srgbClr val="4F81BD"/>
                          </a:solidFill>
                          <a:latin typeface="Calibri"/>
                          <a:ea typeface="Calibri"/>
                          <a:cs typeface="Calibri"/>
                          <a:sym typeface="Calibri"/>
                        </a:rPr>
                        <a:t>servicioAutenticacion.IniciarSesion</a:t>
                      </a:r>
                      <a:r>
                        <a:rPr lang="es-ES" sz="1100" dirty="0">
                          <a:solidFill>
                            <a:srgbClr val="4F81BD"/>
                          </a:solidFill>
                          <a:latin typeface="Calibri"/>
                          <a:ea typeface="Calibri"/>
                          <a:cs typeface="Calibri"/>
                          <a:sym typeface="Calibri"/>
                        </a:rPr>
                        <a:t>(solicitud ?? new </a:t>
                      </a:r>
                      <a:r>
                        <a:rPr lang="es-ES" sz="1100" dirty="0" err="1">
                          <a:solidFill>
                            <a:srgbClr val="4F81BD"/>
                          </a:solidFill>
                          <a:latin typeface="Calibri"/>
                          <a:ea typeface="Calibri"/>
                          <a:cs typeface="Calibri"/>
                          <a:sym typeface="Calibri"/>
                        </a:rPr>
                        <a:t>SolicitudLogin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resultado.Exitoso</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StatusCode</a:t>
                      </a:r>
                      <a:r>
                        <a:rPr lang="es-ES" sz="1100" dirty="0">
                          <a:solidFill>
                            <a:srgbClr val="4F81BD"/>
                          </a:solidFill>
                          <a:latin typeface="Calibri"/>
                          <a:ea typeface="Calibri"/>
                          <a:cs typeface="Calibri"/>
                          <a:sym typeface="Calibri"/>
                        </a:rPr>
                        <a:t>(resultado.Error!.</a:t>
                      </a:r>
                      <a:r>
                        <a:rPr lang="es-ES" sz="1100" dirty="0" err="1">
                          <a:solidFill>
                            <a:srgbClr val="4F81BD"/>
                          </a:solidFill>
                          <a:latin typeface="Calibri"/>
                          <a:ea typeface="Calibri"/>
                          <a:cs typeface="Calibri"/>
                          <a:sym typeface="Calibri"/>
                        </a:rPr>
                        <a:t>Codigo</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resultado.Error</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Ok(</a:t>
                      </a:r>
                      <a:r>
                        <a:rPr lang="es-ES" sz="1100" dirty="0" err="1">
                          <a:solidFill>
                            <a:srgbClr val="4F81BD"/>
                          </a:solidFill>
                          <a:latin typeface="Calibri"/>
                          <a:ea typeface="Calibri"/>
                          <a:cs typeface="Calibri"/>
                          <a:sym typeface="Calibri"/>
                        </a:rPr>
                        <a:t>resultado.Valor</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400" dirty="0">
                <a:latin typeface="Cambria"/>
                <a:ea typeface="Cambria"/>
                <a:cs typeface="Cambria"/>
                <a:sym typeface="Cambria"/>
              </a:rPr>
              <a:t>4. Se crean los métodos respectivos, incluyendo el de autenticación</a:t>
            </a:r>
            <a:endParaRPr sz="1400" b="1" dirty="0">
              <a:latin typeface="Cambria"/>
              <a:ea typeface="Cambria"/>
              <a:cs typeface="Cambria"/>
              <a:sym typeface="Cambria"/>
            </a:endParaRPr>
          </a:p>
          <a:p>
            <a:pPr marL="0" lvl="0" indent="0" algn="just" rtl="0">
              <a:lnSpc>
                <a:spcPct val="107000"/>
              </a:lnSpc>
              <a:spcBef>
                <a:spcPts val="0"/>
              </a:spcBef>
              <a:spcAft>
                <a:spcPts val="0"/>
              </a:spcAft>
              <a:buSzPts val="1656"/>
              <a:buNone/>
            </a:pPr>
            <a:endParaRPr sz="1400"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400"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400" dirty="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9" name="Google Shape;199;p25"/>
          <p:cNvGraphicFramePr/>
          <p:nvPr>
            <p:extLst>
              <p:ext uri="{D42A27DB-BD31-4B8C-83A1-F6EECF244321}">
                <p14:modId xmlns:p14="http://schemas.microsoft.com/office/powerpoint/2010/main" val="336756300"/>
              </p:ext>
            </p:extLst>
          </p:nvPr>
        </p:nvGraphicFramePr>
        <p:xfrm>
          <a:off x="3359983" y="2274330"/>
          <a:ext cx="5647030" cy="4150360"/>
        </p:xfrm>
        <a:graphic>
          <a:graphicData uri="http://schemas.openxmlformats.org/drawingml/2006/table">
            <a:tbl>
              <a:tblPr>
                <a:noFill/>
                <a:tableStyleId>{BF136021-7255-42B7-A7E7-87A8D8FFE9CA}</a:tableStyleId>
              </a:tblPr>
              <a:tblGrid>
                <a:gridCol w="5647030">
                  <a:extLst>
                    <a:ext uri="{9D8B030D-6E8A-4147-A177-3AD203B41FA5}">
                      <a16:colId xmlns:a16="http://schemas.microsoft.com/office/drawing/2014/main" val="20000"/>
                    </a:ext>
                  </a:extLst>
                </a:gridCol>
              </a:tblGrid>
              <a:tr h="2207054">
                <a:tc>
                  <a:txBody>
                    <a:bodyPr/>
                    <a:lstStyle/>
                    <a:p>
                      <a:pPr marL="0" lvl="0" indent="0" algn="l" rtl="0">
                        <a:spcBef>
                          <a:spcPts val="0"/>
                        </a:spcBef>
                        <a:spcAft>
                          <a:spcPts val="0"/>
                        </a:spcAft>
                        <a:buNone/>
                      </a:pP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ResultadoServicio</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RespuestaLogin</a:t>
                      </a:r>
                      <a:r>
                        <a:rPr lang="es-ES" sz="800" dirty="0">
                          <a:solidFill>
                            <a:srgbClr val="4F81BD"/>
                          </a:solidFill>
                          <a:latin typeface="Calibri"/>
                          <a:ea typeface="Calibri"/>
                          <a:cs typeface="Calibri"/>
                          <a:sym typeface="Calibri"/>
                        </a:rPr>
                        <a:t>&gt; </a:t>
                      </a:r>
                      <a:r>
                        <a:rPr lang="es-ES" sz="800" dirty="0" err="1">
                          <a:solidFill>
                            <a:srgbClr val="4F81BD"/>
                          </a:solidFill>
                          <a:latin typeface="Calibri"/>
                          <a:ea typeface="Calibri"/>
                          <a:cs typeface="Calibri"/>
                          <a:sym typeface="Calibri"/>
                        </a:rPr>
                        <a:t>IniciarSesion</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SolicitudLogin</a:t>
                      </a:r>
                      <a:r>
                        <a:rPr lang="es-ES" sz="800" dirty="0">
                          <a:solidFill>
                            <a:srgbClr val="4F81BD"/>
                          </a:solidFill>
                          <a:latin typeface="Calibri"/>
                          <a:ea typeface="Calibri"/>
                          <a:cs typeface="Calibri"/>
                          <a:sym typeface="Calibri"/>
                        </a:rPr>
                        <a:t> solicitud)</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string.IsNullOrWhiteSpace</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solicitud.Usuario</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string.IsNullOrWhiteSpace</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solicitud.Contrasena</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ResultadoServicio</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RespuestaLogin</a:t>
                      </a:r>
                      <a:r>
                        <a:rPr lang="es-ES" sz="800" dirty="0">
                          <a:solidFill>
                            <a:srgbClr val="4F81BD"/>
                          </a:solidFill>
                          <a:latin typeface="Calibri"/>
                          <a:ea typeface="Calibri"/>
                          <a:cs typeface="Calibri"/>
                          <a:sym typeface="Calibri"/>
                        </a:rPr>
                        <a:t>&gt;.</a:t>
                      </a:r>
                      <a:r>
                        <a:rPr lang="es-ES" sz="800" dirty="0" err="1">
                          <a:solidFill>
                            <a:srgbClr val="4F81BD"/>
                          </a:solidFill>
                          <a:latin typeface="Calibri"/>
                          <a:ea typeface="Calibri"/>
                          <a:cs typeface="Calibri"/>
                          <a:sym typeface="Calibri"/>
                        </a:rPr>
                        <a:t>ConError</a:t>
                      </a:r>
                      <a:r>
                        <a:rPr lang="es-ES" sz="800" dirty="0">
                          <a:solidFill>
                            <a:srgbClr val="4F81BD"/>
                          </a:solidFill>
                          <a:latin typeface="Calibri"/>
                          <a:ea typeface="Calibri"/>
                          <a:cs typeface="Calibri"/>
                          <a:sym typeface="Calibri"/>
                        </a:rPr>
                        <a:t>(new </a:t>
                      </a:r>
                      <a:r>
                        <a:rPr lang="es-ES" sz="800" dirty="0" err="1">
                          <a:solidFill>
                            <a:srgbClr val="4F81BD"/>
                          </a:solidFill>
                          <a:latin typeface="Calibri"/>
                          <a:ea typeface="Calibri"/>
                          <a:cs typeface="Calibri"/>
                          <a:sym typeface="Calibri"/>
                        </a:rPr>
                        <a:t>RespuestaError</a:t>
                      </a: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Codigo</a:t>
                      </a:r>
                      <a:r>
                        <a:rPr lang="es-ES" sz="800" dirty="0">
                          <a:solidFill>
                            <a:srgbClr val="4F81BD"/>
                          </a:solidFill>
                          <a:latin typeface="Calibri"/>
                          <a:ea typeface="Calibri"/>
                          <a:cs typeface="Calibri"/>
                          <a:sym typeface="Calibri"/>
                        </a:rPr>
                        <a:t> = 400,</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Mensaje = "El usuario y la contraseña son obligatorios.",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Detalle = "Los campos 'usuario' y '</a:t>
                      </a:r>
                      <a:r>
                        <a:rPr lang="es-ES" sz="800" dirty="0" err="1">
                          <a:solidFill>
                            <a:srgbClr val="4F81BD"/>
                          </a:solidFill>
                          <a:latin typeface="Calibri"/>
                          <a:ea typeface="Calibri"/>
                          <a:cs typeface="Calibri"/>
                          <a:sym typeface="Calibri"/>
                        </a:rPr>
                        <a:t>contrasena</a:t>
                      </a:r>
                      <a:r>
                        <a:rPr lang="es-ES" sz="800" dirty="0">
                          <a:solidFill>
                            <a:srgbClr val="4F81BD"/>
                          </a:solidFill>
                          <a:latin typeface="Calibri"/>
                          <a:ea typeface="Calibri"/>
                          <a:cs typeface="Calibri"/>
                          <a:sym typeface="Calibri"/>
                        </a:rPr>
                        <a:t>' no pueden estar vacíos."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var</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usuarioDemo</a:t>
                      </a:r>
                      <a:r>
                        <a:rPr lang="es-ES" sz="800" dirty="0">
                          <a:solidFill>
                            <a:srgbClr val="4F81BD"/>
                          </a:solidFill>
                          <a:latin typeface="Calibri"/>
                          <a:ea typeface="Calibri"/>
                          <a:cs typeface="Calibri"/>
                          <a:sym typeface="Calibri"/>
                        </a:rPr>
                        <a:t> = _</a:t>
                      </a:r>
                      <a:r>
                        <a:rPr lang="es-ES" sz="800" dirty="0" err="1">
                          <a:solidFill>
                            <a:srgbClr val="4F81BD"/>
                          </a:solidFill>
                          <a:latin typeface="Calibri"/>
                          <a:ea typeface="Calibri"/>
                          <a:cs typeface="Calibri"/>
                          <a:sym typeface="Calibri"/>
                        </a:rPr>
                        <a:t>configuracion</a:t>
                      </a:r>
                      <a:r>
                        <a:rPr lang="es-ES" sz="800" dirty="0">
                          <a:solidFill>
                            <a:srgbClr val="4F81BD"/>
                          </a:solidFill>
                          <a:latin typeface="Calibri"/>
                          <a:ea typeface="Calibri"/>
                          <a:cs typeface="Calibri"/>
                          <a:sym typeface="Calibri"/>
                        </a:rPr>
                        <a:t>["USUARIO_DEMO"];</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var</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contrasenaDemo</a:t>
                      </a:r>
                      <a:r>
                        <a:rPr lang="es-ES" sz="800" dirty="0">
                          <a:solidFill>
                            <a:srgbClr val="4F81BD"/>
                          </a:solidFill>
                          <a:latin typeface="Calibri"/>
                          <a:ea typeface="Calibri"/>
                          <a:cs typeface="Calibri"/>
                          <a:sym typeface="Calibri"/>
                        </a:rPr>
                        <a:t> = _</a:t>
                      </a:r>
                      <a:r>
                        <a:rPr lang="es-ES" sz="800" dirty="0" err="1">
                          <a:solidFill>
                            <a:srgbClr val="4F81BD"/>
                          </a:solidFill>
                          <a:latin typeface="Calibri"/>
                          <a:ea typeface="Calibri"/>
                          <a:cs typeface="Calibri"/>
                          <a:sym typeface="Calibri"/>
                        </a:rPr>
                        <a:t>configuracion</a:t>
                      </a:r>
                      <a:r>
                        <a:rPr lang="es-ES" sz="800" dirty="0">
                          <a:solidFill>
                            <a:srgbClr val="4F81BD"/>
                          </a:solidFill>
                          <a:latin typeface="Calibri"/>
                          <a:ea typeface="Calibri"/>
                          <a:cs typeface="Calibri"/>
                          <a:sym typeface="Calibri"/>
                        </a:rPr>
                        <a:t>["CONTRASENA_DEMO"];</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var</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credencialesCorrectas</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string.IsNullOrWhiteSpace</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usuarioDemo</a:t>
                      </a:r>
                      <a:r>
                        <a:rPr lang="es-ES" sz="800" dirty="0">
                          <a:solidFill>
                            <a:srgbClr val="4F81BD"/>
                          </a:solidFill>
                          <a:latin typeface="Calibri"/>
                          <a:ea typeface="Calibri"/>
                          <a:cs typeface="Calibri"/>
                          <a:sym typeface="Calibri"/>
                        </a:rPr>
                        <a:t>) &amp;&amp;</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string.IsNullOrWhiteSpace</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contrasenaDemo</a:t>
                      </a:r>
                      <a:r>
                        <a:rPr lang="es-ES" sz="800" dirty="0">
                          <a:solidFill>
                            <a:srgbClr val="4F81BD"/>
                          </a:solidFill>
                          <a:latin typeface="Calibri"/>
                          <a:ea typeface="Calibri"/>
                          <a:cs typeface="Calibri"/>
                          <a:sym typeface="Calibri"/>
                        </a:rPr>
                        <a:t>) &amp;&amp;</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string.Equals</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solicitud.Usuario.Trim</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usuarioDemo</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StringComparison.Ordinal</a:t>
                      </a:r>
                      <a:r>
                        <a:rPr lang="es-ES" sz="800" dirty="0">
                          <a:solidFill>
                            <a:srgbClr val="4F81BD"/>
                          </a:solidFill>
                          <a:latin typeface="Calibri"/>
                          <a:ea typeface="Calibri"/>
                          <a:cs typeface="Calibri"/>
                          <a:sym typeface="Calibri"/>
                        </a:rPr>
                        <a:t>) &amp;&amp;</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string.Equals</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solicitud.Contrasena</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contrasenaDemo</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StringComparison.Ordinal</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credencialesCorrectas</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ResultadoServicio</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RespuestaLogin</a:t>
                      </a:r>
                      <a:r>
                        <a:rPr lang="es-ES" sz="800" dirty="0">
                          <a:solidFill>
                            <a:srgbClr val="4F81BD"/>
                          </a:solidFill>
                          <a:latin typeface="Calibri"/>
                          <a:ea typeface="Calibri"/>
                          <a:cs typeface="Calibri"/>
                          <a:sym typeface="Calibri"/>
                        </a:rPr>
                        <a:t>&gt;.</a:t>
                      </a:r>
                      <a:r>
                        <a:rPr lang="es-ES" sz="800" dirty="0" err="1">
                          <a:solidFill>
                            <a:srgbClr val="4F81BD"/>
                          </a:solidFill>
                          <a:latin typeface="Calibri"/>
                          <a:ea typeface="Calibri"/>
                          <a:cs typeface="Calibri"/>
                          <a:sym typeface="Calibri"/>
                        </a:rPr>
                        <a:t>ConError</a:t>
                      </a:r>
                      <a:r>
                        <a:rPr lang="es-ES" sz="800" dirty="0">
                          <a:solidFill>
                            <a:srgbClr val="4F81BD"/>
                          </a:solidFill>
                          <a:latin typeface="Calibri"/>
                          <a:ea typeface="Calibri"/>
                          <a:cs typeface="Calibri"/>
                          <a:sym typeface="Calibri"/>
                        </a:rPr>
                        <a:t>(new </a:t>
                      </a:r>
                      <a:r>
                        <a:rPr lang="es-ES" sz="800" dirty="0" err="1">
                          <a:solidFill>
                            <a:srgbClr val="4F81BD"/>
                          </a:solidFill>
                          <a:latin typeface="Calibri"/>
                          <a:ea typeface="Calibri"/>
                          <a:cs typeface="Calibri"/>
                          <a:sym typeface="Calibri"/>
                        </a:rPr>
                        <a:t>RespuestaError</a:t>
                      </a: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Codigo</a:t>
                      </a:r>
                      <a:r>
                        <a:rPr lang="es-ES" sz="800" dirty="0">
                          <a:solidFill>
                            <a:srgbClr val="4F81BD"/>
                          </a:solidFill>
                          <a:latin typeface="Calibri"/>
                          <a:ea typeface="Calibri"/>
                          <a:cs typeface="Calibri"/>
                          <a:sym typeface="Calibri"/>
                        </a:rPr>
                        <a:t> = 401,</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Mensaje = "Usuario o contraseña incorrectos.",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Detalle = "Las credenciales enviadas no coinciden con las registradas."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3367215296"/>
              </p:ext>
            </p:extLst>
          </p:nvPr>
        </p:nvGraphicFramePr>
        <p:xfrm>
          <a:off x="3424388" y="2940926"/>
          <a:ext cx="5518221" cy="2125344"/>
        </p:xfrm>
        <a:graphic>
          <a:graphicData uri="http://schemas.openxmlformats.org/drawingml/2006/table">
            <a:tbl>
              <a:tblPr>
                <a:noFill/>
                <a:tableStyleId>{BF136021-7255-42B7-A7E7-87A8D8FFE9CA}</a:tableStyleId>
              </a:tblPr>
              <a:tblGrid>
                <a:gridCol w="5518221">
                  <a:extLst>
                    <a:ext uri="{9D8B030D-6E8A-4147-A177-3AD203B41FA5}">
                      <a16:colId xmlns:a16="http://schemas.microsoft.com/office/drawing/2014/main" val="20000"/>
                    </a:ext>
                  </a:extLst>
                </a:gridCol>
              </a:tblGrid>
              <a:tr h="2125344">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sealed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SolicitudConversion</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&gt;Valor numérico a convertir.&lt;/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set;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&gt;Unidad de origen (nombre del </a:t>
                      </a:r>
                      <a:r>
                        <a:rPr lang="es-ES" sz="1000" dirty="0" err="1">
                          <a:solidFill>
                            <a:srgbClr val="4F81BD"/>
                          </a:solidFill>
                          <a:latin typeface="Calibri"/>
                          <a:ea typeface="Calibri"/>
                          <a:cs typeface="Calibri"/>
                          <a:sym typeface="Calibri"/>
                        </a:rPr>
                        <a:t>enum</a:t>
                      </a:r>
                      <a:r>
                        <a:rPr lang="es-ES" sz="1000" dirty="0">
                          <a:solidFill>
                            <a:srgbClr val="4F81BD"/>
                          </a:solidFill>
                          <a:latin typeface="Calibri"/>
                          <a:ea typeface="Calibri"/>
                          <a:cs typeface="Calibri"/>
                          <a:sym typeface="Calibri"/>
                        </a:rPr>
                        <a:t>, sin distinción de mayúsculas/minúsculas).&lt;/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set;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&gt;Unidad de destino (nombre del </a:t>
                      </a:r>
                      <a:r>
                        <a:rPr lang="es-ES" sz="1000" dirty="0" err="1">
                          <a:solidFill>
                            <a:srgbClr val="4F81BD"/>
                          </a:solidFill>
                          <a:latin typeface="Calibri"/>
                          <a:ea typeface="Calibri"/>
                          <a:cs typeface="Calibri"/>
                          <a:sym typeface="Calibri"/>
                        </a:rPr>
                        <a:t>enum</a:t>
                      </a:r>
                      <a:r>
                        <a:rPr lang="es-ES" sz="1000" dirty="0">
                          <a:solidFill>
                            <a:srgbClr val="4F81BD"/>
                          </a:solidFill>
                          <a:latin typeface="Calibri"/>
                          <a:ea typeface="Calibri"/>
                          <a:cs typeface="Calibri"/>
                          <a:sym typeface="Calibri"/>
                        </a:rPr>
                        <a:t>, sin distinción de mayúsculas/minúsculas).&lt;/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set;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A620FEAD-21BF-7EC6-9E29-05FBB08593F8}"/>
            </a:ext>
          </a:extLst>
        </p:cNvPr>
        <p:cNvGrpSpPr/>
        <p:nvPr/>
      </p:nvGrpSpPr>
      <p:grpSpPr>
        <a:xfrm>
          <a:off x="0" y="0"/>
          <a:ext cx="0" cy="0"/>
          <a:chOff x="0" y="0"/>
          <a:chExt cx="0" cy="0"/>
        </a:xfrm>
      </p:grpSpPr>
      <p:graphicFrame>
        <p:nvGraphicFramePr>
          <p:cNvPr id="204" name="Google Shape;204;p26">
            <a:extLst>
              <a:ext uri="{FF2B5EF4-FFF2-40B4-BE49-F238E27FC236}">
                <a16:creationId xmlns:a16="http://schemas.microsoft.com/office/drawing/2014/main" id="{EF4A4FF5-7F25-57CB-FAD5-6B4E3B511076}"/>
              </a:ext>
            </a:extLst>
          </p:cNvPr>
          <p:cNvGraphicFramePr/>
          <p:nvPr>
            <p:extLst>
              <p:ext uri="{D42A27DB-BD31-4B8C-83A1-F6EECF244321}">
                <p14:modId xmlns:p14="http://schemas.microsoft.com/office/powerpoint/2010/main" val="3182369373"/>
              </p:ext>
            </p:extLst>
          </p:nvPr>
        </p:nvGraphicFramePr>
        <p:xfrm>
          <a:off x="3622992" y="2919710"/>
          <a:ext cx="5422153" cy="3022600"/>
        </p:xfrm>
        <a:graphic>
          <a:graphicData uri="http://schemas.openxmlformats.org/drawingml/2006/table">
            <a:tbl>
              <a:tblPr>
                <a:noFill/>
                <a:tableStyleId>{BF136021-7255-42B7-A7E7-87A8D8FFE9CA}</a:tableStyleId>
              </a:tblPr>
              <a:tblGrid>
                <a:gridCol w="5422153">
                  <a:extLst>
                    <a:ext uri="{9D8B030D-6E8A-4147-A177-3AD203B41FA5}">
                      <a16:colId xmlns:a16="http://schemas.microsoft.com/office/drawing/2014/main" val="20000"/>
                    </a:ext>
                  </a:extLst>
                </a:gridCol>
              </a:tblGrid>
              <a:tr h="2222435">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sealed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ResultadoServicio</a:t>
                      </a:r>
                      <a:r>
                        <a:rPr lang="es-ES" sz="1000" dirty="0">
                          <a:solidFill>
                            <a:srgbClr val="4F81BD"/>
                          </a:solidFill>
                          <a:latin typeface="Calibri"/>
                          <a:ea typeface="Calibri"/>
                          <a:cs typeface="Calibri"/>
                          <a:sym typeface="Calibri"/>
                        </a:rPr>
                        <a:t>&lt;T&gt;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&gt;Indica si la operación se resolvió correctamente.&lt;/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bool</a:t>
                      </a:r>
                      <a:r>
                        <a:rPr lang="es-ES" sz="1000" dirty="0">
                          <a:solidFill>
                            <a:srgbClr val="4F81BD"/>
                          </a:solidFill>
                          <a:latin typeface="Calibri"/>
                          <a:ea typeface="Calibri"/>
                          <a:cs typeface="Calibri"/>
                          <a:sym typeface="Calibri"/>
                        </a:rPr>
                        <a:t> Exitoso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init</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&gt;Valor obtenido cuando &lt;</a:t>
                      </a:r>
                      <a:r>
                        <a:rPr lang="es-ES" sz="1000" dirty="0" err="1">
                          <a:solidFill>
                            <a:srgbClr val="4F81BD"/>
                          </a:solidFill>
                          <a:latin typeface="Calibri"/>
                          <a:ea typeface="Calibri"/>
                          <a:cs typeface="Calibri"/>
                          <a:sym typeface="Calibri"/>
                        </a:rPr>
                        <a:t>see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cref</a:t>
                      </a:r>
                      <a:r>
                        <a:rPr lang="es-ES" sz="1000" dirty="0">
                          <a:solidFill>
                            <a:srgbClr val="4F81BD"/>
                          </a:solidFill>
                          <a:latin typeface="Calibri"/>
                          <a:ea typeface="Calibri"/>
                          <a:cs typeface="Calibri"/>
                          <a:sym typeface="Calibri"/>
                        </a:rPr>
                        <a:t>="Exitoso"/&gt; es verdadero.&lt;/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T? Valor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init</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&gt;Error devuelto cuando &lt;</a:t>
                      </a:r>
                      <a:r>
                        <a:rPr lang="es-ES" sz="1000" dirty="0" err="1">
                          <a:solidFill>
                            <a:srgbClr val="4F81BD"/>
                          </a:solidFill>
                          <a:latin typeface="Calibri"/>
                          <a:ea typeface="Calibri"/>
                          <a:cs typeface="Calibri"/>
                          <a:sym typeface="Calibri"/>
                        </a:rPr>
                        <a:t>see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cref</a:t>
                      </a:r>
                      <a:r>
                        <a:rPr lang="es-ES" sz="1000" dirty="0">
                          <a:solidFill>
                            <a:srgbClr val="4F81BD"/>
                          </a:solidFill>
                          <a:latin typeface="Calibri"/>
                          <a:ea typeface="Calibri"/>
                          <a:cs typeface="Calibri"/>
                          <a:sym typeface="Calibri"/>
                        </a:rPr>
                        <a:t>="Exitoso"/&gt; es falso.&lt;/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RespuestaError</a:t>
                      </a:r>
                      <a:r>
                        <a:rPr lang="es-ES" sz="1000" dirty="0">
                          <a:solidFill>
                            <a:srgbClr val="4F81BD"/>
                          </a:solidFill>
                          <a:latin typeface="Calibri"/>
                          <a:ea typeface="Calibri"/>
                          <a:cs typeface="Calibri"/>
                          <a:sym typeface="Calibri"/>
                        </a:rPr>
                        <a:t>? Error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init</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&gt;Crea un resultado exitoso con el valor indicado.&lt;/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ResultadoServicio</a:t>
                      </a:r>
                      <a:r>
                        <a:rPr lang="es-ES" sz="1000" dirty="0">
                          <a:solidFill>
                            <a:srgbClr val="4F81BD"/>
                          </a:solidFill>
                          <a:latin typeface="Calibri"/>
                          <a:ea typeface="Calibri"/>
                          <a:cs typeface="Calibri"/>
                          <a:sym typeface="Calibri"/>
                        </a:rPr>
                        <a:t>&lt;T&gt; </a:t>
                      </a:r>
                      <a:r>
                        <a:rPr lang="es-ES" sz="1000" dirty="0" err="1">
                          <a:solidFill>
                            <a:srgbClr val="4F81BD"/>
                          </a:solidFill>
                          <a:latin typeface="Calibri"/>
                          <a:ea typeface="Calibri"/>
                          <a:cs typeface="Calibri"/>
                          <a:sym typeface="Calibri"/>
                        </a:rPr>
                        <a:t>ConExito</a:t>
                      </a:r>
                      <a:r>
                        <a:rPr lang="es-ES" sz="1000" dirty="0">
                          <a:solidFill>
                            <a:srgbClr val="4F81BD"/>
                          </a:solidFill>
                          <a:latin typeface="Calibri"/>
                          <a:ea typeface="Calibri"/>
                          <a:cs typeface="Calibri"/>
                          <a:sym typeface="Calibri"/>
                        </a:rPr>
                        <a:t>(T valor) =&gt;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new() { Exitoso = true, Valor = valor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&gt;Crea un resultado fallido con el error indicado.&lt;/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ResultadoServicio</a:t>
                      </a:r>
                      <a:r>
                        <a:rPr lang="es-ES" sz="1000" dirty="0">
                          <a:solidFill>
                            <a:srgbClr val="4F81BD"/>
                          </a:solidFill>
                          <a:latin typeface="Calibri"/>
                          <a:ea typeface="Calibri"/>
                          <a:cs typeface="Calibri"/>
                          <a:sym typeface="Calibri"/>
                        </a:rPr>
                        <a:t>&lt;T&gt; </a:t>
                      </a:r>
                      <a:r>
                        <a:rPr lang="es-ES" sz="1000" dirty="0" err="1">
                          <a:solidFill>
                            <a:srgbClr val="4F81BD"/>
                          </a:solidFill>
                          <a:latin typeface="Calibri"/>
                          <a:ea typeface="Calibri"/>
                          <a:cs typeface="Calibri"/>
                          <a:sym typeface="Calibri"/>
                        </a:rPr>
                        <a:t>ConError</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RespuestaError</a:t>
                      </a:r>
                      <a:r>
                        <a:rPr lang="es-ES" sz="1000" dirty="0">
                          <a:solidFill>
                            <a:srgbClr val="4F81BD"/>
                          </a:solidFill>
                          <a:latin typeface="Calibri"/>
                          <a:ea typeface="Calibri"/>
                          <a:cs typeface="Calibri"/>
                          <a:sym typeface="Calibri"/>
                        </a:rPr>
                        <a:t> error) =&gt;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new() { Exitoso = false, Error = error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a:extLst>
              <a:ext uri="{FF2B5EF4-FFF2-40B4-BE49-F238E27FC236}">
                <a16:creationId xmlns:a16="http://schemas.microsoft.com/office/drawing/2014/main" id="{0BB75406-6C66-9320-FE11-0B2B917ECAAF}"/>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a:extLst>
              <a:ext uri="{FF2B5EF4-FFF2-40B4-BE49-F238E27FC236}">
                <a16:creationId xmlns:a16="http://schemas.microsoft.com/office/drawing/2014/main" id="{8759F4C1-C2A7-07E7-0E56-86B5A66D60C1}"/>
              </a:ext>
            </a:extLst>
          </p:cNvPr>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a:extLst>
              <a:ext uri="{FF2B5EF4-FFF2-40B4-BE49-F238E27FC236}">
                <a16:creationId xmlns:a16="http://schemas.microsoft.com/office/drawing/2014/main" id="{D66BCFA1-82AF-B690-12B6-3F708D59EF61}"/>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extLst>
      <p:ext uri="{BB962C8B-B14F-4D97-AF65-F5344CB8AC3E}">
        <p14:creationId xmlns:p14="http://schemas.microsoft.com/office/powerpoint/2010/main" val="845104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a:spLocks noGrp="1"/>
          </p:cNvSpPr>
          <p:nvPr>
            <p:ph type="body" idx="1"/>
          </p:nvPr>
        </p:nvSpPr>
        <p:spPr>
          <a:xfrm>
            <a:off x="581192" y="1876272"/>
            <a:ext cx="8589300" cy="12486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Dentro del archivo </a:t>
            </a:r>
            <a:r>
              <a:rPr lang="es-ES" sz="1400" dirty="0" err="1">
                <a:latin typeface="Cambria"/>
                <a:ea typeface="Cambria"/>
                <a:cs typeface="Cambria"/>
                <a:sym typeface="Cambria"/>
              </a:rPr>
              <a:t>svc</a:t>
            </a:r>
            <a:r>
              <a:rPr lang="es-ES" sz="1400" dirty="0">
                <a:latin typeface="Cambria"/>
                <a:ea typeface="Cambria"/>
                <a:cs typeface="Cambria"/>
                <a:sym typeface="Cambria"/>
              </a:rPr>
              <a:t> se concentra la lógica q</a:t>
            </a:r>
            <a:r>
              <a:rPr lang="es-MX" sz="1400" dirty="0" err="1">
                <a:latin typeface="Cambria"/>
                <a:ea typeface="Cambria"/>
                <a:cs typeface="Cambria"/>
                <a:sym typeface="Cambria"/>
              </a:rPr>
              <a:t>ue</a:t>
            </a:r>
            <a:r>
              <a:rPr lang="es-MX" sz="1400" dirty="0">
                <a:latin typeface="Cambria"/>
                <a:ea typeface="Cambria"/>
                <a:cs typeface="Cambria"/>
                <a:sym typeface="Cambria"/>
              </a:rPr>
              <a:t> se puede observar en la Tabla junto a la complementaria para gestionar la autenticación con tokens y la autenticación que maneja credenciales </a:t>
            </a:r>
            <a:r>
              <a:rPr lang="es-MX" sz="1400" dirty="0" err="1">
                <a:latin typeface="Cambria"/>
                <a:ea typeface="Cambria"/>
                <a:cs typeface="Cambria"/>
                <a:sym typeface="Cambria"/>
              </a:rPr>
              <a:t>hardcodeadas</a:t>
            </a:r>
            <a:r>
              <a:rPr lang="es-MX" sz="1400" dirty="0">
                <a:latin typeface="Cambria"/>
                <a:ea typeface="Cambria"/>
                <a:cs typeface="Cambria"/>
                <a:sym typeface="Cambria"/>
              </a:rPr>
              <a:t> en código (Usuario: </a:t>
            </a:r>
            <a:r>
              <a:rPr lang="es-MX" sz="1400" b="1" dirty="0">
                <a:latin typeface="Cambria"/>
                <a:ea typeface="Cambria"/>
                <a:cs typeface="Cambria"/>
                <a:sym typeface="Cambria"/>
              </a:rPr>
              <a:t>MONSTER</a:t>
            </a:r>
            <a:r>
              <a:rPr lang="es-MX" sz="1400" dirty="0">
                <a:latin typeface="Cambria"/>
                <a:ea typeface="Cambria"/>
                <a:cs typeface="Cambria"/>
                <a:sym typeface="Cambria"/>
              </a:rPr>
              <a:t>, Contraseña: </a:t>
            </a:r>
            <a:r>
              <a:rPr lang="es-MX" sz="1400" b="1" dirty="0">
                <a:latin typeface="Cambria"/>
                <a:ea typeface="Cambria"/>
                <a:cs typeface="Cambria"/>
                <a:sym typeface="Cambria"/>
              </a:rPr>
              <a:t>MONSTER9</a:t>
            </a:r>
            <a:r>
              <a:rPr lang="es-MX" sz="1400" dirty="0">
                <a:latin typeface="Cambria"/>
                <a:ea typeface="Cambria"/>
                <a:cs typeface="Cambria"/>
                <a:sym typeface="Cambria"/>
              </a:rPr>
              <a:t>)</a:t>
            </a:r>
          </a:p>
        </p:txBody>
      </p:sp>
      <p:sp>
        <p:nvSpPr>
          <p:cNvPr id="222" name="Google Shape;222;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4DF4E860-3BB7-35DE-B1F1-6A07E9829BDF}"/>
              </a:ext>
            </a:extLst>
          </p:cNvPr>
          <p:cNvPicPr>
            <a:picLocks noChangeAspect="1"/>
          </p:cNvPicPr>
          <p:nvPr/>
        </p:nvPicPr>
        <p:blipFill>
          <a:blip r:embed="rId3"/>
          <a:stretch>
            <a:fillRect/>
          </a:stretch>
        </p:blipFill>
        <p:spPr>
          <a:xfrm>
            <a:off x="495002" y="3124872"/>
            <a:ext cx="5255009" cy="3059504"/>
          </a:xfrm>
          <a:prstGeom prst="rect">
            <a:avLst/>
          </a:prstGeom>
        </p:spPr>
      </p:pic>
      <p:pic>
        <p:nvPicPr>
          <p:cNvPr id="5" name="Picture 4">
            <a:extLst>
              <a:ext uri="{FF2B5EF4-FFF2-40B4-BE49-F238E27FC236}">
                <a16:creationId xmlns:a16="http://schemas.microsoft.com/office/drawing/2014/main" id="{E2FD48B3-C750-7D27-8004-FBDEF02E1BE7}"/>
              </a:ext>
            </a:extLst>
          </p:cNvPr>
          <p:cNvPicPr>
            <a:picLocks noChangeAspect="1"/>
          </p:cNvPicPr>
          <p:nvPr/>
        </p:nvPicPr>
        <p:blipFill>
          <a:blip r:embed="rId4"/>
          <a:stretch>
            <a:fillRect/>
          </a:stretch>
        </p:blipFill>
        <p:spPr>
          <a:xfrm>
            <a:off x="5801074" y="3811072"/>
            <a:ext cx="3531560" cy="109580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Esta clase contiene la lógica que se puede observar en la Tabla junto a la complementaria para gestionar la autenticación con tokens</a:t>
            </a:r>
            <a:endParaRPr sz="1400" dirty="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32" name="Google Shape;232;p29"/>
          <p:cNvGraphicFramePr/>
          <p:nvPr>
            <p:extLst>
              <p:ext uri="{D42A27DB-BD31-4B8C-83A1-F6EECF244321}">
                <p14:modId xmlns:p14="http://schemas.microsoft.com/office/powerpoint/2010/main" val="462349840"/>
              </p:ext>
            </p:extLst>
          </p:nvPr>
        </p:nvGraphicFramePr>
        <p:xfrm>
          <a:off x="2807332" y="1847443"/>
          <a:ext cx="6062675" cy="465328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3816071">
                <a:tc>
                  <a:txBody>
                    <a:bodyPr/>
                    <a:lstStyle/>
                    <a:p>
                      <a:pPr marL="0" lvl="0" indent="0" algn="l" rtl="0">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RespuestaLogin</a:t>
                      </a:r>
                      <a:r>
                        <a:rPr lang="es-ES" sz="900" dirty="0">
                          <a:solidFill>
                            <a:srgbClr val="4F81BD"/>
                          </a:solidFill>
                          <a:latin typeface="Calibri"/>
                          <a:ea typeface="Calibri"/>
                          <a:cs typeface="Calibri"/>
                          <a:sym typeface="Calibri"/>
                        </a:rPr>
                        <a:t> Crear(</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usuario)</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clave = _</a:t>
                      </a:r>
                      <a:r>
                        <a:rPr lang="es-ES" sz="900" dirty="0" err="1">
                          <a:solidFill>
                            <a:srgbClr val="4F81BD"/>
                          </a:solidFill>
                          <a:latin typeface="Calibri"/>
                          <a:ea typeface="Calibri"/>
                          <a:cs typeface="Calibri"/>
                          <a:sym typeface="Calibri"/>
                        </a:rPr>
                        <a:t>configuracion</a:t>
                      </a:r>
                      <a:r>
                        <a:rPr lang="es-ES" sz="900" dirty="0">
                          <a:solidFill>
                            <a:srgbClr val="4F81BD"/>
                          </a:solidFill>
                          <a:latin typeface="Calibri"/>
                          <a:ea typeface="Calibri"/>
                          <a:cs typeface="Calibri"/>
                          <a:sym typeface="Calibri"/>
                        </a:rPr>
                        <a:t>["CLAVE_SECRETA"];</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string.IsNullOrWhiteSpace</a:t>
                      </a:r>
                      <a:r>
                        <a:rPr lang="es-ES" sz="900" dirty="0">
                          <a:solidFill>
                            <a:srgbClr val="4F81BD"/>
                          </a:solidFill>
                          <a:latin typeface="Calibri"/>
                          <a:ea typeface="Calibri"/>
                          <a:cs typeface="Calibri"/>
                          <a:sym typeface="Calibri"/>
                        </a:rPr>
                        <a:t>(clave))</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throw</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InvalidOperationException</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"Falta la variable CLAVE_SECRETA en el archivo .</a:t>
                      </a:r>
                      <a:r>
                        <a:rPr lang="es-ES" sz="900" dirty="0" err="1">
                          <a:solidFill>
                            <a:srgbClr val="4F81BD"/>
                          </a:solidFill>
                          <a:latin typeface="Calibri"/>
                          <a:ea typeface="Calibri"/>
                          <a:cs typeface="Calibri"/>
                          <a:sym typeface="Calibri"/>
                        </a:rPr>
                        <a:t>development.env</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minutosTexto</a:t>
                      </a:r>
                      <a:r>
                        <a:rPr lang="es-ES" sz="900" dirty="0">
                          <a:solidFill>
                            <a:srgbClr val="4F81BD"/>
                          </a:solidFill>
                          <a:latin typeface="Calibri"/>
                          <a:ea typeface="Calibri"/>
                          <a:cs typeface="Calibri"/>
                          <a:sym typeface="Calibri"/>
                        </a:rPr>
                        <a:t> = _</a:t>
                      </a:r>
                      <a:r>
                        <a:rPr lang="es-ES" sz="900" dirty="0" err="1">
                          <a:solidFill>
                            <a:srgbClr val="4F81BD"/>
                          </a:solidFill>
                          <a:latin typeface="Calibri"/>
                          <a:ea typeface="Calibri"/>
                          <a:cs typeface="Calibri"/>
                          <a:sym typeface="Calibri"/>
                        </a:rPr>
                        <a:t>configuracion</a:t>
                      </a:r>
                      <a:r>
                        <a:rPr lang="es-ES" sz="900" dirty="0">
                          <a:solidFill>
                            <a:srgbClr val="4F81BD"/>
                          </a:solidFill>
                          <a:latin typeface="Calibri"/>
                          <a:ea typeface="Calibri"/>
                          <a:cs typeface="Calibri"/>
                          <a:sym typeface="Calibri"/>
                        </a:rPr>
                        <a:t>["TIEMPO_EXPIRACION_MINUTOS"];</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minutos = </a:t>
                      </a:r>
                      <a:r>
                        <a:rPr lang="es-ES" sz="900" dirty="0" err="1">
                          <a:solidFill>
                            <a:srgbClr val="4F81BD"/>
                          </a:solidFill>
                          <a:latin typeface="Calibri"/>
                          <a:ea typeface="Calibri"/>
                          <a:cs typeface="Calibri"/>
                          <a:sym typeface="Calibri"/>
                        </a:rPr>
                        <a:t>int.TryParse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minutosTexto</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out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minutosLeidos</a:t>
                      </a:r>
                      <a:r>
                        <a:rPr lang="es-ES" sz="900" dirty="0">
                          <a:solidFill>
                            <a:srgbClr val="4F81BD"/>
                          </a:solidFill>
                          <a:latin typeface="Calibri"/>
                          <a:ea typeface="Calibri"/>
                          <a:cs typeface="Calibri"/>
                          <a:sym typeface="Calibri"/>
                        </a:rPr>
                        <a:t>) &amp;&amp; </a:t>
                      </a:r>
                      <a:r>
                        <a:rPr lang="es-ES" sz="900" dirty="0" err="1">
                          <a:solidFill>
                            <a:srgbClr val="4F81BD"/>
                          </a:solidFill>
                          <a:latin typeface="Calibri"/>
                          <a:ea typeface="Calibri"/>
                          <a:cs typeface="Calibri"/>
                          <a:sym typeface="Calibri"/>
                        </a:rPr>
                        <a:t>minutosLeidos</a:t>
                      </a:r>
                      <a:r>
                        <a:rPr lang="es-ES" sz="900" dirty="0">
                          <a:solidFill>
                            <a:srgbClr val="4F81BD"/>
                          </a:solidFill>
                          <a:latin typeface="Calibri"/>
                          <a:ea typeface="Calibri"/>
                          <a:cs typeface="Calibri"/>
                          <a:sym typeface="Calibri"/>
                        </a:rPr>
                        <a:t> &gt; 0</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minutosLeidos</a:t>
                      </a: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ExpiracionPorDefectoMinutos</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expiracion</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DateTime.UtcNow.AddMinutes</a:t>
                      </a:r>
                      <a:r>
                        <a:rPr lang="es-ES" sz="900" dirty="0">
                          <a:solidFill>
                            <a:srgbClr val="4F81BD"/>
                          </a:solidFill>
                          <a:latin typeface="Calibri"/>
                          <a:ea typeface="Calibri"/>
                          <a:cs typeface="Calibri"/>
                          <a:sym typeface="Calibri"/>
                        </a:rPr>
                        <a:t>(minutos);</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credenciales = new </a:t>
                      </a:r>
                      <a:r>
                        <a:rPr lang="es-ES" sz="900" dirty="0" err="1">
                          <a:solidFill>
                            <a:srgbClr val="4F81BD"/>
                          </a:solidFill>
                          <a:latin typeface="Calibri"/>
                          <a:ea typeface="Calibri"/>
                          <a:cs typeface="Calibri"/>
                          <a:sym typeface="Calibri"/>
                        </a:rPr>
                        <a:t>SigningCredentials</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SymmetricSecurityKey</a:t>
                      </a:r>
                      <a:r>
                        <a:rPr lang="es-ES" sz="900" dirty="0">
                          <a:solidFill>
                            <a:srgbClr val="4F81BD"/>
                          </a:solidFill>
                          <a:latin typeface="Calibri"/>
                          <a:ea typeface="Calibri"/>
                          <a:cs typeface="Calibri"/>
                          <a:sym typeface="Calibri"/>
                        </a:rPr>
                        <a:t>(Encoding.UTF8.GetBytes(clave)),</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SecurityAlgorithms.HmacSha256);</a:t>
                      </a:r>
                    </a:p>
                    <a:p>
                      <a:pPr marL="0" lvl="0" indent="0" algn="l" rtl="0">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descriptor = new </a:t>
                      </a:r>
                      <a:r>
                        <a:rPr lang="es-ES" sz="900" dirty="0" err="1">
                          <a:solidFill>
                            <a:srgbClr val="4F81BD"/>
                          </a:solidFill>
                          <a:latin typeface="Calibri"/>
                          <a:ea typeface="Calibri"/>
                          <a:cs typeface="Calibri"/>
                          <a:sym typeface="Calibri"/>
                        </a:rPr>
                        <a:t>SecurityTokenDescriptor</a:t>
                      </a:r>
                      <a:endParaRPr lang="es-ES" sz="900" dirty="0">
                        <a:solidFill>
                          <a:srgbClr val="4F81BD"/>
                        </a:solidFill>
                        <a:latin typeface="Calibri"/>
                        <a:ea typeface="Calibri"/>
                        <a:cs typeface="Calibri"/>
                        <a:sym typeface="Calibri"/>
                      </a:endParaRP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Subject</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ClaimsIdentity</a:t>
                      </a:r>
                      <a:r>
                        <a:rPr lang="es-ES" sz="900" dirty="0">
                          <a:solidFill>
                            <a:srgbClr val="4F81BD"/>
                          </a:solidFill>
                          <a:latin typeface="Calibri"/>
                          <a:ea typeface="Calibri"/>
                          <a:cs typeface="Calibri"/>
                          <a:sym typeface="Calibri"/>
                        </a:rPr>
                        <a:t>(new[]</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Claim</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ClaimTypes.Name</a:t>
                      </a:r>
                      <a:r>
                        <a:rPr lang="es-ES" sz="900" dirty="0">
                          <a:solidFill>
                            <a:srgbClr val="4F81BD"/>
                          </a:solidFill>
                          <a:latin typeface="Calibri"/>
                          <a:ea typeface="Calibri"/>
                          <a:cs typeface="Calibri"/>
                          <a:sym typeface="Calibri"/>
                        </a:rPr>
                        <a:t>, usuario),</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Claim</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JwtRegisteredClaimNames.Jti</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Guid.NewGuid</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ToString</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Expires = </a:t>
                      </a:r>
                      <a:r>
                        <a:rPr lang="es-ES" sz="900" dirty="0" err="1">
                          <a:solidFill>
                            <a:srgbClr val="4F81BD"/>
                          </a:solidFill>
                          <a:latin typeface="Calibri"/>
                          <a:ea typeface="Calibri"/>
                          <a:cs typeface="Calibri"/>
                          <a:sym typeface="Calibri"/>
                        </a:rPr>
                        <a:t>expiracion</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NotBefore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DateTime.UtcNow</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SigningCredentials</a:t>
                      </a:r>
                      <a:r>
                        <a:rPr lang="es-ES" sz="900" dirty="0">
                          <a:solidFill>
                            <a:srgbClr val="4F81BD"/>
                          </a:solidFill>
                          <a:latin typeface="Calibri"/>
                          <a:ea typeface="Calibri"/>
                          <a:cs typeface="Calibri"/>
                          <a:sym typeface="Calibri"/>
                        </a:rPr>
                        <a:t> = credenciales,</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Issuer</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ServidorConversionesDotnet</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Audience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ClientesConversionUnidades</a:t>
                      </a:r>
                      <a:r>
                        <a:rPr lang="es-ES" sz="900" dirty="0">
                          <a:solidFill>
                            <a:srgbClr val="4F81BD"/>
                          </a:solidFill>
                          <a:latin typeface="Calibri"/>
                          <a:ea typeface="Calibri"/>
                          <a:cs typeface="Calibri"/>
                          <a:sym typeface="Calibri"/>
                        </a:rPr>
                        <a:t>"</a:t>
                      </a:r>
                    </a:p>
                    <a:p>
                      <a:pPr marL="0" lvl="0" indent="0" algn="l" rtl="0">
                        <a:spcBef>
                          <a:spcPts val="0"/>
                        </a:spcBef>
                        <a:spcAft>
                          <a:spcPts val="0"/>
                        </a:spcAft>
                        <a:buNone/>
                      </a:pPr>
                      <a:r>
                        <a:rPr lang="es-ES"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a:spLocks noGrp="1"/>
          </p:cNvSpPr>
          <p:nvPr>
            <p:ph type="body" idx="1"/>
          </p:nvPr>
        </p:nvSpPr>
        <p:spPr>
          <a:xfrm>
            <a:off x="581192" y="1867767"/>
            <a:ext cx="8014948" cy="1808733"/>
          </a:xfrm>
          <a:prstGeom prst="rect">
            <a:avLst/>
          </a:prstGeom>
          <a:noFill/>
          <a:ln>
            <a:noFill/>
          </a:ln>
        </p:spPr>
        <p:txBody>
          <a:bodyPr spcFirstLastPara="1" wrap="square" lIns="91425" tIns="45700" rIns="91425" bIns="45700" anchor="ctr" anchorCtr="0">
            <a:noAutofit/>
          </a:bodyPr>
          <a:lstStyle/>
          <a:p>
            <a:pPr marL="34290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1.2.5	Lógica</a:t>
            </a:r>
            <a:endParaRPr sz="1600" dirty="0">
              <a:latin typeface="Cambria"/>
              <a:ea typeface="Cambria"/>
              <a:cs typeface="Cambria"/>
              <a:sym typeface="Cambria"/>
            </a:endParaRPr>
          </a:p>
          <a:p>
            <a:pPr marL="0" lvl="0" indent="0" algn="just" rtl="0">
              <a:lnSpc>
                <a:spcPct val="107000"/>
              </a:lnSpc>
              <a:spcBef>
                <a:spcPts val="0"/>
              </a:spcBef>
              <a:spcAft>
                <a:spcPts val="0"/>
              </a:spcAft>
              <a:buNone/>
            </a:pPr>
            <a:endParaRPr sz="1600" dirty="0">
              <a:latin typeface="Cambria"/>
              <a:ea typeface="Cambria"/>
              <a:cs typeface="Cambria"/>
              <a:sym typeface="Cambria"/>
            </a:endParaRPr>
          </a:p>
          <a:p>
            <a:pPr marL="0" lvl="0" indent="0" algn="just" rtl="0">
              <a:lnSpc>
                <a:spcPct val="107000"/>
              </a:lnSpc>
              <a:spcBef>
                <a:spcPts val="0"/>
              </a:spcBef>
              <a:spcAft>
                <a:spcPts val="0"/>
              </a:spcAft>
              <a:buNone/>
            </a:pPr>
            <a:r>
              <a:rPr lang="es-ES" sz="1600" dirty="0">
                <a:latin typeface="Cambria"/>
                <a:ea typeface="Cambria"/>
                <a:cs typeface="Cambria"/>
                <a:sym typeface="Cambria"/>
              </a:rPr>
              <a:t>Ahora se procede a completar el resto de la lógica, donde las utilidades exponen la lógica (utilizando factores de conversión y fórmulas)</a:t>
            </a:r>
            <a:endParaRPr sz="1600" dirty="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48" name="Google Shape;248;p31"/>
          <p:cNvGraphicFramePr/>
          <p:nvPr>
            <p:extLst>
              <p:ext uri="{D42A27DB-BD31-4B8C-83A1-F6EECF244321}">
                <p14:modId xmlns:p14="http://schemas.microsoft.com/office/powerpoint/2010/main" val="2815416320"/>
              </p:ext>
            </p:extLst>
          </p:nvPr>
        </p:nvGraphicFramePr>
        <p:xfrm>
          <a:off x="669529" y="3948349"/>
          <a:ext cx="6062675" cy="213868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sealed</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class</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RespuestaConversion</a:t>
                      </a: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 &lt;</a:t>
                      </a:r>
                      <a:r>
                        <a:rPr lang="es-ES" sz="1200" dirty="0" err="1">
                          <a:solidFill>
                            <a:srgbClr val="4F81BD"/>
                          </a:solidFill>
                          <a:latin typeface="Calibri"/>
                          <a:ea typeface="Calibri"/>
                          <a:cs typeface="Calibri"/>
                          <a:sym typeface="Calibri"/>
                        </a:rPr>
                        <a:t>summary</a:t>
                      </a:r>
                      <a:r>
                        <a:rPr lang="es-ES" sz="1200" dirty="0">
                          <a:solidFill>
                            <a:srgbClr val="4F81BD"/>
                          </a:solidFill>
                          <a:latin typeface="Calibri"/>
                          <a:ea typeface="Calibri"/>
                          <a:cs typeface="Calibri"/>
                          <a:sym typeface="Calibri"/>
                        </a:rPr>
                        <a:t>&gt;Resultado de la conversión.&lt;/</a:t>
                      </a:r>
                      <a:r>
                        <a:rPr lang="es-ES" sz="1200" dirty="0" err="1">
                          <a:solidFill>
                            <a:srgbClr val="4F81BD"/>
                          </a:solidFill>
                          <a:latin typeface="Calibri"/>
                          <a:ea typeface="Calibri"/>
                          <a:cs typeface="Calibri"/>
                          <a:sym typeface="Calibri"/>
                        </a:rPr>
                        <a:t>summary</a:t>
                      </a:r>
                      <a:r>
                        <a:rPr lang="es-ES" sz="12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ValorConvertido</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get</a:t>
                      </a:r>
                      <a:r>
                        <a:rPr lang="es-ES" sz="1200" dirty="0">
                          <a:solidFill>
                            <a:srgbClr val="4F81BD"/>
                          </a:solidFill>
                          <a:latin typeface="Calibri"/>
                          <a:ea typeface="Calibri"/>
                          <a:cs typeface="Calibri"/>
                          <a:sym typeface="Calibri"/>
                        </a:rPr>
                        <a:t>; set; }</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 &lt;</a:t>
                      </a:r>
                      <a:r>
                        <a:rPr lang="es-ES" sz="1200" dirty="0" err="1">
                          <a:solidFill>
                            <a:srgbClr val="4F81BD"/>
                          </a:solidFill>
                          <a:latin typeface="Calibri"/>
                          <a:ea typeface="Calibri"/>
                          <a:cs typeface="Calibri"/>
                          <a:sym typeface="Calibri"/>
                        </a:rPr>
                        <a:t>summary</a:t>
                      </a:r>
                      <a:r>
                        <a:rPr lang="es-ES" sz="1200" dirty="0">
                          <a:solidFill>
                            <a:srgbClr val="4F81BD"/>
                          </a:solidFill>
                          <a:latin typeface="Calibri"/>
                          <a:ea typeface="Calibri"/>
                          <a:cs typeface="Calibri"/>
                          <a:sym typeface="Calibri"/>
                        </a:rPr>
                        <a:t>&gt;Unidad de origen recibida en la solicitud.&lt;/</a:t>
                      </a:r>
                      <a:r>
                        <a:rPr lang="es-ES" sz="1200" dirty="0" err="1">
                          <a:solidFill>
                            <a:srgbClr val="4F81BD"/>
                          </a:solidFill>
                          <a:latin typeface="Calibri"/>
                          <a:ea typeface="Calibri"/>
                          <a:cs typeface="Calibri"/>
                          <a:sym typeface="Calibri"/>
                        </a:rPr>
                        <a:t>summary</a:t>
                      </a:r>
                      <a:r>
                        <a:rPr lang="es-ES" sz="12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UnidadOrigen</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get</a:t>
                      </a:r>
                      <a:r>
                        <a:rPr lang="es-ES" sz="1200" dirty="0">
                          <a:solidFill>
                            <a:srgbClr val="4F81BD"/>
                          </a:solidFill>
                          <a:latin typeface="Calibri"/>
                          <a:ea typeface="Calibri"/>
                          <a:cs typeface="Calibri"/>
                          <a:sym typeface="Calibri"/>
                        </a:rPr>
                        <a:t>; set; } = </a:t>
                      </a:r>
                      <a:r>
                        <a:rPr lang="es-ES" sz="1200" dirty="0" err="1">
                          <a:solidFill>
                            <a:srgbClr val="4F81BD"/>
                          </a:solidFill>
                          <a:latin typeface="Calibri"/>
                          <a:ea typeface="Calibri"/>
                          <a:cs typeface="Calibri"/>
                          <a:sym typeface="Calibri"/>
                        </a:rPr>
                        <a:t>string.Empty</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 &lt;</a:t>
                      </a:r>
                      <a:r>
                        <a:rPr lang="es-ES" sz="1200" dirty="0" err="1">
                          <a:solidFill>
                            <a:srgbClr val="4F81BD"/>
                          </a:solidFill>
                          <a:latin typeface="Calibri"/>
                          <a:ea typeface="Calibri"/>
                          <a:cs typeface="Calibri"/>
                          <a:sym typeface="Calibri"/>
                        </a:rPr>
                        <a:t>summary</a:t>
                      </a:r>
                      <a:r>
                        <a:rPr lang="es-ES" sz="1200" dirty="0">
                          <a:solidFill>
                            <a:srgbClr val="4F81BD"/>
                          </a:solidFill>
                          <a:latin typeface="Calibri"/>
                          <a:ea typeface="Calibri"/>
                          <a:cs typeface="Calibri"/>
                          <a:sym typeface="Calibri"/>
                        </a:rPr>
                        <a:t>&gt;Unidad de destino recibida en la solicitud.&lt;/</a:t>
                      </a:r>
                      <a:r>
                        <a:rPr lang="es-ES" sz="1200" dirty="0" err="1">
                          <a:solidFill>
                            <a:srgbClr val="4F81BD"/>
                          </a:solidFill>
                          <a:latin typeface="Calibri"/>
                          <a:ea typeface="Calibri"/>
                          <a:cs typeface="Calibri"/>
                          <a:sym typeface="Calibri"/>
                        </a:rPr>
                        <a:t>summary</a:t>
                      </a:r>
                      <a:r>
                        <a:rPr lang="es-ES" sz="12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string</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UnidadDestino</a:t>
                      </a:r>
                      <a:r>
                        <a:rPr lang="es-ES" sz="1200" dirty="0">
                          <a:solidFill>
                            <a:srgbClr val="4F81BD"/>
                          </a:solidFill>
                          <a:latin typeface="Calibri"/>
                          <a:ea typeface="Calibri"/>
                          <a:cs typeface="Calibri"/>
                          <a:sym typeface="Calibri"/>
                        </a:rPr>
                        <a:t> { </a:t>
                      </a:r>
                      <a:r>
                        <a:rPr lang="es-ES" sz="1200" dirty="0" err="1">
                          <a:solidFill>
                            <a:srgbClr val="4F81BD"/>
                          </a:solidFill>
                          <a:latin typeface="Calibri"/>
                          <a:ea typeface="Calibri"/>
                          <a:cs typeface="Calibri"/>
                          <a:sym typeface="Calibri"/>
                        </a:rPr>
                        <a:t>get</a:t>
                      </a:r>
                      <a:r>
                        <a:rPr lang="es-ES" sz="1200" dirty="0">
                          <a:solidFill>
                            <a:srgbClr val="4F81BD"/>
                          </a:solidFill>
                          <a:latin typeface="Calibri"/>
                          <a:ea typeface="Calibri"/>
                          <a:cs typeface="Calibri"/>
                          <a:sym typeface="Calibri"/>
                        </a:rPr>
                        <a:t>; set; } = </a:t>
                      </a:r>
                      <a:r>
                        <a:rPr lang="es-ES" sz="1200" dirty="0" err="1">
                          <a:solidFill>
                            <a:srgbClr val="4F81BD"/>
                          </a:solidFill>
                          <a:latin typeface="Calibri"/>
                          <a:ea typeface="Calibri"/>
                          <a:cs typeface="Calibri"/>
                          <a:sym typeface="Calibri"/>
                        </a:rPr>
                        <a:t>string.Empty</a:t>
                      </a:r>
                      <a:r>
                        <a:rPr lang="es-ES" sz="12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2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a:t>
            </a:r>
            <a:endParaRPr sz="1400" dirty="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56" name="Google Shape;256;p32"/>
          <p:cNvGraphicFramePr/>
          <p:nvPr>
            <p:extLst>
              <p:ext uri="{D42A27DB-BD31-4B8C-83A1-F6EECF244321}">
                <p14:modId xmlns:p14="http://schemas.microsoft.com/office/powerpoint/2010/main" val="603417371"/>
              </p:ext>
            </p:extLst>
          </p:nvPr>
        </p:nvGraphicFramePr>
        <p:xfrm>
          <a:off x="2959648" y="2159450"/>
          <a:ext cx="7494168" cy="4546600"/>
        </p:xfrm>
        <a:graphic>
          <a:graphicData uri="http://schemas.openxmlformats.org/drawingml/2006/table">
            <a:tbl>
              <a:tblPr>
                <a:noFill/>
                <a:tableStyleId>{BF136021-7255-42B7-A7E7-87A8D8FFE9CA}</a:tableStyleId>
              </a:tblPr>
              <a:tblGrid>
                <a:gridCol w="7494168">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sealed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ServicioConversionLongitud</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readonly</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&gt; </a:t>
                      </a:r>
                      <a:r>
                        <a:rPr lang="es-ES" sz="1000" dirty="0" err="1">
                          <a:solidFill>
                            <a:srgbClr val="4F81BD"/>
                          </a:solidFill>
                          <a:latin typeface="Calibri"/>
                          <a:ea typeface="Calibri"/>
                          <a:cs typeface="Calibri"/>
                          <a:sym typeface="Calibri"/>
                        </a:rPr>
                        <a:t>FactorAMetro</a:t>
                      </a:r>
                      <a:r>
                        <a:rPr lang="es-ES" sz="1000" dirty="0">
                          <a:solidFill>
                            <a:srgbClr val="4F81BD"/>
                          </a:solidFill>
                          <a:latin typeface="Calibri"/>
                          <a:ea typeface="Calibri"/>
                          <a:cs typeface="Calibri"/>
                          <a:sym typeface="Calibri"/>
                        </a:rPr>
                        <a:t> = new()</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UnidadLongitud.Pie</a:t>
                      </a:r>
                      <a:r>
                        <a:rPr lang="es-ES" sz="1000" dirty="0">
                          <a:solidFill>
                            <a:srgbClr val="4F81BD"/>
                          </a:solidFill>
                          <a:latin typeface="Calibri"/>
                          <a:ea typeface="Calibri"/>
                          <a:cs typeface="Calibri"/>
                          <a:sym typeface="Calibri"/>
                        </a:rPr>
                        <a:t>] = 0.3048,</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UnidadLongitud.Centimetro</a:t>
                      </a:r>
                      <a:r>
                        <a:rPr lang="es-ES" sz="1000" dirty="0">
                          <a:solidFill>
                            <a:srgbClr val="4F81BD"/>
                          </a:solidFill>
                          <a:latin typeface="Calibri"/>
                          <a:ea typeface="Calibri"/>
                          <a:cs typeface="Calibri"/>
                          <a:sym typeface="Calibri"/>
                        </a:rPr>
                        <a:t>] = 0.01,</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UnidadLongitud.Metro</a:t>
                      </a:r>
                      <a:r>
                        <a:rPr lang="es-ES" sz="1000" dirty="0">
                          <a:solidFill>
                            <a:srgbClr val="4F81BD"/>
                          </a:solidFill>
                          <a:latin typeface="Calibri"/>
                          <a:ea typeface="Calibri"/>
                          <a:cs typeface="Calibri"/>
                          <a:sym typeface="Calibri"/>
                        </a:rPr>
                        <a:t>] = 1,</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UnidadLongitud.Milla</a:t>
                      </a:r>
                      <a:r>
                        <a:rPr lang="es-ES" sz="1000" dirty="0">
                          <a:solidFill>
                            <a:srgbClr val="4F81BD"/>
                          </a:solidFill>
                          <a:latin typeface="Calibri"/>
                          <a:ea typeface="Calibri"/>
                          <a:cs typeface="Calibri"/>
                          <a:sym typeface="Calibri"/>
                        </a:rPr>
                        <a:t>] = 1609.34,</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UnidadLongitud.Yarda</a:t>
                      </a:r>
                      <a:r>
                        <a:rPr lang="es-ES" sz="1000" dirty="0">
                          <a:solidFill>
                            <a:srgbClr val="4F81BD"/>
                          </a:solidFill>
                          <a:latin typeface="Calibri"/>
                          <a:ea typeface="Calibri"/>
                          <a:cs typeface="Calibri"/>
                          <a:sym typeface="Calibri"/>
                        </a:rPr>
                        <a:t>] = 0.9144</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Convierte el valor recibido de la unidad de origen a la unidad de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ResultadoServicio</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&gt; Convertir(</a:t>
                      </a:r>
                      <a:r>
                        <a:rPr lang="es-ES" sz="1000" dirty="0" err="1">
                          <a:solidFill>
                            <a:srgbClr val="4F81BD"/>
                          </a:solidFill>
                          <a:latin typeface="Calibri"/>
                          <a:ea typeface="Calibri"/>
                          <a:cs typeface="Calibri"/>
                          <a:sym typeface="Calibri"/>
                        </a:rPr>
                        <a:t>SolicitudConversion</a:t>
                      </a:r>
                      <a:r>
                        <a:rPr lang="es-ES" sz="1000" dirty="0">
                          <a:solidFill>
                            <a:srgbClr val="4F81BD"/>
                          </a:solidFill>
                          <a:latin typeface="Calibri"/>
                          <a:ea typeface="Calibri"/>
                          <a:cs typeface="Calibri"/>
                          <a:sym typeface="Calibri"/>
                        </a:rPr>
                        <a:t> solicitud)</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solicitud.Valor</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string.IsNullOrWhiteSpace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solicitud.UnidadOrigen</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string.IsNullOrWhiteSpace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solicitud.UnidadDestino</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ResultadoServicio</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&gt;.</a:t>
                      </a:r>
                      <a:r>
                        <a:rPr lang="es-ES" sz="1000" dirty="0" err="1">
                          <a:solidFill>
                            <a:srgbClr val="4F81BD"/>
                          </a:solidFill>
                          <a:latin typeface="Calibri"/>
                          <a:ea typeface="Calibri"/>
                          <a:cs typeface="Calibri"/>
                          <a:sym typeface="Calibri"/>
                        </a:rPr>
                        <a:t>ConError</a:t>
                      </a:r>
                      <a:r>
                        <a:rPr lang="es-ES" sz="1000" dirty="0">
                          <a:solidFill>
                            <a:srgbClr val="4F81BD"/>
                          </a:solidFill>
                          <a:latin typeface="Calibri"/>
                          <a:ea typeface="Calibri"/>
                          <a:cs typeface="Calibri"/>
                          <a:sym typeface="Calibri"/>
                        </a:rPr>
                        <a:t>(new </a:t>
                      </a:r>
                      <a:r>
                        <a:rPr lang="es-ES" sz="1000" dirty="0" err="1">
                          <a:solidFill>
                            <a:srgbClr val="4F81BD"/>
                          </a:solidFill>
                          <a:latin typeface="Calibri"/>
                          <a:ea typeface="Calibri"/>
                          <a:cs typeface="Calibri"/>
                          <a:sym typeface="Calibri"/>
                        </a:rPr>
                        <a:t>RespuestaError</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Codigo</a:t>
                      </a:r>
                      <a:r>
                        <a:rPr lang="es-ES" sz="1000" dirty="0">
                          <a:solidFill>
                            <a:srgbClr val="4F81BD"/>
                          </a:solidFill>
                          <a:latin typeface="Calibri"/>
                          <a:ea typeface="Calibri"/>
                          <a:cs typeface="Calibri"/>
                          <a:sym typeface="Calibri"/>
                        </a:rPr>
                        <a:t> = 400,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Mensaje = "Debe ingresar el valor, la unidad de origen y la unidad de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Detalle = "Los campos 'valor',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y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son obligatorios."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3" name="Google Shape;263;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64" name="Google Shape;264;p33"/>
          <p:cNvGraphicFramePr/>
          <p:nvPr>
            <p:extLst>
              <p:ext uri="{D42A27DB-BD31-4B8C-83A1-F6EECF244321}">
                <p14:modId xmlns:p14="http://schemas.microsoft.com/office/powerpoint/2010/main" val="984433269"/>
              </p:ext>
            </p:extLst>
          </p:nvPr>
        </p:nvGraphicFramePr>
        <p:xfrm>
          <a:off x="3064604" y="2066775"/>
          <a:ext cx="6062675" cy="45466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sealed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ServicioConversionMasa</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readonly</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&gt; </a:t>
                      </a:r>
                      <a:r>
                        <a:rPr lang="es-ES" sz="1000" dirty="0" err="1">
                          <a:solidFill>
                            <a:srgbClr val="4F81BD"/>
                          </a:solidFill>
                          <a:latin typeface="Calibri"/>
                          <a:ea typeface="Calibri"/>
                          <a:cs typeface="Calibri"/>
                          <a:sym typeface="Calibri"/>
                        </a:rPr>
                        <a:t>FactorAKilogramo</a:t>
                      </a:r>
                      <a:r>
                        <a:rPr lang="es-ES" sz="1000" dirty="0">
                          <a:solidFill>
                            <a:srgbClr val="4F81BD"/>
                          </a:solidFill>
                          <a:latin typeface="Calibri"/>
                          <a:ea typeface="Calibri"/>
                          <a:cs typeface="Calibri"/>
                          <a:sym typeface="Calibri"/>
                        </a:rPr>
                        <a:t> = new()</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UnidadMasa.Miligramo</a:t>
                      </a:r>
                      <a:r>
                        <a:rPr lang="es-ES" sz="1000" dirty="0">
                          <a:solidFill>
                            <a:srgbClr val="4F81BD"/>
                          </a:solidFill>
                          <a:latin typeface="Calibri"/>
                          <a:ea typeface="Calibri"/>
                          <a:cs typeface="Calibri"/>
                          <a:sym typeface="Calibri"/>
                        </a:rPr>
                        <a:t>] = 1e-6,</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UnidadMasa.Gramo</a:t>
                      </a:r>
                      <a:r>
                        <a:rPr lang="es-ES" sz="1000" dirty="0">
                          <a:solidFill>
                            <a:srgbClr val="4F81BD"/>
                          </a:solidFill>
                          <a:latin typeface="Calibri"/>
                          <a:ea typeface="Calibri"/>
                          <a:cs typeface="Calibri"/>
                          <a:sym typeface="Calibri"/>
                        </a:rPr>
                        <a:t>] = 0.001,</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UnidadMasa.Kilogramo</a:t>
                      </a:r>
                      <a:r>
                        <a:rPr lang="es-ES" sz="1000" dirty="0">
                          <a:solidFill>
                            <a:srgbClr val="4F81BD"/>
                          </a:solidFill>
                          <a:latin typeface="Calibri"/>
                          <a:ea typeface="Calibri"/>
                          <a:cs typeface="Calibri"/>
                          <a:sym typeface="Calibri"/>
                        </a:rPr>
                        <a:t>] = 1,</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UnidadMasa.Tonelada</a:t>
                      </a:r>
                      <a:r>
                        <a:rPr lang="es-ES" sz="1000" dirty="0">
                          <a:solidFill>
                            <a:srgbClr val="4F81BD"/>
                          </a:solidFill>
                          <a:latin typeface="Calibri"/>
                          <a:ea typeface="Calibri"/>
                          <a:cs typeface="Calibri"/>
                          <a:sym typeface="Calibri"/>
                        </a:rPr>
                        <a:t>] = 1000,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UnidadMasa.Onza</a:t>
                      </a:r>
                      <a:r>
                        <a:rPr lang="es-ES" sz="1000" dirty="0">
                          <a:solidFill>
                            <a:srgbClr val="4F81BD"/>
                          </a:solidFill>
                          <a:latin typeface="Calibri"/>
                          <a:ea typeface="Calibri"/>
                          <a:cs typeface="Calibri"/>
                          <a:sym typeface="Calibri"/>
                        </a:rPr>
                        <a:t>] = 0.0283495</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Convierte el valor recibido de la unidad de origen a la unidad de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&lt;/</a:t>
                      </a:r>
                      <a:r>
                        <a:rPr lang="es-ES" sz="1000" dirty="0" err="1">
                          <a:solidFill>
                            <a:srgbClr val="4F81BD"/>
                          </a:solidFill>
                          <a:latin typeface="Calibri"/>
                          <a:ea typeface="Calibri"/>
                          <a:cs typeface="Calibri"/>
                          <a:sym typeface="Calibri"/>
                        </a:rPr>
                        <a:t>summary</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ResultadoServicio</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&gt; Convertir(</a:t>
                      </a:r>
                      <a:r>
                        <a:rPr lang="es-ES" sz="1000" dirty="0" err="1">
                          <a:solidFill>
                            <a:srgbClr val="4F81BD"/>
                          </a:solidFill>
                          <a:latin typeface="Calibri"/>
                          <a:ea typeface="Calibri"/>
                          <a:cs typeface="Calibri"/>
                          <a:sym typeface="Calibri"/>
                        </a:rPr>
                        <a:t>SolicitudConversion</a:t>
                      </a:r>
                      <a:r>
                        <a:rPr lang="es-ES" sz="1000" dirty="0">
                          <a:solidFill>
                            <a:srgbClr val="4F81BD"/>
                          </a:solidFill>
                          <a:latin typeface="Calibri"/>
                          <a:ea typeface="Calibri"/>
                          <a:cs typeface="Calibri"/>
                          <a:sym typeface="Calibri"/>
                        </a:rPr>
                        <a:t> solicitud)</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solicitud.Valor</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string.IsNullOrWhiteSpace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solicitud.UnidadOrigen</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string.IsNullOrWhiteSpace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solicitud.UnidadDestino</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ResultadoServicio</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RespuestaConversion</a:t>
                      </a:r>
                      <a:r>
                        <a:rPr lang="es-ES" sz="1000" dirty="0">
                          <a:solidFill>
                            <a:srgbClr val="4F81BD"/>
                          </a:solidFill>
                          <a:latin typeface="Calibri"/>
                          <a:ea typeface="Calibri"/>
                          <a:cs typeface="Calibri"/>
                          <a:sym typeface="Calibri"/>
                        </a:rPr>
                        <a:t>&gt;.</a:t>
                      </a:r>
                      <a:r>
                        <a:rPr lang="es-ES" sz="1000" dirty="0" err="1">
                          <a:solidFill>
                            <a:srgbClr val="4F81BD"/>
                          </a:solidFill>
                          <a:latin typeface="Calibri"/>
                          <a:ea typeface="Calibri"/>
                          <a:cs typeface="Calibri"/>
                          <a:sym typeface="Calibri"/>
                        </a:rPr>
                        <a:t>ConError</a:t>
                      </a:r>
                      <a:r>
                        <a:rPr lang="es-ES" sz="1000" dirty="0">
                          <a:solidFill>
                            <a:srgbClr val="4F81BD"/>
                          </a:solidFill>
                          <a:latin typeface="Calibri"/>
                          <a:ea typeface="Calibri"/>
                          <a:cs typeface="Calibri"/>
                          <a:sym typeface="Calibri"/>
                        </a:rPr>
                        <a:t>(new </a:t>
                      </a:r>
                      <a:r>
                        <a:rPr lang="es-ES" sz="1000" dirty="0" err="1">
                          <a:solidFill>
                            <a:srgbClr val="4F81BD"/>
                          </a:solidFill>
                          <a:latin typeface="Calibri"/>
                          <a:ea typeface="Calibri"/>
                          <a:cs typeface="Calibri"/>
                          <a:sym typeface="Calibri"/>
                        </a:rPr>
                        <a:t>RespuestaError</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Codigo</a:t>
                      </a:r>
                      <a:r>
                        <a:rPr lang="es-ES" sz="1000" dirty="0">
                          <a:solidFill>
                            <a:srgbClr val="4F81BD"/>
                          </a:solidFill>
                          <a:latin typeface="Calibri"/>
                          <a:ea typeface="Calibri"/>
                          <a:cs typeface="Calibri"/>
                          <a:sym typeface="Calibri"/>
                        </a:rPr>
                        <a:t> = 400,</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Mensaje = "Debe ingresar el valor, la unidad de origen y la unidad de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Detalle = "Los campos 'valor',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y '</a:t>
                      </a:r>
                      <a:r>
                        <a:rPr lang="es-ES" sz="1000" dirty="0" err="1">
                          <a:solidFill>
                            <a:srgbClr val="4F81BD"/>
                          </a:solidFill>
                          <a:latin typeface="Calibri"/>
                          <a:ea typeface="Calibri"/>
                          <a:cs typeface="Calibri"/>
                          <a:sym typeface="Calibri"/>
                        </a:rPr>
                        <a:t>unidadDestino</a:t>
                      </a:r>
                      <a:r>
                        <a:rPr lang="es-ES" sz="1000" dirty="0">
                          <a:solidFill>
                            <a:srgbClr val="4F81BD"/>
                          </a:solidFill>
                          <a:latin typeface="Calibri"/>
                          <a:ea typeface="Calibri"/>
                          <a:cs typeface="Calibri"/>
                          <a:sym typeface="Calibri"/>
                        </a:rPr>
                        <a:t>' son obligatorios."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254;p32">
            <a:extLst>
              <a:ext uri="{FF2B5EF4-FFF2-40B4-BE49-F238E27FC236}">
                <a16:creationId xmlns:a16="http://schemas.microsoft.com/office/drawing/2014/main" id="{E61854FA-59EA-32EB-C951-45360D9CDBA3}"/>
              </a:ext>
            </a:extLst>
          </p:cNvPr>
          <p:cNvSpPr txBox="1">
            <a:spLocks/>
          </p:cNvSpPr>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gn="just">
              <a:lnSpc>
                <a:spcPct val="107000"/>
              </a:lnSpc>
              <a:spcBef>
                <a:spcPts val="0"/>
              </a:spcBef>
              <a:buFont typeface="Noto Sans Symbols"/>
              <a:buNone/>
            </a:pPr>
            <a:r>
              <a:rPr lang="es-MX" sz="1400">
                <a:latin typeface="Cambria"/>
                <a:ea typeface="Cambria"/>
                <a:cs typeface="Cambria"/>
                <a:sym typeface="Cambria"/>
              </a:rPr>
              <a:t>Ahora se procede a completar el resto de la lógica, donde las utilidades exponen la lógica (utilizando factores de conversión y fórmulas)</a:t>
            </a:r>
            <a:endParaRPr lang="es-MX" sz="1400" dirty="0">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1" name="Google Shape;271;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72" name="Google Shape;272;p34"/>
          <p:cNvGraphicFramePr/>
          <p:nvPr>
            <p:extLst>
              <p:ext uri="{D42A27DB-BD31-4B8C-83A1-F6EECF244321}">
                <p14:modId xmlns:p14="http://schemas.microsoft.com/office/powerpoint/2010/main" val="421357181"/>
              </p:ext>
            </p:extLst>
          </p:nvPr>
        </p:nvGraphicFramePr>
        <p:xfrm>
          <a:off x="2891513" y="1880136"/>
          <a:ext cx="6062675" cy="47599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sealed</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class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ServicioConversionTemperatura</a:t>
                      </a: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const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double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KelvinMinimo</a:t>
                      </a:r>
                      <a:r>
                        <a:rPr lang="es-ES" sz="800" dirty="0">
                          <a:solidFill>
                            <a:srgbClr val="4F81BD"/>
                          </a:solidFill>
                          <a:latin typeface="Calibri"/>
                          <a:ea typeface="Calibri"/>
                          <a:cs typeface="Calibri"/>
                          <a:sym typeface="Calibri"/>
                        </a:rPr>
                        <a:t> = 0;</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private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const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double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KelvinMaximo</a:t>
                      </a:r>
                      <a:r>
                        <a:rPr lang="es-ES" sz="800" dirty="0">
                          <a:solidFill>
                            <a:srgbClr val="4F81BD"/>
                          </a:solidFill>
                          <a:latin typeface="Calibri"/>
                          <a:ea typeface="Calibri"/>
                          <a:cs typeface="Calibri"/>
                          <a:sym typeface="Calibri"/>
                        </a:rPr>
                        <a:t> = 373.15;</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 &lt;</a:t>
                      </a:r>
                      <a:r>
                        <a:rPr lang="es-ES" sz="800" dirty="0" err="1">
                          <a:solidFill>
                            <a:srgbClr val="4F81BD"/>
                          </a:solidFill>
                          <a:latin typeface="Calibri"/>
                          <a:ea typeface="Calibri"/>
                          <a:cs typeface="Calibri"/>
                          <a:sym typeface="Calibri"/>
                        </a:rPr>
                        <a:t>summary</a:t>
                      </a:r>
                      <a:r>
                        <a:rPr lang="es-ES" sz="8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 Convierte el valor recibido de la unidad de origen a la unidad de destino.</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 &lt;/</a:t>
                      </a:r>
                      <a:r>
                        <a:rPr lang="es-ES" sz="800" dirty="0" err="1">
                          <a:solidFill>
                            <a:srgbClr val="4F81BD"/>
                          </a:solidFill>
                          <a:latin typeface="Calibri"/>
                          <a:ea typeface="Calibri"/>
                          <a:cs typeface="Calibri"/>
                          <a:sym typeface="Calibri"/>
                        </a:rPr>
                        <a:t>summary</a:t>
                      </a:r>
                      <a:r>
                        <a:rPr lang="es-ES" sz="8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public</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ResultadoServicio</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RespuestaConversion</a:t>
                      </a:r>
                      <a:r>
                        <a:rPr lang="es-ES" sz="800" dirty="0">
                          <a:solidFill>
                            <a:srgbClr val="4F81BD"/>
                          </a:solidFill>
                          <a:latin typeface="Calibri"/>
                          <a:ea typeface="Calibri"/>
                          <a:cs typeface="Calibri"/>
                          <a:sym typeface="Calibri"/>
                        </a:rPr>
                        <a:t>&gt; Convertir(</a:t>
                      </a:r>
                      <a:r>
                        <a:rPr lang="es-ES" sz="800" dirty="0" err="1">
                          <a:solidFill>
                            <a:srgbClr val="4F81BD"/>
                          </a:solidFill>
                          <a:latin typeface="Calibri"/>
                          <a:ea typeface="Calibri"/>
                          <a:cs typeface="Calibri"/>
                          <a:sym typeface="Calibri"/>
                        </a:rPr>
                        <a:t>SolicitudConversion</a:t>
                      </a:r>
                      <a:r>
                        <a:rPr lang="es-ES" sz="800" dirty="0">
                          <a:solidFill>
                            <a:srgbClr val="4F81BD"/>
                          </a:solidFill>
                          <a:latin typeface="Calibri"/>
                          <a:ea typeface="Calibri"/>
                          <a:cs typeface="Calibri"/>
                          <a:sym typeface="Calibri"/>
                        </a:rPr>
                        <a:t> solicitud)</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solicitud.Valor</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is</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string.IsNullOrWhiteSpace</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solicitud.UnidadOrigen</a:t>
                      </a: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string.IsNullOrWhiteSpace</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solicitud.UnidadDestino</a:t>
                      </a:r>
                      <a:r>
                        <a:rPr lang="es-ES" sz="800" dirty="0">
                          <a:solidFill>
                            <a:srgbClr val="4F81BD"/>
                          </a:solidFill>
                          <a:latin typeface="Calibri"/>
                          <a:ea typeface="Calibri"/>
                          <a:cs typeface="Calibri"/>
                          <a:sym typeface="Calibri"/>
                        </a:rPr>
                        <a:t>))</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ResultadoServicio</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RespuestaConversion</a:t>
                      </a:r>
                      <a:r>
                        <a:rPr lang="es-ES" sz="800" dirty="0">
                          <a:solidFill>
                            <a:srgbClr val="4F81BD"/>
                          </a:solidFill>
                          <a:latin typeface="Calibri"/>
                          <a:ea typeface="Calibri"/>
                          <a:cs typeface="Calibri"/>
                          <a:sym typeface="Calibri"/>
                        </a:rPr>
                        <a:t>&gt;.</a:t>
                      </a:r>
                      <a:r>
                        <a:rPr lang="es-ES" sz="800" dirty="0" err="1">
                          <a:solidFill>
                            <a:srgbClr val="4F81BD"/>
                          </a:solidFill>
                          <a:latin typeface="Calibri"/>
                          <a:ea typeface="Calibri"/>
                          <a:cs typeface="Calibri"/>
                          <a:sym typeface="Calibri"/>
                        </a:rPr>
                        <a:t>ConError</a:t>
                      </a:r>
                      <a:r>
                        <a:rPr lang="es-ES" sz="800" dirty="0">
                          <a:solidFill>
                            <a:srgbClr val="4F81BD"/>
                          </a:solidFill>
                          <a:latin typeface="Calibri"/>
                          <a:ea typeface="Calibri"/>
                          <a:cs typeface="Calibri"/>
                          <a:sym typeface="Calibri"/>
                        </a:rPr>
                        <a:t>(new </a:t>
                      </a:r>
                      <a:r>
                        <a:rPr lang="es-ES" sz="800" dirty="0" err="1">
                          <a:solidFill>
                            <a:srgbClr val="4F81BD"/>
                          </a:solidFill>
                          <a:latin typeface="Calibri"/>
                          <a:ea typeface="Calibri"/>
                          <a:cs typeface="Calibri"/>
                          <a:sym typeface="Calibri"/>
                        </a:rPr>
                        <a:t>RespuestaError</a:t>
                      </a: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Codigo</a:t>
                      </a:r>
                      <a:r>
                        <a:rPr lang="es-ES" sz="800" dirty="0">
                          <a:solidFill>
                            <a:srgbClr val="4F81BD"/>
                          </a:solidFill>
                          <a:latin typeface="Calibri"/>
                          <a:ea typeface="Calibri"/>
                          <a:cs typeface="Calibri"/>
                          <a:sym typeface="Calibri"/>
                        </a:rPr>
                        <a:t> = 400,</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Mensaje = "Debe ingresar el valor, la unidad de origen y la unidad de destino.",</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Detalle = "Los campos 'valor', '</a:t>
                      </a:r>
                      <a:r>
                        <a:rPr lang="es-ES" sz="800" dirty="0" err="1">
                          <a:solidFill>
                            <a:srgbClr val="4F81BD"/>
                          </a:solidFill>
                          <a:latin typeface="Calibri"/>
                          <a:ea typeface="Calibri"/>
                          <a:cs typeface="Calibri"/>
                          <a:sym typeface="Calibri"/>
                        </a:rPr>
                        <a:t>unidadOrigen</a:t>
                      </a:r>
                      <a:r>
                        <a:rPr lang="es-ES" sz="800" dirty="0">
                          <a:solidFill>
                            <a:srgbClr val="4F81BD"/>
                          </a:solidFill>
                          <a:latin typeface="Calibri"/>
                          <a:ea typeface="Calibri"/>
                          <a:cs typeface="Calibri"/>
                          <a:sym typeface="Calibri"/>
                        </a:rPr>
                        <a:t>' y '</a:t>
                      </a:r>
                      <a:r>
                        <a:rPr lang="es-ES" sz="800" dirty="0" err="1">
                          <a:solidFill>
                            <a:srgbClr val="4F81BD"/>
                          </a:solidFill>
                          <a:latin typeface="Calibri"/>
                          <a:ea typeface="Calibri"/>
                          <a:cs typeface="Calibri"/>
                          <a:sym typeface="Calibri"/>
                        </a:rPr>
                        <a:t>unidadDestino</a:t>
                      </a:r>
                      <a:r>
                        <a:rPr lang="es-ES" sz="800" dirty="0">
                          <a:solidFill>
                            <a:srgbClr val="4F81BD"/>
                          </a:solidFill>
                          <a:latin typeface="Calibri"/>
                          <a:ea typeface="Calibri"/>
                          <a:cs typeface="Calibri"/>
                          <a:sym typeface="Calibri"/>
                        </a:rPr>
                        <a:t>' son obligatorios."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ConversorEnum.IntentarConvertir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solicitud.UnidadOrigen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out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UnidadTemperatura</a:t>
                      </a:r>
                      <a:r>
                        <a:rPr lang="es-ES" sz="800" dirty="0">
                          <a:solidFill>
                            <a:srgbClr val="4F81BD"/>
                          </a:solidFill>
                          <a:latin typeface="Calibri"/>
                          <a:ea typeface="Calibri"/>
                          <a:cs typeface="Calibri"/>
                          <a:sym typeface="Calibri"/>
                        </a:rPr>
                        <a:t> origen)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ConversorEnum.IntentarConvertir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solicitud.UnidadDestino</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out</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UnidadTemperatura</a:t>
                      </a:r>
                      <a:r>
                        <a:rPr lang="es-ES" sz="800" dirty="0">
                          <a:solidFill>
                            <a:srgbClr val="4F81BD"/>
                          </a:solidFill>
                          <a:latin typeface="Calibri"/>
                          <a:ea typeface="Calibri"/>
                          <a:cs typeface="Calibri"/>
                          <a:sym typeface="Calibri"/>
                        </a:rPr>
                        <a:t> destino))</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ResultadoServicio</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RespuestaConversion</a:t>
                      </a:r>
                      <a:r>
                        <a:rPr lang="es-ES" sz="800" dirty="0">
                          <a:solidFill>
                            <a:srgbClr val="4F81BD"/>
                          </a:solidFill>
                          <a:latin typeface="Calibri"/>
                          <a:ea typeface="Calibri"/>
                          <a:cs typeface="Calibri"/>
                          <a:sym typeface="Calibri"/>
                        </a:rPr>
                        <a:t>&gt;.</a:t>
                      </a:r>
                      <a:r>
                        <a:rPr lang="es-ES" sz="800" dirty="0" err="1">
                          <a:solidFill>
                            <a:srgbClr val="4F81BD"/>
                          </a:solidFill>
                          <a:latin typeface="Calibri"/>
                          <a:ea typeface="Calibri"/>
                          <a:cs typeface="Calibri"/>
                          <a:sym typeface="Calibri"/>
                        </a:rPr>
                        <a:t>ConError</a:t>
                      </a:r>
                      <a:r>
                        <a:rPr lang="es-ES" sz="800" dirty="0">
                          <a:solidFill>
                            <a:srgbClr val="4F81BD"/>
                          </a:solidFill>
                          <a:latin typeface="Calibri"/>
                          <a:ea typeface="Calibri"/>
                          <a:cs typeface="Calibri"/>
                          <a:sym typeface="Calibri"/>
                        </a:rPr>
                        <a:t>(new </a:t>
                      </a:r>
                      <a:r>
                        <a:rPr lang="es-ES" sz="800" dirty="0" err="1">
                          <a:solidFill>
                            <a:srgbClr val="4F81BD"/>
                          </a:solidFill>
                          <a:latin typeface="Calibri"/>
                          <a:ea typeface="Calibri"/>
                          <a:cs typeface="Calibri"/>
                          <a:sym typeface="Calibri"/>
                        </a:rPr>
                        <a:t>RespuestaError</a:t>
                      </a: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Codigo</a:t>
                      </a:r>
                      <a:r>
                        <a:rPr lang="es-ES" sz="800" dirty="0">
                          <a:solidFill>
                            <a:srgbClr val="4F81BD"/>
                          </a:solidFill>
                          <a:latin typeface="Calibri"/>
                          <a:ea typeface="Calibri"/>
                          <a:cs typeface="Calibri"/>
                          <a:sym typeface="Calibri"/>
                        </a:rPr>
                        <a:t> = 400,</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Mensaje = "La unidad especificada no es válida.",</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Detalle = $"Las unidades '{</a:t>
                      </a:r>
                      <a:r>
                        <a:rPr lang="es-ES" sz="800" dirty="0" err="1">
                          <a:solidFill>
                            <a:srgbClr val="4F81BD"/>
                          </a:solidFill>
                          <a:latin typeface="Calibri"/>
                          <a:ea typeface="Calibri"/>
                          <a:cs typeface="Calibri"/>
                          <a:sym typeface="Calibri"/>
                        </a:rPr>
                        <a:t>solicitud.UnidadOrigen</a:t>
                      </a:r>
                      <a:r>
                        <a:rPr lang="es-ES" sz="800" dirty="0">
                          <a:solidFill>
                            <a:srgbClr val="4F81BD"/>
                          </a:solidFill>
                          <a:latin typeface="Calibri"/>
                          <a:ea typeface="Calibri"/>
                          <a:cs typeface="Calibri"/>
                          <a:sym typeface="Calibri"/>
                        </a:rPr>
                        <a:t>}' y '{</a:t>
                      </a:r>
                      <a:r>
                        <a:rPr lang="es-ES" sz="800" dirty="0" err="1">
                          <a:solidFill>
                            <a:srgbClr val="4F81BD"/>
                          </a:solidFill>
                          <a:latin typeface="Calibri"/>
                          <a:ea typeface="Calibri"/>
                          <a:cs typeface="Calibri"/>
                          <a:sym typeface="Calibri"/>
                        </a:rPr>
                        <a:t>solicitud.UnidadDestino</a:t>
                      </a:r>
                      <a:r>
                        <a:rPr lang="es-ES" sz="800" dirty="0">
                          <a:solidFill>
                            <a:srgbClr val="4F81BD"/>
                          </a:solidFill>
                          <a:latin typeface="Calibri"/>
                          <a:ea typeface="Calibri"/>
                          <a:cs typeface="Calibri"/>
                          <a:sym typeface="Calibri"/>
                        </a:rPr>
                        <a:t>}' "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"no corresponden a unidades de temperatura admitidas."</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(origen == destino)</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ResultadoServicio</a:t>
                      </a:r>
                      <a:r>
                        <a:rPr lang="es-ES" sz="800" dirty="0">
                          <a:solidFill>
                            <a:srgbClr val="4F81BD"/>
                          </a:solidFill>
                          <a:latin typeface="Calibri"/>
                          <a:ea typeface="Calibri"/>
                          <a:cs typeface="Calibri"/>
                          <a:sym typeface="Calibri"/>
                        </a:rPr>
                        <a:t>&lt;</a:t>
                      </a:r>
                      <a:r>
                        <a:rPr lang="es-ES" sz="800" dirty="0" err="1">
                          <a:solidFill>
                            <a:srgbClr val="4F81BD"/>
                          </a:solidFill>
                          <a:latin typeface="Calibri"/>
                          <a:ea typeface="Calibri"/>
                          <a:cs typeface="Calibri"/>
                          <a:sym typeface="Calibri"/>
                        </a:rPr>
                        <a:t>RespuestaConversion</a:t>
                      </a:r>
                      <a:r>
                        <a:rPr lang="es-ES" sz="800" dirty="0">
                          <a:solidFill>
                            <a:srgbClr val="4F81BD"/>
                          </a:solidFill>
                          <a:latin typeface="Calibri"/>
                          <a:ea typeface="Calibri"/>
                          <a:cs typeface="Calibri"/>
                          <a:sym typeface="Calibri"/>
                        </a:rPr>
                        <a:t>&gt;.</a:t>
                      </a:r>
                      <a:r>
                        <a:rPr lang="es-ES" sz="800" dirty="0" err="1">
                          <a:solidFill>
                            <a:srgbClr val="4F81BD"/>
                          </a:solidFill>
                          <a:latin typeface="Calibri"/>
                          <a:ea typeface="Calibri"/>
                          <a:cs typeface="Calibri"/>
                          <a:sym typeface="Calibri"/>
                        </a:rPr>
                        <a:t>ConError</a:t>
                      </a:r>
                      <a:r>
                        <a:rPr lang="es-ES" sz="800" dirty="0">
                          <a:solidFill>
                            <a:srgbClr val="4F81BD"/>
                          </a:solidFill>
                          <a:latin typeface="Calibri"/>
                          <a:ea typeface="Calibri"/>
                          <a:cs typeface="Calibri"/>
                          <a:sym typeface="Calibri"/>
                        </a:rPr>
                        <a:t>(new </a:t>
                      </a:r>
                      <a:r>
                        <a:rPr lang="es-ES" sz="800" dirty="0" err="1">
                          <a:solidFill>
                            <a:srgbClr val="4F81BD"/>
                          </a:solidFill>
                          <a:latin typeface="Calibri"/>
                          <a:ea typeface="Calibri"/>
                          <a:cs typeface="Calibri"/>
                          <a:sym typeface="Calibri"/>
                        </a:rPr>
                        <a:t>RespuestaError</a:t>
                      </a:r>
                      <a:endParaRPr lang="es-ES" sz="800" dirty="0">
                        <a:solidFill>
                          <a:srgbClr val="4F81BD"/>
                        </a:solidFill>
                        <a:latin typeface="Calibri"/>
                        <a:ea typeface="Calibri"/>
                        <a:cs typeface="Calibri"/>
                        <a:sym typeface="Calibri"/>
                      </a:endParaRPr>
                    </a:p>
                    <a:p>
                      <a:pPr marL="0" lvl="0" indent="0" algn="l" rtl="0">
                        <a:spcBef>
                          <a:spcPts val="0"/>
                        </a:spcBef>
                        <a:spcAft>
                          <a:spcPts val="0"/>
                        </a:spcAft>
                        <a:buNone/>
                      </a:pPr>
                      <a:endParaRPr sz="8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254;p32">
            <a:extLst>
              <a:ext uri="{FF2B5EF4-FFF2-40B4-BE49-F238E27FC236}">
                <a16:creationId xmlns:a16="http://schemas.microsoft.com/office/drawing/2014/main" id="{D2B62F31-783C-4DE8-D6D2-A72454AF59A2}"/>
              </a:ext>
            </a:extLst>
          </p:cNvPr>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a:t>
            </a:r>
            <a:endParaRPr sz="1400" dirty="0">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9" name="Google Shape;279;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80" name="Google Shape;280;p35"/>
          <p:cNvGraphicFramePr/>
          <p:nvPr>
            <p:extLst>
              <p:ext uri="{D42A27DB-BD31-4B8C-83A1-F6EECF244321}">
                <p14:modId xmlns:p14="http://schemas.microsoft.com/office/powerpoint/2010/main" val="2674062956"/>
              </p:ext>
            </p:extLst>
          </p:nvPr>
        </p:nvGraphicFramePr>
        <p:xfrm>
          <a:off x="2891513" y="1838175"/>
          <a:ext cx="6647903" cy="4851400"/>
        </p:xfrm>
        <a:graphic>
          <a:graphicData uri="http://schemas.openxmlformats.org/drawingml/2006/table">
            <a:tbl>
              <a:tblPr>
                <a:noFill/>
                <a:tableStyleId>{BF136021-7255-42B7-A7E7-87A8D8FFE9CA}</a:tableStyleId>
              </a:tblPr>
              <a:tblGrid>
                <a:gridCol w="6647903">
                  <a:extLst>
                    <a:ext uri="{9D8B030D-6E8A-4147-A177-3AD203B41FA5}">
                      <a16:colId xmlns:a16="http://schemas.microsoft.com/office/drawing/2014/main" val="20000"/>
                    </a:ext>
                  </a:extLst>
                </a:gridCol>
              </a:tblGrid>
              <a:tr h="954503">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conversores = new </a:t>
                      </a:r>
                      <a:r>
                        <a:rPr lang="es-ES" sz="1000" dirty="0" err="1">
                          <a:solidFill>
                            <a:srgbClr val="4F81BD"/>
                          </a:solidFill>
                          <a:latin typeface="Calibri"/>
                          <a:ea typeface="Calibri"/>
                          <a:cs typeface="Calibri"/>
                          <a:sym typeface="Calibri"/>
                        </a:rPr>
                        <a:t>Dictionary</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&gt;();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ConversorTemperatura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ConversorLongitud</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Registrar(new </a:t>
                      </a:r>
                      <a:r>
                        <a:rPr lang="es-ES" sz="1000" dirty="0" err="1">
                          <a:solidFill>
                            <a:srgbClr val="4F81BD"/>
                          </a:solidFill>
                          <a:latin typeface="Calibri"/>
                          <a:ea typeface="Calibri"/>
                          <a:cs typeface="Calibri"/>
                          <a:sym typeface="Calibri"/>
                        </a:rPr>
                        <a:t>ConversorMasa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RegistroConversores</a:t>
                      </a:r>
                      <a:r>
                        <a:rPr lang="es-ES" sz="1000" dirty="0">
                          <a:solidFill>
                            <a:srgbClr val="4F81BD"/>
                          </a:solidFill>
                          <a:latin typeface="Calibri"/>
                          <a:ea typeface="Calibri"/>
                          <a:cs typeface="Calibri"/>
                          <a:sym typeface="Calibri"/>
                        </a:rPr>
                        <a:t> Actual</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InstanciaCompartida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void</a:t>
                      </a:r>
                      <a:r>
                        <a:rPr lang="es-ES" sz="1000" dirty="0">
                          <a:solidFill>
                            <a:srgbClr val="4F81BD"/>
                          </a:solidFill>
                          <a:latin typeface="Calibri"/>
                          <a:ea typeface="Calibri"/>
                          <a:cs typeface="Calibri"/>
                          <a:sym typeface="Calibri"/>
                        </a:rPr>
                        <a:t> Registrar(</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(conversor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ArgumentNullException</a:t>
                      </a:r>
                      <a:r>
                        <a:rPr lang="es-ES" sz="1000" dirty="0">
                          <a:solidFill>
                            <a:srgbClr val="4F81BD"/>
                          </a:solidFill>
                          <a:latin typeface="Calibri"/>
                          <a:ea typeface="Calibri"/>
                          <a:cs typeface="Calibri"/>
                          <a:sym typeface="Calibri"/>
                        </a:rPr>
                        <a:t>("conversor");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conversores[</a:t>
                      </a:r>
                      <a:r>
                        <a:rPr lang="es-ES" sz="1000" dirty="0" err="1">
                          <a:solidFill>
                            <a:srgbClr val="4F81BD"/>
                          </a:solidFill>
                          <a:latin typeface="Calibri"/>
                          <a:ea typeface="Calibri"/>
                          <a:cs typeface="Calibri"/>
                          <a:sym typeface="Calibri"/>
                        </a:rPr>
                        <a:t>conversor.Categoria</a:t>
                      </a:r>
                      <a:r>
                        <a:rPr lang="es-ES" sz="1000" dirty="0">
                          <a:solidFill>
                            <a:srgbClr val="4F81BD"/>
                          </a:solidFill>
                          <a:latin typeface="Calibri"/>
                          <a:ea typeface="Calibri"/>
                          <a:cs typeface="Calibri"/>
                          <a:sym typeface="Calibri"/>
                        </a:rPr>
                        <a:t>] =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Obtener(</a:t>
                      </a:r>
                      <a:r>
                        <a:rPr lang="es-ES" sz="1000" dirty="0" err="1">
                          <a:solidFill>
                            <a:srgbClr val="4F81BD"/>
                          </a:solidFill>
                          <a:latin typeface="Calibri"/>
                          <a:ea typeface="Calibri"/>
                          <a:cs typeface="Calibri"/>
                          <a:sym typeface="Calibri"/>
                        </a:rPr>
                        <a:t>CategoriaUnidad</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IConversorUnidad</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conversores.TryGetValue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out</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ArgumentOutOfRangeException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string.Format</a:t>
                      </a:r>
                      <a:r>
                        <a:rPr lang="es-ES" sz="1000" dirty="0">
                          <a:solidFill>
                            <a:srgbClr val="4F81BD"/>
                          </a:solidFill>
                          <a:latin typeface="Calibri"/>
                          <a:ea typeface="Calibri"/>
                          <a:cs typeface="Calibri"/>
                          <a:sym typeface="Calibri"/>
                        </a:rPr>
                        <a:t>("No existe un conversor registrado para la categoría '{0}'.", </a:t>
                      </a:r>
                      <a:r>
                        <a:rPr lang="es-ES" sz="1000" dirty="0" err="1">
                          <a:solidFill>
                            <a:srgbClr val="4F81BD"/>
                          </a:solidFill>
                          <a:latin typeface="Calibri"/>
                          <a:ea typeface="Calibri"/>
                          <a:cs typeface="Calibri"/>
                          <a:sym typeface="Calibri"/>
                        </a:rPr>
                        <a:t>categoria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conversor;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endParaRPr sz="8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254;p32">
            <a:extLst>
              <a:ext uri="{FF2B5EF4-FFF2-40B4-BE49-F238E27FC236}">
                <a16:creationId xmlns:a16="http://schemas.microsoft.com/office/drawing/2014/main" id="{C8EF987B-C45A-927E-5212-DC3BEA5058D4}"/>
              </a:ext>
            </a:extLst>
          </p:cNvPr>
          <p:cNvSpPr txBox="1">
            <a:spLocks/>
          </p:cNvSpPr>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marL="0" indent="0" algn="just">
              <a:lnSpc>
                <a:spcPct val="107000"/>
              </a:lnSpc>
              <a:spcBef>
                <a:spcPts val="0"/>
              </a:spcBef>
              <a:buFont typeface="Noto Sans Symbols"/>
              <a:buNone/>
            </a:pPr>
            <a:r>
              <a:rPr lang="es-MX" sz="1400">
                <a:latin typeface="Cambria"/>
                <a:ea typeface="Cambria"/>
                <a:cs typeface="Cambria"/>
                <a:sym typeface="Cambria"/>
              </a:rPr>
              <a:t>Ahora se procede a completar el resto de la lógica, donde las utilidades exponen la lógica (utilizando factores de conversión y fórmulas)</a:t>
            </a:r>
            <a:endParaRPr lang="es-MX" sz="1400" dirty="0">
              <a:latin typeface="Cambria"/>
              <a:ea typeface="Cambria"/>
              <a:cs typeface="Cambria"/>
              <a:sym typeface="Cambri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a:spLocks noGrp="1"/>
          </p:cNvSpPr>
          <p:nvPr>
            <p:ph type="body" idx="1"/>
          </p:nvPr>
        </p:nvSpPr>
        <p:spPr>
          <a:xfrm>
            <a:off x="490582" y="2007528"/>
            <a:ext cx="3323537" cy="4558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1.2.6 	Ejecución en Servidor</a:t>
            </a:r>
            <a:endParaRPr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dirty="0">
                <a:latin typeface="Cambria"/>
                <a:ea typeface="Cambria"/>
                <a:cs typeface="Cambria"/>
                <a:sym typeface="Cambria"/>
              </a:rPr>
              <a:t>Se ejecuta el programa corriendo en nuestro servidor y se comprueba de forma correcta entrando a la documentación de </a:t>
            </a:r>
            <a:r>
              <a:rPr lang="es-ES" sz="1600" dirty="0" err="1">
                <a:latin typeface="Cambria"/>
                <a:ea typeface="Cambria"/>
                <a:cs typeface="Cambria"/>
                <a:sym typeface="Cambria"/>
              </a:rPr>
              <a:t>swagger</a:t>
            </a:r>
            <a:endParaRPr lang="es-ES" sz="1600" dirty="0">
              <a:latin typeface="Cambria"/>
              <a:ea typeface="Cambria"/>
              <a:cs typeface="Cambria"/>
              <a:sym typeface="Cambria"/>
            </a:endParaRPr>
          </a:p>
          <a:p>
            <a:pPr marL="19050" lvl="0" indent="0" algn="just">
              <a:lnSpc>
                <a:spcPct val="107000"/>
              </a:lnSpc>
              <a:spcBef>
                <a:spcPts val="0"/>
              </a:spcBef>
              <a:buSzPts val="1356"/>
              <a:buNone/>
            </a:pPr>
            <a:endParaRPr lang="es-ES"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i="1" dirty="0">
                <a:solidFill>
                  <a:schemeClr val="accent1">
                    <a:lumMod val="60000"/>
                    <a:lumOff val="40000"/>
                  </a:schemeClr>
                </a:solidFill>
                <a:latin typeface="Cambria"/>
                <a:ea typeface="Cambria"/>
                <a:cs typeface="Cambria"/>
                <a:sym typeface="Cambria"/>
              </a:rPr>
              <a:t>http://localhost:60980/swagger/index.html</a:t>
            </a:r>
            <a:endParaRPr sz="1800" dirty="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RESTFUL</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6" name="Picture 5">
            <a:extLst>
              <a:ext uri="{FF2B5EF4-FFF2-40B4-BE49-F238E27FC236}">
                <a16:creationId xmlns:a16="http://schemas.microsoft.com/office/drawing/2014/main" id="{D654170B-4985-2683-82E8-8B640F856E85}"/>
              </a:ext>
            </a:extLst>
          </p:cNvPr>
          <p:cNvPicPr>
            <a:picLocks noChangeAspect="1"/>
          </p:cNvPicPr>
          <p:nvPr/>
        </p:nvPicPr>
        <p:blipFill>
          <a:blip r:embed="rId3"/>
          <a:stretch>
            <a:fillRect/>
          </a:stretch>
        </p:blipFill>
        <p:spPr>
          <a:xfrm>
            <a:off x="4305276" y="2066934"/>
            <a:ext cx="4753036" cy="44399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02" name="Google Shape;302;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303" name="Google Shape;303;p38"/>
          <p:cNvSpPr txBox="1">
            <a:spLocks noGrp="1"/>
          </p:cNvSpPr>
          <p:nvPr>
            <p:ph type="body" idx="1"/>
          </p:nvPr>
        </p:nvSpPr>
        <p:spPr>
          <a:xfrm>
            <a:off x="498873" y="1713397"/>
            <a:ext cx="8581500" cy="1471595"/>
          </a:xfrm>
          <a:prstGeom prst="rect">
            <a:avLst/>
          </a:prstGeom>
          <a:noFill/>
          <a:ln>
            <a:noFill/>
          </a:ln>
        </p:spPr>
        <p:txBody>
          <a:bodyPr spcFirstLastPara="1" wrap="square" lIns="91425" tIns="45700" rIns="91425" bIns="45700" anchor="ctr" anchorCtr="0">
            <a:noAutofit/>
          </a:bodyPr>
          <a:lstStyle/>
          <a:p>
            <a:pPr marL="0" lvl="0" indent="0" algn="just"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1.3  CREACIÓN DEL PROYECTO CLIENTE CONSOLA</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Para el cliente consola se uso Visual Studio en el cual se debe crear un nuevo proyecto para ello se seleccionó al momento de crear un proyecto, el tipo “Aplicación de consola”</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Se asigna un nombre al proyecto, se da una </a:t>
            </a:r>
            <a:r>
              <a:rPr lang="es-MX" sz="1400" dirty="0" err="1">
                <a:latin typeface="Cambria"/>
                <a:ea typeface="Cambria"/>
                <a:cs typeface="Cambria"/>
                <a:sym typeface="Cambria"/>
              </a:rPr>
              <a:t>ubicacion</a:t>
            </a:r>
            <a:r>
              <a:rPr lang="es-MX" sz="1400" dirty="0">
                <a:latin typeface="Cambria"/>
                <a:ea typeface="Cambria"/>
                <a:cs typeface="Cambria"/>
                <a:sym typeface="Cambria"/>
              </a:rPr>
              <a:t>, y se configura cada carpeta conforme el patrón arquitectónico MVC</a:t>
            </a:r>
            <a:endParaRPr sz="1400" dirty="0">
              <a:latin typeface="Cambria"/>
              <a:ea typeface="Cambria"/>
              <a:cs typeface="Cambria"/>
              <a:sym typeface="Cambria"/>
            </a:endParaRPr>
          </a:p>
        </p:txBody>
      </p:sp>
      <p:pic>
        <p:nvPicPr>
          <p:cNvPr id="4" name="Picture 3">
            <a:extLst>
              <a:ext uri="{FF2B5EF4-FFF2-40B4-BE49-F238E27FC236}">
                <a16:creationId xmlns:a16="http://schemas.microsoft.com/office/drawing/2014/main" id="{99895D50-25B0-75C5-720E-AF18EFAD5D11}"/>
              </a:ext>
            </a:extLst>
          </p:cNvPr>
          <p:cNvPicPr>
            <a:picLocks noChangeAspect="1"/>
          </p:cNvPicPr>
          <p:nvPr/>
        </p:nvPicPr>
        <p:blipFill>
          <a:blip r:embed="rId3"/>
          <a:stretch>
            <a:fillRect/>
          </a:stretch>
        </p:blipFill>
        <p:spPr>
          <a:xfrm>
            <a:off x="498873" y="3381445"/>
            <a:ext cx="4665369" cy="2869324"/>
          </a:xfrm>
          <a:prstGeom prst="rect">
            <a:avLst/>
          </a:prstGeom>
        </p:spPr>
      </p:pic>
      <p:pic>
        <p:nvPicPr>
          <p:cNvPr id="3" name="Picture 2">
            <a:extLst>
              <a:ext uri="{FF2B5EF4-FFF2-40B4-BE49-F238E27FC236}">
                <a16:creationId xmlns:a16="http://schemas.microsoft.com/office/drawing/2014/main" id="{C2C2EEDA-0448-6896-CB63-F02231E0E628}"/>
              </a:ext>
            </a:extLst>
          </p:cNvPr>
          <p:cNvPicPr>
            <a:picLocks noChangeAspect="1"/>
          </p:cNvPicPr>
          <p:nvPr/>
        </p:nvPicPr>
        <p:blipFill>
          <a:blip r:embed="rId4"/>
          <a:stretch>
            <a:fillRect/>
          </a:stretch>
        </p:blipFill>
        <p:spPr>
          <a:xfrm>
            <a:off x="5391013" y="3381445"/>
            <a:ext cx="3162574" cy="237764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11" name="Google Shape;311;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a:spLocks noGrp="1"/>
          </p:cNvSpPr>
          <p:nvPr>
            <p:ph type="body" idx="1"/>
          </p:nvPr>
        </p:nvSpPr>
        <p:spPr>
          <a:xfrm>
            <a:off x="581192" y="1785292"/>
            <a:ext cx="8581500" cy="2149500"/>
          </a:xfrm>
          <a:prstGeom prst="rect">
            <a:avLst/>
          </a:prstGeom>
          <a:noFill/>
          <a:ln>
            <a:noFill/>
          </a:ln>
        </p:spPr>
        <p:txBody>
          <a:bodyPr spcFirstLastPara="1" wrap="square" lIns="91425" tIns="45700" rIns="91425" bIns="45700" anchor="ctr" anchorCtr="0">
            <a:normAutofit/>
          </a:bodyPr>
          <a:lstStyle/>
          <a:p>
            <a:pPr marL="415036" indent="-285750">
              <a:lnSpc>
                <a:spcPct val="115000"/>
              </a:lnSpc>
              <a:spcBef>
                <a:spcPts val="0"/>
              </a:spcBef>
              <a:buSzPts val="1564"/>
              <a:buFont typeface="Arial" panose="020B0604020202020204" pitchFamily="34" charset="0"/>
              <a:buChar char="•"/>
            </a:pPr>
            <a:r>
              <a:rPr lang="es-ES" sz="1564" dirty="0">
                <a:latin typeface="Cambria"/>
                <a:ea typeface="Cambria"/>
                <a:cs typeface="Cambria"/>
                <a:sym typeface="Cambria"/>
              </a:rPr>
              <a:t>Una vez que se creó el proyecto se debe generar las diferentes carpetas, donde se colocarán los archivos con código fuente, se deberá ejecutar utilizando el compilador de visual </a:t>
            </a:r>
            <a:r>
              <a:rPr lang="es-ES" sz="1564" dirty="0" err="1">
                <a:latin typeface="Cambria"/>
                <a:ea typeface="Cambria"/>
                <a:cs typeface="Cambria"/>
                <a:sym typeface="Cambria"/>
              </a:rPr>
              <a:t>studio</a:t>
            </a:r>
            <a:endParaRPr sz="1564" dirty="0">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dirty="0">
              <a:latin typeface="Cambria"/>
              <a:ea typeface="Cambria"/>
              <a:cs typeface="Cambria"/>
              <a:sym typeface="Cambria"/>
            </a:endParaRPr>
          </a:p>
        </p:txBody>
      </p:sp>
      <p:pic>
        <p:nvPicPr>
          <p:cNvPr id="5" name="Picture 4">
            <a:extLst>
              <a:ext uri="{FF2B5EF4-FFF2-40B4-BE49-F238E27FC236}">
                <a16:creationId xmlns:a16="http://schemas.microsoft.com/office/drawing/2014/main" id="{6AA33E47-75D2-8FAD-EDBD-3EC77B9C4D3D}"/>
              </a:ext>
            </a:extLst>
          </p:cNvPr>
          <p:cNvPicPr>
            <a:picLocks noChangeAspect="1"/>
          </p:cNvPicPr>
          <p:nvPr/>
        </p:nvPicPr>
        <p:blipFill>
          <a:blip r:embed="rId3"/>
          <a:stretch>
            <a:fillRect/>
          </a:stretch>
        </p:blipFill>
        <p:spPr>
          <a:xfrm>
            <a:off x="3762403" y="4004228"/>
            <a:ext cx="5400289" cy="742336"/>
          </a:xfrm>
          <a:prstGeom prst="rect">
            <a:avLst/>
          </a:prstGeom>
        </p:spPr>
      </p:pic>
      <p:pic>
        <p:nvPicPr>
          <p:cNvPr id="4" name="Picture 3">
            <a:extLst>
              <a:ext uri="{FF2B5EF4-FFF2-40B4-BE49-F238E27FC236}">
                <a16:creationId xmlns:a16="http://schemas.microsoft.com/office/drawing/2014/main" id="{5612BB31-529E-41A3-3BDD-E31FFBDC77AE}"/>
              </a:ext>
            </a:extLst>
          </p:cNvPr>
          <p:cNvPicPr>
            <a:picLocks noChangeAspect="1"/>
          </p:cNvPicPr>
          <p:nvPr/>
        </p:nvPicPr>
        <p:blipFill>
          <a:blip r:embed="rId4"/>
          <a:stretch>
            <a:fillRect/>
          </a:stretch>
        </p:blipFill>
        <p:spPr>
          <a:xfrm>
            <a:off x="1146669" y="2920013"/>
            <a:ext cx="2145171" cy="336595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1" name="Google Shape;321;p40"/>
          <p:cNvGraphicFramePr/>
          <p:nvPr>
            <p:extLst>
              <p:ext uri="{D42A27DB-BD31-4B8C-83A1-F6EECF244321}">
                <p14:modId xmlns:p14="http://schemas.microsoft.com/office/powerpoint/2010/main" val="3221124487"/>
              </p:ext>
            </p:extLst>
          </p:nvPr>
        </p:nvGraphicFramePr>
        <p:xfrm>
          <a:off x="2998075" y="1854200"/>
          <a:ext cx="6195850" cy="4895228"/>
        </p:xfrm>
        <a:graphic>
          <a:graphicData uri="http://schemas.openxmlformats.org/drawingml/2006/table">
            <a:tbl>
              <a:tblPr>
                <a:noFill/>
                <a:tableStyleId>{BF136021-7255-42B7-A7E7-87A8D8FFE9CA}</a:tableStyleId>
              </a:tblPr>
              <a:tblGrid>
                <a:gridCol w="6195850">
                  <a:extLst>
                    <a:ext uri="{9D8B030D-6E8A-4147-A177-3AD203B41FA5}">
                      <a16:colId xmlns:a16="http://schemas.microsoft.com/office/drawing/2014/main" val="20000"/>
                    </a:ext>
                  </a:extLst>
                </a:gridCol>
              </a:tblGrid>
              <a:tr h="4895228">
                <a:tc>
                  <a:txBody>
                    <a:bodyPr/>
                    <a:lstStyle/>
                    <a:p>
                      <a:pPr marL="0" lvl="0" indent="0" algn="l" rtl="0">
                        <a:spcBef>
                          <a:spcPts val="0"/>
                        </a:spcBef>
                        <a:spcAft>
                          <a:spcPts val="0"/>
                        </a:spcAft>
                        <a:buClr>
                          <a:schemeClr val="dk1"/>
                        </a:buClr>
                        <a:buSzPts val="1100"/>
                        <a:buFont typeface="Arial"/>
                        <a:buNone/>
                      </a:pPr>
                      <a:r>
                        <a:rPr lang="es-ES" sz="1000" dirty="0" err="1">
                          <a:solidFill>
                            <a:srgbClr val="4F81BD"/>
                          </a:solidFill>
                          <a:latin typeface="Calibri"/>
                          <a:ea typeface="Calibri"/>
                          <a:cs typeface="Calibri"/>
                          <a:sym typeface="Calibri"/>
                        </a:rPr>
                        <a:t>namespace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ClienteConsolaConversion.Configuracion</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ConfiguracionCliente</a:t>
                      </a: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ConfiguracionCliente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urlBase</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urlBase.TrimEnd</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static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ConfiguracionCliente</a:t>
                      </a:r>
                      <a:r>
                        <a:rPr lang="es-ES" sz="1000" dirty="0">
                          <a:solidFill>
                            <a:srgbClr val="4F81BD"/>
                          </a:solidFill>
                          <a:latin typeface="Calibri"/>
                          <a:ea typeface="Calibri"/>
                          <a:cs typeface="Calibri"/>
                          <a:sym typeface="Calibri"/>
                        </a:rPr>
                        <a:t> Cargar()</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try</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var</a:t>
                      </a:r>
                      <a:r>
                        <a:rPr lang="es-ES" sz="1000" dirty="0">
                          <a:solidFill>
                            <a:srgbClr val="4F81BD"/>
                          </a:solidFill>
                          <a:latin typeface="Calibri"/>
                          <a:ea typeface="Calibri"/>
                          <a:cs typeface="Calibri"/>
                          <a:sym typeface="Calibri"/>
                        </a:rPr>
                        <a:t> ruta = </a:t>
                      </a:r>
                      <a:r>
                        <a:rPr lang="es-ES" sz="1000" dirty="0" err="1">
                          <a:solidFill>
                            <a:srgbClr val="4F81BD"/>
                          </a:solidFill>
                          <a:latin typeface="Calibri"/>
                          <a:ea typeface="Calibri"/>
                          <a:cs typeface="Calibri"/>
                          <a:sym typeface="Calibri"/>
                        </a:rPr>
                        <a:t>AppContext.BaseDirectory</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var</a:t>
                      </a:r>
                      <a:r>
                        <a:rPr lang="es-ES" sz="1000" dirty="0">
                          <a:solidFill>
                            <a:srgbClr val="4F81BD"/>
                          </a:solidFill>
                          <a:latin typeface="Calibri"/>
                          <a:ea typeface="Calibri"/>
                          <a:cs typeface="Calibri"/>
                          <a:sym typeface="Calibri"/>
                        </a:rPr>
                        <a:t> variables = </a:t>
                      </a:r>
                      <a:r>
                        <a:rPr lang="es-ES" sz="1000" dirty="0" err="1">
                          <a:solidFill>
                            <a:srgbClr val="4F81BD"/>
                          </a:solidFill>
                          <a:latin typeface="Calibri"/>
                          <a:ea typeface="Calibri"/>
                          <a:cs typeface="Calibri"/>
                          <a:sym typeface="Calibri"/>
                        </a:rPr>
                        <a:t>CargadorEnv.Cargar</a:t>
                      </a:r>
                      <a:r>
                        <a:rPr lang="es-ES" sz="1000" dirty="0">
                          <a:solidFill>
                            <a:srgbClr val="4F81BD"/>
                          </a:solidFill>
                          <a:latin typeface="Calibri"/>
                          <a:ea typeface="Calibri"/>
                          <a:cs typeface="Calibri"/>
                          <a:sym typeface="Calibri"/>
                        </a:rPr>
                        <a:t>(ruta);</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variables.TryGetValue</a:t>
                      </a:r>
                      <a:r>
                        <a:rPr lang="es-ES" sz="1000" dirty="0">
                          <a:solidFill>
                            <a:srgbClr val="4F81BD"/>
                          </a:solidFill>
                          <a:latin typeface="Calibri"/>
                          <a:ea typeface="Calibri"/>
                          <a:cs typeface="Calibri"/>
                          <a:sym typeface="Calibri"/>
                        </a:rPr>
                        <a:t>("URL_BASE", </a:t>
                      </a:r>
                      <a:r>
                        <a:rPr lang="es-ES" sz="1000" dirty="0" err="1">
                          <a:solidFill>
                            <a:srgbClr val="4F81BD"/>
                          </a:solidFill>
                          <a:latin typeface="Calibri"/>
                          <a:ea typeface="Calibri"/>
                          <a:cs typeface="Calibri"/>
                          <a:sym typeface="Calibri"/>
                        </a:rPr>
                        <a:t>out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var</a:t>
                      </a:r>
                      <a:r>
                        <a:rPr lang="es-ES" sz="1000" dirty="0">
                          <a:solidFill>
                            <a:srgbClr val="4F81BD"/>
                          </a:solidFill>
                          <a:latin typeface="Calibri"/>
                          <a:ea typeface="Calibri"/>
                          <a:cs typeface="Calibri"/>
                          <a:sym typeface="Calibri"/>
                        </a:rPr>
                        <a:t> valor) &amp;&amp; !</a:t>
                      </a:r>
                      <a:r>
                        <a:rPr lang="es-ES" sz="1000" dirty="0" err="1">
                          <a:solidFill>
                            <a:srgbClr val="4F81BD"/>
                          </a:solidFill>
                          <a:latin typeface="Calibri"/>
                          <a:ea typeface="Calibri"/>
                          <a:cs typeface="Calibri"/>
                          <a:sym typeface="Calibri"/>
                        </a:rPr>
                        <a:t>string.IsNullOrWhiteSpace</a:t>
                      </a:r>
                      <a:r>
                        <a:rPr lang="es-ES" sz="1000" dirty="0">
                          <a:solidFill>
                            <a:srgbClr val="4F81BD"/>
                          </a:solidFill>
                          <a:latin typeface="Calibri"/>
                          <a:ea typeface="Calibri"/>
                          <a:cs typeface="Calibri"/>
                          <a:sym typeface="Calibri"/>
                        </a:rPr>
                        <a:t>(valor))</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urlBase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valor.Trim</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catch</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string.IsNullOrWhiteSpace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urlBase</a:t>
                      </a:r>
                      <a:r>
                        <a:rPr lang="es-ES" sz="10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0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8" name="Google Shape;328;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9" name="Google Shape;329;p41"/>
          <p:cNvGraphicFramePr/>
          <p:nvPr>
            <p:extLst>
              <p:ext uri="{D42A27DB-BD31-4B8C-83A1-F6EECF244321}">
                <p14:modId xmlns:p14="http://schemas.microsoft.com/office/powerpoint/2010/main" val="2765936225"/>
              </p:ext>
            </p:extLst>
          </p:nvPr>
        </p:nvGraphicFramePr>
        <p:xfrm>
          <a:off x="2898722" y="2418012"/>
          <a:ext cx="6062675" cy="3566293"/>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3566293">
                <a:tc>
                  <a:txBody>
                    <a:bodyPr/>
                    <a:lstStyle/>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SesionActual</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Token { </a:t>
                      </a:r>
                      <a:r>
                        <a:rPr lang="es-ES" sz="1100" dirty="0" err="1">
                          <a:solidFill>
                            <a:srgbClr val="4F81BD"/>
                          </a:solidFill>
                          <a:latin typeface="Calibri"/>
                          <a:ea typeface="Calibri"/>
                          <a:cs typeface="Calibri"/>
                          <a:sym typeface="Calibri"/>
                        </a:rPr>
                        <a:t>get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set;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get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set;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bool</a:t>
                      </a:r>
                      <a:r>
                        <a:rPr lang="es-ES" sz="1100" dirty="0">
                          <a:solidFill>
                            <a:srgbClr val="4F81BD"/>
                          </a:solidFill>
                          <a:latin typeface="Calibri"/>
                          <a:ea typeface="Calibri"/>
                          <a:cs typeface="Calibri"/>
                          <a:sym typeface="Calibri"/>
                        </a:rPr>
                        <a:t> Autenticado =&gt; !</a:t>
                      </a:r>
                      <a:r>
                        <a:rPr lang="es-ES" sz="1100" dirty="0" err="1">
                          <a:solidFill>
                            <a:srgbClr val="4F81BD"/>
                          </a:solidFill>
                          <a:latin typeface="Calibri"/>
                          <a:ea typeface="Calibri"/>
                          <a:cs typeface="Calibri"/>
                          <a:sym typeface="Calibri"/>
                        </a:rPr>
                        <a:t>string.IsNullOrEmpty</a:t>
                      </a:r>
                      <a:r>
                        <a:rPr lang="es-ES" sz="1100" dirty="0">
                          <a:solidFill>
                            <a:srgbClr val="4F81BD"/>
                          </a:solidFill>
                          <a:latin typeface="Calibri"/>
                          <a:ea typeface="Calibri"/>
                          <a:cs typeface="Calibri"/>
                          <a:sym typeface="Calibri"/>
                        </a:rPr>
                        <a:t>(Token);</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void</a:t>
                      </a:r>
                      <a:r>
                        <a:rPr lang="es-ES" sz="1100" dirty="0">
                          <a:solidFill>
                            <a:srgbClr val="4F81BD"/>
                          </a:solidFill>
                          <a:latin typeface="Calibri"/>
                          <a:ea typeface="Calibri"/>
                          <a:cs typeface="Calibri"/>
                          <a:sym typeface="Calibri"/>
                        </a:rPr>
                        <a:t> Iniciar(</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token)</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Token = token;</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void</a:t>
                      </a:r>
                      <a:r>
                        <a:rPr lang="es-ES" sz="1100" dirty="0">
                          <a:solidFill>
                            <a:srgbClr val="4F81BD"/>
                          </a:solidFill>
                          <a:latin typeface="Calibri"/>
                          <a:ea typeface="Calibri"/>
                          <a:cs typeface="Calibri"/>
                          <a:sym typeface="Calibri"/>
                        </a:rPr>
                        <a:t> Cerrar()</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NombreUsuario</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Token =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2348F5FA-412C-637F-1F87-8B5060DD571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6" name="Google Shape;336;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37" name="Google Shape;337;p42"/>
          <p:cNvGraphicFramePr/>
          <p:nvPr>
            <p:extLst>
              <p:ext uri="{D42A27DB-BD31-4B8C-83A1-F6EECF244321}">
                <p14:modId xmlns:p14="http://schemas.microsoft.com/office/powerpoint/2010/main" val="502774610"/>
              </p:ext>
            </p:extLst>
          </p:nvPr>
        </p:nvGraphicFramePr>
        <p:xfrm>
          <a:off x="3258803" y="3352738"/>
          <a:ext cx="5439425" cy="1748374"/>
        </p:xfrm>
        <a:graphic>
          <a:graphicData uri="http://schemas.openxmlformats.org/drawingml/2006/table">
            <a:tbl>
              <a:tblPr>
                <a:noFill/>
                <a:tableStyleId>{BF136021-7255-42B7-A7E7-87A8D8FFE9CA}</a:tableStyleId>
              </a:tblPr>
              <a:tblGrid>
                <a:gridCol w="5439425">
                  <a:extLst>
                    <a:ext uri="{9D8B030D-6E8A-4147-A177-3AD203B41FA5}">
                      <a16:colId xmlns:a16="http://schemas.microsoft.com/office/drawing/2014/main" val="20000"/>
                    </a:ext>
                  </a:extLst>
                </a:gridCol>
              </a:tblGrid>
              <a:tr h="1748374">
                <a:tc>
                  <a:txBody>
                    <a:bodyPr/>
                    <a:lstStyle/>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pt-BR" sz="1100" dirty="0">
                          <a:solidFill>
                            <a:srgbClr val="4F81BD"/>
                          </a:solidFill>
                          <a:latin typeface="Calibri"/>
                          <a:ea typeface="Calibri"/>
                          <a:cs typeface="Calibri"/>
                          <a:sym typeface="Calibri"/>
                        </a:rPr>
                        <a:t> public enum CategoriaUnidad</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Temperatura,</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Longitud,</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Masa</a:t>
                      </a:r>
                    </a:p>
                    <a:p>
                      <a:pPr marL="0" lvl="0" indent="0" algn="l" rtl="0">
                        <a:spcBef>
                          <a:spcPts val="0"/>
                        </a:spcBef>
                        <a:spcAft>
                          <a:spcPts val="0"/>
                        </a:spcAft>
                        <a:buClr>
                          <a:schemeClr val="dk1"/>
                        </a:buClr>
                        <a:buSzPts val="1100"/>
                        <a:buFont typeface="Arial"/>
                        <a:buNone/>
                      </a:pPr>
                      <a:r>
                        <a:rPr lang="pt-BR"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B1440CD-484E-713C-F3FF-CC800025A4E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a:spLocks noGrp="1"/>
          </p:cNvSpPr>
          <p:nvPr>
            <p:ph type="body" idx="1"/>
          </p:nvPr>
        </p:nvSpPr>
        <p:spPr>
          <a:xfrm>
            <a:off x="830650" y="2141151"/>
            <a:ext cx="7742247" cy="906849"/>
          </a:xfrm>
          <a:prstGeom prst="rect">
            <a:avLst/>
          </a:prstGeom>
          <a:noFill/>
          <a:ln>
            <a:noFill/>
          </a:ln>
        </p:spPr>
        <p:txBody>
          <a:bodyPr spcFirstLastPara="1" wrap="square" lIns="91425" tIns="45700" rIns="91425" bIns="45700" anchor="ctr" anchorCtr="0">
            <a:normAutofit fontScale="92500" lnSpcReduction="20000"/>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Se deberá configurar un archivo </a:t>
            </a:r>
            <a:r>
              <a:rPr lang="es-MX" sz="1400" dirty="0" err="1">
                <a:solidFill>
                  <a:schemeClr val="dk1"/>
                </a:solidFill>
                <a:latin typeface="Calibri"/>
                <a:ea typeface="Calibri"/>
                <a:cs typeface="Calibri"/>
                <a:sym typeface="Calibri"/>
              </a:rPr>
              <a:t>development.env</a:t>
            </a:r>
            <a:r>
              <a:rPr lang="es-MX" sz="1400" dirty="0">
                <a:solidFill>
                  <a:schemeClr val="dk1"/>
                </a:solidFill>
                <a:latin typeface="Calibri"/>
                <a:ea typeface="Calibri"/>
                <a:cs typeface="Calibri"/>
                <a:sym typeface="Calibri"/>
              </a:rPr>
              <a:t> para contener la </a:t>
            </a:r>
            <a:r>
              <a:rPr lang="es-MX" sz="1400" dirty="0" err="1">
                <a:solidFill>
                  <a:schemeClr val="dk1"/>
                </a:solidFill>
                <a:latin typeface="Calibri"/>
                <a:ea typeface="Calibri"/>
                <a:cs typeface="Calibri"/>
                <a:sym typeface="Calibri"/>
              </a:rPr>
              <a:t>url</a:t>
            </a:r>
            <a:r>
              <a:rPr lang="es-MX" sz="1400" dirty="0">
                <a:solidFill>
                  <a:schemeClr val="dk1"/>
                </a:solidFill>
                <a:latin typeface="Calibri"/>
                <a:ea typeface="Calibri"/>
                <a:cs typeface="Calibri"/>
                <a:sym typeface="Calibri"/>
              </a:rPr>
              <a:t> del servidor, también si es necesario se podrían crear secretos en un archivo </a:t>
            </a:r>
            <a:r>
              <a:rPr lang="es-MX" sz="1400" dirty="0" err="1">
                <a:solidFill>
                  <a:schemeClr val="dk1"/>
                </a:solidFill>
                <a:latin typeface="Calibri"/>
                <a:ea typeface="Calibri"/>
                <a:cs typeface="Calibri"/>
                <a:sym typeface="Calibri"/>
              </a:rPr>
              <a:t>secret.json</a:t>
            </a:r>
            <a:r>
              <a:rPr lang="es-MX" sz="1400" dirty="0">
                <a:solidFill>
                  <a:schemeClr val="dk1"/>
                </a:solidFill>
                <a:latin typeface="Calibri"/>
                <a:ea typeface="Calibri"/>
                <a:cs typeface="Calibri"/>
                <a:sym typeface="Calibri"/>
              </a:rPr>
              <a:t> para manejar variables de entorno sensibles</a:t>
            </a:r>
            <a:endParaRPr sz="1200" dirty="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46" name="Google Shape;346;p43"/>
          <p:cNvGraphicFramePr/>
          <p:nvPr>
            <p:extLst>
              <p:ext uri="{D42A27DB-BD31-4B8C-83A1-F6EECF244321}">
                <p14:modId xmlns:p14="http://schemas.microsoft.com/office/powerpoint/2010/main" val="1565465795"/>
              </p:ext>
            </p:extLst>
          </p:nvPr>
        </p:nvGraphicFramePr>
        <p:xfrm>
          <a:off x="1538726" y="3164758"/>
          <a:ext cx="6326093" cy="1272407"/>
        </p:xfrm>
        <a:graphic>
          <a:graphicData uri="http://schemas.openxmlformats.org/drawingml/2006/table">
            <a:tbl>
              <a:tblPr>
                <a:noFill/>
                <a:tableStyleId>{BF136021-7255-42B7-A7E7-87A8D8FFE9CA}</a:tableStyleId>
              </a:tblPr>
              <a:tblGrid>
                <a:gridCol w="6326093">
                  <a:extLst>
                    <a:ext uri="{9D8B030D-6E8A-4147-A177-3AD203B41FA5}">
                      <a16:colId xmlns:a16="http://schemas.microsoft.com/office/drawing/2014/main" val="20000"/>
                    </a:ext>
                  </a:extLst>
                </a:gridCol>
              </a:tblGrid>
              <a:tr h="1272407">
                <a:tc>
                  <a:txBody>
                    <a:bodyPr/>
                    <a:lstStyle/>
                    <a:p>
                      <a:pPr marL="0" lvl="0" indent="0" algn="l" rtl="0">
                        <a:spcBef>
                          <a:spcPts val="0"/>
                        </a:spcBef>
                        <a:spcAft>
                          <a:spcPts val="0"/>
                        </a:spcAft>
                        <a:buNone/>
                      </a:pPr>
                      <a:r>
                        <a:rPr lang="es-MX" sz="1100" dirty="0">
                          <a:solidFill>
                            <a:srgbClr val="4F81BD"/>
                          </a:solidFill>
                          <a:latin typeface="Calibri"/>
                          <a:ea typeface="Calibri"/>
                          <a:cs typeface="Calibri"/>
                          <a:sym typeface="Calibri"/>
                        </a:rPr>
                        <a:t># URL del servidor REST para el cliente de consola ejecutado en esta computadora.</a:t>
                      </a:r>
                    </a:p>
                    <a:p>
                      <a:pPr marL="0" lvl="0" indent="0" algn="l" rtl="0">
                        <a:spcBef>
                          <a:spcPts val="0"/>
                        </a:spcBef>
                        <a:spcAft>
                          <a:spcPts val="0"/>
                        </a:spcAft>
                        <a:buNone/>
                      </a:pPr>
                      <a:r>
                        <a:rPr lang="es-MX" sz="1100" dirty="0">
                          <a:solidFill>
                            <a:srgbClr val="4F81BD"/>
                          </a:solidFill>
                          <a:latin typeface="Calibri"/>
                          <a:ea typeface="Calibri"/>
                          <a:cs typeface="Calibri"/>
                          <a:sym typeface="Calibri"/>
                        </a:rPr>
                        <a:t>URL_BASE=http://localhost:60980</a:t>
                      </a:r>
                    </a:p>
                    <a:p>
                      <a:pPr marL="0" lvl="0" indent="0" algn="l" rtl="0">
                        <a:spcBef>
                          <a:spcPts val="0"/>
                        </a:spcBef>
                        <a:spcAft>
                          <a:spcPts val="0"/>
                        </a:spcAft>
                        <a:buNone/>
                      </a:pPr>
                      <a:endParaRPr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3" name="Google Shape;353;p4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54" name="Google Shape;354;p44"/>
          <p:cNvGraphicFramePr/>
          <p:nvPr>
            <p:extLst>
              <p:ext uri="{D42A27DB-BD31-4B8C-83A1-F6EECF244321}">
                <p14:modId xmlns:p14="http://schemas.microsoft.com/office/powerpoint/2010/main" val="2042600398"/>
              </p:ext>
            </p:extLst>
          </p:nvPr>
        </p:nvGraphicFramePr>
        <p:xfrm>
          <a:off x="2035369" y="1902078"/>
          <a:ext cx="3517216" cy="4769700"/>
        </p:xfrm>
        <a:graphic>
          <a:graphicData uri="http://schemas.openxmlformats.org/drawingml/2006/table">
            <a:tbl>
              <a:tblPr>
                <a:noFill/>
                <a:tableStyleId>{BF136021-7255-42B7-A7E7-87A8D8FFE9CA}</a:tableStyleId>
              </a:tblPr>
              <a:tblGrid>
                <a:gridCol w="3517216">
                  <a:extLst>
                    <a:ext uri="{9D8B030D-6E8A-4147-A177-3AD203B41FA5}">
                      <a16:colId xmlns:a16="http://schemas.microsoft.com/office/drawing/2014/main" val="20000"/>
                    </a:ext>
                  </a:extLst>
                </a:gridCol>
              </a:tblGrid>
              <a:tr h="4769700">
                <a:tc>
                  <a:txBody>
                    <a:bodyPr/>
                    <a:lstStyle/>
                    <a:p>
                      <a:pPr marL="0" lvl="0" indent="0" algn="l" rtl="0">
                        <a:spcBef>
                          <a:spcPts val="0"/>
                        </a:spcBef>
                        <a:spcAft>
                          <a:spcPts val="0"/>
                        </a:spcAft>
                        <a:buNone/>
                      </a:pPr>
                      <a:r>
                        <a:rPr lang="es-ES" sz="1050" dirty="0" err="1">
                          <a:solidFill>
                            <a:srgbClr val="4F81BD"/>
                          </a:solidFill>
                          <a:latin typeface="Calibri"/>
                          <a:ea typeface="Calibri"/>
                          <a:cs typeface="Calibri"/>
                          <a:sym typeface="Calibri"/>
                        </a:rPr>
                        <a:t>public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async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Task</a:t>
                      </a:r>
                      <a:r>
                        <a:rPr lang="es-ES" sz="1050" dirty="0">
                          <a:solidFill>
                            <a:srgbClr val="4F81BD"/>
                          </a:solidFill>
                          <a:latin typeface="Calibri"/>
                          <a:ea typeface="Calibri"/>
                          <a:cs typeface="Calibri"/>
                          <a:sym typeface="Calibri"/>
                        </a:rPr>
                        <a:t>&lt;</a:t>
                      </a:r>
                      <a:r>
                        <a:rPr lang="es-ES" sz="1050" dirty="0" err="1">
                          <a:solidFill>
                            <a:srgbClr val="4F81BD"/>
                          </a:solidFill>
                          <a:latin typeface="Calibri"/>
                          <a:ea typeface="Calibri"/>
                          <a:cs typeface="Calibri"/>
                          <a:sym typeface="Calibri"/>
                        </a:rPr>
                        <a:t>RespuestaInicioSesion</a:t>
                      </a:r>
                      <a:r>
                        <a:rPr lang="es-ES" sz="1050" dirty="0">
                          <a:solidFill>
                            <a:srgbClr val="4F81BD"/>
                          </a:solidFill>
                          <a:latin typeface="Calibri"/>
                          <a:ea typeface="Calibri"/>
                          <a:cs typeface="Calibri"/>
                          <a:sym typeface="Calibri"/>
                        </a:rPr>
                        <a:t>&gt; </a:t>
                      </a:r>
                      <a:r>
                        <a:rPr lang="es-ES" sz="1050" dirty="0" err="1">
                          <a:solidFill>
                            <a:srgbClr val="4F81BD"/>
                          </a:solidFill>
                          <a:latin typeface="Calibri"/>
                          <a:ea typeface="Calibri"/>
                          <a:cs typeface="Calibri"/>
                          <a:sym typeface="Calibri"/>
                        </a:rPr>
                        <a:t>IniciarSesionAsync</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usuario,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contrasena</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ServicioConversionUnidadesClient</a:t>
                      </a:r>
                      <a:r>
                        <a:rPr lang="es-ES" sz="1050" dirty="0">
                          <a:solidFill>
                            <a:srgbClr val="4F81BD"/>
                          </a:solidFill>
                          <a:latin typeface="Calibri"/>
                          <a:ea typeface="Calibri"/>
                          <a:cs typeface="Calibri"/>
                          <a:sym typeface="Calibri"/>
                        </a:rPr>
                        <a:t>? cliente = </a:t>
                      </a:r>
                      <a:r>
                        <a:rPr lang="es-ES" sz="1050" dirty="0" err="1">
                          <a:solidFill>
                            <a:srgbClr val="4F81BD"/>
                          </a:solidFill>
                          <a:latin typeface="Calibri"/>
                          <a:ea typeface="Calibri"/>
                          <a:cs typeface="Calibri"/>
                          <a:sym typeface="Calibri"/>
                        </a:rPr>
                        <a:t>CrearCliente</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try</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var</a:t>
                      </a:r>
                      <a:r>
                        <a:rPr lang="es-ES" sz="1050" dirty="0">
                          <a:solidFill>
                            <a:srgbClr val="4F81BD"/>
                          </a:solidFill>
                          <a:latin typeface="Calibri"/>
                          <a:ea typeface="Calibri"/>
                          <a:cs typeface="Calibri"/>
                          <a:sym typeface="Calibri"/>
                        </a:rPr>
                        <a:t> solicitud = new </a:t>
                      </a:r>
                      <a:r>
                        <a:rPr lang="es-ES" sz="1050" dirty="0" err="1">
                          <a:solidFill>
                            <a:srgbClr val="4F81BD"/>
                          </a:solidFill>
                          <a:latin typeface="Calibri"/>
                          <a:ea typeface="Calibri"/>
                          <a:cs typeface="Calibri"/>
                          <a:sym typeface="Calibri"/>
                        </a:rPr>
                        <a:t>SolicitudInicioSesion</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NombreUsuario</a:t>
                      </a:r>
                      <a:r>
                        <a:rPr lang="es-ES" sz="1050" dirty="0">
                          <a:solidFill>
                            <a:srgbClr val="4F81BD"/>
                          </a:solidFill>
                          <a:latin typeface="Calibri"/>
                          <a:ea typeface="Calibri"/>
                          <a:cs typeface="Calibri"/>
                          <a:sym typeface="Calibri"/>
                        </a:rPr>
                        <a:t> = usuario,</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Contrasena</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contrasena</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await</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cliente.IniciarSesionAsync</a:t>
                      </a:r>
                      <a:r>
                        <a:rPr lang="es-ES" sz="1050" dirty="0">
                          <a:solidFill>
                            <a:srgbClr val="4F81BD"/>
                          </a:solidFill>
                          <a:latin typeface="Calibri"/>
                          <a:ea typeface="Calibri"/>
                          <a:cs typeface="Calibri"/>
                          <a:sym typeface="Calibri"/>
                        </a:rPr>
                        <a:t>(solicitud);</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catch (</a:t>
                      </a:r>
                      <a:r>
                        <a:rPr lang="es-ES" sz="1050" dirty="0" err="1">
                          <a:solidFill>
                            <a:srgbClr val="4F81BD"/>
                          </a:solidFill>
                          <a:latin typeface="Calibri"/>
                          <a:ea typeface="Calibri"/>
                          <a:cs typeface="Calibri"/>
                          <a:sym typeface="Calibri"/>
                        </a:rPr>
                        <a:t>CommunicationException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NuevaRespuestaInicioSesion</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MensajeConexion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catch (</a:t>
                      </a:r>
                      <a:r>
                        <a:rPr lang="es-ES" sz="1050" dirty="0" err="1">
                          <a:solidFill>
                            <a:srgbClr val="4F81BD"/>
                          </a:solidFill>
                          <a:latin typeface="Calibri"/>
                          <a:ea typeface="Calibri"/>
                          <a:cs typeface="Calibri"/>
                          <a:sym typeface="Calibri"/>
                        </a:rPr>
                        <a:t>TimeoutException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NuevaRespuestaInicioSesion</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MensajeTiempoAgotado</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finally</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Finalizar(cliente);</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55" name="Google Shape;355;p44"/>
          <p:cNvGraphicFramePr/>
          <p:nvPr>
            <p:extLst>
              <p:ext uri="{D42A27DB-BD31-4B8C-83A1-F6EECF244321}">
                <p14:modId xmlns:p14="http://schemas.microsoft.com/office/powerpoint/2010/main" val="1353961877"/>
              </p:ext>
            </p:extLst>
          </p:nvPr>
        </p:nvGraphicFramePr>
        <p:xfrm>
          <a:off x="5684672" y="1902078"/>
          <a:ext cx="3459328" cy="4767580"/>
        </p:xfrm>
        <a:graphic>
          <a:graphicData uri="http://schemas.openxmlformats.org/drawingml/2006/table">
            <a:tbl>
              <a:tblPr>
                <a:noFill/>
                <a:tableStyleId>{BF136021-7255-42B7-A7E7-87A8D8FFE9CA}</a:tableStyleId>
              </a:tblPr>
              <a:tblGrid>
                <a:gridCol w="3459328">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public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async</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Task</a:t>
                      </a:r>
                      <a:r>
                        <a:rPr lang="es-ES" sz="1050" dirty="0">
                          <a:solidFill>
                            <a:srgbClr val="4F81BD"/>
                          </a:solidFill>
                          <a:latin typeface="Calibri"/>
                          <a:ea typeface="Calibri"/>
                          <a:cs typeface="Calibri"/>
                          <a:sym typeface="Calibri"/>
                        </a:rPr>
                        <a:t>&lt;</a:t>
                      </a:r>
                      <a:r>
                        <a:rPr lang="es-ES" sz="1050" dirty="0" err="1">
                          <a:solidFill>
                            <a:srgbClr val="4F81BD"/>
                          </a:solidFill>
                          <a:latin typeface="Calibri"/>
                          <a:ea typeface="Calibri"/>
                          <a:cs typeface="Calibri"/>
                          <a:sym typeface="Calibri"/>
                        </a:rPr>
                        <a:t>RespuestaConversion</a:t>
                      </a:r>
                      <a:r>
                        <a:rPr lang="es-ES" sz="1050" dirty="0">
                          <a:solidFill>
                            <a:srgbClr val="4F81BD"/>
                          </a:solidFill>
                          <a:latin typeface="Calibri"/>
                          <a:ea typeface="Calibri"/>
                          <a:cs typeface="Calibri"/>
                          <a:sym typeface="Calibri"/>
                        </a:rPr>
                        <a:t>&gt; </a:t>
                      </a:r>
                      <a:r>
                        <a:rPr lang="es-ES" sz="1050" dirty="0" err="1">
                          <a:solidFill>
                            <a:srgbClr val="4F81BD"/>
                          </a:solidFill>
                          <a:latin typeface="Calibri"/>
                          <a:ea typeface="Calibri"/>
                          <a:cs typeface="Calibri"/>
                          <a:sym typeface="Calibri"/>
                        </a:rPr>
                        <a:t>ConvertirAsync</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token,</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CategoriaUnidad</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categoria</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unidadOrigen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string</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unidadDestino</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double</a:t>
                      </a:r>
                      <a:r>
                        <a:rPr lang="es-ES" sz="105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var</a:t>
                      </a:r>
                      <a:r>
                        <a:rPr lang="es-ES" sz="1050" dirty="0">
                          <a:solidFill>
                            <a:srgbClr val="4F81BD"/>
                          </a:solidFill>
                          <a:latin typeface="Calibri"/>
                          <a:ea typeface="Calibri"/>
                          <a:cs typeface="Calibri"/>
                          <a:sym typeface="Calibri"/>
                        </a:rPr>
                        <a:t> solicitud = new </a:t>
                      </a:r>
                      <a:r>
                        <a:rPr lang="es-ES" sz="1050" dirty="0" err="1">
                          <a:solidFill>
                            <a:srgbClr val="4F81BD"/>
                          </a:solidFill>
                          <a:latin typeface="Calibri"/>
                          <a:ea typeface="Calibri"/>
                          <a:cs typeface="Calibri"/>
                          <a:sym typeface="Calibri"/>
                        </a:rPr>
                        <a:t>SolicitudConversion</a:t>
                      </a: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Categoria</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categoria.ToString</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UnidadOrigen</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unidadOrigen</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UnidadDestino</a:t>
                      </a:r>
                      <a:r>
                        <a:rPr lang="es-ES" sz="1050" dirty="0">
                          <a:solidFill>
                            <a:srgbClr val="4F81BD"/>
                          </a:solidFill>
                          <a:latin typeface="Calibri"/>
                          <a:ea typeface="Calibri"/>
                          <a:cs typeface="Calibri"/>
                          <a:sym typeface="Calibri"/>
                        </a:rPr>
                        <a:t> = </a:t>
                      </a:r>
                      <a:r>
                        <a:rPr lang="es-ES" sz="1050" dirty="0" err="1">
                          <a:solidFill>
                            <a:srgbClr val="4F81BD"/>
                          </a:solidFill>
                          <a:latin typeface="Calibri"/>
                          <a:ea typeface="Calibri"/>
                          <a:cs typeface="Calibri"/>
                          <a:sym typeface="Calibri"/>
                        </a:rPr>
                        <a:t>unidadDestino</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Valor = </a:t>
                      </a:r>
                      <a:r>
                        <a:rPr lang="es-ES" sz="1050" dirty="0" err="1">
                          <a:solidFill>
                            <a:srgbClr val="4F81BD"/>
                          </a:solidFill>
                          <a:latin typeface="Calibri"/>
                          <a:ea typeface="Calibri"/>
                          <a:cs typeface="Calibri"/>
                          <a:sym typeface="Calibri"/>
                        </a:rPr>
                        <a:t>valor.ToString</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CultureInfo.InvariantCulture</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ServicioConversionUnidadesClient</a:t>
                      </a:r>
                      <a:r>
                        <a:rPr lang="es-ES" sz="1050" dirty="0">
                          <a:solidFill>
                            <a:srgbClr val="4F81BD"/>
                          </a:solidFill>
                          <a:latin typeface="Calibri"/>
                          <a:ea typeface="Calibri"/>
                          <a:cs typeface="Calibri"/>
                          <a:sym typeface="Calibri"/>
                        </a:rPr>
                        <a:t>? cliente = </a:t>
                      </a:r>
                      <a:r>
                        <a:rPr lang="es-ES" sz="1050" dirty="0" err="1">
                          <a:solidFill>
                            <a:srgbClr val="4F81BD"/>
                          </a:solidFill>
                          <a:latin typeface="Calibri"/>
                          <a:ea typeface="Calibri"/>
                          <a:cs typeface="Calibri"/>
                          <a:sym typeface="Calibri"/>
                        </a:rPr>
                        <a:t>CrearCliente</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try</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RespuestaConversionMensaje</a:t>
                      </a:r>
                      <a:r>
                        <a:rPr lang="es-ES" sz="1050" dirty="0">
                          <a:solidFill>
                            <a:srgbClr val="4F81BD"/>
                          </a:solidFill>
                          <a:latin typeface="Calibri"/>
                          <a:ea typeface="Calibri"/>
                          <a:cs typeface="Calibri"/>
                          <a:sym typeface="Calibri"/>
                        </a:rPr>
                        <a:t> respuesta = </a:t>
                      </a:r>
                      <a:r>
                        <a:rPr lang="es-ES" sz="1050" dirty="0" err="1">
                          <a:solidFill>
                            <a:srgbClr val="4F81BD"/>
                          </a:solidFill>
                          <a:latin typeface="Calibri"/>
                          <a:ea typeface="Calibri"/>
                          <a:cs typeface="Calibri"/>
                          <a:sym typeface="Calibri"/>
                        </a:rPr>
                        <a:t>await</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cliente.ConvertirAsync</a:t>
                      </a:r>
                      <a:r>
                        <a:rPr lang="es-ES" sz="1050" dirty="0">
                          <a:solidFill>
                            <a:srgbClr val="4F81BD"/>
                          </a:solidFill>
                          <a:latin typeface="Calibri"/>
                          <a:ea typeface="Calibri"/>
                          <a:cs typeface="Calibri"/>
                          <a:sym typeface="Calibri"/>
                        </a:rPr>
                        <a:t>(token, solicitud);</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if</a:t>
                      </a:r>
                      <a:r>
                        <a:rPr lang="es-ES" sz="1050" dirty="0">
                          <a:solidFill>
                            <a:srgbClr val="4F81BD"/>
                          </a:solidFill>
                          <a:latin typeface="Calibri"/>
                          <a:ea typeface="Calibri"/>
                          <a:cs typeface="Calibri"/>
                          <a:sym typeface="Calibri"/>
                        </a:rPr>
                        <a:t> (respuesta?.</a:t>
                      </a:r>
                      <a:r>
                        <a:rPr lang="es-ES" sz="1050" dirty="0" err="1">
                          <a:solidFill>
                            <a:srgbClr val="4F81BD"/>
                          </a:solidFill>
                          <a:latin typeface="Calibri"/>
                          <a:ea typeface="Calibri"/>
                          <a:cs typeface="Calibri"/>
                          <a:sym typeface="Calibri"/>
                        </a:rPr>
                        <a:t>ConvertirResult</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is</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null</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return</a:t>
                      </a:r>
                      <a:r>
                        <a:rPr lang="es-ES" sz="1050" dirty="0">
                          <a:solidFill>
                            <a:srgbClr val="4F81BD"/>
                          </a:solidFill>
                          <a:latin typeface="Calibri"/>
                          <a:ea typeface="Calibri"/>
                          <a:cs typeface="Calibri"/>
                          <a:sym typeface="Calibri"/>
                        </a:rPr>
                        <a:t> </a:t>
                      </a:r>
                      <a:r>
                        <a:rPr lang="es-ES" sz="1050" dirty="0" err="1">
                          <a:solidFill>
                            <a:srgbClr val="4F81BD"/>
                          </a:solidFill>
                          <a:latin typeface="Calibri"/>
                          <a:ea typeface="Calibri"/>
                          <a:cs typeface="Calibri"/>
                          <a:sym typeface="Calibri"/>
                        </a:rPr>
                        <a:t>NuevaRespuestaConversion</a:t>
                      </a:r>
                      <a:r>
                        <a:rPr lang="es-ES" sz="1050" dirty="0">
                          <a:solidFill>
                            <a:srgbClr val="4F81BD"/>
                          </a:solidFill>
                          <a:latin typeface="Calibri"/>
                          <a:ea typeface="Calibri"/>
                          <a:cs typeface="Calibri"/>
                          <a:sym typeface="Calibri"/>
                        </a:rPr>
                        <a:t>(</a:t>
                      </a:r>
                      <a:r>
                        <a:rPr lang="es-ES" sz="1050" dirty="0" err="1">
                          <a:solidFill>
                            <a:srgbClr val="4F81BD"/>
                          </a:solidFill>
                          <a:latin typeface="Calibri"/>
                          <a:ea typeface="Calibri"/>
                          <a:cs typeface="Calibri"/>
                          <a:sym typeface="Calibri"/>
                        </a:rPr>
                        <a:t>MensajeRespuestaVacia</a:t>
                      </a:r>
                      <a:r>
                        <a:rPr lang="es-ES" sz="105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5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5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9AFB88C-A432-9504-50B3-CFBB6EF109C1}"/>
              </a:ext>
            </a:extLst>
          </p:cNvPr>
          <p:cNvSpPr txBox="1">
            <a:spLocks/>
          </p:cNvSpPr>
          <p:nvPr/>
        </p:nvSpPr>
        <p:spPr>
          <a:xfrm>
            <a:off x="-89075" y="1826848"/>
            <a:ext cx="1992355" cy="47013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2" name="Google Shape;362;p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63" name="Google Shape;363;p45"/>
          <p:cNvGraphicFramePr/>
          <p:nvPr>
            <p:extLst>
              <p:ext uri="{D42A27DB-BD31-4B8C-83A1-F6EECF244321}">
                <p14:modId xmlns:p14="http://schemas.microsoft.com/office/powerpoint/2010/main" val="2278026030"/>
              </p:ext>
            </p:extLst>
          </p:nvPr>
        </p:nvGraphicFramePr>
        <p:xfrm>
          <a:off x="1964150" y="1874095"/>
          <a:ext cx="3522650" cy="482092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void</a:t>
                      </a:r>
                      <a:r>
                        <a:rPr lang="es-ES" sz="1100" dirty="0">
                          <a:solidFill>
                            <a:srgbClr val="4F81BD"/>
                          </a:solidFill>
                          <a:latin typeface="Calibri"/>
                          <a:ea typeface="Calibri"/>
                          <a:cs typeface="Calibri"/>
                          <a:sym typeface="Calibri"/>
                        </a:rPr>
                        <a:t> Finalizar(</a:t>
                      </a:r>
                      <a:r>
                        <a:rPr lang="es-ES" sz="1100" dirty="0" err="1">
                          <a:solidFill>
                            <a:srgbClr val="4F81BD"/>
                          </a:solidFill>
                          <a:latin typeface="Calibri"/>
                          <a:ea typeface="Calibri"/>
                          <a:cs typeface="Calibri"/>
                          <a:sym typeface="Calibri"/>
                        </a:rPr>
                        <a:t>ServicioConversionUnidadesClient</a:t>
                      </a:r>
                      <a:r>
                        <a:rPr lang="es-ES" sz="1100" dirty="0">
                          <a:solidFill>
                            <a:srgbClr val="4F81BD"/>
                          </a:solidFill>
                          <a:latin typeface="Calibri"/>
                          <a:ea typeface="Calibri"/>
                          <a:cs typeface="Calibri"/>
                          <a:sym typeface="Calibri"/>
                        </a:rPr>
                        <a:t>? cliente)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(cliente </a:t>
                      </a:r>
                      <a:r>
                        <a:rPr lang="es-ES" sz="1100" dirty="0" err="1">
                          <a:solidFill>
                            <a:srgbClr val="4F81BD"/>
                          </a:solidFill>
                          <a:latin typeface="Calibri"/>
                          <a:ea typeface="Calibri"/>
                          <a:cs typeface="Calibri"/>
                          <a:sym typeface="Calibri"/>
                        </a:rPr>
                        <a:t>is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try</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cliente.State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CommunicationState.Faulted</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cliente.Abort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else</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cliente.Close</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catch (</a:t>
                      </a:r>
                      <a:r>
                        <a:rPr lang="es-ES" sz="1100" dirty="0" err="1">
                          <a:solidFill>
                            <a:srgbClr val="4F81BD"/>
                          </a:solidFill>
                          <a:latin typeface="Calibri"/>
                          <a:ea typeface="Calibri"/>
                          <a:cs typeface="Calibri"/>
                          <a:sym typeface="Calibri"/>
                        </a:rPr>
                        <a:t>CommunicationException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cliente.Abort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catch (</a:t>
                      </a:r>
                      <a:r>
                        <a:rPr lang="es-ES" sz="1100" dirty="0" err="1">
                          <a:solidFill>
                            <a:srgbClr val="4F81BD"/>
                          </a:solidFill>
                          <a:latin typeface="Calibri"/>
                          <a:ea typeface="Calibri"/>
                          <a:cs typeface="Calibri"/>
                          <a:sym typeface="Calibri"/>
                        </a:rPr>
                        <a:t>TimeoutException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cliente.Abort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64" name="Google Shape;364;p45"/>
          <p:cNvGraphicFramePr/>
          <p:nvPr>
            <p:extLst>
              <p:ext uri="{D42A27DB-BD31-4B8C-83A1-F6EECF244321}">
                <p14:modId xmlns:p14="http://schemas.microsoft.com/office/powerpoint/2010/main" val="1052188324"/>
              </p:ext>
            </p:extLst>
          </p:nvPr>
        </p:nvGraphicFramePr>
        <p:xfrm>
          <a:off x="5684675" y="1874095"/>
          <a:ext cx="3699025" cy="3972225"/>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RespuestaInicioSesion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NuevaRespuestaInicioSesion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RespuestaInicioSesion</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Exito</a:t>
                      </a:r>
                      <a:r>
                        <a:rPr lang="es-ES" sz="1100" dirty="0">
                          <a:solidFill>
                            <a:srgbClr val="4F81BD"/>
                          </a:solidFill>
                          <a:latin typeface="Calibri"/>
                          <a:ea typeface="Calibri"/>
                          <a:cs typeface="Calibri"/>
                          <a:sym typeface="Calibri"/>
                        </a:rPr>
                        <a:t> = false,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Mensaje =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RespuestaConversion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NuevaRespuestaConversion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RespuestaConversion</a:t>
                      </a: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Exito</a:t>
                      </a:r>
                      <a:r>
                        <a:rPr lang="es-ES" sz="1100" dirty="0">
                          <a:solidFill>
                            <a:srgbClr val="4F81BD"/>
                          </a:solidFill>
                          <a:latin typeface="Calibri"/>
                          <a:ea typeface="Calibri"/>
                          <a:cs typeface="Calibri"/>
                          <a:sym typeface="Calibri"/>
                        </a:rPr>
                        <a:t> = false,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ValorConvertido</a:t>
                      </a:r>
                      <a:r>
                        <a:rPr lang="es-ES" sz="1100" dirty="0">
                          <a:solidFill>
                            <a:srgbClr val="4F81BD"/>
                          </a:solidFill>
                          <a:latin typeface="Calibri"/>
                          <a:ea typeface="Calibri"/>
                          <a:cs typeface="Calibri"/>
                          <a:sym typeface="Calibri"/>
                        </a:rPr>
                        <a:t> = 0.0,</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Mensaje = mensaje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8215E44A-8DF1-C436-C40F-F9558F788280}"/>
              </a:ext>
            </a:extLst>
          </p:cNvPr>
          <p:cNvSpPr txBox="1">
            <a:spLocks noGrp="1"/>
          </p:cNvSpPr>
          <p:nvPr>
            <p:ph type="body" idx="1"/>
          </p:nvPr>
        </p:nvSpPr>
        <p:spPr>
          <a:xfrm>
            <a:off x="-86065" y="187409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a:spLocks noGrp="1"/>
          </p:cNvSpPr>
          <p:nvPr>
            <p:ph type="body" idx="1"/>
          </p:nvPr>
        </p:nvSpPr>
        <p:spPr>
          <a:xfrm>
            <a:off x="344995" y="1959919"/>
            <a:ext cx="7513901" cy="75033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dirty="0">
                <a:solidFill>
                  <a:schemeClr val="dk1"/>
                </a:solidFill>
                <a:latin typeface="Calibri"/>
                <a:ea typeface="Calibri"/>
                <a:cs typeface="Calibri"/>
                <a:sym typeface="Calibri"/>
              </a:rPr>
              <a:t>Se puede verificar que el cliente funciona de forma correcta, se levanta y tiene comunicación </a:t>
            </a:r>
            <a:endParaRPr sz="1400" b="1" dirty="0">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1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dirty="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9942F311-23DE-B8E9-7980-59A96BA2F09D}"/>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a:t>
            </a:r>
            <a:r>
              <a:rPr lang="es-ES" sz="1800" b="1" dirty="0" err="1">
                <a:solidFill>
                  <a:srgbClr val="3D3D3D"/>
                </a:solidFill>
                <a:latin typeface="Cambria"/>
                <a:ea typeface="Cambria"/>
                <a:cs typeface="Cambria"/>
                <a:sym typeface="Cambria"/>
              </a:rPr>
              <a:t>login</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3F1AD7D0-15DF-DCED-C51B-0716803F68C3}"/>
              </a:ext>
            </a:extLst>
          </p:cNvPr>
          <p:cNvPicPr>
            <a:picLocks noChangeAspect="1"/>
          </p:cNvPicPr>
          <p:nvPr/>
        </p:nvPicPr>
        <p:blipFill>
          <a:blip r:embed="rId3"/>
          <a:stretch>
            <a:fillRect/>
          </a:stretch>
        </p:blipFill>
        <p:spPr>
          <a:xfrm>
            <a:off x="887418" y="3206505"/>
            <a:ext cx="7186283" cy="251481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618E9D3C-DDDE-6600-506B-61B45ADDC840}"/>
            </a:ext>
          </a:extLst>
        </p:cNvPr>
        <p:cNvGrpSpPr/>
        <p:nvPr/>
      </p:nvGrpSpPr>
      <p:grpSpPr>
        <a:xfrm>
          <a:off x="0" y="0"/>
          <a:ext cx="0" cy="0"/>
          <a:chOff x="0" y="0"/>
          <a:chExt cx="0" cy="0"/>
        </a:xfrm>
      </p:grpSpPr>
      <p:sp>
        <p:nvSpPr>
          <p:cNvPr id="369" name="Google Shape;369;p46">
            <a:extLst>
              <a:ext uri="{FF2B5EF4-FFF2-40B4-BE49-F238E27FC236}">
                <a16:creationId xmlns:a16="http://schemas.microsoft.com/office/drawing/2014/main" id="{8B7FD88F-1C93-6CB6-C555-333FAB2EFC73}"/>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1" name="Google Shape;371;p46">
            <a:extLst>
              <a:ext uri="{FF2B5EF4-FFF2-40B4-BE49-F238E27FC236}">
                <a16:creationId xmlns:a16="http://schemas.microsoft.com/office/drawing/2014/main" id="{CEC4D99B-30AD-77E7-E99D-1289C31C1475}"/>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001CE288-5C67-35B7-7D2E-A4C7BACC8EAC}"/>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menú</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2142ACE0-71E2-A7A5-0973-53E47FC9CF7C}"/>
              </a:ext>
            </a:extLst>
          </p:cNvPr>
          <p:cNvPicPr>
            <a:picLocks noChangeAspect="1"/>
          </p:cNvPicPr>
          <p:nvPr/>
        </p:nvPicPr>
        <p:blipFill>
          <a:blip r:embed="rId3"/>
          <a:stretch>
            <a:fillRect/>
          </a:stretch>
        </p:blipFill>
        <p:spPr>
          <a:xfrm>
            <a:off x="1066876" y="2954312"/>
            <a:ext cx="7132938" cy="3360711"/>
          </a:xfrm>
          <a:prstGeom prst="rect">
            <a:avLst/>
          </a:prstGeom>
        </p:spPr>
      </p:pic>
    </p:spTree>
    <p:extLst>
      <p:ext uri="{BB962C8B-B14F-4D97-AF65-F5344CB8AC3E}">
        <p14:creationId xmlns:p14="http://schemas.microsoft.com/office/powerpoint/2010/main" val="1318048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C9E8968C-BBAD-9770-6094-3DEEE95BDC30}"/>
            </a:ext>
          </a:extLst>
        </p:cNvPr>
        <p:cNvGrpSpPr/>
        <p:nvPr/>
      </p:nvGrpSpPr>
      <p:grpSpPr>
        <a:xfrm>
          <a:off x="0" y="0"/>
          <a:ext cx="0" cy="0"/>
          <a:chOff x="0" y="0"/>
          <a:chExt cx="0" cy="0"/>
        </a:xfrm>
      </p:grpSpPr>
      <p:sp>
        <p:nvSpPr>
          <p:cNvPr id="369" name="Google Shape;369;p46">
            <a:extLst>
              <a:ext uri="{FF2B5EF4-FFF2-40B4-BE49-F238E27FC236}">
                <a16:creationId xmlns:a16="http://schemas.microsoft.com/office/drawing/2014/main" id="{DC2EFB7A-5143-5D8A-B6A0-CA8613FE62A9}"/>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1" name="Google Shape;371;p46">
            <a:extLst>
              <a:ext uri="{FF2B5EF4-FFF2-40B4-BE49-F238E27FC236}">
                <a16:creationId xmlns:a16="http://schemas.microsoft.com/office/drawing/2014/main" id="{E1C3D7B3-9DA2-F71B-ED38-2E65159BB3C7}"/>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1D8E22C8-DEF9-F2DC-D34E-196CEC267A51}"/>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menú</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A596F4F6-4EAF-56E3-AE05-B8A6BC5063FC}"/>
              </a:ext>
            </a:extLst>
          </p:cNvPr>
          <p:cNvPicPr>
            <a:picLocks noChangeAspect="1"/>
          </p:cNvPicPr>
          <p:nvPr/>
        </p:nvPicPr>
        <p:blipFill>
          <a:blip r:embed="rId3"/>
          <a:stretch>
            <a:fillRect/>
          </a:stretch>
        </p:blipFill>
        <p:spPr>
          <a:xfrm>
            <a:off x="1032583" y="3257433"/>
            <a:ext cx="7201524" cy="2705334"/>
          </a:xfrm>
          <a:prstGeom prst="rect">
            <a:avLst/>
          </a:prstGeom>
        </p:spPr>
      </p:pic>
    </p:spTree>
    <p:extLst>
      <p:ext uri="{BB962C8B-B14F-4D97-AF65-F5344CB8AC3E}">
        <p14:creationId xmlns:p14="http://schemas.microsoft.com/office/powerpoint/2010/main" val="3013593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a:extLst>
            <a:ext uri="{FF2B5EF4-FFF2-40B4-BE49-F238E27FC236}">
              <a16:creationId xmlns:a16="http://schemas.microsoft.com/office/drawing/2014/main" id="{55FDFE1C-8B7D-9768-FF49-D6B05D9A4772}"/>
            </a:ext>
          </a:extLst>
        </p:cNvPr>
        <p:cNvGrpSpPr/>
        <p:nvPr/>
      </p:nvGrpSpPr>
      <p:grpSpPr>
        <a:xfrm>
          <a:off x="0" y="0"/>
          <a:ext cx="0" cy="0"/>
          <a:chOff x="0" y="0"/>
          <a:chExt cx="0" cy="0"/>
        </a:xfrm>
      </p:grpSpPr>
      <p:sp>
        <p:nvSpPr>
          <p:cNvPr id="369" name="Google Shape;369;p46">
            <a:extLst>
              <a:ext uri="{FF2B5EF4-FFF2-40B4-BE49-F238E27FC236}">
                <a16:creationId xmlns:a16="http://schemas.microsoft.com/office/drawing/2014/main" id="{48F412CE-D56A-8CE0-9D4D-449D7D4161E1}"/>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371" name="Google Shape;371;p46">
            <a:extLst>
              <a:ext uri="{FF2B5EF4-FFF2-40B4-BE49-F238E27FC236}">
                <a16:creationId xmlns:a16="http://schemas.microsoft.com/office/drawing/2014/main" id="{F5FD0C8E-38F2-9CA4-F5FB-E696731A33B0}"/>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 name="Google Shape;571;p70">
            <a:extLst>
              <a:ext uri="{FF2B5EF4-FFF2-40B4-BE49-F238E27FC236}">
                <a16:creationId xmlns:a16="http://schemas.microsoft.com/office/drawing/2014/main" id="{A87D7A9F-5120-FEC4-F8BC-D987F0B27B40}"/>
              </a:ext>
            </a:extLst>
          </p:cNvPr>
          <p:cNvSpPr txBox="1"/>
          <p:nvPr/>
        </p:nvSpPr>
        <p:spPr>
          <a:xfrm>
            <a:off x="344995" y="2212112"/>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D10DE65C-5D95-CB29-6E14-B2F1BDB2C3D2}"/>
              </a:ext>
            </a:extLst>
          </p:cNvPr>
          <p:cNvPicPr>
            <a:picLocks noChangeAspect="1"/>
          </p:cNvPicPr>
          <p:nvPr/>
        </p:nvPicPr>
        <p:blipFill>
          <a:blip r:embed="rId3"/>
          <a:stretch>
            <a:fillRect/>
          </a:stretch>
        </p:blipFill>
        <p:spPr>
          <a:xfrm>
            <a:off x="1192220" y="3025022"/>
            <a:ext cx="7140559" cy="2728196"/>
          </a:xfrm>
          <a:prstGeom prst="rect">
            <a:avLst/>
          </a:prstGeom>
        </p:spPr>
      </p:pic>
    </p:spTree>
    <p:extLst>
      <p:ext uri="{BB962C8B-B14F-4D97-AF65-F5344CB8AC3E}">
        <p14:creationId xmlns:p14="http://schemas.microsoft.com/office/powerpoint/2010/main" val="3429369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36" name="Google Shape;536;p66"/>
          <p:cNvSpPr txBox="1">
            <a:spLocks noGrp="1"/>
          </p:cNvSpPr>
          <p:nvPr>
            <p:ph type="body" idx="1"/>
          </p:nvPr>
        </p:nvSpPr>
        <p:spPr>
          <a:xfrm>
            <a:off x="603287" y="2062478"/>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de escritorio se debe crear un proyecto WPF o Windows </a:t>
            </a:r>
            <a:r>
              <a:rPr lang="es-ES" sz="1564" dirty="0" err="1">
                <a:latin typeface="Cambria"/>
                <a:ea typeface="Cambria"/>
                <a:cs typeface="Cambria"/>
                <a:sym typeface="Cambria"/>
              </a:rPr>
              <a:t>Presentation</a:t>
            </a:r>
            <a:r>
              <a:rPr lang="es-ES" sz="1564" dirty="0">
                <a:latin typeface="Cambria"/>
                <a:ea typeface="Cambria"/>
                <a:cs typeface="Cambria"/>
                <a:sym typeface="Cambria"/>
              </a:rPr>
              <a:t> </a:t>
            </a:r>
            <a:r>
              <a:rPr lang="es-ES" sz="1564" dirty="0" err="1">
                <a:latin typeface="Cambria"/>
                <a:ea typeface="Cambria"/>
                <a:cs typeface="Cambria"/>
                <a:sym typeface="Cambria"/>
              </a:rPr>
              <a:t>Foundation</a:t>
            </a:r>
            <a:r>
              <a:rPr lang="es-ES" sz="1564" dirty="0">
                <a:latin typeface="Cambria"/>
                <a:ea typeface="Cambria"/>
                <a:cs typeface="Cambria"/>
                <a:sym typeface="Cambria"/>
              </a:rPr>
              <a:t>, el cual se inicializará y configurará para manejar el patrón arquitectónico MVC y las carpetas con el código respectivo</a:t>
            </a:r>
            <a:endParaRPr dirty="0">
              <a:latin typeface="Cambria"/>
              <a:ea typeface="Cambria"/>
              <a:cs typeface="Cambria"/>
              <a:sym typeface="Cambria"/>
            </a:endParaRPr>
          </a:p>
        </p:txBody>
      </p:sp>
      <p:sp>
        <p:nvSpPr>
          <p:cNvPr id="7" name="TextBox 6">
            <a:extLst>
              <a:ext uri="{FF2B5EF4-FFF2-40B4-BE49-F238E27FC236}">
                <a16:creationId xmlns:a16="http://schemas.microsoft.com/office/drawing/2014/main" id="{EF2CADB8-69AC-EDFA-0B55-D4A654EE905F}"/>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1.4  CREACIÓN DEL PROYECTO CLIENTE ESCRITORIO</a:t>
            </a:r>
          </a:p>
        </p:txBody>
      </p:sp>
      <p:pic>
        <p:nvPicPr>
          <p:cNvPr id="6" name="Picture 5">
            <a:extLst>
              <a:ext uri="{FF2B5EF4-FFF2-40B4-BE49-F238E27FC236}">
                <a16:creationId xmlns:a16="http://schemas.microsoft.com/office/drawing/2014/main" id="{ABD8CCDB-E501-3762-38AF-01914CE006A3}"/>
              </a:ext>
            </a:extLst>
          </p:cNvPr>
          <p:cNvPicPr>
            <a:picLocks noChangeAspect="1"/>
          </p:cNvPicPr>
          <p:nvPr/>
        </p:nvPicPr>
        <p:blipFill>
          <a:blip r:embed="rId3"/>
          <a:stretch>
            <a:fillRect/>
          </a:stretch>
        </p:blipFill>
        <p:spPr>
          <a:xfrm>
            <a:off x="458273" y="3348256"/>
            <a:ext cx="5052841" cy="3073258"/>
          </a:xfrm>
          <a:prstGeom prst="rect">
            <a:avLst/>
          </a:prstGeom>
        </p:spPr>
      </p:pic>
      <p:pic>
        <p:nvPicPr>
          <p:cNvPr id="4" name="Picture 3">
            <a:extLst>
              <a:ext uri="{FF2B5EF4-FFF2-40B4-BE49-F238E27FC236}">
                <a16:creationId xmlns:a16="http://schemas.microsoft.com/office/drawing/2014/main" id="{DFC8999A-0FA8-5788-B60C-585398CA09DD}"/>
              </a:ext>
            </a:extLst>
          </p:cNvPr>
          <p:cNvPicPr>
            <a:picLocks noChangeAspect="1"/>
          </p:cNvPicPr>
          <p:nvPr/>
        </p:nvPicPr>
        <p:blipFill>
          <a:blip r:embed="rId4"/>
          <a:stretch>
            <a:fillRect/>
          </a:stretch>
        </p:blipFill>
        <p:spPr>
          <a:xfrm>
            <a:off x="6323701" y="3179144"/>
            <a:ext cx="2225939" cy="32853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lang="es-EC"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47" name="Google Shape;547;p67"/>
          <p:cNvGraphicFramePr/>
          <p:nvPr>
            <p:extLst>
              <p:ext uri="{D42A27DB-BD31-4B8C-83A1-F6EECF244321}">
                <p14:modId xmlns:p14="http://schemas.microsoft.com/office/powerpoint/2010/main" val="1425898851"/>
              </p:ext>
            </p:extLst>
          </p:nvPr>
        </p:nvGraphicFramePr>
        <p:xfrm>
          <a:off x="1940435" y="2166597"/>
          <a:ext cx="3351270" cy="4452493"/>
        </p:xfrm>
        <a:graphic>
          <a:graphicData uri="http://schemas.openxmlformats.org/drawingml/2006/table">
            <a:tbl>
              <a:tblPr>
                <a:noFill/>
                <a:tableStyleId>{BF136021-7255-42B7-A7E7-87A8D8FFE9CA}</a:tableStyleId>
              </a:tblPr>
              <a:tblGrid>
                <a:gridCol w="335127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class</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ConfiguracionCliente</a:t>
                      </a: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get</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ConfiguracionCliente</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urlBase.TrimEnd</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static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ConfiguracionCliente</a:t>
                      </a:r>
                      <a:r>
                        <a:rPr lang="es-EC" sz="900" dirty="0">
                          <a:solidFill>
                            <a:srgbClr val="4F81BD"/>
                          </a:solidFill>
                          <a:latin typeface="Calibri"/>
                          <a:ea typeface="Calibri"/>
                          <a:cs typeface="Calibri"/>
                          <a:sym typeface="Calibri"/>
                        </a:rPr>
                        <a:t> Cargar()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var</a:t>
                      </a:r>
                      <a:r>
                        <a:rPr lang="es-EC" sz="900" dirty="0">
                          <a:solidFill>
                            <a:srgbClr val="4F81BD"/>
                          </a:solidFill>
                          <a:latin typeface="Calibri"/>
                          <a:ea typeface="Calibri"/>
                          <a:cs typeface="Calibri"/>
                          <a:sym typeface="Calibri"/>
                        </a:rPr>
                        <a:t> ruta = </a:t>
                      </a:r>
                      <a:r>
                        <a:rPr lang="es-EC" sz="900" dirty="0" err="1">
                          <a:solidFill>
                            <a:srgbClr val="4F81BD"/>
                          </a:solidFill>
                          <a:latin typeface="Calibri"/>
                          <a:ea typeface="Calibri"/>
                          <a:cs typeface="Calibri"/>
                          <a:sym typeface="Calibri"/>
                        </a:rPr>
                        <a:t>AppContext.BaseDirectory</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var</a:t>
                      </a:r>
                      <a:r>
                        <a:rPr lang="es-EC" sz="900" dirty="0">
                          <a:solidFill>
                            <a:srgbClr val="4F81BD"/>
                          </a:solidFill>
                          <a:latin typeface="Calibri"/>
                          <a:ea typeface="Calibri"/>
                          <a:cs typeface="Calibri"/>
                          <a:sym typeface="Calibri"/>
                        </a:rPr>
                        <a:t> variables = </a:t>
                      </a:r>
                      <a:r>
                        <a:rPr lang="es-EC" sz="900" dirty="0" err="1">
                          <a:solidFill>
                            <a:srgbClr val="4F81BD"/>
                          </a:solidFill>
                          <a:latin typeface="Calibri"/>
                          <a:ea typeface="Calibri"/>
                          <a:cs typeface="Calibri"/>
                          <a:sym typeface="Calibri"/>
                        </a:rPr>
                        <a:t>CargadorEnv.Cargar</a:t>
                      </a:r>
                      <a:r>
                        <a:rPr lang="es-EC" sz="900" dirty="0">
                          <a:solidFill>
                            <a:srgbClr val="4F81BD"/>
                          </a:solidFill>
                          <a:latin typeface="Calibri"/>
                          <a:ea typeface="Calibri"/>
                          <a:cs typeface="Calibri"/>
                          <a:sym typeface="Calibri"/>
                        </a:rPr>
                        <a:t>(ruta);</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if</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variables.TryGetValue</a:t>
                      </a:r>
                      <a:r>
                        <a:rPr lang="es-EC" sz="900" dirty="0">
                          <a:solidFill>
                            <a:srgbClr val="4F81BD"/>
                          </a:solidFill>
                          <a:latin typeface="Calibri"/>
                          <a:ea typeface="Calibri"/>
                          <a:cs typeface="Calibri"/>
                          <a:sym typeface="Calibri"/>
                        </a:rPr>
                        <a:t>("URL_BASE", </a:t>
                      </a:r>
                      <a:r>
                        <a:rPr lang="es-EC" sz="900" dirty="0" err="1">
                          <a:solidFill>
                            <a:srgbClr val="4F81BD"/>
                          </a:solidFill>
                          <a:latin typeface="Calibri"/>
                          <a:ea typeface="Calibri"/>
                          <a:cs typeface="Calibri"/>
                          <a:sym typeface="Calibri"/>
                        </a:rPr>
                        <a:t>out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var</a:t>
                      </a:r>
                      <a:r>
                        <a:rPr lang="es-EC" sz="900" dirty="0">
                          <a:solidFill>
                            <a:srgbClr val="4F81BD"/>
                          </a:solidFill>
                          <a:latin typeface="Calibri"/>
                          <a:ea typeface="Calibri"/>
                          <a:cs typeface="Calibri"/>
                          <a:sym typeface="Calibri"/>
                        </a:rPr>
                        <a:t> valor) &amp;&amp; !</a:t>
                      </a:r>
                      <a:r>
                        <a:rPr lang="es-EC" sz="900" dirty="0" err="1">
                          <a:solidFill>
                            <a:srgbClr val="4F81BD"/>
                          </a:solidFill>
                          <a:latin typeface="Calibri"/>
                          <a:ea typeface="Calibri"/>
                          <a:cs typeface="Calibri"/>
                          <a:sym typeface="Calibri"/>
                        </a:rPr>
                        <a:t>string.IsNullOrWhiteSpace</a:t>
                      </a:r>
                      <a:r>
                        <a:rPr lang="es-EC" sz="900" dirty="0">
                          <a:solidFill>
                            <a:srgbClr val="4F81BD"/>
                          </a:solidFill>
                          <a:latin typeface="Calibri"/>
                          <a:ea typeface="Calibri"/>
                          <a:cs typeface="Calibri"/>
                          <a:sym typeface="Calibri"/>
                        </a:rPr>
                        <a:t>(valor))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valor.Trim</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catch        {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if</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string.IsNullOrWhiteSpace</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Environment.GetEnvironmentVariable</a:t>
                      </a:r>
                      <a:r>
                        <a:rPr lang="es-EC" sz="900" dirty="0">
                          <a:solidFill>
                            <a:srgbClr val="4F81BD"/>
                          </a:solidFill>
                          <a:latin typeface="Calibri"/>
                          <a:ea typeface="Calibri"/>
                          <a:cs typeface="Calibri"/>
                          <a:sym typeface="Calibri"/>
                        </a:rPr>
                        <a:t>("URL_BASE");</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4" name="Google Shape;547;p67">
            <a:extLst>
              <a:ext uri="{FF2B5EF4-FFF2-40B4-BE49-F238E27FC236}">
                <a16:creationId xmlns:a16="http://schemas.microsoft.com/office/drawing/2014/main" id="{A67D1364-BD2F-E428-B2CB-FA95B82F5E06}"/>
              </a:ext>
            </a:extLst>
          </p:cNvPr>
          <p:cNvGraphicFramePr/>
          <p:nvPr>
            <p:extLst>
              <p:ext uri="{D42A27DB-BD31-4B8C-83A1-F6EECF244321}">
                <p14:modId xmlns:p14="http://schemas.microsoft.com/office/powerpoint/2010/main" val="1858861905"/>
              </p:ext>
            </p:extLst>
          </p:nvPr>
        </p:nvGraphicFramePr>
        <p:xfrm>
          <a:off x="5394152" y="2166597"/>
          <a:ext cx="3887097" cy="4057523"/>
        </p:xfrm>
        <a:graphic>
          <a:graphicData uri="http://schemas.openxmlformats.org/drawingml/2006/table">
            <a:tbl>
              <a:tblPr>
                <a:noFill/>
                <a:tableStyleId>{BF136021-7255-42B7-A7E7-87A8D8FFE9CA}</a:tableStyleId>
              </a:tblPr>
              <a:tblGrid>
                <a:gridCol w="3887097">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HttpClient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CrearHttpClient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var</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httpClient</a:t>
                      </a:r>
                      <a:r>
                        <a:rPr lang="es-EC" sz="900" dirty="0">
                          <a:solidFill>
                            <a:srgbClr val="4F81BD"/>
                          </a:solidFill>
                          <a:latin typeface="Calibri"/>
                          <a:ea typeface="Calibri"/>
                          <a:cs typeface="Calibri"/>
                          <a:sym typeface="Calibri"/>
                        </a:rPr>
                        <a:t> = new </a:t>
                      </a:r>
                      <a:r>
                        <a:rPr lang="es-EC" sz="900" dirty="0" err="1">
                          <a:solidFill>
                            <a:srgbClr val="4F81BD"/>
                          </a:solidFill>
                          <a:latin typeface="Calibri"/>
                          <a:ea typeface="Calibri"/>
                          <a:cs typeface="Calibri"/>
                          <a:sym typeface="Calibri"/>
                        </a:rPr>
                        <a:t>HttpClient</a:t>
                      </a: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BaseAddress</a:t>
                      </a:r>
                      <a:r>
                        <a:rPr lang="es-EC" sz="900" dirty="0">
                          <a:solidFill>
                            <a:srgbClr val="4F81BD"/>
                          </a:solidFill>
                          <a:latin typeface="Calibri"/>
                          <a:ea typeface="Calibri"/>
                          <a:cs typeface="Calibri"/>
                          <a:sym typeface="Calibri"/>
                        </a:rPr>
                        <a:t> = new Uri(</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Timeout</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TimeSpan.FromSeconds</a:t>
                      </a:r>
                      <a:r>
                        <a:rPr lang="es-EC" sz="900" dirty="0">
                          <a:solidFill>
                            <a:srgbClr val="4F81BD"/>
                          </a:solidFill>
                          <a:latin typeface="Calibri"/>
                          <a:ea typeface="Calibri"/>
                          <a:cs typeface="Calibri"/>
                          <a:sym typeface="Calibri"/>
                        </a:rPr>
                        <a:t>(30)</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httpClient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HttpClient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CrearHttpClient</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int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segundosTimeout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var</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httpClient</a:t>
                      </a:r>
                      <a:r>
                        <a:rPr lang="es-EC" sz="900" dirty="0">
                          <a:solidFill>
                            <a:srgbClr val="4F81BD"/>
                          </a:solidFill>
                          <a:latin typeface="Calibri"/>
                          <a:ea typeface="Calibri"/>
                          <a:cs typeface="Calibri"/>
                          <a:sym typeface="Calibri"/>
                        </a:rPr>
                        <a:t> = new </a:t>
                      </a:r>
                      <a:r>
                        <a:rPr lang="es-EC" sz="900" dirty="0" err="1">
                          <a:solidFill>
                            <a:srgbClr val="4F81BD"/>
                          </a:solidFill>
                          <a:latin typeface="Calibri"/>
                          <a:ea typeface="Calibri"/>
                          <a:cs typeface="Calibri"/>
                          <a:sym typeface="Calibri"/>
                        </a:rPr>
                        <a:t>HttpClient</a:t>
                      </a: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BaseAddress</a:t>
                      </a:r>
                      <a:r>
                        <a:rPr lang="es-EC" sz="900" dirty="0">
                          <a:solidFill>
                            <a:srgbClr val="4F81BD"/>
                          </a:solidFill>
                          <a:latin typeface="Calibri"/>
                          <a:ea typeface="Calibri"/>
                          <a:cs typeface="Calibri"/>
                          <a:sym typeface="Calibri"/>
                        </a:rPr>
                        <a:t> = new Uri(</a:t>
                      </a:r>
                      <a:r>
                        <a:rPr lang="es-EC" sz="900" dirty="0" err="1">
                          <a:solidFill>
                            <a:srgbClr val="4F81BD"/>
                          </a:solidFill>
                          <a:latin typeface="Calibri"/>
                          <a:ea typeface="Calibri"/>
                          <a:cs typeface="Calibri"/>
                          <a:sym typeface="Calibri"/>
                        </a:rPr>
                        <a:t>UrlBase</a:t>
                      </a:r>
                      <a:r>
                        <a:rPr lang="es-EC" sz="900" dirty="0">
                          <a:solidFill>
                            <a:srgbClr val="4F81BD"/>
                          </a:solidFill>
                          <a:latin typeface="Calibri"/>
                          <a:ea typeface="Calibri"/>
                          <a:cs typeface="Calibri"/>
                          <a:sym typeface="Calibri"/>
                        </a:rPr>
                        <a:t> +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Timeout</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TimeSpan.FromSeconds</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segundosTimeout</a:t>
                      </a:r>
                      <a:r>
                        <a:rPr lang="es-EC" sz="900" dirty="0">
                          <a:solidFill>
                            <a:srgbClr val="4F81BD"/>
                          </a:solidFill>
                          <a:latin typeface="Calibri"/>
                          <a:ea typeface="Calibri"/>
                          <a:cs typeface="Calibri"/>
                          <a:sym typeface="Calibri"/>
                        </a:rPr>
                        <a:t> &gt; 0 ? </a:t>
                      </a:r>
                      <a:r>
                        <a:rPr lang="es-EC" sz="900" dirty="0" err="1">
                          <a:solidFill>
                            <a:srgbClr val="4F81BD"/>
                          </a:solidFill>
                          <a:latin typeface="Calibri"/>
                          <a:ea typeface="Calibri"/>
                          <a:cs typeface="Calibri"/>
                          <a:sym typeface="Calibri"/>
                        </a:rPr>
                        <a:t>segundosTimeout</a:t>
                      </a:r>
                      <a:r>
                        <a:rPr lang="es-EC" sz="900" dirty="0">
                          <a:solidFill>
                            <a:srgbClr val="4F81BD"/>
                          </a:solidFill>
                          <a:latin typeface="Calibri"/>
                          <a:ea typeface="Calibri"/>
                          <a:cs typeface="Calibri"/>
                          <a:sym typeface="Calibri"/>
                        </a:rPr>
                        <a:t> : 30)</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httpClient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90E606E2-56E3-1D77-8B34-317086E79A6F}"/>
              </a:ext>
            </a:extLst>
          </p:cNvPr>
          <p:cNvSpPr txBox="1">
            <a:spLocks noGrp="1"/>
          </p:cNvSpPr>
          <p:nvPr>
            <p:ph type="body" idx="1"/>
          </p:nvPr>
        </p:nvSpPr>
        <p:spPr>
          <a:xfrm>
            <a:off x="-1" y="1837551"/>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55" name="Google Shape;555;p68"/>
          <p:cNvGraphicFramePr/>
          <p:nvPr>
            <p:extLst>
              <p:ext uri="{D42A27DB-BD31-4B8C-83A1-F6EECF244321}">
                <p14:modId xmlns:p14="http://schemas.microsoft.com/office/powerpoint/2010/main" val="2353919097"/>
              </p:ext>
            </p:extLst>
          </p:nvPr>
        </p:nvGraphicFramePr>
        <p:xfrm>
          <a:off x="3074244" y="2136238"/>
          <a:ext cx="5963076" cy="4649089"/>
        </p:xfrm>
        <a:graphic>
          <a:graphicData uri="http://schemas.openxmlformats.org/drawingml/2006/table">
            <a:tbl>
              <a:tblPr>
                <a:noFill/>
                <a:tableStyleId>{BF136021-7255-42B7-A7E7-87A8D8FFE9CA}</a:tableStyleId>
              </a:tblPr>
              <a:tblGrid>
                <a:gridCol w="5963076">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async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RespuestaInicioSesion</a:t>
                      </a:r>
                      <a:r>
                        <a:rPr lang="es-ES" sz="900" dirty="0">
                          <a:solidFill>
                            <a:srgbClr val="4F81BD"/>
                          </a:solidFill>
                          <a:latin typeface="Calibri"/>
                          <a:ea typeface="Calibri"/>
                          <a:cs typeface="Calibri"/>
                          <a:sym typeface="Calibri"/>
                        </a:rPr>
                        <a:t>&gt; </a:t>
                      </a:r>
                      <a:r>
                        <a:rPr lang="es-ES" sz="900" dirty="0" err="1">
                          <a:solidFill>
                            <a:srgbClr val="4F81BD"/>
                          </a:solidFill>
                          <a:latin typeface="Calibri"/>
                          <a:ea typeface="Calibri"/>
                          <a:cs typeface="Calibri"/>
                          <a:sym typeface="Calibri"/>
                        </a:rPr>
                        <a:t>IniciarSesionAsync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usuario,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solicitud = new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Usuario = usuario,</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Contrasena</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contrasena</a:t>
                      </a: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respuestaHttp</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await</a:t>
                      </a:r>
                      <a:r>
                        <a:rPr lang="es-ES" sz="900" dirty="0">
                          <a:solidFill>
                            <a:srgbClr val="4F81BD"/>
                          </a:solidFill>
                          <a:latin typeface="Calibri"/>
                          <a:ea typeface="Calibri"/>
                          <a:cs typeface="Calibri"/>
                          <a:sym typeface="Calibri"/>
                        </a:rPr>
                        <a:t> _</a:t>
                      </a:r>
                      <a:r>
                        <a:rPr lang="es-ES" sz="900" dirty="0" err="1">
                          <a:solidFill>
                            <a:srgbClr val="4F81BD"/>
                          </a:solidFill>
                          <a:latin typeface="Calibri"/>
                          <a:ea typeface="Calibri"/>
                          <a:cs typeface="Calibri"/>
                          <a:sym typeface="Calibri"/>
                        </a:rPr>
                        <a:t>httpClient.PostAsJsonAsync</a:t>
                      </a:r>
                      <a:r>
                        <a:rPr lang="es-ES" sz="900" dirty="0">
                          <a:solidFill>
                            <a:srgbClr val="4F81BD"/>
                          </a:solidFill>
                          <a:latin typeface="Calibri"/>
                          <a:ea typeface="Calibri"/>
                          <a:cs typeface="Calibri"/>
                          <a:sym typeface="Calibri"/>
                        </a:rPr>
                        <a:t>("api/</a:t>
                      </a:r>
                      <a:r>
                        <a:rPr lang="es-ES" sz="900" dirty="0" err="1">
                          <a:solidFill>
                            <a:srgbClr val="4F81BD"/>
                          </a:solidFill>
                          <a:latin typeface="Calibri"/>
                          <a:ea typeface="Calibri"/>
                          <a:cs typeface="Calibri"/>
                          <a:sym typeface="Calibri"/>
                        </a:rPr>
                        <a:t>autenticacion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login</a:t>
                      </a:r>
                      <a:r>
                        <a:rPr lang="es-ES" sz="900" dirty="0">
                          <a:solidFill>
                            <a:srgbClr val="4F81BD"/>
                          </a:solidFill>
                          <a:latin typeface="Calibri"/>
                          <a:ea typeface="Calibri"/>
                          <a:cs typeface="Calibri"/>
                          <a:sym typeface="Calibri"/>
                        </a:rPr>
                        <a:t>", solicitud, _</a:t>
                      </a:r>
                      <a:r>
                        <a:rPr lang="es-ES" sz="900" dirty="0" err="1">
                          <a:solidFill>
                            <a:srgbClr val="4F81BD"/>
                          </a:solidFill>
                          <a:latin typeface="Calibri"/>
                          <a:ea typeface="Calibri"/>
                          <a:cs typeface="Calibri"/>
                          <a:sym typeface="Calibri"/>
                        </a:rPr>
                        <a:t>jsonOptions</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contenido = </a:t>
                      </a:r>
                      <a:r>
                        <a:rPr lang="es-ES" sz="900" dirty="0" err="1">
                          <a:solidFill>
                            <a:srgbClr val="4F81BD"/>
                          </a:solidFill>
                          <a:latin typeface="Calibri"/>
                          <a:ea typeface="Calibri"/>
                          <a:cs typeface="Calibri"/>
                          <a:sym typeface="Calibri"/>
                        </a:rPr>
                        <a:t>await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respuestaHttp.Content.ReadAsStringAsync</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respuestaHttp.IsSuccessStatusCode</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respuestaLogin</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JsonSerializer.Deserialize</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RespuestaLoginRest</a:t>
                      </a:r>
                      <a:r>
                        <a:rPr lang="es-ES" sz="900" dirty="0">
                          <a:solidFill>
                            <a:srgbClr val="4F81BD"/>
                          </a:solidFill>
                          <a:latin typeface="Calibri"/>
                          <a:ea typeface="Calibri"/>
                          <a:cs typeface="Calibri"/>
                          <a:sym typeface="Calibri"/>
                        </a:rPr>
                        <a:t>&gt;(contenido, _</a:t>
                      </a:r>
                      <a:r>
                        <a:rPr lang="es-ES" sz="900" dirty="0" err="1">
                          <a:solidFill>
                            <a:srgbClr val="4F81BD"/>
                          </a:solidFill>
                          <a:latin typeface="Calibri"/>
                          <a:ea typeface="Calibri"/>
                          <a:cs typeface="Calibri"/>
                          <a:sym typeface="Calibri"/>
                        </a:rPr>
                        <a:t>jsonOptions</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respuestaLogin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string.IsNullOrWhiteSpace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respuestaLogin.Token</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NuevaRespuestaInicioSesion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MensajeRespuestaVacia</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RespuestaInicioSesion</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Exito</a:t>
                      </a:r>
                      <a:r>
                        <a:rPr lang="es-ES" sz="900" dirty="0">
                          <a:solidFill>
                            <a:srgbClr val="4F81BD"/>
                          </a:solidFill>
                          <a:latin typeface="Calibri"/>
                          <a:ea typeface="Calibri"/>
                          <a:cs typeface="Calibri"/>
                          <a:sym typeface="Calibri"/>
                        </a:rPr>
                        <a:t> = true,</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Token = </a:t>
                      </a:r>
                      <a:r>
                        <a:rPr lang="es-ES" sz="900" dirty="0" err="1">
                          <a:solidFill>
                            <a:srgbClr val="4F81BD"/>
                          </a:solidFill>
                          <a:latin typeface="Calibri"/>
                          <a:ea typeface="Calibri"/>
                          <a:cs typeface="Calibri"/>
                          <a:sym typeface="Calibri"/>
                        </a:rPr>
                        <a:t>respuestaLogin.Token</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Mensaje = </a:t>
                      </a:r>
                      <a:r>
                        <a:rPr lang="es-ES" sz="900" dirty="0" err="1">
                          <a:solidFill>
                            <a:srgbClr val="4F81BD"/>
                          </a:solidFill>
                          <a:latin typeface="Calibri"/>
                          <a:ea typeface="Calibri"/>
                          <a:cs typeface="Calibri"/>
                          <a:sym typeface="Calibri"/>
                        </a:rPr>
                        <a:t>string.Empty</a:t>
                      </a: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error = </a:t>
                      </a:r>
                      <a:r>
                        <a:rPr lang="es-ES" sz="900" dirty="0" err="1">
                          <a:solidFill>
                            <a:srgbClr val="4F81BD"/>
                          </a:solidFill>
                          <a:latin typeface="Calibri"/>
                          <a:ea typeface="Calibri"/>
                          <a:cs typeface="Calibri"/>
                          <a:sym typeface="Calibri"/>
                        </a:rPr>
                        <a:t>JsonSerializer.Deserialize</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RespuestaErrorRest</a:t>
                      </a:r>
                      <a:r>
                        <a:rPr lang="es-ES" sz="900" dirty="0">
                          <a:solidFill>
                            <a:srgbClr val="4F81BD"/>
                          </a:solidFill>
                          <a:latin typeface="Calibri"/>
                          <a:ea typeface="Calibri"/>
                          <a:cs typeface="Calibri"/>
                          <a:sym typeface="Calibri"/>
                        </a:rPr>
                        <a:t>&gt;(contenido, _</a:t>
                      </a:r>
                      <a:r>
                        <a:rPr lang="es-ES" sz="900" dirty="0" err="1">
                          <a:solidFill>
                            <a:srgbClr val="4F81BD"/>
                          </a:solidFill>
                          <a:latin typeface="Calibri"/>
                          <a:ea typeface="Calibri"/>
                          <a:cs typeface="Calibri"/>
                          <a:sym typeface="Calibri"/>
                        </a:rPr>
                        <a:t>jsonOptions</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(error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not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&amp;&amp; !</a:t>
                      </a:r>
                      <a:r>
                        <a:rPr lang="es-ES" sz="900" dirty="0" err="1">
                          <a:solidFill>
                            <a:srgbClr val="4F81BD"/>
                          </a:solidFill>
                          <a:latin typeface="Calibri"/>
                          <a:ea typeface="Calibri"/>
                          <a:cs typeface="Calibri"/>
                          <a:sym typeface="Calibri"/>
                        </a:rPr>
                        <a:t>string.IsNullOrWhiteSpace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error.Mensaje</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endParaRPr sz="1100" dirty="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3E5A9CED-F171-E838-6853-A7AC2D6B416B}"/>
              </a:ext>
            </a:extLst>
          </p:cNvPr>
          <p:cNvSpPr txBox="1">
            <a:spLocks noGrp="1"/>
          </p:cNvSpPr>
          <p:nvPr>
            <p:ph type="body" idx="1"/>
          </p:nvPr>
        </p:nvSpPr>
        <p:spPr>
          <a:xfrm>
            <a:off x="172993" y="2136238"/>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62" name="Google Shape;562;p69"/>
          <p:cNvSpPr txBox="1">
            <a:spLocks noGrp="1"/>
          </p:cNvSpPr>
          <p:nvPr>
            <p:ph type="body" idx="1"/>
          </p:nvPr>
        </p:nvSpPr>
        <p:spPr>
          <a:xfrm>
            <a:off x="271974" y="2738849"/>
            <a:ext cx="4491014" cy="1182392"/>
          </a:xfrm>
          <a:prstGeom prst="rect">
            <a:avLst/>
          </a:prstGeom>
          <a:noFill/>
          <a:ln>
            <a:noFill/>
          </a:ln>
        </p:spPr>
        <p:txBody>
          <a:bodyPr spcFirstLastPara="1" wrap="square" lIns="91425" tIns="45700" rIns="91425" bIns="45700" anchor="ctr" anchorCtr="0">
            <a:noAutofit/>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La configuración para la conexión con el servidor se maneja igual que en la conexión desde el cliente de consola</a:t>
            </a:r>
          </a:p>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Para poder probar se debe ejecutar desde visual </a:t>
            </a:r>
            <a:r>
              <a:rPr lang="es-MX" sz="1400" dirty="0" err="1">
                <a:solidFill>
                  <a:schemeClr val="dk1"/>
                </a:solidFill>
                <a:latin typeface="Calibri"/>
                <a:ea typeface="Calibri"/>
                <a:cs typeface="Calibri"/>
                <a:sym typeface="Calibri"/>
              </a:rPr>
              <a:t>studio</a:t>
            </a:r>
            <a:endParaRPr sz="1400" dirty="0">
              <a:latin typeface="Cambria"/>
              <a:ea typeface="Cambria"/>
              <a:cs typeface="Cambria"/>
              <a:sym typeface="Cambria"/>
            </a:endParaRPr>
          </a:p>
        </p:txBody>
      </p:sp>
      <p:graphicFrame>
        <p:nvGraphicFramePr>
          <p:cNvPr id="563" name="Google Shape;563;p69"/>
          <p:cNvGraphicFramePr/>
          <p:nvPr>
            <p:extLst>
              <p:ext uri="{D42A27DB-BD31-4B8C-83A1-F6EECF244321}">
                <p14:modId xmlns:p14="http://schemas.microsoft.com/office/powerpoint/2010/main" val="1864351068"/>
              </p:ext>
            </p:extLst>
          </p:nvPr>
        </p:nvGraphicFramePr>
        <p:xfrm>
          <a:off x="4762988" y="1923060"/>
          <a:ext cx="4035023" cy="1013700"/>
        </p:xfrm>
        <a:graphic>
          <a:graphicData uri="http://schemas.openxmlformats.org/drawingml/2006/table">
            <a:tbl>
              <a:tblPr>
                <a:noFill/>
                <a:tableStyleId>{BF136021-7255-42B7-A7E7-87A8D8FFE9CA}</a:tableStyleId>
              </a:tblPr>
              <a:tblGrid>
                <a:gridCol w="4035023">
                  <a:extLst>
                    <a:ext uri="{9D8B030D-6E8A-4147-A177-3AD203B41FA5}">
                      <a16:colId xmlns:a16="http://schemas.microsoft.com/office/drawing/2014/main" val="20000"/>
                    </a:ext>
                  </a:extLst>
                </a:gridCol>
              </a:tblGrid>
              <a:tr h="1013700">
                <a:tc>
                  <a:txBody>
                    <a:bodyPr/>
                    <a:lstStyle/>
                    <a:p>
                      <a:pPr marL="0" lvl="0" indent="0" algn="l" rtl="0">
                        <a:lnSpc>
                          <a:spcPct val="100000"/>
                        </a:lnSpc>
                        <a:spcBef>
                          <a:spcPts val="0"/>
                        </a:spcBef>
                        <a:spcAft>
                          <a:spcPts val="0"/>
                        </a:spcAft>
                        <a:buNone/>
                      </a:pPr>
                      <a:endParaRPr lang="es-MX"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 URL del servidor REST para el cliente de escritorio ejecutado en esta computadora.</a:t>
                      </a:r>
                    </a:p>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URL_BASE=http://localhost:60980</a:t>
                      </a:r>
                      <a:endParaRPr lang="es-ES"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2" name="Google Shape;563;p69">
            <a:extLst>
              <a:ext uri="{FF2B5EF4-FFF2-40B4-BE49-F238E27FC236}">
                <a16:creationId xmlns:a16="http://schemas.microsoft.com/office/drawing/2014/main" id="{90CB1690-D173-72E2-9925-9D6878B40AE6}"/>
              </a:ext>
            </a:extLst>
          </p:cNvPr>
          <p:cNvGraphicFramePr/>
          <p:nvPr>
            <p:extLst>
              <p:ext uri="{D42A27DB-BD31-4B8C-83A1-F6EECF244321}">
                <p14:modId xmlns:p14="http://schemas.microsoft.com/office/powerpoint/2010/main" val="2837592138"/>
              </p:ext>
            </p:extLst>
          </p:nvPr>
        </p:nvGraphicFramePr>
        <p:xfrm>
          <a:off x="4762988" y="3043079"/>
          <a:ext cx="4035023" cy="1347363"/>
        </p:xfrm>
        <a:graphic>
          <a:graphicData uri="http://schemas.openxmlformats.org/drawingml/2006/table">
            <a:tbl>
              <a:tblPr>
                <a:noFill/>
                <a:tableStyleId>{BF136021-7255-42B7-A7E7-87A8D8FFE9CA}</a:tableStyleId>
              </a:tblPr>
              <a:tblGrid>
                <a:gridCol w="4035023">
                  <a:extLst>
                    <a:ext uri="{9D8B030D-6E8A-4147-A177-3AD203B41FA5}">
                      <a16:colId xmlns:a16="http://schemas.microsoft.com/office/drawing/2014/main" val="20000"/>
                    </a:ext>
                  </a:extLst>
                </a:gridCol>
              </a:tblGrid>
              <a:tr h="1347363">
                <a:tc>
                  <a:txBody>
                    <a:bodyPr/>
                    <a:lstStyle/>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RespuestaInicioSesion</a:t>
                      </a: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bool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Exito</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set;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Token {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set;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Mensaje { </a:t>
                      </a:r>
                      <a:r>
                        <a:rPr lang="es-ES" sz="900" dirty="0" err="1">
                          <a:solidFill>
                            <a:srgbClr val="4F81BD"/>
                          </a:solidFill>
                          <a:latin typeface="Calibri"/>
                          <a:ea typeface="Calibri"/>
                          <a:cs typeface="Calibri"/>
                          <a:sym typeface="Calibri"/>
                        </a:rPr>
                        <a:t>get</a:t>
                      </a:r>
                      <a:r>
                        <a:rPr lang="es-ES" sz="900" dirty="0">
                          <a:solidFill>
                            <a:srgbClr val="4F81BD"/>
                          </a:solidFill>
                          <a:latin typeface="Calibri"/>
                          <a:ea typeface="Calibri"/>
                          <a:cs typeface="Calibri"/>
                          <a:sym typeface="Calibri"/>
                        </a:rPr>
                        <a:t>; set; } = </a:t>
                      </a:r>
                      <a:r>
                        <a:rPr lang="es-ES" sz="900" dirty="0" err="1">
                          <a:solidFill>
                            <a:srgbClr val="4F81BD"/>
                          </a:solidFill>
                          <a:latin typeface="Calibri"/>
                          <a:ea typeface="Calibri"/>
                          <a:cs typeface="Calibri"/>
                          <a:sym typeface="Calibri"/>
                        </a:rPr>
                        <a:t>string.Empty</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pic>
        <p:nvPicPr>
          <p:cNvPr id="5" name="Picture 4">
            <a:extLst>
              <a:ext uri="{FF2B5EF4-FFF2-40B4-BE49-F238E27FC236}">
                <a16:creationId xmlns:a16="http://schemas.microsoft.com/office/drawing/2014/main" id="{FB01D5EB-9E4C-B226-5A97-1BBF8917E7AC}"/>
              </a:ext>
            </a:extLst>
          </p:cNvPr>
          <p:cNvPicPr>
            <a:picLocks noChangeAspect="1"/>
          </p:cNvPicPr>
          <p:nvPr/>
        </p:nvPicPr>
        <p:blipFill>
          <a:blip r:embed="rId3"/>
          <a:stretch>
            <a:fillRect/>
          </a:stretch>
        </p:blipFill>
        <p:spPr>
          <a:xfrm>
            <a:off x="664967" y="4523122"/>
            <a:ext cx="3820986" cy="111155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1" name="Google Shape;571;p7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a:t>
            </a:r>
            <a:r>
              <a:rPr lang="es-ES" sz="1800" b="1" dirty="0" err="1">
                <a:solidFill>
                  <a:srgbClr val="3D3D3D"/>
                </a:solidFill>
                <a:latin typeface="Cambria"/>
                <a:ea typeface="Cambria"/>
                <a:cs typeface="Cambria"/>
                <a:sym typeface="Cambria"/>
              </a:rPr>
              <a:t>login</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ACDD2673-DAAE-552B-C3B2-1E366B1474BA}"/>
              </a:ext>
            </a:extLst>
          </p:cNvPr>
          <p:cNvPicPr>
            <a:picLocks noChangeAspect="1"/>
          </p:cNvPicPr>
          <p:nvPr/>
        </p:nvPicPr>
        <p:blipFill>
          <a:blip r:embed="rId3"/>
          <a:stretch>
            <a:fillRect/>
          </a:stretch>
        </p:blipFill>
        <p:spPr>
          <a:xfrm>
            <a:off x="2057346" y="2610549"/>
            <a:ext cx="5504990" cy="377499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8" name="Google Shape;578;p7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inicial al iniciar sesión</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DE51ACB5-68D0-007B-24AC-41C7EF5B307F}"/>
              </a:ext>
            </a:extLst>
          </p:cNvPr>
          <p:cNvPicPr>
            <a:picLocks noChangeAspect="1"/>
          </p:cNvPicPr>
          <p:nvPr/>
        </p:nvPicPr>
        <p:blipFill>
          <a:blip r:embed="rId3"/>
          <a:stretch>
            <a:fillRect/>
          </a:stretch>
        </p:blipFill>
        <p:spPr>
          <a:xfrm>
            <a:off x="2011871" y="2610549"/>
            <a:ext cx="5826158" cy="402690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86" name="Google Shape;586;p7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de una conversión de temperatura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800E77CA-0C2F-D437-8E77-FDF88F3DAD29}"/>
              </a:ext>
            </a:extLst>
          </p:cNvPr>
          <p:cNvPicPr>
            <a:picLocks noChangeAspect="1"/>
          </p:cNvPicPr>
          <p:nvPr/>
        </p:nvPicPr>
        <p:blipFill>
          <a:blip r:embed="rId3"/>
          <a:stretch>
            <a:fillRect/>
          </a:stretch>
        </p:blipFill>
        <p:spPr>
          <a:xfrm>
            <a:off x="2159172" y="2715674"/>
            <a:ext cx="5531555" cy="384430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94" name="Google Shape;594;p7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web se debe crear buscando una Aplicación Web </a:t>
            </a:r>
            <a:r>
              <a:rPr lang="es-ES" sz="1564" dirty="0" err="1">
                <a:latin typeface="Cambria"/>
                <a:ea typeface="Cambria"/>
                <a:cs typeface="Cambria"/>
                <a:sym typeface="Cambria"/>
              </a:rPr>
              <a:t>Blazor</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36902FD8-93D1-66C6-E6F4-D37C43665E30}"/>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a:t>
            </a:r>
            <a:r>
              <a:rPr lang="es-MX" b="1" dirty="0">
                <a:latin typeface="Cambria"/>
                <a:ea typeface="Cambria"/>
                <a:cs typeface="Cambria"/>
                <a:sym typeface="Cambria"/>
              </a:rPr>
              <a:t>5</a:t>
            </a:r>
            <a:r>
              <a:rPr lang="es-MX" sz="1400" b="1" dirty="0">
                <a:latin typeface="Cambria"/>
                <a:ea typeface="Cambria"/>
                <a:cs typeface="Cambria"/>
                <a:sym typeface="Cambria"/>
              </a:rPr>
              <a:t>  CREACIÓN DEL PROYECTO CLIENTE </a:t>
            </a:r>
            <a:r>
              <a:rPr lang="es-MX" b="1" dirty="0">
                <a:latin typeface="Cambria"/>
                <a:ea typeface="Cambria"/>
                <a:cs typeface="Cambria"/>
                <a:sym typeface="Cambria"/>
              </a:rPr>
              <a:t>WEB</a:t>
            </a:r>
            <a:endParaRPr lang="es-MX" sz="1400" b="1" dirty="0">
              <a:latin typeface="Cambria"/>
              <a:ea typeface="Cambria"/>
              <a:cs typeface="Cambria"/>
              <a:sym typeface="Cambria"/>
            </a:endParaRPr>
          </a:p>
        </p:txBody>
      </p:sp>
      <p:pic>
        <p:nvPicPr>
          <p:cNvPr id="4" name="Picture 3">
            <a:extLst>
              <a:ext uri="{FF2B5EF4-FFF2-40B4-BE49-F238E27FC236}">
                <a16:creationId xmlns:a16="http://schemas.microsoft.com/office/drawing/2014/main" id="{929B5386-B97E-8D49-0CA7-32AFBD12F9A6}"/>
              </a:ext>
            </a:extLst>
          </p:cNvPr>
          <p:cNvPicPr>
            <a:picLocks noChangeAspect="1"/>
          </p:cNvPicPr>
          <p:nvPr/>
        </p:nvPicPr>
        <p:blipFill>
          <a:blip r:embed="rId3"/>
          <a:stretch>
            <a:fillRect/>
          </a:stretch>
        </p:blipFill>
        <p:spPr>
          <a:xfrm>
            <a:off x="581192" y="3073879"/>
            <a:ext cx="5191382" cy="2919229"/>
          </a:xfrm>
          <a:prstGeom prst="rect">
            <a:avLst/>
          </a:prstGeom>
        </p:spPr>
      </p:pic>
      <p:pic>
        <p:nvPicPr>
          <p:cNvPr id="5" name="Picture 4">
            <a:extLst>
              <a:ext uri="{FF2B5EF4-FFF2-40B4-BE49-F238E27FC236}">
                <a16:creationId xmlns:a16="http://schemas.microsoft.com/office/drawing/2014/main" id="{BD2F7361-8DFD-5248-369D-D55524CDF7D7}"/>
              </a:ext>
            </a:extLst>
          </p:cNvPr>
          <p:cNvPicPr>
            <a:picLocks noChangeAspect="1"/>
          </p:cNvPicPr>
          <p:nvPr/>
        </p:nvPicPr>
        <p:blipFill>
          <a:blip r:embed="rId4"/>
          <a:stretch>
            <a:fillRect/>
          </a:stretch>
        </p:blipFill>
        <p:spPr>
          <a:xfrm>
            <a:off x="5893945" y="3177540"/>
            <a:ext cx="3276555" cy="281556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04" name="Google Shape;604;p74"/>
          <p:cNvGraphicFramePr/>
          <p:nvPr>
            <p:extLst>
              <p:ext uri="{D42A27DB-BD31-4B8C-83A1-F6EECF244321}">
                <p14:modId xmlns:p14="http://schemas.microsoft.com/office/powerpoint/2010/main" val="3478421519"/>
              </p:ext>
            </p:extLst>
          </p:nvPr>
        </p:nvGraphicFramePr>
        <p:xfrm>
          <a:off x="2325216" y="1837551"/>
          <a:ext cx="6484300" cy="50038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00000"/>
                        </a:lnSpc>
                        <a:spcBef>
                          <a:spcPts val="0"/>
                        </a:spcBef>
                        <a:spcAft>
                          <a:spcPts val="0"/>
                        </a:spcAft>
                        <a:buNone/>
                      </a:pPr>
                      <a:r>
                        <a:rPr lang="es-EC" sz="800" dirty="0" err="1">
                          <a:solidFill>
                            <a:srgbClr val="4F81BD"/>
                          </a:solidFill>
                          <a:latin typeface="Calibri"/>
                          <a:ea typeface="Calibri"/>
                          <a:cs typeface="Calibri"/>
                          <a:sym typeface="Calibri"/>
                        </a:rPr>
                        <a:t>public</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async</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Task</a:t>
                      </a:r>
                      <a:r>
                        <a:rPr lang="es-EC" sz="800" dirty="0">
                          <a:solidFill>
                            <a:srgbClr val="4F81BD"/>
                          </a:solidFill>
                          <a:latin typeface="Calibri"/>
                          <a:ea typeface="Calibri"/>
                          <a:cs typeface="Calibri"/>
                          <a:sym typeface="Calibri"/>
                        </a:rPr>
                        <a:t>&lt;</a:t>
                      </a:r>
                      <a:r>
                        <a:rPr lang="es-EC" sz="800" dirty="0" err="1">
                          <a:solidFill>
                            <a:srgbClr val="4F81BD"/>
                          </a:solidFill>
                          <a:latin typeface="Calibri"/>
                          <a:ea typeface="Calibri"/>
                          <a:cs typeface="Calibri"/>
                          <a:sym typeface="Calibri"/>
                        </a:rPr>
                        <a:t>ResultadoLogin</a:t>
                      </a:r>
                      <a:r>
                        <a:rPr lang="es-EC" sz="800" dirty="0">
                          <a:solidFill>
                            <a:srgbClr val="4F81BD"/>
                          </a:solidFill>
                          <a:latin typeface="Calibri"/>
                          <a:ea typeface="Calibri"/>
                          <a:cs typeface="Calibri"/>
                          <a:sym typeface="Calibri"/>
                        </a:rPr>
                        <a:t>&gt; </a:t>
                      </a:r>
                      <a:r>
                        <a:rPr lang="es-EC" sz="800" dirty="0" err="1">
                          <a:solidFill>
                            <a:srgbClr val="4F81BD"/>
                          </a:solidFill>
                          <a:latin typeface="Calibri"/>
                          <a:ea typeface="Calibri"/>
                          <a:cs typeface="Calibri"/>
                          <a:sym typeface="Calibri"/>
                        </a:rPr>
                        <a:t>IniciarSesionAsync</a:t>
                      </a:r>
                      <a:r>
                        <a:rPr lang="es-EC" sz="800" dirty="0">
                          <a:solidFill>
                            <a:srgbClr val="4F81BD"/>
                          </a:solidFill>
                          <a:latin typeface="Calibri"/>
                          <a:ea typeface="Calibri"/>
                          <a:cs typeface="Calibri"/>
                          <a:sym typeface="Calibri"/>
                        </a:rPr>
                        <a:t>(</a:t>
                      </a:r>
                      <a:r>
                        <a:rPr lang="es-EC" sz="800" dirty="0" err="1">
                          <a:solidFill>
                            <a:srgbClr val="4F81BD"/>
                          </a:solidFill>
                          <a:latin typeface="Calibri"/>
                          <a:ea typeface="Calibri"/>
                          <a:cs typeface="Calibri"/>
                          <a:sym typeface="Calibri"/>
                        </a:rPr>
                        <a:t>CredencialesLogin</a:t>
                      </a:r>
                      <a:r>
                        <a:rPr lang="es-EC" sz="800" dirty="0">
                          <a:solidFill>
                            <a:srgbClr val="4F81BD"/>
                          </a:solidFill>
                          <a:latin typeface="Calibri"/>
                          <a:ea typeface="Calibri"/>
                          <a:cs typeface="Calibri"/>
                          <a:sym typeface="Calibri"/>
                        </a:rPr>
                        <a:t> credenciales)</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try</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var</a:t>
                      </a:r>
                      <a:r>
                        <a:rPr lang="es-EC" sz="800" dirty="0">
                          <a:solidFill>
                            <a:srgbClr val="4F81BD"/>
                          </a:solidFill>
                          <a:latin typeface="Calibri"/>
                          <a:ea typeface="Calibri"/>
                          <a:cs typeface="Calibri"/>
                          <a:sym typeface="Calibri"/>
                        </a:rPr>
                        <a:t> solicitud = new </a:t>
                      </a:r>
                      <a:r>
                        <a:rPr lang="es-EC" sz="800" dirty="0" err="1">
                          <a:solidFill>
                            <a:srgbClr val="4F81BD"/>
                          </a:solidFill>
                          <a:latin typeface="Calibri"/>
                          <a:ea typeface="Calibri"/>
                          <a:cs typeface="Calibri"/>
                          <a:sym typeface="Calibri"/>
                        </a:rPr>
                        <a:t>SolicitudLogin</a:t>
                      </a: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Usuario = </a:t>
                      </a:r>
                      <a:r>
                        <a:rPr lang="es-EC" sz="800" dirty="0" err="1">
                          <a:solidFill>
                            <a:srgbClr val="4F81BD"/>
                          </a:solidFill>
                          <a:latin typeface="Calibri"/>
                          <a:ea typeface="Calibri"/>
                          <a:cs typeface="Calibri"/>
                          <a:sym typeface="Calibri"/>
                        </a:rPr>
                        <a:t>credenciales.NombreUsuario</a:t>
                      </a:r>
                      <a:r>
                        <a:rPr lang="es-EC"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Contrasena</a:t>
                      </a:r>
                      <a:r>
                        <a:rPr lang="es-EC" sz="800" dirty="0">
                          <a:solidFill>
                            <a:srgbClr val="4F81BD"/>
                          </a:solidFill>
                          <a:latin typeface="Calibri"/>
                          <a:ea typeface="Calibri"/>
                          <a:cs typeface="Calibri"/>
                          <a:sym typeface="Calibri"/>
                        </a:rPr>
                        <a:t> = </a:t>
                      </a:r>
                      <a:r>
                        <a:rPr lang="es-EC" sz="800" dirty="0" err="1">
                          <a:solidFill>
                            <a:srgbClr val="4F81BD"/>
                          </a:solidFill>
                          <a:latin typeface="Calibri"/>
                          <a:ea typeface="Calibri"/>
                          <a:cs typeface="Calibri"/>
                          <a:sym typeface="Calibri"/>
                        </a:rPr>
                        <a:t>credenciales.Contrasena</a:t>
                      </a: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using</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var</a:t>
                      </a:r>
                      <a:r>
                        <a:rPr lang="es-EC" sz="800" dirty="0">
                          <a:solidFill>
                            <a:srgbClr val="4F81BD"/>
                          </a:solidFill>
                          <a:latin typeface="Calibri"/>
                          <a:ea typeface="Calibri"/>
                          <a:cs typeface="Calibri"/>
                          <a:sym typeface="Calibri"/>
                        </a:rPr>
                        <a:t> respuesta = </a:t>
                      </a:r>
                      <a:r>
                        <a:rPr lang="es-EC" sz="800" dirty="0" err="1">
                          <a:solidFill>
                            <a:srgbClr val="4F81BD"/>
                          </a:solidFill>
                          <a:latin typeface="Calibri"/>
                          <a:ea typeface="Calibri"/>
                          <a:cs typeface="Calibri"/>
                          <a:sym typeface="Calibri"/>
                        </a:rPr>
                        <a:t>await</a:t>
                      </a:r>
                      <a:r>
                        <a:rPr lang="es-EC" sz="800" dirty="0">
                          <a:solidFill>
                            <a:srgbClr val="4F81BD"/>
                          </a:solidFill>
                          <a:latin typeface="Calibri"/>
                          <a:ea typeface="Calibri"/>
                          <a:cs typeface="Calibri"/>
                          <a:sym typeface="Calibri"/>
                        </a:rPr>
                        <a:t> _</a:t>
                      </a:r>
                      <a:r>
                        <a:rPr lang="es-EC" sz="800" dirty="0" err="1">
                          <a:solidFill>
                            <a:srgbClr val="4F81BD"/>
                          </a:solidFill>
                          <a:latin typeface="Calibri"/>
                          <a:ea typeface="Calibri"/>
                          <a:cs typeface="Calibri"/>
                          <a:sym typeface="Calibri"/>
                        </a:rPr>
                        <a:t>http.PostAsJsonAsync</a:t>
                      </a:r>
                      <a:r>
                        <a:rPr lang="es-EC" sz="800" dirty="0">
                          <a:solidFill>
                            <a:srgbClr val="4F81BD"/>
                          </a:solidFill>
                          <a:latin typeface="Calibri"/>
                          <a:ea typeface="Calibri"/>
                          <a:cs typeface="Calibri"/>
                          <a:sym typeface="Calibri"/>
                        </a:rPr>
                        <a:t>(_</a:t>
                      </a:r>
                      <a:r>
                        <a:rPr lang="es-EC" sz="800" dirty="0" err="1">
                          <a:solidFill>
                            <a:srgbClr val="4F81BD"/>
                          </a:solidFill>
                          <a:latin typeface="Calibri"/>
                          <a:ea typeface="Calibri"/>
                          <a:cs typeface="Calibri"/>
                          <a:sym typeface="Calibri"/>
                        </a:rPr>
                        <a:t>rutaLogin</a:t>
                      </a:r>
                      <a:r>
                        <a:rPr lang="es-EC" sz="800" dirty="0">
                          <a:solidFill>
                            <a:srgbClr val="4F81BD"/>
                          </a:solidFill>
                          <a:latin typeface="Calibri"/>
                          <a:ea typeface="Calibri"/>
                          <a:cs typeface="Calibri"/>
                          <a:sym typeface="Calibri"/>
                        </a:rPr>
                        <a:t>, solicitud);</a:t>
                      </a:r>
                    </a:p>
                    <a:p>
                      <a:pPr marL="0" lvl="0" indent="0" algn="l" rtl="0">
                        <a:lnSpc>
                          <a:spcPct val="100000"/>
                        </a:lnSpc>
                        <a:spcBef>
                          <a:spcPts val="0"/>
                        </a:spcBef>
                        <a:spcAft>
                          <a:spcPts val="0"/>
                        </a:spcAft>
                        <a:buNone/>
                      </a:pP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if</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respuesta.IsSuccessStatusCode</a:t>
                      </a:r>
                      <a:r>
                        <a:rPr lang="es-EC"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var</a:t>
                      </a:r>
                      <a:r>
                        <a:rPr lang="es-EC" sz="800" dirty="0">
                          <a:solidFill>
                            <a:srgbClr val="4F81BD"/>
                          </a:solidFill>
                          <a:latin typeface="Calibri"/>
                          <a:ea typeface="Calibri"/>
                          <a:cs typeface="Calibri"/>
                          <a:sym typeface="Calibri"/>
                        </a:rPr>
                        <a:t> datos = </a:t>
                      </a:r>
                      <a:r>
                        <a:rPr lang="es-EC" sz="800" dirty="0" err="1">
                          <a:solidFill>
                            <a:srgbClr val="4F81BD"/>
                          </a:solidFill>
                          <a:latin typeface="Calibri"/>
                          <a:ea typeface="Calibri"/>
                          <a:cs typeface="Calibri"/>
                          <a:sym typeface="Calibri"/>
                        </a:rPr>
                        <a:t>await</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respuesta.Content.ReadFromJsonAsync</a:t>
                      </a:r>
                      <a:r>
                        <a:rPr lang="es-EC" sz="800" dirty="0">
                          <a:solidFill>
                            <a:srgbClr val="4F81BD"/>
                          </a:solidFill>
                          <a:latin typeface="Calibri"/>
                          <a:ea typeface="Calibri"/>
                          <a:cs typeface="Calibri"/>
                          <a:sym typeface="Calibri"/>
                        </a:rPr>
                        <a:t>&lt;</a:t>
                      </a:r>
                      <a:r>
                        <a:rPr lang="es-EC" sz="800" dirty="0" err="1">
                          <a:solidFill>
                            <a:srgbClr val="4F81BD"/>
                          </a:solidFill>
                          <a:latin typeface="Calibri"/>
                          <a:ea typeface="Calibri"/>
                          <a:cs typeface="Calibri"/>
                          <a:sym typeface="Calibri"/>
                        </a:rPr>
                        <a:t>RespuestaLogin</a:t>
                      </a:r>
                      <a:r>
                        <a:rPr lang="es-EC" sz="800" dirty="0">
                          <a:solidFill>
                            <a:srgbClr val="4F81BD"/>
                          </a:solidFill>
                          <a:latin typeface="Calibri"/>
                          <a:ea typeface="Calibri"/>
                          <a:cs typeface="Calibri"/>
                          <a:sym typeface="Calibri"/>
                        </a:rPr>
                        <a:t>&gt;();</a:t>
                      </a:r>
                    </a:p>
                    <a:p>
                      <a:pPr marL="0" lvl="0" indent="0" algn="l" rtl="0">
                        <a:lnSpc>
                          <a:spcPct val="100000"/>
                        </a:lnSpc>
                        <a:spcBef>
                          <a:spcPts val="0"/>
                        </a:spcBef>
                        <a:spcAft>
                          <a:spcPts val="0"/>
                        </a:spcAft>
                        <a:buNone/>
                      </a:pP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if</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string.IsNullOrEmpty</a:t>
                      </a:r>
                      <a:r>
                        <a:rPr lang="es-EC" sz="800" dirty="0">
                          <a:solidFill>
                            <a:srgbClr val="4F81BD"/>
                          </a:solidFill>
                          <a:latin typeface="Calibri"/>
                          <a:ea typeface="Calibri"/>
                          <a:cs typeface="Calibri"/>
                          <a:sym typeface="Calibri"/>
                        </a:rPr>
                        <a:t>(</a:t>
                      </a:r>
                      <a:r>
                        <a:rPr lang="es-EC" sz="800" dirty="0" err="1">
                          <a:solidFill>
                            <a:srgbClr val="4F81BD"/>
                          </a:solidFill>
                          <a:latin typeface="Calibri"/>
                          <a:ea typeface="Calibri"/>
                          <a:cs typeface="Calibri"/>
                          <a:sym typeface="Calibri"/>
                        </a:rPr>
                        <a:t>datos?.Token</a:t>
                      </a:r>
                      <a:r>
                        <a:rPr lang="es-EC"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return</a:t>
                      </a:r>
                      <a:r>
                        <a:rPr lang="es-EC" sz="800" dirty="0">
                          <a:solidFill>
                            <a:srgbClr val="4F81BD"/>
                          </a:solidFill>
                          <a:latin typeface="Calibri"/>
                          <a:ea typeface="Calibri"/>
                          <a:cs typeface="Calibri"/>
                          <a:sym typeface="Calibri"/>
                        </a:rPr>
                        <a:t> new </a:t>
                      </a:r>
                      <a:r>
                        <a:rPr lang="es-EC" sz="800" dirty="0" err="1">
                          <a:solidFill>
                            <a:srgbClr val="4F81BD"/>
                          </a:solidFill>
                          <a:latin typeface="Calibri"/>
                          <a:ea typeface="Calibri"/>
                          <a:cs typeface="Calibri"/>
                          <a:sym typeface="Calibri"/>
                        </a:rPr>
                        <a:t>ResultadoLogin</a:t>
                      </a:r>
                      <a:r>
                        <a:rPr lang="es-EC" sz="800" dirty="0">
                          <a:solidFill>
                            <a:srgbClr val="4F81BD"/>
                          </a:solidFill>
                          <a:latin typeface="Calibri"/>
                          <a:ea typeface="Calibri"/>
                          <a:cs typeface="Calibri"/>
                          <a:sym typeface="Calibri"/>
                        </a:rPr>
                        <a:t>(true, </a:t>
                      </a:r>
                      <a:r>
                        <a:rPr lang="es-EC" sz="800" dirty="0" err="1">
                          <a:solidFill>
                            <a:srgbClr val="4F81BD"/>
                          </a:solidFill>
                          <a:latin typeface="Calibri"/>
                          <a:ea typeface="Calibri"/>
                          <a:cs typeface="Calibri"/>
                          <a:sym typeface="Calibri"/>
                        </a:rPr>
                        <a:t>datos.Token</a:t>
                      </a:r>
                      <a:r>
                        <a:rPr lang="es-EC" sz="800" dirty="0">
                          <a:solidFill>
                            <a:srgbClr val="4F81BD"/>
                          </a:solidFill>
                          <a:latin typeface="Calibri"/>
                          <a:ea typeface="Calibri"/>
                          <a:cs typeface="Calibri"/>
                          <a:sym typeface="Calibri"/>
                        </a:rPr>
                        <a:t>, "Sesión iniciada.");</a:t>
                      </a:r>
                    </a:p>
                    <a:p>
                      <a:pPr marL="0" lvl="0" indent="0" algn="l" rtl="0">
                        <a:lnSpc>
                          <a:spcPct val="100000"/>
                        </a:lnSpc>
                        <a:spcBef>
                          <a:spcPts val="0"/>
                        </a:spcBef>
                        <a:spcAft>
                          <a:spcPts val="0"/>
                        </a:spcAft>
                        <a:buNone/>
                      </a:pP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return</a:t>
                      </a:r>
                      <a:r>
                        <a:rPr lang="es-EC" sz="800" dirty="0">
                          <a:solidFill>
                            <a:srgbClr val="4F81BD"/>
                          </a:solidFill>
                          <a:latin typeface="Calibri"/>
                          <a:ea typeface="Calibri"/>
                          <a:cs typeface="Calibri"/>
                          <a:sym typeface="Calibri"/>
                        </a:rPr>
                        <a:t> new </a:t>
                      </a:r>
                      <a:r>
                        <a:rPr lang="es-EC" sz="800" dirty="0" err="1">
                          <a:solidFill>
                            <a:srgbClr val="4F81BD"/>
                          </a:solidFill>
                          <a:latin typeface="Calibri"/>
                          <a:ea typeface="Calibri"/>
                          <a:cs typeface="Calibri"/>
                          <a:sym typeface="Calibri"/>
                        </a:rPr>
                        <a:t>ResultadoLogin</a:t>
                      </a:r>
                      <a:r>
                        <a:rPr lang="es-EC" sz="800" dirty="0">
                          <a:solidFill>
                            <a:srgbClr val="4F81BD"/>
                          </a:solidFill>
                          <a:latin typeface="Calibri"/>
                          <a:ea typeface="Calibri"/>
                          <a:cs typeface="Calibri"/>
                          <a:sym typeface="Calibri"/>
                        </a:rPr>
                        <a:t>(false, </a:t>
                      </a:r>
                      <a:r>
                        <a:rPr lang="es-EC" sz="800" dirty="0" err="1">
                          <a:solidFill>
                            <a:srgbClr val="4F81BD"/>
                          </a:solidFill>
                          <a:latin typeface="Calibri"/>
                          <a:ea typeface="Calibri"/>
                          <a:cs typeface="Calibri"/>
                          <a:sym typeface="Calibri"/>
                        </a:rPr>
                        <a:t>null</a:t>
                      </a:r>
                      <a:r>
                        <a:rPr lang="es-EC" sz="800" dirty="0">
                          <a:solidFill>
                            <a:srgbClr val="4F81BD"/>
                          </a:solidFill>
                          <a:latin typeface="Calibri"/>
                          <a:ea typeface="Calibri"/>
                          <a:cs typeface="Calibri"/>
                          <a:sym typeface="Calibri"/>
                        </a:rPr>
                        <a:t>, "El servidor devolvió una respuesta vacía.");</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var</a:t>
                      </a:r>
                      <a:r>
                        <a:rPr lang="es-EC" sz="800" dirty="0">
                          <a:solidFill>
                            <a:srgbClr val="4F81BD"/>
                          </a:solidFill>
                          <a:latin typeface="Calibri"/>
                          <a:ea typeface="Calibri"/>
                          <a:cs typeface="Calibri"/>
                          <a:sym typeface="Calibri"/>
                        </a:rPr>
                        <a:t> error = </a:t>
                      </a:r>
                      <a:r>
                        <a:rPr lang="es-EC" sz="800" dirty="0" err="1">
                          <a:solidFill>
                            <a:srgbClr val="4F81BD"/>
                          </a:solidFill>
                          <a:latin typeface="Calibri"/>
                          <a:ea typeface="Calibri"/>
                          <a:cs typeface="Calibri"/>
                          <a:sym typeface="Calibri"/>
                        </a:rPr>
                        <a:t>await</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LeerErrorAsync</a:t>
                      </a:r>
                      <a:r>
                        <a:rPr lang="es-EC" sz="800" dirty="0">
                          <a:solidFill>
                            <a:srgbClr val="4F81BD"/>
                          </a:solidFill>
                          <a:latin typeface="Calibri"/>
                          <a:ea typeface="Calibri"/>
                          <a:cs typeface="Calibri"/>
                          <a:sym typeface="Calibri"/>
                        </a:rPr>
                        <a:t>(respuesta);</a:t>
                      </a:r>
                    </a:p>
                    <a:p>
                      <a:pPr marL="0" lvl="0" indent="0" algn="l" rtl="0">
                        <a:lnSpc>
                          <a:spcPct val="100000"/>
                        </a:lnSpc>
                        <a:spcBef>
                          <a:spcPts val="0"/>
                        </a:spcBef>
                        <a:spcAft>
                          <a:spcPts val="0"/>
                        </a:spcAft>
                        <a:buNone/>
                      </a:pP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if</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respuesta.StatusCode</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is</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HttpStatusCode.Unauthorized</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or</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HttpStatusCode.BadRequest</a:t>
                      </a:r>
                      <a:r>
                        <a:rPr lang="es-EC"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return</a:t>
                      </a:r>
                      <a:r>
                        <a:rPr lang="es-EC" sz="800" dirty="0">
                          <a:solidFill>
                            <a:srgbClr val="4F81BD"/>
                          </a:solidFill>
                          <a:latin typeface="Calibri"/>
                          <a:ea typeface="Calibri"/>
                          <a:cs typeface="Calibri"/>
                          <a:sym typeface="Calibri"/>
                        </a:rPr>
                        <a:t> new </a:t>
                      </a:r>
                      <a:r>
                        <a:rPr lang="es-EC" sz="800" dirty="0" err="1">
                          <a:solidFill>
                            <a:srgbClr val="4F81BD"/>
                          </a:solidFill>
                          <a:latin typeface="Calibri"/>
                          <a:ea typeface="Calibri"/>
                          <a:cs typeface="Calibri"/>
                          <a:sym typeface="Calibri"/>
                        </a:rPr>
                        <a:t>ResultadoLogin</a:t>
                      </a:r>
                      <a:r>
                        <a:rPr lang="es-EC" sz="800" dirty="0">
                          <a:solidFill>
                            <a:srgbClr val="4F81BD"/>
                          </a:solidFill>
                          <a:latin typeface="Calibri"/>
                          <a:ea typeface="Calibri"/>
                          <a:cs typeface="Calibri"/>
                          <a:sym typeface="Calibri"/>
                        </a:rPr>
                        <a:t>(false, </a:t>
                      </a:r>
                      <a:r>
                        <a:rPr lang="es-EC" sz="800" dirty="0" err="1">
                          <a:solidFill>
                            <a:srgbClr val="4F81BD"/>
                          </a:solidFill>
                          <a:latin typeface="Calibri"/>
                          <a:ea typeface="Calibri"/>
                          <a:cs typeface="Calibri"/>
                          <a:sym typeface="Calibri"/>
                        </a:rPr>
                        <a:t>null</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error.Mensaje</a:t>
                      </a:r>
                      <a:r>
                        <a:rPr lang="es-EC" sz="800" dirty="0">
                          <a:solidFill>
                            <a:srgbClr val="4F81BD"/>
                          </a:solidFill>
                          <a:latin typeface="Calibri"/>
                          <a:ea typeface="Calibri"/>
                          <a:cs typeface="Calibri"/>
                          <a:sym typeface="Calibri"/>
                        </a:rPr>
                        <a:t> ?? "Credenciales incorrectas.");</a:t>
                      </a:r>
                    </a:p>
                    <a:p>
                      <a:pPr marL="0" lvl="0" indent="0" algn="l" rtl="0">
                        <a:lnSpc>
                          <a:spcPct val="100000"/>
                        </a:lnSpc>
                        <a:spcBef>
                          <a:spcPts val="0"/>
                        </a:spcBef>
                        <a:spcAft>
                          <a:spcPts val="0"/>
                        </a:spcAft>
                        <a:buNone/>
                      </a:pPr>
                      <a:endParaRPr lang="es-EC" sz="8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return</a:t>
                      </a:r>
                      <a:r>
                        <a:rPr lang="es-EC" sz="800" dirty="0">
                          <a:solidFill>
                            <a:srgbClr val="4F81BD"/>
                          </a:solidFill>
                          <a:latin typeface="Calibri"/>
                          <a:ea typeface="Calibri"/>
                          <a:cs typeface="Calibri"/>
                          <a:sym typeface="Calibri"/>
                        </a:rPr>
                        <a:t> new </a:t>
                      </a:r>
                      <a:r>
                        <a:rPr lang="es-EC" sz="800" dirty="0" err="1">
                          <a:solidFill>
                            <a:srgbClr val="4F81BD"/>
                          </a:solidFill>
                          <a:latin typeface="Calibri"/>
                          <a:ea typeface="Calibri"/>
                          <a:cs typeface="Calibri"/>
                          <a:sym typeface="Calibri"/>
                        </a:rPr>
                        <a:t>ResultadoLogin</a:t>
                      </a:r>
                      <a:r>
                        <a:rPr lang="es-EC" sz="800" dirty="0">
                          <a:solidFill>
                            <a:srgbClr val="4F81BD"/>
                          </a:solidFill>
                          <a:latin typeface="Calibri"/>
                          <a:ea typeface="Calibri"/>
                          <a:cs typeface="Calibri"/>
                          <a:sym typeface="Calibri"/>
                        </a:rPr>
                        <a:t>(false, </a:t>
                      </a:r>
                      <a:r>
                        <a:rPr lang="es-EC" sz="800" dirty="0" err="1">
                          <a:solidFill>
                            <a:srgbClr val="4F81BD"/>
                          </a:solidFill>
                          <a:latin typeface="Calibri"/>
                          <a:ea typeface="Calibri"/>
                          <a:cs typeface="Calibri"/>
                          <a:sym typeface="Calibri"/>
                        </a:rPr>
                        <a:t>null</a:t>
                      </a: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error.Mensaje</a:t>
                      </a:r>
                      <a:r>
                        <a:rPr lang="es-EC" sz="800" dirty="0">
                          <a:solidFill>
                            <a:srgbClr val="4F81BD"/>
                          </a:solidFill>
                          <a:latin typeface="Calibri"/>
                          <a:ea typeface="Calibri"/>
                          <a:cs typeface="Calibri"/>
                          <a:sym typeface="Calibri"/>
                        </a:rPr>
                        <a:t> ?? "No se pudo iniciar sesión.");</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catch (</a:t>
                      </a:r>
                      <a:r>
                        <a:rPr lang="es-EC" sz="800" dirty="0" err="1">
                          <a:solidFill>
                            <a:srgbClr val="4F81BD"/>
                          </a:solidFill>
                          <a:latin typeface="Calibri"/>
                          <a:ea typeface="Calibri"/>
                          <a:cs typeface="Calibri"/>
                          <a:sym typeface="Calibri"/>
                        </a:rPr>
                        <a:t>TaskCanceledException</a:t>
                      </a:r>
                      <a:r>
                        <a:rPr lang="es-EC" sz="8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_</a:t>
                      </a:r>
                      <a:r>
                        <a:rPr lang="es-EC" sz="800" dirty="0" err="1">
                          <a:solidFill>
                            <a:srgbClr val="4F81BD"/>
                          </a:solidFill>
                          <a:latin typeface="Calibri"/>
                          <a:ea typeface="Calibri"/>
                          <a:cs typeface="Calibri"/>
                          <a:sym typeface="Calibri"/>
                        </a:rPr>
                        <a:t>log.LogError</a:t>
                      </a:r>
                      <a:r>
                        <a:rPr lang="es-EC" sz="800" dirty="0">
                          <a:solidFill>
                            <a:srgbClr val="4F81BD"/>
                          </a:solidFill>
                          <a:latin typeface="Calibri"/>
                          <a:ea typeface="Calibri"/>
                          <a:cs typeface="Calibri"/>
                          <a:sym typeface="Calibri"/>
                        </a:rPr>
                        <a:t>(ex, $"Tiempo de espera agotado al llamar a {_</a:t>
                      </a:r>
                      <a:r>
                        <a:rPr lang="es-EC" sz="800" dirty="0" err="1">
                          <a:solidFill>
                            <a:srgbClr val="4F81BD"/>
                          </a:solidFill>
                          <a:latin typeface="Calibri"/>
                          <a:ea typeface="Calibri"/>
                          <a:cs typeface="Calibri"/>
                          <a:sym typeface="Calibri"/>
                        </a:rPr>
                        <a:t>rutaLogin</a:t>
                      </a:r>
                      <a:r>
                        <a:rPr lang="es-EC" sz="8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return</a:t>
                      </a:r>
                      <a:r>
                        <a:rPr lang="es-EC" sz="800" dirty="0">
                          <a:solidFill>
                            <a:srgbClr val="4F81BD"/>
                          </a:solidFill>
                          <a:latin typeface="Calibri"/>
                          <a:ea typeface="Calibri"/>
                          <a:cs typeface="Calibri"/>
                          <a:sym typeface="Calibri"/>
                        </a:rPr>
                        <a:t> new </a:t>
                      </a:r>
                      <a:r>
                        <a:rPr lang="es-EC" sz="800" dirty="0" err="1">
                          <a:solidFill>
                            <a:srgbClr val="4F81BD"/>
                          </a:solidFill>
                          <a:latin typeface="Calibri"/>
                          <a:ea typeface="Calibri"/>
                          <a:cs typeface="Calibri"/>
                          <a:sym typeface="Calibri"/>
                        </a:rPr>
                        <a:t>ResultadoLogin</a:t>
                      </a:r>
                      <a:r>
                        <a:rPr lang="es-EC" sz="800" dirty="0">
                          <a:solidFill>
                            <a:srgbClr val="4F81BD"/>
                          </a:solidFill>
                          <a:latin typeface="Calibri"/>
                          <a:ea typeface="Calibri"/>
                          <a:cs typeface="Calibri"/>
                          <a:sym typeface="Calibri"/>
                        </a:rPr>
                        <a:t>(false, </a:t>
                      </a:r>
                      <a:r>
                        <a:rPr lang="es-EC" sz="800" dirty="0" err="1">
                          <a:solidFill>
                            <a:srgbClr val="4F81BD"/>
                          </a:solidFill>
                          <a:latin typeface="Calibri"/>
                          <a:ea typeface="Calibri"/>
                          <a:cs typeface="Calibri"/>
                          <a:sym typeface="Calibri"/>
                        </a:rPr>
                        <a:t>null</a:t>
                      </a:r>
                      <a:r>
                        <a:rPr lang="es-EC" sz="800" dirty="0">
                          <a:solidFill>
                            <a:srgbClr val="4F81BD"/>
                          </a:solidFill>
                          <a:latin typeface="Calibri"/>
                          <a:ea typeface="Calibri"/>
                          <a:cs typeface="Calibri"/>
                          <a:sym typeface="Calibri"/>
                        </a:rPr>
                        <a:t>, "El servidor tardó demasiado en responder.");</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catch (</a:t>
                      </a:r>
                      <a:r>
                        <a:rPr lang="es-EC" sz="800" dirty="0" err="1">
                          <a:solidFill>
                            <a:srgbClr val="4F81BD"/>
                          </a:solidFill>
                          <a:latin typeface="Calibri"/>
                          <a:ea typeface="Calibri"/>
                          <a:cs typeface="Calibri"/>
                          <a:sym typeface="Calibri"/>
                        </a:rPr>
                        <a:t>HttpRequestException</a:t>
                      </a:r>
                      <a:r>
                        <a:rPr lang="es-EC" sz="8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_</a:t>
                      </a:r>
                      <a:r>
                        <a:rPr lang="es-EC" sz="800" dirty="0" err="1">
                          <a:solidFill>
                            <a:srgbClr val="4F81BD"/>
                          </a:solidFill>
                          <a:latin typeface="Calibri"/>
                          <a:ea typeface="Calibri"/>
                          <a:cs typeface="Calibri"/>
                          <a:sym typeface="Calibri"/>
                        </a:rPr>
                        <a:t>log.LogError</a:t>
                      </a:r>
                      <a:r>
                        <a:rPr lang="es-EC" sz="800" dirty="0">
                          <a:solidFill>
                            <a:srgbClr val="4F81BD"/>
                          </a:solidFill>
                          <a:latin typeface="Calibri"/>
                          <a:ea typeface="Calibri"/>
                          <a:cs typeface="Calibri"/>
                          <a:sym typeface="Calibri"/>
                        </a:rPr>
                        <a:t>(ex, "Error de comunicación con la API REST");</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r>
                        <a:rPr lang="es-EC" sz="800" dirty="0" err="1">
                          <a:solidFill>
                            <a:srgbClr val="4F81BD"/>
                          </a:solidFill>
                          <a:latin typeface="Calibri"/>
                          <a:ea typeface="Calibri"/>
                          <a:cs typeface="Calibri"/>
                          <a:sym typeface="Calibri"/>
                        </a:rPr>
                        <a:t>return</a:t>
                      </a:r>
                      <a:r>
                        <a:rPr lang="es-EC" sz="800" dirty="0">
                          <a:solidFill>
                            <a:srgbClr val="4F81BD"/>
                          </a:solidFill>
                          <a:latin typeface="Calibri"/>
                          <a:ea typeface="Calibri"/>
                          <a:cs typeface="Calibri"/>
                          <a:sym typeface="Calibri"/>
                        </a:rPr>
                        <a:t> new </a:t>
                      </a:r>
                      <a:r>
                        <a:rPr lang="es-EC" sz="800" dirty="0" err="1">
                          <a:solidFill>
                            <a:srgbClr val="4F81BD"/>
                          </a:solidFill>
                          <a:latin typeface="Calibri"/>
                          <a:ea typeface="Calibri"/>
                          <a:cs typeface="Calibri"/>
                          <a:sym typeface="Calibri"/>
                        </a:rPr>
                        <a:t>ResultadoLogin</a:t>
                      </a:r>
                      <a:r>
                        <a:rPr lang="es-EC" sz="800" dirty="0">
                          <a:solidFill>
                            <a:srgbClr val="4F81BD"/>
                          </a:solidFill>
                          <a:latin typeface="Calibri"/>
                          <a:ea typeface="Calibri"/>
                          <a:cs typeface="Calibri"/>
                          <a:sym typeface="Calibri"/>
                        </a:rPr>
                        <a:t>(false, </a:t>
                      </a:r>
                      <a:r>
                        <a:rPr lang="es-EC" sz="800" dirty="0" err="1">
                          <a:solidFill>
                            <a:srgbClr val="4F81BD"/>
                          </a:solidFill>
                          <a:latin typeface="Calibri"/>
                          <a:ea typeface="Calibri"/>
                          <a:cs typeface="Calibri"/>
                          <a:sym typeface="Calibri"/>
                        </a:rPr>
                        <a:t>null</a:t>
                      </a:r>
                      <a:r>
                        <a:rPr lang="es-EC" sz="800" dirty="0">
                          <a:solidFill>
                            <a:srgbClr val="4F81BD"/>
                          </a:solidFill>
                          <a:latin typeface="Calibri"/>
                          <a:ea typeface="Calibri"/>
                          <a:cs typeface="Calibri"/>
                          <a:sym typeface="Calibri"/>
                        </a:rPr>
                        <a:t>, "No se pudo contactar con el servidor.");</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C" sz="8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BE968C85-F64A-23C5-DD96-F0424BDCA40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12" name="Google Shape;612;p75"/>
          <p:cNvGraphicFramePr/>
          <p:nvPr>
            <p:extLst>
              <p:ext uri="{D42A27DB-BD31-4B8C-83A1-F6EECF244321}">
                <p14:modId xmlns:p14="http://schemas.microsoft.com/office/powerpoint/2010/main" val="761052100"/>
              </p:ext>
            </p:extLst>
          </p:nvPr>
        </p:nvGraphicFramePr>
        <p:xfrm>
          <a:off x="2419915" y="1837551"/>
          <a:ext cx="6484300" cy="49276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00000"/>
                        </a:lnSpc>
                        <a:spcBef>
                          <a:spcPts val="0"/>
                        </a:spcBef>
                        <a:spcAft>
                          <a:spcPts val="0"/>
                        </a:spcAft>
                        <a:buNone/>
                      </a:pPr>
                      <a:r>
                        <a:rPr lang="es-ES" sz="700" dirty="0" err="1">
                          <a:solidFill>
                            <a:srgbClr val="4F81BD"/>
                          </a:solidFill>
                          <a:latin typeface="Calibri"/>
                          <a:ea typeface="Calibri"/>
                          <a:cs typeface="Calibri"/>
                          <a:sym typeface="Calibri"/>
                        </a:rPr>
                        <a:t>public</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async</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Task</a:t>
                      </a:r>
                      <a:r>
                        <a:rPr lang="es-ES" sz="700" dirty="0">
                          <a:solidFill>
                            <a:srgbClr val="4F81BD"/>
                          </a:solidFill>
                          <a:latin typeface="Calibri"/>
                          <a:ea typeface="Calibri"/>
                          <a:cs typeface="Calibri"/>
                          <a:sym typeface="Calibri"/>
                        </a:rPr>
                        <a:t>&lt;</a:t>
                      </a:r>
                      <a:r>
                        <a:rPr lang="es-ES" sz="700" dirty="0" err="1">
                          <a:solidFill>
                            <a:srgbClr val="4F81BD"/>
                          </a:solidFill>
                          <a:latin typeface="Calibri"/>
                          <a:ea typeface="Calibri"/>
                          <a:cs typeface="Calibri"/>
                          <a:sym typeface="Calibri"/>
                        </a:rPr>
                        <a:t>ResultadoConversionModelo</a:t>
                      </a:r>
                      <a:r>
                        <a:rPr lang="es-ES" sz="700" dirty="0">
                          <a:solidFill>
                            <a:srgbClr val="4F81BD"/>
                          </a:solidFill>
                          <a:latin typeface="Calibri"/>
                          <a:ea typeface="Calibri"/>
                          <a:cs typeface="Calibri"/>
                          <a:sym typeface="Calibri"/>
                        </a:rPr>
                        <a:t>&gt; </a:t>
                      </a:r>
                      <a:r>
                        <a:rPr lang="es-ES" sz="700" dirty="0" err="1">
                          <a:solidFill>
                            <a:srgbClr val="4F81BD"/>
                          </a:solidFill>
                          <a:latin typeface="Calibri"/>
                          <a:ea typeface="Calibri"/>
                          <a:cs typeface="Calibri"/>
                          <a:sym typeface="Calibri"/>
                        </a:rPr>
                        <a:t>ConvertirAsync</a:t>
                      </a:r>
                      <a:r>
                        <a:rPr lang="es-ES" sz="700" dirty="0">
                          <a:solidFill>
                            <a:srgbClr val="4F81BD"/>
                          </a:solidFill>
                          <a:latin typeface="Calibri"/>
                          <a:ea typeface="Calibri"/>
                          <a:cs typeface="Calibri"/>
                          <a:sym typeface="Calibri"/>
                        </a:rPr>
                        <a:t>(</a:t>
                      </a:r>
                      <a:r>
                        <a:rPr lang="es-ES" sz="700" dirty="0" err="1">
                          <a:solidFill>
                            <a:srgbClr val="4F81BD"/>
                          </a:solidFill>
                          <a:latin typeface="Calibri"/>
                          <a:ea typeface="Calibri"/>
                          <a:cs typeface="Calibri"/>
                          <a:sym typeface="Calibri"/>
                        </a:rPr>
                        <a:t>string</a:t>
                      </a:r>
                      <a:r>
                        <a:rPr lang="es-ES" sz="700" dirty="0">
                          <a:solidFill>
                            <a:srgbClr val="4F81BD"/>
                          </a:solidFill>
                          <a:latin typeface="Calibri"/>
                          <a:ea typeface="Calibri"/>
                          <a:cs typeface="Calibri"/>
                          <a:sym typeface="Calibri"/>
                        </a:rPr>
                        <a:t> token, </a:t>
                      </a:r>
                      <a:r>
                        <a:rPr lang="es-ES" sz="700" dirty="0" err="1">
                          <a:solidFill>
                            <a:srgbClr val="4F81BD"/>
                          </a:solidFill>
                          <a:latin typeface="Calibri"/>
                          <a:ea typeface="Calibri"/>
                          <a:cs typeface="Calibri"/>
                          <a:sym typeface="Calibri"/>
                        </a:rPr>
                        <a:t>SolicitudConversionModelo</a:t>
                      </a:r>
                      <a:r>
                        <a:rPr lang="es-ES" sz="700" dirty="0">
                          <a:solidFill>
                            <a:srgbClr val="4F81BD"/>
                          </a:solidFill>
                          <a:latin typeface="Calibri"/>
                          <a:ea typeface="Calibri"/>
                          <a:cs typeface="Calibri"/>
                          <a:sym typeface="Calibri"/>
                        </a:rPr>
                        <a:t> solicitud)</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try</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var</a:t>
                      </a:r>
                      <a:r>
                        <a:rPr lang="es-ES" sz="700" dirty="0">
                          <a:solidFill>
                            <a:srgbClr val="4F81BD"/>
                          </a:solidFill>
                          <a:latin typeface="Calibri"/>
                          <a:ea typeface="Calibri"/>
                          <a:cs typeface="Calibri"/>
                          <a:sym typeface="Calibri"/>
                        </a:rPr>
                        <a:t> cuerpo = new </a:t>
                      </a:r>
                      <a:r>
                        <a:rPr lang="es-ES" sz="700" dirty="0" err="1">
                          <a:solidFill>
                            <a:srgbClr val="4F81BD"/>
                          </a:solidFill>
                          <a:latin typeface="Calibri"/>
                          <a:ea typeface="Calibri"/>
                          <a:cs typeface="Calibri"/>
                          <a:sym typeface="Calibri"/>
                        </a:rPr>
                        <a:t>SolicitudConversion</a:t>
                      </a: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Valor = (</a:t>
                      </a:r>
                      <a:r>
                        <a:rPr lang="es-ES" sz="700" dirty="0" err="1">
                          <a:solidFill>
                            <a:srgbClr val="4F81BD"/>
                          </a:solidFill>
                          <a:latin typeface="Calibri"/>
                          <a:ea typeface="Calibri"/>
                          <a:cs typeface="Calibri"/>
                          <a:sym typeface="Calibri"/>
                        </a:rPr>
                        <a:t>double</a:t>
                      </a:r>
                      <a:r>
                        <a:rPr lang="es-ES" sz="700" dirty="0">
                          <a:solidFill>
                            <a:srgbClr val="4F81BD"/>
                          </a:solidFill>
                          <a:latin typeface="Calibri"/>
                          <a:ea typeface="Calibri"/>
                          <a:cs typeface="Calibri"/>
                          <a:sym typeface="Calibri"/>
                        </a:rPr>
                        <a:t>?)</a:t>
                      </a:r>
                      <a:r>
                        <a:rPr lang="es-ES" sz="700" dirty="0" err="1">
                          <a:solidFill>
                            <a:srgbClr val="4F81BD"/>
                          </a:solidFill>
                          <a:latin typeface="Calibri"/>
                          <a:ea typeface="Calibri"/>
                          <a:cs typeface="Calibri"/>
                          <a:sym typeface="Calibri"/>
                        </a:rPr>
                        <a:t>solicitud.Valor</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UnidadOrigen</a:t>
                      </a:r>
                      <a:r>
                        <a:rPr lang="es-ES" sz="700" dirty="0">
                          <a:solidFill>
                            <a:srgbClr val="4F81BD"/>
                          </a:solidFill>
                          <a:latin typeface="Calibri"/>
                          <a:ea typeface="Calibri"/>
                          <a:cs typeface="Calibri"/>
                          <a:sym typeface="Calibri"/>
                        </a:rPr>
                        <a:t> = </a:t>
                      </a:r>
                      <a:r>
                        <a:rPr lang="es-ES" sz="700" dirty="0" err="1">
                          <a:solidFill>
                            <a:srgbClr val="4F81BD"/>
                          </a:solidFill>
                          <a:latin typeface="Calibri"/>
                          <a:ea typeface="Calibri"/>
                          <a:cs typeface="Calibri"/>
                          <a:sym typeface="Calibri"/>
                        </a:rPr>
                        <a:t>solicitud.UnidadOrigen</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UnidadDestino</a:t>
                      </a:r>
                      <a:r>
                        <a:rPr lang="es-ES" sz="700" dirty="0">
                          <a:solidFill>
                            <a:srgbClr val="4F81BD"/>
                          </a:solidFill>
                          <a:latin typeface="Calibri"/>
                          <a:ea typeface="Calibri"/>
                          <a:cs typeface="Calibri"/>
                          <a:sym typeface="Calibri"/>
                        </a:rPr>
                        <a:t> = </a:t>
                      </a:r>
                      <a:r>
                        <a:rPr lang="es-ES" sz="700" dirty="0" err="1">
                          <a:solidFill>
                            <a:srgbClr val="4F81BD"/>
                          </a:solidFill>
                          <a:latin typeface="Calibri"/>
                          <a:ea typeface="Calibri"/>
                          <a:cs typeface="Calibri"/>
                          <a:sym typeface="Calibri"/>
                        </a:rPr>
                        <a:t>solicitud.UnidadDestino</a:t>
                      </a: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using</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var</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peticion</a:t>
                      </a:r>
                      <a:r>
                        <a:rPr lang="es-ES" sz="700" dirty="0">
                          <a:solidFill>
                            <a:srgbClr val="4F81BD"/>
                          </a:solidFill>
                          <a:latin typeface="Calibri"/>
                          <a:ea typeface="Calibri"/>
                          <a:cs typeface="Calibri"/>
                          <a:sym typeface="Calibri"/>
                        </a:rPr>
                        <a:t> = new </a:t>
                      </a:r>
                      <a:r>
                        <a:rPr lang="es-ES" sz="700" dirty="0" err="1">
                          <a:solidFill>
                            <a:srgbClr val="4F81BD"/>
                          </a:solidFill>
                          <a:latin typeface="Calibri"/>
                          <a:ea typeface="Calibri"/>
                          <a:cs typeface="Calibri"/>
                          <a:sym typeface="Calibri"/>
                        </a:rPr>
                        <a:t>HttpRequestMessage</a:t>
                      </a:r>
                      <a:r>
                        <a:rPr lang="es-ES" sz="700" dirty="0">
                          <a:solidFill>
                            <a:srgbClr val="4F81BD"/>
                          </a:solidFill>
                          <a:latin typeface="Calibri"/>
                          <a:ea typeface="Calibri"/>
                          <a:cs typeface="Calibri"/>
                          <a:sym typeface="Calibri"/>
                        </a:rPr>
                        <a:t>(</a:t>
                      </a:r>
                      <a:r>
                        <a:rPr lang="es-ES" sz="700" dirty="0" err="1">
                          <a:solidFill>
                            <a:srgbClr val="4F81BD"/>
                          </a:solidFill>
                          <a:latin typeface="Calibri"/>
                          <a:ea typeface="Calibri"/>
                          <a:cs typeface="Calibri"/>
                          <a:sym typeface="Calibri"/>
                        </a:rPr>
                        <a:t>HttpMethod.Post</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UrlDeConversion</a:t>
                      </a:r>
                      <a:r>
                        <a:rPr lang="es-ES" sz="700" dirty="0">
                          <a:solidFill>
                            <a:srgbClr val="4F81BD"/>
                          </a:solidFill>
                          <a:latin typeface="Calibri"/>
                          <a:ea typeface="Calibri"/>
                          <a:cs typeface="Calibri"/>
                          <a:sym typeface="Calibri"/>
                        </a:rPr>
                        <a:t>(</a:t>
                      </a:r>
                      <a:r>
                        <a:rPr lang="es-ES" sz="700" dirty="0" err="1">
                          <a:solidFill>
                            <a:srgbClr val="4F81BD"/>
                          </a:solidFill>
                          <a:latin typeface="Calibri"/>
                          <a:ea typeface="Calibri"/>
                          <a:cs typeface="Calibri"/>
                          <a:sym typeface="Calibri"/>
                        </a:rPr>
                        <a:t>solicitud.Categoria</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Content = </a:t>
                      </a:r>
                      <a:r>
                        <a:rPr lang="es-ES" sz="700" dirty="0" err="1">
                          <a:solidFill>
                            <a:srgbClr val="4F81BD"/>
                          </a:solidFill>
                          <a:latin typeface="Calibri"/>
                          <a:ea typeface="Calibri"/>
                          <a:cs typeface="Calibri"/>
                          <a:sym typeface="Calibri"/>
                        </a:rPr>
                        <a:t>JsonContent.Create</a:t>
                      </a:r>
                      <a:r>
                        <a:rPr lang="es-ES" sz="700" dirty="0">
                          <a:solidFill>
                            <a:srgbClr val="4F81BD"/>
                          </a:solidFill>
                          <a:latin typeface="Calibri"/>
                          <a:ea typeface="Calibri"/>
                          <a:cs typeface="Calibri"/>
                          <a:sym typeface="Calibri"/>
                        </a:rPr>
                        <a:t>(cuerpo)</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peticion.Headers.Authorization</a:t>
                      </a:r>
                      <a:r>
                        <a:rPr lang="es-ES" sz="700" dirty="0">
                          <a:solidFill>
                            <a:srgbClr val="4F81BD"/>
                          </a:solidFill>
                          <a:latin typeface="Calibri"/>
                          <a:ea typeface="Calibri"/>
                          <a:cs typeface="Calibri"/>
                          <a:sym typeface="Calibri"/>
                        </a:rPr>
                        <a:t> = new </a:t>
                      </a:r>
                      <a:r>
                        <a:rPr lang="es-ES" sz="700" dirty="0" err="1">
                          <a:solidFill>
                            <a:srgbClr val="4F81BD"/>
                          </a:solidFill>
                          <a:latin typeface="Calibri"/>
                          <a:ea typeface="Calibri"/>
                          <a:cs typeface="Calibri"/>
                          <a:sym typeface="Calibri"/>
                        </a:rPr>
                        <a:t>AuthenticationHeaderValue</a:t>
                      </a:r>
                      <a:r>
                        <a:rPr lang="es-ES" sz="700" dirty="0">
                          <a:solidFill>
                            <a:srgbClr val="4F81BD"/>
                          </a:solidFill>
                          <a:latin typeface="Calibri"/>
                          <a:ea typeface="Calibri"/>
                          <a:cs typeface="Calibri"/>
                          <a:sym typeface="Calibri"/>
                        </a:rPr>
                        <a:t>("</a:t>
                      </a:r>
                      <a:r>
                        <a:rPr lang="es-ES" sz="700" dirty="0" err="1">
                          <a:solidFill>
                            <a:srgbClr val="4F81BD"/>
                          </a:solidFill>
                          <a:latin typeface="Calibri"/>
                          <a:ea typeface="Calibri"/>
                          <a:cs typeface="Calibri"/>
                          <a:sym typeface="Calibri"/>
                        </a:rPr>
                        <a:t>Bearer</a:t>
                      </a:r>
                      <a:r>
                        <a:rPr lang="es-ES" sz="700" dirty="0">
                          <a:solidFill>
                            <a:srgbClr val="4F81BD"/>
                          </a:solidFill>
                          <a:latin typeface="Calibri"/>
                          <a:ea typeface="Calibri"/>
                          <a:cs typeface="Calibri"/>
                          <a:sym typeface="Calibri"/>
                        </a:rPr>
                        <a:t>", token);</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using</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var</a:t>
                      </a:r>
                      <a:r>
                        <a:rPr lang="es-ES" sz="700" dirty="0">
                          <a:solidFill>
                            <a:srgbClr val="4F81BD"/>
                          </a:solidFill>
                          <a:latin typeface="Calibri"/>
                          <a:ea typeface="Calibri"/>
                          <a:cs typeface="Calibri"/>
                          <a:sym typeface="Calibri"/>
                        </a:rPr>
                        <a:t> respuesta = </a:t>
                      </a:r>
                      <a:r>
                        <a:rPr lang="es-ES" sz="700" dirty="0" err="1">
                          <a:solidFill>
                            <a:srgbClr val="4F81BD"/>
                          </a:solidFill>
                          <a:latin typeface="Calibri"/>
                          <a:ea typeface="Calibri"/>
                          <a:cs typeface="Calibri"/>
                          <a:sym typeface="Calibri"/>
                        </a:rPr>
                        <a:t>await</a:t>
                      </a:r>
                      <a:r>
                        <a:rPr lang="es-ES" sz="700" dirty="0">
                          <a:solidFill>
                            <a:srgbClr val="4F81BD"/>
                          </a:solidFill>
                          <a:latin typeface="Calibri"/>
                          <a:ea typeface="Calibri"/>
                          <a:cs typeface="Calibri"/>
                          <a:sym typeface="Calibri"/>
                        </a:rPr>
                        <a:t> _</a:t>
                      </a:r>
                      <a:r>
                        <a:rPr lang="es-ES" sz="700" dirty="0" err="1">
                          <a:solidFill>
                            <a:srgbClr val="4F81BD"/>
                          </a:solidFill>
                          <a:latin typeface="Calibri"/>
                          <a:ea typeface="Calibri"/>
                          <a:cs typeface="Calibri"/>
                          <a:sym typeface="Calibri"/>
                        </a:rPr>
                        <a:t>http.SendAsync</a:t>
                      </a:r>
                      <a:r>
                        <a:rPr lang="es-ES" sz="700" dirty="0">
                          <a:solidFill>
                            <a:srgbClr val="4F81BD"/>
                          </a:solidFill>
                          <a:latin typeface="Calibri"/>
                          <a:ea typeface="Calibri"/>
                          <a:cs typeface="Calibri"/>
                          <a:sym typeface="Calibri"/>
                        </a:rPr>
                        <a:t>(</a:t>
                      </a:r>
                      <a:r>
                        <a:rPr lang="es-ES" sz="700" dirty="0" err="1">
                          <a:solidFill>
                            <a:srgbClr val="4F81BD"/>
                          </a:solidFill>
                          <a:latin typeface="Calibri"/>
                          <a:ea typeface="Calibri"/>
                          <a:cs typeface="Calibri"/>
                          <a:sym typeface="Calibri"/>
                        </a:rPr>
                        <a:t>peticion</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if</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respuesta.IsSuccessStatusCode</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var</a:t>
                      </a:r>
                      <a:r>
                        <a:rPr lang="es-ES" sz="700" dirty="0">
                          <a:solidFill>
                            <a:srgbClr val="4F81BD"/>
                          </a:solidFill>
                          <a:latin typeface="Calibri"/>
                          <a:ea typeface="Calibri"/>
                          <a:cs typeface="Calibri"/>
                          <a:sym typeface="Calibri"/>
                        </a:rPr>
                        <a:t> datos = </a:t>
                      </a:r>
                      <a:r>
                        <a:rPr lang="es-ES" sz="700" dirty="0" err="1">
                          <a:solidFill>
                            <a:srgbClr val="4F81BD"/>
                          </a:solidFill>
                          <a:latin typeface="Calibri"/>
                          <a:ea typeface="Calibri"/>
                          <a:cs typeface="Calibri"/>
                          <a:sym typeface="Calibri"/>
                        </a:rPr>
                        <a:t>await</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respuesta.Content.ReadFromJsonAsync</a:t>
                      </a:r>
                      <a:r>
                        <a:rPr lang="es-ES" sz="700" dirty="0">
                          <a:solidFill>
                            <a:srgbClr val="4F81BD"/>
                          </a:solidFill>
                          <a:latin typeface="Calibri"/>
                          <a:ea typeface="Calibri"/>
                          <a:cs typeface="Calibri"/>
                          <a:sym typeface="Calibri"/>
                        </a:rPr>
                        <a:t>&lt;</a:t>
                      </a:r>
                      <a:r>
                        <a:rPr lang="es-ES" sz="700" dirty="0" err="1">
                          <a:solidFill>
                            <a:srgbClr val="4F81BD"/>
                          </a:solidFill>
                          <a:latin typeface="Calibri"/>
                          <a:ea typeface="Calibri"/>
                          <a:cs typeface="Calibri"/>
                          <a:sym typeface="Calibri"/>
                        </a:rPr>
                        <a:t>RespuestaConversion</a:t>
                      </a:r>
                      <a:r>
                        <a:rPr lang="es-ES" sz="700" dirty="0">
                          <a:solidFill>
                            <a:srgbClr val="4F81BD"/>
                          </a:solidFill>
                          <a:latin typeface="Calibri"/>
                          <a:ea typeface="Calibri"/>
                          <a:cs typeface="Calibri"/>
                          <a:sym typeface="Calibri"/>
                        </a:rPr>
                        <a:t>&gt;();</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return</a:t>
                      </a:r>
                      <a:r>
                        <a:rPr lang="es-ES" sz="700" dirty="0">
                          <a:solidFill>
                            <a:srgbClr val="4F81BD"/>
                          </a:solidFill>
                          <a:latin typeface="Calibri"/>
                          <a:ea typeface="Calibri"/>
                          <a:cs typeface="Calibri"/>
                          <a:sym typeface="Calibri"/>
                        </a:rPr>
                        <a:t> datos </a:t>
                      </a:r>
                      <a:r>
                        <a:rPr lang="es-ES" sz="700" dirty="0" err="1">
                          <a:solidFill>
                            <a:srgbClr val="4F81BD"/>
                          </a:solidFill>
                          <a:latin typeface="Calibri"/>
                          <a:ea typeface="Calibri"/>
                          <a:cs typeface="Calibri"/>
                          <a:sym typeface="Calibri"/>
                        </a:rPr>
                        <a:t>is</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null</a:t>
                      </a: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 new </a:t>
                      </a:r>
                      <a:r>
                        <a:rPr lang="es-ES" sz="700" dirty="0" err="1">
                          <a:solidFill>
                            <a:srgbClr val="4F81BD"/>
                          </a:solidFill>
                          <a:latin typeface="Calibri"/>
                          <a:ea typeface="Calibri"/>
                          <a:cs typeface="Calibri"/>
                          <a:sym typeface="Calibri"/>
                        </a:rPr>
                        <a:t>ResultadoConversionModelo</a:t>
                      </a:r>
                      <a:r>
                        <a:rPr lang="es-ES" sz="700" dirty="0">
                          <a:solidFill>
                            <a:srgbClr val="4F81BD"/>
                          </a:solidFill>
                          <a:latin typeface="Calibri"/>
                          <a:ea typeface="Calibri"/>
                          <a:cs typeface="Calibri"/>
                          <a:sym typeface="Calibri"/>
                        </a:rPr>
                        <a:t>(false, </a:t>
                      </a:r>
                      <a:r>
                        <a:rPr lang="es-ES" sz="700" dirty="0" err="1">
                          <a:solidFill>
                            <a:srgbClr val="4F81BD"/>
                          </a:solidFill>
                          <a:latin typeface="Calibri"/>
                          <a:ea typeface="Calibri"/>
                          <a:cs typeface="Calibri"/>
                          <a:sym typeface="Calibri"/>
                        </a:rPr>
                        <a:t>null</a:t>
                      </a:r>
                      <a:r>
                        <a:rPr lang="es-ES" sz="700" dirty="0">
                          <a:solidFill>
                            <a:srgbClr val="4F81BD"/>
                          </a:solidFill>
                          <a:latin typeface="Calibri"/>
                          <a:ea typeface="Calibri"/>
                          <a:cs typeface="Calibri"/>
                          <a:sym typeface="Calibri"/>
                        </a:rPr>
                        <a:t>, "El servidor devolvió una respuesta vacía.")</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 new </a:t>
                      </a:r>
                      <a:r>
                        <a:rPr lang="es-ES" sz="700" dirty="0" err="1">
                          <a:solidFill>
                            <a:srgbClr val="4F81BD"/>
                          </a:solidFill>
                          <a:latin typeface="Calibri"/>
                          <a:ea typeface="Calibri"/>
                          <a:cs typeface="Calibri"/>
                          <a:sym typeface="Calibri"/>
                        </a:rPr>
                        <a:t>ResultadoConversionModelo</a:t>
                      </a:r>
                      <a:r>
                        <a:rPr lang="es-ES" sz="700" dirty="0">
                          <a:solidFill>
                            <a:srgbClr val="4F81BD"/>
                          </a:solidFill>
                          <a:latin typeface="Calibri"/>
                          <a:ea typeface="Calibri"/>
                          <a:cs typeface="Calibri"/>
                          <a:sym typeface="Calibri"/>
                        </a:rPr>
                        <a:t>(true, </a:t>
                      </a:r>
                      <a:r>
                        <a:rPr lang="es-ES" sz="700" dirty="0" err="1">
                          <a:solidFill>
                            <a:srgbClr val="4F81BD"/>
                          </a:solidFill>
                          <a:latin typeface="Calibri"/>
                          <a:ea typeface="Calibri"/>
                          <a:cs typeface="Calibri"/>
                          <a:sym typeface="Calibri"/>
                        </a:rPr>
                        <a:t>datos.ValorConvertido</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string.Empty</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var</a:t>
                      </a:r>
                      <a:r>
                        <a:rPr lang="es-ES" sz="700" dirty="0">
                          <a:solidFill>
                            <a:srgbClr val="4F81BD"/>
                          </a:solidFill>
                          <a:latin typeface="Calibri"/>
                          <a:ea typeface="Calibri"/>
                          <a:cs typeface="Calibri"/>
                          <a:sym typeface="Calibri"/>
                        </a:rPr>
                        <a:t> error = </a:t>
                      </a:r>
                      <a:r>
                        <a:rPr lang="es-ES" sz="700" dirty="0" err="1">
                          <a:solidFill>
                            <a:srgbClr val="4F81BD"/>
                          </a:solidFill>
                          <a:latin typeface="Calibri"/>
                          <a:ea typeface="Calibri"/>
                          <a:cs typeface="Calibri"/>
                          <a:sym typeface="Calibri"/>
                        </a:rPr>
                        <a:t>await</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LeerErrorAsync</a:t>
                      </a:r>
                      <a:r>
                        <a:rPr lang="es-ES" sz="700" dirty="0">
                          <a:solidFill>
                            <a:srgbClr val="4F81BD"/>
                          </a:solidFill>
                          <a:latin typeface="Calibri"/>
                          <a:ea typeface="Calibri"/>
                          <a:cs typeface="Calibri"/>
                          <a:sym typeface="Calibri"/>
                        </a:rPr>
                        <a:t>(respuesta);</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if</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respuesta.StatusCode</a:t>
                      </a:r>
                      <a:r>
                        <a:rPr lang="es-ES" sz="700" dirty="0">
                          <a:solidFill>
                            <a:srgbClr val="4F81BD"/>
                          </a:solidFill>
                          <a:latin typeface="Calibri"/>
                          <a:ea typeface="Calibri"/>
                          <a:cs typeface="Calibri"/>
                          <a:sym typeface="Calibri"/>
                        </a:rPr>
                        <a:t> == </a:t>
                      </a:r>
                      <a:r>
                        <a:rPr lang="es-ES" sz="700" dirty="0" err="1">
                          <a:solidFill>
                            <a:srgbClr val="4F81BD"/>
                          </a:solidFill>
                          <a:latin typeface="Calibri"/>
                          <a:ea typeface="Calibri"/>
                          <a:cs typeface="Calibri"/>
                          <a:sym typeface="Calibri"/>
                        </a:rPr>
                        <a:t>HttpStatusCode.Unauthorized</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return</a:t>
                      </a:r>
                      <a:r>
                        <a:rPr lang="es-ES" sz="700" dirty="0">
                          <a:solidFill>
                            <a:srgbClr val="4F81BD"/>
                          </a:solidFill>
                          <a:latin typeface="Calibri"/>
                          <a:ea typeface="Calibri"/>
                          <a:cs typeface="Calibri"/>
                          <a:sym typeface="Calibri"/>
                        </a:rPr>
                        <a:t> new </a:t>
                      </a:r>
                      <a:r>
                        <a:rPr lang="es-ES" sz="700" dirty="0" err="1">
                          <a:solidFill>
                            <a:srgbClr val="4F81BD"/>
                          </a:solidFill>
                          <a:latin typeface="Calibri"/>
                          <a:ea typeface="Calibri"/>
                          <a:cs typeface="Calibri"/>
                          <a:sym typeface="Calibri"/>
                        </a:rPr>
                        <a:t>ResultadoConversionModelo</a:t>
                      </a:r>
                      <a:r>
                        <a:rPr lang="es-ES" sz="700" dirty="0">
                          <a:solidFill>
                            <a:srgbClr val="4F81BD"/>
                          </a:solidFill>
                          <a:latin typeface="Calibri"/>
                          <a:ea typeface="Calibri"/>
                          <a:cs typeface="Calibri"/>
                          <a:sym typeface="Calibri"/>
                        </a:rPr>
                        <a:t>(false, </a:t>
                      </a:r>
                      <a:r>
                        <a:rPr lang="es-ES" sz="700" dirty="0" err="1">
                          <a:solidFill>
                            <a:srgbClr val="4F81BD"/>
                          </a:solidFill>
                          <a:latin typeface="Calibri"/>
                          <a:ea typeface="Calibri"/>
                          <a:cs typeface="Calibri"/>
                          <a:sym typeface="Calibri"/>
                        </a:rPr>
                        <a:t>null</a:t>
                      </a:r>
                      <a:r>
                        <a:rPr lang="es-ES" sz="700" dirty="0">
                          <a:solidFill>
                            <a:srgbClr val="4F81BD"/>
                          </a:solidFill>
                          <a:latin typeface="Calibri"/>
                          <a:ea typeface="Calibri"/>
                          <a:cs typeface="Calibri"/>
                          <a:sym typeface="Calibri"/>
                        </a:rPr>
                        <a:t>, "La sesión ha expirado.");</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if</a:t>
                      </a: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respuesta.StatusCode</a:t>
                      </a:r>
                      <a:r>
                        <a:rPr lang="es-ES" sz="700" dirty="0">
                          <a:solidFill>
                            <a:srgbClr val="4F81BD"/>
                          </a:solidFill>
                          <a:latin typeface="Calibri"/>
                          <a:ea typeface="Calibri"/>
                          <a:cs typeface="Calibri"/>
                          <a:sym typeface="Calibri"/>
                        </a:rPr>
                        <a:t> == </a:t>
                      </a:r>
                      <a:r>
                        <a:rPr lang="es-ES" sz="700" dirty="0" err="1">
                          <a:solidFill>
                            <a:srgbClr val="4F81BD"/>
                          </a:solidFill>
                          <a:latin typeface="Calibri"/>
                          <a:ea typeface="Calibri"/>
                          <a:cs typeface="Calibri"/>
                          <a:sym typeface="Calibri"/>
                        </a:rPr>
                        <a:t>HttpStatusCode.BadRequest</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return</a:t>
                      </a:r>
                      <a:r>
                        <a:rPr lang="es-ES" sz="700" dirty="0">
                          <a:solidFill>
                            <a:srgbClr val="4F81BD"/>
                          </a:solidFill>
                          <a:latin typeface="Calibri"/>
                          <a:ea typeface="Calibri"/>
                          <a:cs typeface="Calibri"/>
                          <a:sym typeface="Calibri"/>
                        </a:rPr>
                        <a:t> new </a:t>
                      </a:r>
                      <a:r>
                        <a:rPr lang="es-ES" sz="700" dirty="0" err="1">
                          <a:solidFill>
                            <a:srgbClr val="4F81BD"/>
                          </a:solidFill>
                          <a:latin typeface="Calibri"/>
                          <a:ea typeface="Calibri"/>
                          <a:cs typeface="Calibri"/>
                          <a:sym typeface="Calibri"/>
                        </a:rPr>
                        <a:t>ResultadoConversionModelo</a:t>
                      </a:r>
                      <a:r>
                        <a:rPr lang="es-ES" sz="700" dirty="0">
                          <a:solidFill>
                            <a:srgbClr val="4F81BD"/>
                          </a:solidFill>
                          <a:latin typeface="Calibri"/>
                          <a:ea typeface="Calibri"/>
                          <a:cs typeface="Calibri"/>
                          <a:sym typeface="Calibri"/>
                        </a:rPr>
                        <a:t>(false, </a:t>
                      </a:r>
                      <a:r>
                        <a:rPr lang="es-ES" sz="700" dirty="0" err="1">
                          <a:solidFill>
                            <a:srgbClr val="4F81BD"/>
                          </a:solidFill>
                          <a:latin typeface="Calibri"/>
                          <a:ea typeface="Calibri"/>
                          <a:cs typeface="Calibri"/>
                          <a:sym typeface="Calibri"/>
                        </a:rPr>
                        <a:t>null</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error.Mensaje</a:t>
                      </a:r>
                      <a:r>
                        <a:rPr lang="es-ES" sz="700" dirty="0">
                          <a:solidFill>
                            <a:srgbClr val="4F81BD"/>
                          </a:solidFill>
                          <a:latin typeface="Calibri"/>
                          <a:ea typeface="Calibri"/>
                          <a:cs typeface="Calibri"/>
                          <a:sym typeface="Calibri"/>
                        </a:rPr>
                        <a:t> ?? </a:t>
                      </a:r>
                      <a:r>
                        <a:rPr lang="es-ES" sz="700" dirty="0" err="1">
                          <a:solidFill>
                            <a:srgbClr val="4F81BD"/>
                          </a:solidFill>
                          <a:latin typeface="Calibri"/>
                          <a:ea typeface="Calibri"/>
                          <a:cs typeface="Calibri"/>
                          <a:sym typeface="Calibri"/>
                        </a:rPr>
                        <a:t>error.Detalle</a:t>
                      </a:r>
                      <a:r>
                        <a:rPr lang="es-ES" sz="700" dirty="0">
                          <a:solidFill>
                            <a:srgbClr val="4F81BD"/>
                          </a:solidFill>
                          <a:latin typeface="Calibri"/>
                          <a:ea typeface="Calibri"/>
                          <a:cs typeface="Calibri"/>
                          <a:sym typeface="Calibri"/>
                        </a:rPr>
                        <a:t> ?? "La solicitud de conversión no es válida.");</a:t>
                      </a:r>
                    </a:p>
                    <a:p>
                      <a:pPr marL="0" lvl="0" indent="0" algn="l" rtl="0">
                        <a:lnSpc>
                          <a:spcPct val="100000"/>
                        </a:lnSpc>
                        <a:spcBef>
                          <a:spcPts val="0"/>
                        </a:spcBef>
                        <a:spcAft>
                          <a:spcPts val="0"/>
                        </a:spcAft>
                        <a:buNone/>
                      </a:pPr>
                      <a:endParaRPr lang="es-ES" sz="7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return</a:t>
                      </a:r>
                      <a:r>
                        <a:rPr lang="es-ES" sz="700" dirty="0">
                          <a:solidFill>
                            <a:srgbClr val="4F81BD"/>
                          </a:solidFill>
                          <a:latin typeface="Calibri"/>
                          <a:ea typeface="Calibri"/>
                          <a:cs typeface="Calibri"/>
                          <a:sym typeface="Calibri"/>
                        </a:rPr>
                        <a:t> new </a:t>
                      </a:r>
                      <a:r>
                        <a:rPr lang="es-ES" sz="700" dirty="0" err="1">
                          <a:solidFill>
                            <a:srgbClr val="4F81BD"/>
                          </a:solidFill>
                          <a:latin typeface="Calibri"/>
                          <a:ea typeface="Calibri"/>
                          <a:cs typeface="Calibri"/>
                          <a:sym typeface="Calibri"/>
                        </a:rPr>
                        <a:t>ResultadoConversionModelo</a:t>
                      </a:r>
                      <a:r>
                        <a:rPr lang="es-ES" sz="700" dirty="0">
                          <a:solidFill>
                            <a:srgbClr val="4F81BD"/>
                          </a:solidFill>
                          <a:latin typeface="Calibri"/>
                          <a:ea typeface="Calibri"/>
                          <a:cs typeface="Calibri"/>
                          <a:sym typeface="Calibri"/>
                        </a:rPr>
                        <a:t>(false, </a:t>
                      </a:r>
                      <a:r>
                        <a:rPr lang="es-ES" sz="700" dirty="0" err="1">
                          <a:solidFill>
                            <a:srgbClr val="4F81BD"/>
                          </a:solidFill>
                          <a:latin typeface="Calibri"/>
                          <a:ea typeface="Calibri"/>
                          <a:cs typeface="Calibri"/>
                          <a:sym typeface="Calibri"/>
                        </a:rPr>
                        <a:t>null</a:t>
                      </a:r>
                      <a:r>
                        <a:rPr lang="es-ES" sz="7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error.Mensaje</a:t>
                      </a:r>
                      <a:r>
                        <a:rPr lang="es-ES" sz="700" dirty="0">
                          <a:solidFill>
                            <a:srgbClr val="4F81BD"/>
                          </a:solidFill>
                          <a:latin typeface="Calibri"/>
                          <a:ea typeface="Calibri"/>
                          <a:cs typeface="Calibri"/>
                          <a:sym typeface="Calibri"/>
                        </a:rPr>
                        <a:t> ?? "No se pudo realizar la conversión.");</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catch (</a:t>
                      </a:r>
                      <a:r>
                        <a:rPr lang="es-ES" sz="700" dirty="0" err="1">
                          <a:solidFill>
                            <a:srgbClr val="4F81BD"/>
                          </a:solidFill>
                          <a:latin typeface="Calibri"/>
                          <a:ea typeface="Calibri"/>
                          <a:cs typeface="Calibri"/>
                          <a:sym typeface="Calibri"/>
                        </a:rPr>
                        <a:t>TaskCanceledException</a:t>
                      </a:r>
                      <a:r>
                        <a:rPr lang="es-ES" sz="700" dirty="0">
                          <a:solidFill>
                            <a:srgbClr val="4F81BD"/>
                          </a:solidFill>
                          <a:latin typeface="Calibri"/>
                          <a:ea typeface="Calibri"/>
                          <a:cs typeface="Calibri"/>
                          <a:sym typeface="Calibri"/>
                        </a:rPr>
                        <a:t> ex)</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_</a:t>
                      </a:r>
                      <a:r>
                        <a:rPr lang="es-ES" sz="700" dirty="0" err="1">
                          <a:solidFill>
                            <a:srgbClr val="4F81BD"/>
                          </a:solidFill>
                          <a:latin typeface="Calibri"/>
                          <a:ea typeface="Calibri"/>
                          <a:cs typeface="Calibri"/>
                          <a:sym typeface="Calibri"/>
                        </a:rPr>
                        <a:t>log.LogError</a:t>
                      </a:r>
                      <a:r>
                        <a:rPr lang="es-ES" sz="700" dirty="0">
                          <a:solidFill>
                            <a:srgbClr val="4F81BD"/>
                          </a:solidFill>
                          <a:latin typeface="Calibri"/>
                          <a:ea typeface="Calibri"/>
                          <a:cs typeface="Calibri"/>
                          <a:sym typeface="Calibri"/>
                        </a:rPr>
                        <a:t>(ex, "Tiempo de espera agotado al llamar a la API de conversión");</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r>
                        <a:rPr lang="es-ES" sz="700" dirty="0" err="1">
                          <a:solidFill>
                            <a:srgbClr val="4F81BD"/>
                          </a:solidFill>
                          <a:latin typeface="Calibri"/>
                          <a:ea typeface="Calibri"/>
                          <a:cs typeface="Calibri"/>
                          <a:sym typeface="Calibri"/>
                        </a:rPr>
                        <a:t>return</a:t>
                      </a:r>
                      <a:r>
                        <a:rPr lang="es-ES" sz="700" dirty="0">
                          <a:solidFill>
                            <a:srgbClr val="4F81BD"/>
                          </a:solidFill>
                          <a:latin typeface="Calibri"/>
                          <a:ea typeface="Calibri"/>
                          <a:cs typeface="Calibri"/>
                          <a:sym typeface="Calibri"/>
                        </a:rPr>
                        <a:t> new </a:t>
                      </a:r>
                      <a:r>
                        <a:rPr lang="es-ES" sz="700" dirty="0" err="1">
                          <a:solidFill>
                            <a:srgbClr val="4F81BD"/>
                          </a:solidFill>
                          <a:latin typeface="Calibri"/>
                          <a:ea typeface="Calibri"/>
                          <a:cs typeface="Calibri"/>
                          <a:sym typeface="Calibri"/>
                        </a:rPr>
                        <a:t>ResultadoConversionModelo</a:t>
                      </a:r>
                      <a:r>
                        <a:rPr lang="es-ES" sz="700" dirty="0">
                          <a:solidFill>
                            <a:srgbClr val="4F81BD"/>
                          </a:solidFill>
                          <a:latin typeface="Calibri"/>
                          <a:ea typeface="Calibri"/>
                          <a:cs typeface="Calibri"/>
                          <a:sym typeface="Calibri"/>
                        </a:rPr>
                        <a:t>(false, </a:t>
                      </a:r>
                      <a:r>
                        <a:rPr lang="es-ES" sz="700" dirty="0" err="1">
                          <a:solidFill>
                            <a:srgbClr val="4F81BD"/>
                          </a:solidFill>
                          <a:latin typeface="Calibri"/>
                          <a:ea typeface="Calibri"/>
                          <a:cs typeface="Calibri"/>
                          <a:sym typeface="Calibri"/>
                        </a:rPr>
                        <a:t>null</a:t>
                      </a:r>
                      <a:r>
                        <a:rPr lang="es-ES" sz="700" dirty="0">
                          <a:solidFill>
                            <a:srgbClr val="4F81BD"/>
                          </a:solidFill>
                          <a:latin typeface="Calibri"/>
                          <a:ea typeface="Calibri"/>
                          <a:cs typeface="Calibri"/>
                          <a:sym typeface="Calibri"/>
                        </a:rPr>
                        <a:t>, "El servidor tardó demasiado en responder.");</a:t>
                      </a:r>
                    </a:p>
                    <a:p>
                      <a:pPr marL="0" lvl="0" indent="0" algn="l" rtl="0">
                        <a:lnSpc>
                          <a:spcPct val="100000"/>
                        </a:lnSpc>
                        <a:spcBef>
                          <a:spcPts val="0"/>
                        </a:spcBef>
                        <a:spcAft>
                          <a:spcPts val="0"/>
                        </a:spcAft>
                        <a:buNone/>
                      </a:pPr>
                      <a:r>
                        <a:rPr lang="es-ES" sz="7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AE6B9AB3-AC2B-4910-2D8C-D489EE42B92A}"/>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0" name="Google Shape;620;p7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Consola de la aplicación web</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5B0D5505-D8D2-B8D4-D770-EEDDC4E11833}"/>
              </a:ext>
            </a:extLst>
          </p:cNvPr>
          <p:cNvPicPr>
            <a:picLocks noChangeAspect="1"/>
          </p:cNvPicPr>
          <p:nvPr/>
        </p:nvPicPr>
        <p:blipFill>
          <a:blip r:embed="rId3"/>
          <a:stretch>
            <a:fillRect/>
          </a:stretch>
        </p:blipFill>
        <p:spPr>
          <a:xfrm>
            <a:off x="1223666" y="3054409"/>
            <a:ext cx="6983074" cy="151785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6">
          <a:extLst>
            <a:ext uri="{FF2B5EF4-FFF2-40B4-BE49-F238E27FC236}">
              <a16:creationId xmlns:a16="http://schemas.microsoft.com/office/drawing/2014/main" id="{F4381D62-2B90-0497-15D0-E465A0BFF560}"/>
            </a:ext>
          </a:extLst>
        </p:cNvPr>
        <p:cNvGrpSpPr/>
        <p:nvPr/>
      </p:nvGrpSpPr>
      <p:grpSpPr>
        <a:xfrm>
          <a:off x="0" y="0"/>
          <a:ext cx="0" cy="0"/>
          <a:chOff x="0" y="0"/>
          <a:chExt cx="0" cy="0"/>
        </a:xfrm>
      </p:grpSpPr>
      <p:sp>
        <p:nvSpPr>
          <p:cNvPr id="617" name="Google Shape;617;p76">
            <a:extLst>
              <a:ext uri="{FF2B5EF4-FFF2-40B4-BE49-F238E27FC236}">
                <a16:creationId xmlns:a16="http://schemas.microsoft.com/office/drawing/2014/main" id="{B444C22A-731E-5730-D028-60BCC1BCF0DC}"/>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a:extLst>
              <a:ext uri="{FF2B5EF4-FFF2-40B4-BE49-F238E27FC236}">
                <a16:creationId xmlns:a16="http://schemas.microsoft.com/office/drawing/2014/main" id="{DFE04893-6102-F256-5243-BA7AE2D15491}"/>
              </a:ext>
            </a:extLst>
          </p:cNvPr>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0" name="Google Shape;620;p76">
            <a:extLst>
              <a:ext uri="{FF2B5EF4-FFF2-40B4-BE49-F238E27FC236}">
                <a16:creationId xmlns:a16="http://schemas.microsoft.com/office/drawing/2014/main" id="{699D9B87-8222-DBF9-B993-D63EFFDDA390}"/>
              </a:ext>
            </a:extLst>
          </p:cNvPr>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8A90A362-A30C-D899-496A-D765DFF1E609}"/>
              </a:ext>
            </a:extLst>
          </p:cNvPr>
          <p:cNvPicPr>
            <a:picLocks noChangeAspect="1"/>
          </p:cNvPicPr>
          <p:nvPr/>
        </p:nvPicPr>
        <p:blipFill>
          <a:blip r:embed="rId3"/>
          <a:stretch>
            <a:fillRect/>
          </a:stretch>
        </p:blipFill>
        <p:spPr>
          <a:xfrm>
            <a:off x="1143000" y="2667000"/>
            <a:ext cx="7042649" cy="3684808"/>
          </a:xfrm>
          <a:prstGeom prst="rect">
            <a:avLst/>
          </a:prstGeom>
        </p:spPr>
      </p:pic>
    </p:spTree>
    <p:extLst>
      <p:ext uri="{BB962C8B-B14F-4D97-AF65-F5344CB8AC3E}">
        <p14:creationId xmlns:p14="http://schemas.microsoft.com/office/powerpoint/2010/main" val="674996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7" name="Google Shape;627;p77"/>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6A01ACDC-F4F0-4264-433D-4FE3DC587B6D}"/>
              </a:ext>
            </a:extLst>
          </p:cNvPr>
          <p:cNvPicPr>
            <a:picLocks noChangeAspect="1"/>
          </p:cNvPicPr>
          <p:nvPr/>
        </p:nvPicPr>
        <p:blipFill>
          <a:blip r:embed="rId3"/>
          <a:stretch>
            <a:fillRect/>
          </a:stretch>
        </p:blipFill>
        <p:spPr>
          <a:xfrm>
            <a:off x="1114311" y="2610549"/>
            <a:ext cx="7621277" cy="402731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634" name="Google Shape;634;p7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35" name="Google Shape;635;p78"/>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3BA7BC79-9D5F-6B36-CE50-3AD9B225FF80}"/>
              </a:ext>
            </a:extLst>
          </p:cNvPr>
          <p:cNvPicPr>
            <a:picLocks noChangeAspect="1"/>
          </p:cNvPicPr>
          <p:nvPr/>
        </p:nvPicPr>
        <p:blipFill>
          <a:blip r:embed="rId3"/>
          <a:stretch>
            <a:fillRect/>
          </a:stretch>
        </p:blipFill>
        <p:spPr>
          <a:xfrm>
            <a:off x="1362253" y="2693773"/>
            <a:ext cx="7125394" cy="372066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2" name="Google Shape;642;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643" name="Google Shape;643;p79"/>
          <p:cNvSpPr/>
          <p:nvPr/>
        </p:nvSpPr>
        <p:spPr>
          <a:xfrm>
            <a:off x="9383700"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46" name="Google Shape;646;p79"/>
          <p:cNvSpPr txBox="1">
            <a:spLocks noGrp="1"/>
          </p:cNvSpPr>
          <p:nvPr>
            <p:ph type="body" idx="1"/>
          </p:nvPr>
        </p:nvSpPr>
        <p:spPr>
          <a:xfrm>
            <a:off x="581192" y="2062478"/>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dirty="0">
                <a:latin typeface="Cambria"/>
                <a:ea typeface="Cambria"/>
                <a:cs typeface="Cambria"/>
                <a:sym typeface="Cambria"/>
              </a:rPr>
              <a:t>Para el cliente móvil se debe crear un proyecto “Aplicación .NET MAUI” que permitirá la configuración para la app en Android y si se tuviera disposición también en IOS, pero cabe recalcar que para IOS es necesario un dispositivo en el cual ejecutar.</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B85A9A1D-525D-99F6-AC54-08B6DE41E24A}"/>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1.6  CREACIÓN DEL PROYECTO CLIENTE </a:t>
            </a:r>
            <a:r>
              <a:rPr lang="es-MX" b="1" dirty="0">
                <a:latin typeface="Cambria"/>
                <a:ea typeface="Cambria"/>
                <a:cs typeface="Cambria"/>
                <a:sym typeface="Cambria"/>
              </a:rPr>
              <a:t>MÓVIL</a:t>
            </a:r>
            <a:endParaRPr lang="es-MX" sz="1400" b="1" dirty="0">
              <a:latin typeface="Cambria"/>
              <a:ea typeface="Cambria"/>
              <a:cs typeface="Cambria"/>
              <a:sym typeface="Cambria"/>
            </a:endParaRPr>
          </a:p>
        </p:txBody>
      </p:sp>
      <p:pic>
        <p:nvPicPr>
          <p:cNvPr id="4" name="Picture 3">
            <a:extLst>
              <a:ext uri="{FF2B5EF4-FFF2-40B4-BE49-F238E27FC236}">
                <a16:creationId xmlns:a16="http://schemas.microsoft.com/office/drawing/2014/main" id="{AB6A26E8-EE8A-D574-4FEC-DF96F29B8EC2}"/>
              </a:ext>
            </a:extLst>
          </p:cNvPr>
          <p:cNvPicPr>
            <a:picLocks noChangeAspect="1"/>
          </p:cNvPicPr>
          <p:nvPr/>
        </p:nvPicPr>
        <p:blipFill>
          <a:blip r:embed="rId3"/>
          <a:stretch>
            <a:fillRect/>
          </a:stretch>
        </p:blipFill>
        <p:spPr>
          <a:xfrm>
            <a:off x="368000" y="3241075"/>
            <a:ext cx="4978357" cy="3193448"/>
          </a:xfrm>
          <a:prstGeom prst="rect">
            <a:avLst/>
          </a:prstGeom>
        </p:spPr>
      </p:pic>
      <p:pic>
        <p:nvPicPr>
          <p:cNvPr id="5" name="Picture 4">
            <a:extLst>
              <a:ext uri="{FF2B5EF4-FFF2-40B4-BE49-F238E27FC236}">
                <a16:creationId xmlns:a16="http://schemas.microsoft.com/office/drawing/2014/main" id="{3E92704F-2C02-B51C-ED01-0FD2B008A21A}"/>
              </a:ext>
            </a:extLst>
          </p:cNvPr>
          <p:cNvPicPr>
            <a:picLocks noChangeAspect="1"/>
          </p:cNvPicPr>
          <p:nvPr/>
        </p:nvPicPr>
        <p:blipFill>
          <a:blip r:embed="rId4"/>
          <a:stretch>
            <a:fillRect/>
          </a:stretch>
        </p:blipFill>
        <p:spPr>
          <a:xfrm>
            <a:off x="6095942" y="3150116"/>
            <a:ext cx="2524235" cy="3284407"/>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aphicFrame>
        <p:nvGraphicFramePr>
          <p:cNvPr id="651" name="Google Shape;651;p80"/>
          <p:cNvGraphicFramePr/>
          <p:nvPr>
            <p:extLst>
              <p:ext uri="{D42A27DB-BD31-4B8C-83A1-F6EECF244321}">
                <p14:modId xmlns:p14="http://schemas.microsoft.com/office/powerpoint/2010/main" val="1990800000"/>
              </p:ext>
            </p:extLst>
          </p:nvPr>
        </p:nvGraphicFramePr>
        <p:xfrm>
          <a:off x="2363318" y="2709338"/>
          <a:ext cx="6484300" cy="2860882"/>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2860882">
                <a:tc>
                  <a:txBody>
                    <a:bodyPr/>
                    <a:lstStyle/>
                    <a:p>
                      <a:pPr marL="0" lvl="0" indent="0" algn="l" rtl="0">
                        <a:lnSpc>
                          <a:spcPct val="120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async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LoginResponse</a:t>
                      </a:r>
                      <a:r>
                        <a:rPr lang="es-ES" sz="900" dirty="0">
                          <a:solidFill>
                            <a:srgbClr val="4F81BD"/>
                          </a:solidFill>
                          <a:latin typeface="Calibri"/>
                          <a:ea typeface="Calibri"/>
                          <a:cs typeface="Calibri"/>
                          <a:sym typeface="Calibri"/>
                        </a:rPr>
                        <a:t>&gt; </a:t>
                      </a:r>
                      <a:r>
                        <a:rPr lang="es-ES" sz="900" dirty="0" err="1">
                          <a:solidFill>
                            <a:srgbClr val="4F81BD"/>
                          </a:solidFill>
                          <a:latin typeface="Calibri"/>
                          <a:ea typeface="Calibri"/>
                          <a:cs typeface="Calibri"/>
                          <a:sym typeface="Calibri"/>
                        </a:rPr>
                        <a:t>SignInAsync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userName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password</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 default)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string.IsNullOrWhiteSpace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userName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string.IsNullOrWhiteSpace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password</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LoginResponse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"Ingresa tu usuario y contraseña." };</a:t>
                      </a:r>
                    </a:p>
                    <a:p>
                      <a:pPr marL="0" lvl="0" indent="0" algn="l" rtl="0">
                        <a:lnSpc>
                          <a:spcPct val="12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response = </a:t>
                      </a:r>
                      <a:r>
                        <a:rPr lang="es-ES" sz="900" dirty="0" err="1">
                          <a:solidFill>
                            <a:srgbClr val="4F81BD"/>
                          </a:solidFill>
                          <a:latin typeface="Calibri"/>
                          <a:ea typeface="Calibri"/>
                          <a:cs typeface="Calibri"/>
                          <a:sym typeface="Calibri"/>
                        </a:rPr>
                        <a:t>await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restService.SignInAsync</a:t>
                      </a:r>
                      <a:r>
                        <a:rPr lang="es-ES" sz="900" dirty="0">
                          <a:solidFill>
                            <a:srgbClr val="4F81BD"/>
                          </a:solidFill>
                          <a:latin typeface="Calibri"/>
                          <a:ea typeface="Calibri"/>
                          <a:cs typeface="Calibri"/>
                          <a:sym typeface="Calibri"/>
                        </a:rPr>
                        <a:t>(new </a:t>
                      </a:r>
                      <a:r>
                        <a:rPr lang="es-ES" sz="900" dirty="0" err="1">
                          <a:solidFill>
                            <a:srgbClr val="4F81BD"/>
                          </a:solidFill>
                          <a:latin typeface="Calibri"/>
                          <a:ea typeface="Calibri"/>
                          <a:cs typeface="Calibri"/>
                          <a:sym typeface="Calibri"/>
                        </a:rPr>
                        <a:t>LoginRequest</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UserName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userName.Trim</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Password</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password</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response.IsSuccessful</a:t>
                      </a:r>
                      <a:r>
                        <a:rPr lang="es-ES" sz="900" dirty="0">
                          <a:solidFill>
                            <a:srgbClr val="4F81BD"/>
                          </a:solidFill>
                          <a:latin typeface="Calibri"/>
                          <a:ea typeface="Calibri"/>
                          <a:cs typeface="Calibri"/>
                          <a:sym typeface="Calibri"/>
                        </a:rPr>
                        <a:t> &amp;&amp; !</a:t>
                      </a:r>
                      <a:r>
                        <a:rPr lang="es-ES" sz="900" dirty="0" err="1">
                          <a:solidFill>
                            <a:srgbClr val="4F81BD"/>
                          </a:solidFill>
                          <a:latin typeface="Calibri"/>
                          <a:ea typeface="Calibri"/>
                          <a:cs typeface="Calibri"/>
                          <a:sym typeface="Calibri"/>
                        </a:rPr>
                        <a:t>string.IsNullOrWhiteSpace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response.Token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session.Start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response.Token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userName.Trim</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response;</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52" name="Google Shape;652;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EDF1264D-7178-17B2-553C-4C1B312EC422}"/>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graphicFrame>
        <p:nvGraphicFramePr>
          <p:cNvPr id="659" name="Google Shape;659;p81"/>
          <p:cNvGraphicFramePr/>
          <p:nvPr>
            <p:extLst>
              <p:ext uri="{D42A27DB-BD31-4B8C-83A1-F6EECF244321}">
                <p14:modId xmlns:p14="http://schemas.microsoft.com/office/powerpoint/2010/main" val="963458607"/>
              </p:ext>
            </p:extLst>
          </p:nvPr>
        </p:nvGraphicFramePr>
        <p:xfrm>
          <a:off x="2684845" y="2775628"/>
          <a:ext cx="5954440" cy="3144520"/>
        </p:xfrm>
        <a:graphic>
          <a:graphicData uri="http://schemas.openxmlformats.org/drawingml/2006/table">
            <a:tbl>
              <a:tblPr>
                <a:noFill/>
                <a:tableStyleId>{BF136021-7255-42B7-A7E7-87A8D8FFE9CA}</a:tableStyleId>
              </a:tblPr>
              <a:tblGrid>
                <a:gridCol w="5954440">
                  <a:extLst>
                    <a:ext uri="{9D8B030D-6E8A-4147-A177-3AD203B41FA5}">
                      <a16:colId xmlns:a16="http://schemas.microsoft.com/office/drawing/2014/main" val="20000"/>
                    </a:ext>
                  </a:extLst>
                </a:gridCol>
              </a:tblGrid>
              <a:tr h="2290497">
                <a:tc>
                  <a:txBody>
                    <a:bodyPr/>
                    <a:lstStyle/>
                    <a:p>
                      <a:pPr marL="0" lvl="0" indent="0" algn="l" rtl="0">
                        <a:lnSpc>
                          <a:spcPct val="100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async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Task</a:t>
                      </a:r>
                      <a:r>
                        <a:rPr lang="es-ES" sz="900" dirty="0">
                          <a:solidFill>
                            <a:srgbClr val="4F81BD"/>
                          </a:solidFill>
                          <a:latin typeface="Calibri"/>
                          <a:ea typeface="Calibri"/>
                          <a:cs typeface="Calibri"/>
                          <a:sym typeface="Calibri"/>
                        </a:rPr>
                        <a:t>&lt;</a:t>
                      </a:r>
                      <a:r>
                        <a:rPr lang="es-ES" sz="900" dirty="0" err="1">
                          <a:solidFill>
                            <a:srgbClr val="4F81BD"/>
                          </a:solidFill>
                          <a:latin typeface="Calibri"/>
                          <a:ea typeface="Calibri"/>
                          <a:cs typeface="Calibri"/>
                          <a:sym typeface="Calibri"/>
                        </a:rPr>
                        <a:t>ConversionResponse</a:t>
                      </a:r>
                      <a:r>
                        <a:rPr lang="es-ES" sz="900" dirty="0">
                          <a:solidFill>
                            <a:srgbClr val="4F81BD"/>
                          </a:solidFill>
                          <a:latin typeface="Calibri"/>
                          <a:ea typeface="Calibri"/>
                          <a:cs typeface="Calibri"/>
                          <a:sym typeface="Calibri"/>
                        </a:rPr>
                        <a:t>&gt; </a:t>
                      </a:r>
                      <a:r>
                        <a:rPr lang="es-ES" sz="900" dirty="0" err="1">
                          <a:solidFill>
                            <a:srgbClr val="4F81BD"/>
                          </a:solidFill>
                          <a:latin typeface="Calibri"/>
                          <a:ea typeface="Calibri"/>
                          <a:cs typeface="Calibri"/>
                          <a:sym typeface="Calibri"/>
                        </a:rPr>
                        <a:t>ConvertAsync</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rawValue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CategoryOption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category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UnitOption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origin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UnitOption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destination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 = default)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session.IsAuthenticated</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ConversionResponse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"Tu sesión expiró. Inicia sesión nuevamente." };</a:t>
                      </a:r>
                    </a:p>
                    <a:p>
                      <a:pPr marL="0" lvl="0" indent="0" algn="l" rtl="0">
                        <a:lnSpc>
                          <a:spcPct val="10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double.TryParse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rawValue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NumberStyles.Float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CultureInfo.CurrentCulture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out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value</a:t>
                      </a:r>
                      <a:r>
                        <a:rPr lang="es-ES" sz="900" dirty="0">
                          <a:solidFill>
                            <a:srgbClr val="4F81BD"/>
                          </a:solidFill>
                          <a:latin typeface="Calibri"/>
                          <a:ea typeface="Calibri"/>
                          <a:cs typeface="Calibri"/>
                          <a:sym typeface="Calibri"/>
                        </a:rPr>
                        <a:t>) &amp;&amp;</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double.TryParse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rawValue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NumberStyles.Float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CultureInfo.InvariantCulture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out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value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ConversionResponse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"Escribe un valor numérico válido." };</a:t>
                      </a:r>
                    </a:p>
                    <a:p>
                      <a:pPr marL="0" lvl="0" indent="0" algn="l" rtl="0">
                        <a:lnSpc>
                          <a:spcPct val="10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category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origin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destination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ConversionResponse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Message</a:t>
                      </a:r>
                      <a:r>
                        <a:rPr lang="es-ES" sz="900" dirty="0">
                          <a:solidFill>
                            <a:srgbClr val="4F81BD"/>
                          </a:solidFill>
                          <a:latin typeface="Calibri"/>
                          <a:ea typeface="Calibri"/>
                          <a:cs typeface="Calibri"/>
                          <a:sym typeface="Calibri"/>
                        </a:rPr>
                        <a:t> = "Selecciona una categoría y las unidades de origen y destino." };</a:t>
                      </a:r>
                    </a:p>
                    <a:p>
                      <a:pPr marL="0" lvl="0" indent="0" algn="l" rtl="0">
                        <a:lnSpc>
                          <a:spcPct val="10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await</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restService.ConvertAsync</a:t>
                      </a:r>
                      <a:r>
                        <a:rPr lang="es-ES" sz="900" dirty="0">
                          <a:solidFill>
                            <a:srgbClr val="4F81BD"/>
                          </a:solidFill>
                          <a:latin typeface="Calibri"/>
                          <a:ea typeface="Calibri"/>
                          <a:cs typeface="Calibri"/>
                          <a:sym typeface="Calibri"/>
                        </a:rPr>
                        <a:t>(new </a:t>
                      </a:r>
                      <a:r>
                        <a:rPr lang="es-ES" sz="900" dirty="0" err="1">
                          <a:solidFill>
                            <a:srgbClr val="4F81BD"/>
                          </a:solidFill>
                          <a:latin typeface="Calibri"/>
                          <a:ea typeface="Calibri"/>
                          <a:cs typeface="Calibri"/>
                          <a:sym typeface="Calibri"/>
                        </a:rPr>
                        <a:t>ConversionRequest</a:t>
                      </a: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Token = </a:t>
                      </a:r>
                      <a:r>
                        <a:rPr lang="es-ES" sz="900" dirty="0" err="1">
                          <a:solidFill>
                            <a:srgbClr val="4F81BD"/>
                          </a:solidFill>
                          <a:latin typeface="Calibri"/>
                          <a:ea typeface="Calibri"/>
                          <a:cs typeface="Calibri"/>
                          <a:sym typeface="Calibri"/>
                        </a:rPr>
                        <a:t>session.Token</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CategoryEndpoint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category.Endpoint</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SourceUnit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origin.Name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TargetUnit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destination.Name</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Value</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value</a:t>
                      </a:r>
                      <a:endParaRPr lang="es-ES" sz="900" dirty="0">
                        <a:solidFill>
                          <a:srgbClr val="4F81BD"/>
                        </a:solidFill>
                        <a:latin typeface="Calibri"/>
                        <a:ea typeface="Calibri"/>
                        <a:cs typeface="Calibri"/>
                        <a:sym typeface="Calibri"/>
                      </a:endParaRP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cancellationToken</a:t>
                      </a:r>
                      <a:r>
                        <a:rPr lang="es-ES"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ES" sz="900" dirty="0">
                          <a:solidFill>
                            <a:srgbClr val="4F81BD"/>
                          </a:solidFill>
                          <a:latin typeface="Calibri"/>
                          <a:ea typeface="Calibri"/>
                          <a:cs typeface="Calibri"/>
                          <a:sym typeface="Calibri"/>
                        </a:rPr>
                        <a:t>}</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60" name="Google Shape;660;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9A9551A8-D9D7-F278-5223-55A702F913A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58">
          <a:extLst>
            <a:ext uri="{FF2B5EF4-FFF2-40B4-BE49-F238E27FC236}">
              <a16:creationId xmlns:a16="http://schemas.microsoft.com/office/drawing/2014/main" id="{33BC5802-3FC0-A7AD-1DDD-5622B09246B5}"/>
            </a:ext>
          </a:extLst>
        </p:cNvPr>
        <p:cNvGrpSpPr/>
        <p:nvPr/>
      </p:nvGrpSpPr>
      <p:grpSpPr>
        <a:xfrm>
          <a:off x="0" y="0"/>
          <a:ext cx="0" cy="0"/>
          <a:chOff x="0" y="0"/>
          <a:chExt cx="0" cy="0"/>
        </a:xfrm>
      </p:grpSpPr>
      <p:sp>
        <p:nvSpPr>
          <p:cNvPr id="660" name="Google Shape;660;p81">
            <a:extLst>
              <a:ext uri="{FF2B5EF4-FFF2-40B4-BE49-F238E27FC236}">
                <a16:creationId xmlns:a16="http://schemas.microsoft.com/office/drawing/2014/main" id="{1030D703-54D1-13DD-4778-1164B2E1A277}"/>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a:extLst>
              <a:ext uri="{FF2B5EF4-FFF2-40B4-BE49-F238E27FC236}">
                <a16:creationId xmlns:a16="http://schemas.microsoft.com/office/drawing/2014/main" id="{55E93E24-35F5-C260-0A22-23CAB761AB45}"/>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634677D9-BD5F-7437-89EF-A941254FEF69}"/>
              </a:ext>
            </a:extLst>
          </p:cNvPr>
          <p:cNvSpPr txBox="1">
            <a:spLocks/>
          </p:cNvSpPr>
          <p:nvPr/>
        </p:nvSpPr>
        <p:spPr>
          <a:xfrm>
            <a:off x="288323" y="1837552"/>
            <a:ext cx="7809471" cy="1013700"/>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Al momento de ejecutar necesitaremos seleccionar Android pero posteriormente, se deberá descargar un emulador que en este caso es un dispositivo Pixel 7, de esta forma  se podrá ejecutar correctamente</a:t>
            </a:r>
            <a:endParaRPr lang="es-MX" sz="1400" dirty="0">
              <a:latin typeface="Cambria"/>
              <a:ea typeface="Cambria"/>
              <a:cs typeface="Cambria"/>
              <a:sym typeface="Cambria"/>
            </a:endParaRPr>
          </a:p>
        </p:txBody>
      </p:sp>
      <p:pic>
        <p:nvPicPr>
          <p:cNvPr id="3" name="Picture 2">
            <a:extLst>
              <a:ext uri="{FF2B5EF4-FFF2-40B4-BE49-F238E27FC236}">
                <a16:creationId xmlns:a16="http://schemas.microsoft.com/office/drawing/2014/main" id="{8BFE96F6-C892-8B9C-46A3-9ED5E011AE16}"/>
              </a:ext>
            </a:extLst>
          </p:cNvPr>
          <p:cNvPicPr>
            <a:picLocks noChangeAspect="1"/>
          </p:cNvPicPr>
          <p:nvPr/>
        </p:nvPicPr>
        <p:blipFill>
          <a:blip r:embed="rId3"/>
          <a:stretch>
            <a:fillRect/>
          </a:stretch>
        </p:blipFill>
        <p:spPr>
          <a:xfrm>
            <a:off x="2904820" y="3103172"/>
            <a:ext cx="3482642" cy="777307"/>
          </a:xfrm>
          <a:prstGeom prst="rect">
            <a:avLst/>
          </a:prstGeom>
        </p:spPr>
      </p:pic>
      <p:graphicFrame>
        <p:nvGraphicFramePr>
          <p:cNvPr id="5" name="Google Shape;659;p81">
            <a:extLst>
              <a:ext uri="{FF2B5EF4-FFF2-40B4-BE49-F238E27FC236}">
                <a16:creationId xmlns:a16="http://schemas.microsoft.com/office/drawing/2014/main" id="{2B314DCA-BB7F-D2B3-3AB7-CD0A5745E290}"/>
              </a:ext>
            </a:extLst>
          </p:cNvPr>
          <p:cNvGraphicFramePr/>
          <p:nvPr>
            <p:extLst>
              <p:ext uri="{D42A27DB-BD31-4B8C-83A1-F6EECF244321}">
                <p14:modId xmlns:p14="http://schemas.microsoft.com/office/powerpoint/2010/main" val="209016340"/>
              </p:ext>
            </p:extLst>
          </p:nvPr>
        </p:nvGraphicFramePr>
        <p:xfrm>
          <a:off x="2001570" y="4132400"/>
          <a:ext cx="5526073" cy="812800"/>
        </p:xfrm>
        <a:graphic>
          <a:graphicData uri="http://schemas.openxmlformats.org/drawingml/2006/table">
            <a:tbl>
              <a:tblPr>
                <a:noFill/>
                <a:tableStyleId>{BF136021-7255-42B7-A7E7-87A8D8FFE9CA}</a:tableStyleId>
              </a:tblPr>
              <a:tblGrid>
                <a:gridCol w="5526073">
                  <a:extLst>
                    <a:ext uri="{9D8B030D-6E8A-4147-A177-3AD203B41FA5}">
                      <a16:colId xmlns:a16="http://schemas.microsoft.com/office/drawing/2014/main" val="20000"/>
                    </a:ext>
                  </a:extLst>
                </a:gridCol>
              </a:tblGrid>
              <a:tr h="678497">
                <a:tc>
                  <a:txBody>
                    <a:bodyPr/>
                    <a:lstStyle/>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a:t>
                      </a:r>
                    </a:p>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  "</a:t>
                      </a:r>
                      <a:r>
                        <a:rPr lang="es-MX" sz="900" dirty="0" err="1">
                          <a:solidFill>
                            <a:srgbClr val="4F81BD"/>
                          </a:solidFill>
                          <a:latin typeface="Calibri"/>
                          <a:ea typeface="Calibri"/>
                          <a:cs typeface="Calibri"/>
                          <a:sym typeface="Calibri"/>
                        </a:rPr>
                        <a:t>ServicioRest</a:t>
                      </a:r>
                      <a:r>
                        <a:rPr lang="es-MX"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    "</a:t>
                      </a:r>
                      <a:r>
                        <a:rPr lang="es-MX" sz="900" dirty="0" err="1">
                          <a:solidFill>
                            <a:srgbClr val="4F81BD"/>
                          </a:solidFill>
                          <a:latin typeface="Calibri"/>
                          <a:ea typeface="Calibri"/>
                          <a:cs typeface="Calibri"/>
                          <a:sym typeface="Calibri"/>
                        </a:rPr>
                        <a:t>Url</a:t>
                      </a:r>
                      <a:r>
                        <a:rPr lang="es-MX" sz="900" dirty="0">
                          <a:solidFill>
                            <a:srgbClr val="4F81BD"/>
                          </a:solidFill>
                          <a:latin typeface="Calibri"/>
                          <a:ea typeface="Calibri"/>
                          <a:cs typeface="Calibri"/>
                          <a:sym typeface="Calibri"/>
                        </a:rPr>
                        <a:t>": "http://10.0.2.2:60980"</a:t>
                      </a:r>
                    </a:p>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  }</a:t>
                      </a:r>
                    </a:p>
                    <a:p>
                      <a:pPr marL="0" lvl="0" indent="0" algn="l" rtl="0">
                        <a:lnSpc>
                          <a:spcPct val="100000"/>
                        </a:lnSpc>
                        <a:spcBef>
                          <a:spcPts val="0"/>
                        </a:spcBef>
                        <a:spcAft>
                          <a:spcPts val="0"/>
                        </a:spcAft>
                        <a:buNone/>
                      </a:pPr>
                      <a:r>
                        <a:rPr lang="es-MX" sz="9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6" name="Google Shape;319;p40">
            <a:extLst>
              <a:ext uri="{FF2B5EF4-FFF2-40B4-BE49-F238E27FC236}">
                <a16:creationId xmlns:a16="http://schemas.microsoft.com/office/drawing/2014/main" id="{AF14A2F9-02AC-8233-FC48-838513D625C2}"/>
              </a:ext>
            </a:extLst>
          </p:cNvPr>
          <p:cNvSpPr txBox="1">
            <a:spLocks/>
          </p:cNvSpPr>
          <p:nvPr/>
        </p:nvSpPr>
        <p:spPr>
          <a:xfrm>
            <a:off x="448960" y="5142144"/>
            <a:ext cx="7809471" cy="1013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Pese a que el servicio se configura desde la vista principal del </a:t>
            </a:r>
            <a:r>
              <a:rPr lang="es-MX" sz="1400" dirty="0" err="1">
                <a:solidFill>
                  <a:schemeClr val="dk1"/>
                </a:solidFill>
                <a:latin typeface="Calibri"/>
                <a:ea typeface="Calibri"/>
                <a:cs typeface="Calibri"/>
                <a:sym typeface="Calibri"/>
              </a:rPr>
              <a:t>login</a:t>
            </a:r>
            <a:r>
              <a:rPr lang="es-MX" sz="1400" dirty="0">
                <a:solidFill>
                  <a:schemeClr val="dk1"/>
                </a:solidFill>
                <a:latin typeface="Calibri"/>
                <a:ea typeface="Calibri"/>
                <a:cs typeface="Calibri"/>
                <a:sym typeface="Calibri"/>
              </a:rPr>
              <a:t> se podrá seleccionar el servidor en caso de haber un cambio en el mismo de último momento para poder consumir el servicio web</a:t>
            </a:r>
            <a:endParaRPr lang="es-MX" sz="1400" dirty="0">
              <a:latin typeface="Cambria"/>
              <a:ea typeface="Cambria"/>
              <a:cs typeface="Cambria"/>
              <a:sym typeface="Cambria"/>
            </a:endParaRPr>
          </a:p>
        </p:txBody>
      </p:sp>
    </p:spTree>
    <p:extLst>
      <p:ext uri="{BB962C8B-B14F-4D97-AF65-F5344CB8AC3E}">
        <p14:creationId xmlns:p14="http://schemas.microsoft.com/office/powerpoint/2010/main" val="3531739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4CA09E49-DC5F-3427-88CA-F17406DE6C5A}"/>
              </a:ext>
            </a:extLst>
          </p:cNvPr>
          <p:cNvPicPr>
            <a:picLocks noChangeAspect="1"/>
          </p:cNvPicPr>
          <p:nvPr/>
        </p:nvPicPr>
        <p:blipFill>
          <a:blip r:embed="rId3"/>
          <a:stretch>
            <a:fillRect/>
          </a:stretch>
        </p:blipFill>
        <p:spPr>
          <a:xfrm>
            <a:off x="2753306" y="2053571"/>
            <a:ext cx="2222553" cy="4436251"/>
          </a:xfrm>
          <a:prstGeom prst="rect">
            <a:avLst/>
          </a:prstGeom>
        </p:spPr>
      </p:pic>
      <p:pic>
        <p:nvPicPr>
          <p:cNvPr id="5" name="Picture 4">
            <a:extLst>
              <a:ext uri="{FF2B5EF4-FFF2-40B4-BE49-F238E27FC236}">
                <a16:creationId xmlns:a16="http://schemas.microsoft.com/office/drawing/2014/main" id="{EE929626-78E8-AEDF-5EED-DE9F48C5A170}"/>
              </a:ext>
            </a:extLst>
          </p:cNvPr>
          <p:cNvPicPr>
            <a:picLocks noChangeAspect="1"/>
          </p:cNvPicPr>
          <p:nvPr/>
        </p:nvPicPr>
        <p:blipFill>
          <a:blip r:embed="rId4"/>
          <a:stretch>
            <a:fillRect/>
          </a:stretch>
        </p:blipFill>
        <p:spPr>
          <a:xfrm>
            <a:off x="5665514" y="2351495"/>
            <a:ext cx="2682383" cy="379191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A7F5D998-EFF5-9CF1-ACD6-126750C5B8BE}"/>
              </a:ext>
            </a:extLst>
          </p:cNvPr>
          <p:cNvPicPr>
            <a:picLocks noChangeAspect="1"/>
          </p:cNvPicPr>
          <p:nvPr/>
        </p:nvPicPr>
        <p:blipFill>
          <a:blip r:embed="rId3"/>
          <a:stretch>
            <a:fillRect/>
          </a:stretch>
        </p:blipFill>
        <p:spPr>
          <a:xfrm>
            <a:off x="4689549" y="1994337"/>
            <a:ext cx="2453365" cy="473185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RESTFUL</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4" name="Picture 3">
            <a:extLst>
              <a:ext uri="{FF2B5EF4-FFF2-40B4-BE49-F238E27FC236}">
                <a16:creationId xmlns:a16="http://schemas.microsoft.com/office/drawing/2014/main" id="{E2A8517E-5115-B31C-8606-0F7E4F1A2911}"/>
              </a:ext>
            </a:extLst>
          </p:cNvPr>
          <p:cNvPicPr>
            <a:picLocks noChangeAspect="1"/>
          </p:cNvPicPr>
          <p:nvPr/>
        </p:nvPicPr>
        <p:blipFill>
          <a:blip r:embed="rId3"/>
          <a:stretch>
            <a:fillRect/>
          </a:stretch>
        </p:blipFill>
        <p:spPr>
          <a:xfrm>
            <a:off x="4767749" y="2153059"/>
            <a:ext cx="2184986" cy="456489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dirty="0">
                <a:latin typeface="Cambria"/>
                <a:ea typeface="Cambria"/>
                <a:cs typeface="Cambria"/>
                <a:sym typeface="Cambria"/>
              </a:rPr>
              <a:t>La culminación de este proyecto evidencia la efectividad de una Arquitectura REST al integrar exitosamente un servidor RESTFUL robusto, desarrollado en </a:t>
            </a:r>
            <a:r>
              <a:rPr lang="es-ES" sz="1900" dirty="0" err="1">
                <a:latin typeface="Cambria"/>
                <a:ea typeface="Cambria"/>
                <a:cs typeface="Cambria"/>
                <a:sym typeface="Cambria"/>
              </a:rPr>
              <a:t>Dotnet</a:t>
            </a:r>
            <a:r>
              <a:rPr lang="es-ES" sz="1900" dirty="0">
                <a:latin typeface="Cambria"/>
                <a:ea typeface="Cambria"/>
                <a:cs typeface="Cambria"/>
                <a:sym typeface="Cambria"/>
              </a:rPr>
              <a:t> y alojado en IIS (Internet </a:t>
            </a:r>
            <a:r>
              <a:rPr lang="es-ES" sz="1900" dirty="0" err="1">
                <a:latin typeface="Cambria"/>
                <a:ea typeface="Cambria"/>
                <a:cs typeface="Cambria"/>
                <a:sym typeface="Cambria"/>
              </a:rPr>
              <a:t>Information</a:t>
            </a:r>
            <a:r>
              <a:rPr lang="es-ES" sz="1900" dirty="0">
                <a:latin typeface="Cambria"/>
                <a:ea typeface="Cambria"/>
                <a:cs typeface="Cambria"/>
                <a:sym typeface="Cambria"/>
              </a:rPr>
              <a:t> </a:t>
            </a:r>
            <a:r>
              <a:rPr lang="es-ES" sz="1900" dirty="0" err="1">
                <a:latin typeface="Cambria"/>
                <a:ea typeface="Cambria"/>
                <a:cs typeface="Cambria"/>
                <a:sym typeface="Cambria"/>
              </a:rPr>
              <a:t>Services</a:t>
            </a:r>
            <a:r>
              <a:rPr lang="es-ES" sz="1900" dirty="0">
                <a:latin typeface="Cambria"/>
                <a:ea typeface="Cambria"/>
                <a:cs typeface="Cambria"/>
                <a:sym typeface="Cambria"/>
              </a:rPr>
              <a:t>), con un ecosistema de clientes multiplataforma (web, móvil, escritorio y consola) mediante el uso de .NET WCF para el servidor, .NET WPF para escritorio, .NET </a:t>
            </a:r>
            <a:r>
              <a:rPr lang="es-ES" sz="1900" dirty="0" err="1">
                <a:latin typeface="Cambria"/>
                <a:ea typeface="Cambria"/>
                <a:cs typeface="Cambria"/>
                <a:sym typeface="Cambria"/>
              </a:rPr>
              <a:t>Blazor</a:t>
            </a:r>
            <a:r>
              <a:rPr lang="es-ES" sz="1900" dirty="0">
                <a:latin typeface="Cambria"/>
                <a:ea typeface="Cambria"/>
                <a:cs typeface="Cambria"/>
                <a:sym typeface="Cambria"/>
              </a:rPr>
              <a:t> para web y .NET MAUI para móvil. Esta integración técnica se validó mediante la implementación de un sistema de seguridad desacoplado basado en tokens y manejadores de mensajes, junto con la aplicación del patrón </a:t>
            </a:r>
            <a:r>
              <a:rPr lang="es-ES" sz="1900" dirty="0" err="1">
                <a:latin typeface="Cambria"/>
                <a:ea typeface="Cambria"/>
                <a:cs typeface="Cambria"/>
                <a:sym typeface="Cambria"/>
              </a:rPr>
              <a:t>Strategy</a:t>
            </a:r>
            <a:r>
              <a:rPr lang="es-ES" sz="1900" dirty="0">
                <a:latin typeface="Cambria"/>
                <a:ea typeface="Cambria"/>
                <a:cs typeface="Cambria"/>
                <a:sym typeface="Cambria"/>
              </a:rPr>
              <a:t> en el cliente, lo que garantiza una solución de software interoperable, escalable y alineada con los estándares de desarrollo empresarial modernos.</a:t>
            </a:r>
            <a:endParaRPr sz="1900" dirty="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CONCLUSIONES</a:t>
            </a:r>
            <a:endParaRPr sz="1400" b="0" i="0" u="none" strike="noStrike" cap="none" dirty="0">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dirty="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dirty="0">
              <a:latin typeface="Cambria"/>
              <a:ea typeface="Cambria"/>
              <a:cs typeface="Cambria"/>
              <a:sym typeface="Cambria"/>
            </a:endParaRPr>
          </a:p>
          <a:p>
            <a:pPr marL="0" lvl="0" indent="0" algn="just" rtl="0">
              <a:lnSpc>
                <a:spcPct val="107000"/>
              </a:lnSpc>
              <a:spcBef>
                <a:spcPts val="0"/>
              </a:spcBef>
              <a:spcAft>
                <a:spcPts val="0"/>
              </a:spcAft>
              <a:buNone/>
            </a:pP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Incorporar herramientas de análisis estático de código automatizadas dentro del ciclo de vida de desarrollo para monitorear la calidad del software, también se debe tomar en cuenta que el desarrollo del consumo de un servicio REST resulta con menos líneas de código en comparación con SOAP.</a:t>
            </a:r>
            <a:endParaRPr sz="1900" dirty="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RESTFUL</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RECOMENDACIONES</a:t>
            </a:r>
            <a:endParaRPr sz="1400" b="0" i="0" u="none" strike="noStrike" cap="none" dirty="0">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2835</TotalTime>
  <Words>6945</Words>
  <Application>Microsoft Office PowerPoint</Application>
  <PresentationFormat>Widescreen</PresentationFormat>
  <Paragraphs>1389</Paragraphs>
  <Slides>57</Slides>
  <Notes>57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Cambria</vt:lpstr>
      <vt:lpstr>Calibri</vt:lpstr>
      <vt:lpstr>Arial</vt:lpstr>
      <vt:lpstr>Noto Sans Symbols</vt:lpstr>
      <vt:lpstr>Gill Sans</vt:lpstr>
      <vt:lpstr>Dividendo</vt:lpstr>
      <vt:lpstr>MANUAL CONVERSIÓN UNIDADES RESTFUL DOTNET</vt:lpstr>
      <vt:lpstr>PowerPoint Presentation</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Mateo Medranda</cp:lastModifiedBy>
  <cp:revision>15</cp:revision>
  <dcterms:modified xsi:type="dcterms:W3CDTF">2026-10-26T00:31:26Z</dcterms:modified>
</cp:coreProperties>
</file>